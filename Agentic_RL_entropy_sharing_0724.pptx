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1.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rts/chart2.xml" ContentType="application/vnd.openxmlformats-officedocument.drawingml.chart+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5"/>
  </p:notesMasterIdLst>
  <p:sldIdLst>
    <p:sldId id="256" r:id="rId2"/>
    <p:sldId id="257" r:id="rId3"/>
    <p:sldId id="258" r:id="rId4"/>
    <p:sldId id="259" r:id="rId5"/>
    <p:sldId id="260" r:id="rId6"/>
    <p:sldId id="261" r:id="rId7"/>
    <p:sldId id="262" r:id="rId8"/>
    <p:sldId id="304"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80" r:id="rId24"/>
    <p:sldId id="305" r:id="rId25"/>
    <p:sldId id="281" r:id="rId26"/>
    <p:sldId id="282" r:id="rId27"/>
    <p:sldId id="283" r:id="rId28"/>
    <p:sldId id="284" r:id="rId29"/>
    <p:sldId id="285" r:id="rId30"/>
    <p:sldId id="286" r:id="rId31"/>
    <p:sldId id="287" r:id="rId32"/>
    <p:sldId id="288" r:id="rId33"/>
    <p:sldId id="289" r:id="rId34"/>
    <p:sldId id="290" r:id="rId35"/>
    <p:sldId id="292" r:id="rId36"/>
    <p:sldId id="293" r:id="rId37"/>
    <p:sldId id="294" r:id="rId38"/>
    <p:sldId id="295" r:id="rId39"/>
    <p:sldId id="296" r:id="rId40"/>
    <p:sldId id="297" r:id="rId41"/>
    <p:sldId id="298" r:id="rId42"/>
    <p:sldId id="301" r:id="rId43"/>
    <p:sldId id="303" r:id="rId44"/>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7"/>
    <p:restoredTop sz="80775"/>
  </p:normalViewPr>
  <p:slideViewPr>
    <p:cSldViewPr snapToGrid="0">
      <p:cViewPr>
        <p:scale>
          <a:sx n="85" d="100"/>
          <a:sy n="85" d="100"/>
        </p:scale>
        <p:origin x="1616" y="376"/>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barChart>
        <c:barDir val="col"/>
        <c:grouping val="clustered"/>
        <c:varyColors val="0"/>
        <c:ser>
          <c:idx val="0"/>
          <c:order val="0"/>
          <c:tx>
            <c:v>Spearman with task success</c:v>
          </c:tx>
          <c:spPr>
            <a:solidFill>
              <a:srgbClr val="2787F5"/>
            </a:solidFill>
          </c:spPr>
          <c:invertIfNegative val="0"/>
          <c:dPt>
            <c:idx val="2"/>
            <c:invertIfNegative val="1"/>
            <c:bubble3D val="0"/>
            <c:spPr>
              <a:solidFill>
                <a:srgbClr val="B8BCC4"/>
              </a:solidFill>
            </c:spPr>
            <c:extLst>
              <c:ext xmlns:c16="http://schemas.microsoft.com/office/drawing/2014/chart" uri="{C3380CC4-5D6E-409C-BE32-E72D297353CC}">
                <c16:uniqueId val="{00000001-F4C3-6A46-A043-D876C53506A3}"/>
              </c:ext>
            </c:extLst>
          </c:dPt>
          <c:dPt>
            <c:idx val="3"/>
            <c:invertIfNegative val="1"/>
            <c:bubble3D val="0"/>
            <c:spPr>
              <a:solidFill>
                <a:srgbClr val="F59E0B"/>
              </a:solidFill>
            </c:spPr>
            <c:extLst>
              <c:ext xmlns:c16="http://schemas.microsoft.com/office/drawing/2014/chart" uri="{C3380CC4-5D6E-409C-BE32-E72D297353CC}">
                <c16:uniqueId val="{00000003-F4C3-6A46-A043-D876C53506A3}"/>
              </c:ext>
            </c:extLst>
          </c:dPt>
          <c:dLbls>
            <c:spPr>
              <a:noFill/>
              <a:ln>
                <a:noFill/>
              </a:ln>
            </c:spPr>
            <c:txPr>
              <a:bodyPr anchorCtr="1"/>
              <a:lstStyle/>
              <a:p>
                <a:pPr>
                  <a:defRPr sz="863" b="1">
                    <a:solidFill>
                      <a:srgbClr val="101214"/>
                    </a:solidFill>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MI-Z</c:v>
              </c:pt>
              <c:pt idx="1">
                <c:v>MI-Seq</c:v>
              </c:pt>
              <c:pt idx="2">
                <c:v>Reason H</c:v>
              </c:pt>
              <c:pt idx="3">
                <c:v>Cond H</c:v>
              </c:pt>
            </c:strLit>
          </c:cat>
          <c:val>
            <c:numLit>
              <c:formatCode>General</c:formatCode>
              <c:ptCount val="4"/>
              <c:pt idx="0">
                <c:v>0.39</c:v>
              </c:pt>
              <c:pt idx="1">
                <c:v>0.22</c:v>
              </c:pt>
              <c:pt idx="2">
                <c:v>-0.11</c:v>
              </c:pt>
              <c:pt idx="3">
                <c:v>-0.14000000000000001</c:v>
              </c:pt>
            </c:numLit>
          </c:val>
          <c:extLst>
            <c:ext xmlns:c16="http://schemas.microsoft.com/office/drawing/2014/chart" uri="{C3380CC4-5D6E-409C-BE32-E72D297353CC}">
              <c16:uniqueId val="{00000004-F4C3-6A46-A043-D876C53506A3}"/>
            </c:ext>
          </c:extLst>
        </c:ser>
        <c:dLbls>
          <c:dLblPos val="outEnd"/>
          <c:showLegendKey val="0"/>
          <c:showVal val="1"/>
          <c:showCatName val="0"/>
          <c:showSerName val="0"/>
          <c:showPercent val="0"/>
          <c:showBubbleSize val="0"/>
        </c:dLbls>
        <c:gapWidth val="4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B8BCC4"/>
            </a:solidFill>
            <a:prstDash val="solid"/>
          </a:ln>
        </c:spPr>
        <c:txPr>
          <a:bodyPr anchorCtr="1"/>
          <a:lstStyle/>
          <a:p>
            <a:pPr>
              <a:defRPr sz="863">
                <a:solidFill>
                  <a:srgbClr val="101214"/>
                </a:solidFill>
              </a:defRPr>
            </a:pPr>
            <a:endParaRPr lang="zh-CN"/>
          </a:p>
        </c:txPr>
        <c:crossAx val="48672768"/>
        <c:crosses val="autoZero"/>
        <c:auto val="1"/>
        <c:lblAlgn val="ctr"/>
        <c:lblOffset val="100"/>
        <c:noMultiLvlLbl val="0"/>
      </c:catAx>
      <c:valAx>
        <c:axId val="48672768"/>
        <c:scaling>
          <c:orientation val="minMax"/>
          <c:max val="0.4"/>
          <c:min val="-0.2"/>
        </c:scaling>
        <c:delete val="0"/>
        <c:axPos val="l"/>
        <c:majorGridlines>
          <c:spPr>
            <a:ln w="9525">
              <a:solidFill>
                <a:srgbClr val="E9EDF2"/>
              </a:solidFill>
              <a:prstDash val="solid"/>
            </a:ln>
          </c:spPr>
        </c:majorGridlines>
        <c:numFmt formatCode="General" sourceLinked="1"/>
        <c:majorTickMark val="none"/>
        <c:minorTickMark val="none"/>
        <c:tickLblPos val="nextTo"/>
        <c:spPr>
          <a:ln w="9525">
            <a:solidFill>
              <a:srgbClr val="D4D4D4"/>
            </a:solidFill>
            <a:prstDash val="solid"/>
          </a:ln>
        </c:spPr>
        <c:txPr>
          <a:bodyPr anchorCtr="1"/>
          <a:lstStyle/>
          <a:p>
            <a:pPr>
              <a:defRPr sz="788">
                <a:solidFill>
                  <a:srgbClr val="5E6470"/>
                </a:solidFill>
              </a:defRPr>
            </a:pPr>
            <a:endParaRPr lang="zh-CN"/>
          </a:p>
        </c:txPr>
        <c:crossAx val="48650112"/>
        <c:crosses val="autoZero"/>
        <c:crossBetween val="between"/>
        <c:majorUnit val="0.1"/>
      </c:valAx>
      <c:spPr>
        <a:noFill/>
        <a:ln w="0">
          <a:solidFill>
            <a:srgbClr val="FFFFFF"/>
          </a:solidFill>
          <a:prstDash val="solid"/>
        </a:ln>
      </c:spPr>
    </c:plotArea>
    <c:plotVisOnly val="1"/>
    <c:dispBlanksAs val="zero"/>
    <c:showDLblsOverMax val="1"/>
  </c:chart>
  <c:spPr>
    <a:solidFill>
      <a:srgbClr val="FFFFFF"/>
    </a:solidFill>
    <a:ln w="0">
      <a:solidFill>
        <a:srgbClr val="FFFFFF"/>
      </a:solidFill>
      <a:prstDash val="solid"/>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lineChart>
        <c:grouping val="standard"/>
        <c:varyColors val="1"/>
        <c:ser>
          <c:idx val="0"/>
          <c:order val="0"/>
          <c:tx>
            <c:v>Average</c:v>
          </c:tx>
          <c:spPr>
            <a:ln w="38100">
              <a:solidFill>
                <a:srgbClr val="2787F5"/>
              </a:solidFill>
              <a:prstDash val="solid"/>
            </a:ln>
          </c:spPr>
          <c:marker>
            <c:symbol val="circle"/>
            <c:size val="8"/>
          </c:marker>
          <c:dLbls>
            <c:spPr>
              <a:noFill/>
              <a:ln>
                <a:noFill/>
              </a:ln>
            </c:spPr>
            <c:txPr>
              <a:bodyPr anchorCtr="1"/>
              <a:lstStyle/>
              <a:p>
                <a:pPr>
                  <a:defRPr sz="1050" b="1">
                    <a:solidFill>
                      <a:srgbClr val="101214"/>
                    </a:solidFill>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Base</c:v>
              </c:pt>
              <c:pt idx="1">
                <c:v>Iter 1</c:v>
              </c:pt>
              <c:pt idx="2">
                <c:v>Iter 2</c:v>
              </c:pt>
              <c:pt idx="3">
                <c:v>Iter 3</c:v>
              </c:pt>
            </c:strLit>
          </c:cat>
          <c:val>
            <c:numLit>
              <c:formatCode>General</c:formatCode>
              <c:ptCount val="4"/>
              <c:pt idx="0">
                <c:v>57.3</c:v>
              </c:pt>
              <c:pt idx="1">
                <c:v>60.5</c:v>
              </c:pt>
              <c:pt idx="2">
                <c:v>63.6</c:v>
              </c:pt>
              <c:pt idx="3">
                <c:v>65.5</c:v>
              </c:pt>
            </c:numLit>
          </c:val>
          <c:smooth val="1"/>
          <c:extLst>
            <c:ext xmlns:c16="http://schemas.microsoft.com/office/drawing/2014/chart" uri="{C3380CC4-5D6E-409C-BE32-E72D297353CC}">
              <c16:uniqueId val="{00000000-1F07-CE42-B990-BDF66270F301}"/>
            </c:ext>
          </c:extLst>
        </c:ser>
        <c:dLbls>
          <c:showLegendKey val="0"/>
          <c:showVal val="1"/>
          <c:showCatName val="0"/>
          <c:showSerName val="0"/>
          <c:showPercent val="0"/>
          <c:showBubbleSize val="0"/>
        </c:dLbls>
        <c:marker val="1"/>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B8BCC4"/>
            </a:solidFill>
            <a:prstDash val="solid"/>
          </a:ln>
        </c:spPr>
        <c:txPr>
          <a:bodyPr anchorCtr="1"/>
          <a:lstStyle/>
          <a:p>
            <a:pPr>
              <a:defRPr sz="1050">
                <a:solidFill>
                  <a:srgbClr val="101214"/>
                </a:solidFill>
              </a:defRPr>
            </a:pPr>
            <a:endParaRPr lang="zh-CN"/>
          </a:p>
        </c:txPr>
        <c:crossAx val="48672768"/>
        <c:crosses val="autoZero"/>
        <c:auto val="1"/>
        <c:lblAlgn val="ctr"/>
        <c:lblOffset val="100"/>
        <c:noMultiLvlLbl val="0"/>
      </c:catAx>
      <c:valAx>
        <c:axId val="48672768"/>
        <c:scaling>
          <c:orientation val="minMax"/>
          <c:max val="67"/>
          <c:min val="55"/>
        </c:scaling>
        <c:delete val="0"/>
        <c:axPos val="l"/>
        <c:majorGridlines>
          <c:spPr>
            <a:ln w="9525">
              <a:solidFill>
                <a:srgbClr val="E9EDF2"/>
              </a:solidFill>
              <a:prstDash val="solid"/>
            </a:ln>
          </c:spPr>
        </c:majorGridlines>
        <c:numFmt formatCode="General" sourceLinked="1"/>
        <c:majorTickMark val="none"/>
        <c:minorTickMark val="none"/>
        <c:tickLblPos val="nextTo"/>
        <c:spPr>
          <a:ln w="9525">
            <a:solidFill>
              <a:srgbClr val="D4D4D4"/>
            </a:solidFill>
            <a:prstDash val="solid"/>
          </a:ln>
        </c:spPr>
        <c:txPr>
          <a:bodyPr anchorCtr="1"/>
          <a:lstStyle/>
          <a:p>
            <a:pPr>
              <a:defRPr sz="900">
                <a:solidFill>
                  <a:srgbClr val="5E6470"/>
                </a:solidFill>
              </a:defRPr>
            </a:pPr>
            <a:endParaRPr lang="zh-CN"/>
          </a:p>
        </c:txPr>
        <c:crossAx val="48650112"/>
        <c:crosses val="autoZero"/>
        <c:crossBetween val="between"/>
        <c:majorUnit val="2"/>
      </c:valAx>
      <c:spPr>
        <a:noFill/>
        <a:ln w="0">
          <a:solidFill>
            <a:srgbClr val="FFFFFF"/>
          </a:solidFill>
          <a:prstDash val="solid"/>
        </a:ln>
      </c:spPr>
    </c:plotArea>
    <c:plotVisOnly val="1"/>
    <c:dispBlanksAs val="zero"/>
    <c:showDLblsOverMax val="1"/>
  </c:chart>
  <c:spPr>
    <a:solidFill>
      <a:srgbClr val="FFFFFF"/>
    </a:solidFill>
    <a:ln w="0">
      <a:solidFill>
        <a:srgbClr val="FFFFFF"/>
      </a:solidFill>
      <a:prstDash val="solid"/>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dirty="0" err="1"/>
              <a:t>今天给大家分享几篇</a:t>
            </a:r>
            <a:r>
              <a:rPr lang="zh-CN" altLang="en-US" sz="1200" dirty="0"/>
              <a:t>近期顶会中稿中关于</a:t>
            </a:r>
            <a:r>
              <a:rPr lang="en-US" altLang="zh-CN" sz="1200" dirty="0"/>
              <a:t>agentic</a:t>
            </a:r>
            <a:r>
              <a:rPr lang="zh-CN" altLang="en-US" sz="1200" dirty="0"/>
              <a:t> </a:t>
            </a:r>
            <a:r>
              <a:rPr lang="en-US" altLang="zh-CN" sz="1200" dirty="0"/>
              <a:t>RL</a:t>
            </a:r>
            <a:r>
              <a:rPr lang="zh-CN" altLang="en-US" sz="1200" dirty="0"/>
              <a:t>算法的文章，</a:t>
            </a:r>
            <a:r>
              <a:rPr sz="1200" dirty="0" err="1"/>
              <a:t>由于几篇都和熵或者uncertainty有关，所以就从</a:t>
            </a:r>
            <a:r>
              <a:rPr sz="1200" dirty="0"/>
              <a:t> </a:t>
            </a:r>
            <a:r>
              <a:rPr lang="zh-CN" altLang="en-US" sz="1200" dirty="0"/>
              <a:t>这个</a:t>
            </a:r>
            <a:r>
              <a:rPr lang="en-US" altLang="zh-CN" sz="1200" dirty="0"/>
              <a:t>topic</a:t>
            </a:r>
            <a:r>
              <a:rPr lang="zh-CN" altLang="en-US" sz="1200" dirty="0"/>
              <a:t> 开始讨论</a:t>
            </a:r>
            <a:r>
              <a:rPr sz="1200" dirty="0"/>
              <a:t>。</a:t>
            </a:r>
            <a:r>
              <a:rPr sz="1200" dirty="0" err="1"/>
              <a:t>这里的重点不是把</a:t>
            </a:r>
            <a:r>
              <a:rPr sz="1200" dirty="0"/>
              <a:t> entropy </a:t>
            </a:r>
            <a:r>
              <a:rPr sz="1200" dirty="0" err="1"/>
              <a:t>当成一个孤立的监控指标，而是看它如何与</a:t>
            </a:r>
            <a:r>
              <a:rPr lang="en-US" sz="1200" dirty="0" err="1"/>
              <a:t>RL的</a:t>
            </a:r>
            <a:r>
              <a:rPr sz="1200" dirty="0" err="1"/>
              <a:t>探索</a:t>
            </a:r>
            <a:r>
              <a:rPr lang="zh-CN" altLang="en-US" sz="1200" dirty="0"/>
              <a:t>以及</a:t>
            </a:r>
            <a:r>
              <a:rPr sz="1200" dirty="0" err="1"/>
              <a:t>长轨迹训练实现共同作用</a:t>
            </a:r>
            <a:r>
              <a:rPr sz="1200"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dirty="0" err="1"/>
              <a:t>在RLVR和Agentic</a:t>
            </a:r>
            <a:r>
              <a:rPr sz="1200" dirty="0"/>
              <a:t> RL的训练过程当中，稳定性是一个很大的问题，其中算法不稳定的表现之一就是行为坍缩，即模型在训练过程中的输出会变得越来越确定，一旦策略过早变得确定，模型会减少探索，group-wise advantage </a:t>
            </a:r>
            <a:r>
              <a:rPr sz="1200" dirty="0" err="1"/>
              <a:t>的有效差异也会变小，并更容易陷入局部最优</a:t>
            </a:r>
            <a:r>
              <a:rPr sz="1200" dirty="0"/>
              <a:t>。</a:t>
            </a:r>
          </a:p>
          <a:p>
            <a:r>
              <a:rPr sz="1200" dirty="0" err="1"/>
              <a:t>左侧和右侧的论文图都直接画出了</a:t>
            </a:r>
            <a:r>
              <a:rPr sz="1200" dirty="0"/>
              <a:t> entropy </a:t>
            </a:r>
            <a:r>
              <a:rPr sz="1200" dirty="0" err="1"/>
              <a:t>与</a:t>
            </a:r>
            <a:r>
              <a:rPr sz="1200" dirty="0"/>
              <a:t> RL </a:t>
            </a:r>
            <a:r>
              <a:rPr sz="1200" dirty="0" err="1"/>
              <a:t>训练效果的关系</a:t>
            </a:r>
            <a:r>
              <a:rPr sz="1200" dirty="0"/>
              <a:t>。</a:t>
            </a:r>
            <a:r>
              <a:rPr lang="zh-CN" altLang="en-US" sz="1200" dirty="0"/>
              <a:t>比如这里的</a:t>
            </a:r>
            <a:r>
              <a:rPr lang="en-US" altLang="zh-CN" sz="1200" dirty="0"/>
              <a:t>GRPO</a:t>
            </a:r>
            <a:r>
              <a:rPr lang="zh-CN" altLang="en-US" sz="1200" dirty="0"/>
              <a:t>，它训练到后期时</a:t>
            </a:r>
            <a:r>
              <a:rPr lang="en-US" altLang="zh-CN" sz="1200" dirty="0"/>
              <a:t>entropy</a:t>
            </a:r>
            <a:r>
              <a:rPr lang="zh-CN" altLang="en-US" sz="1200" dirty="0"/>
              <a:t>降到很低，模型输出几乎是确定的，随机性很小，所以后续测试的</a:t>
            </a:r>
            <a:r>
              <a:rPr lang="en-US" altLang="zh-CN" sz="1200" dirty="0" err="1"/>
              <a:t>passK</a:t>
            </a:r>
            <a:r>
              <a:rPr lang="zh-CN" altLang="en-US" sz="1200" dirty="0"/>
              <a:t>指标（也就是一个</a:t>
            </a:r>
            <a:r>
              <a:rPr lang="en-US" altLang="zh-CN" sz="1200" dirty="0"/>
              <a:t>query</a:t>
            </a:r>
            <a:r>
              <a:rPr lang="zh-CN" altLang="en-US" sz="1200" dirty="0"/>
              <a:t>采样</a:t>
            </a:r>
            <a:r>
              <a:rPr lang="en-US" altLang="zh-CN" sz="1200" dirty="0"/>
              <a:t>K</a:t>
            </a:r>
            <a:r>
              <a:rPr lang="zh-CN" altLang="en-US" sz="1200" dirty="0"/>
              <a:t>次得到的结果，它反映模型内蕴的推理能力）下降了。虽然</a:t>
            </a:r>
            <a:r>
              <a:rPr sz="1200" dirty="0" err="1"/>
              <a:t>我们不应该把</a:t>
            </a:r>
            <a:r>
              <a:rPr sz="1200" dirty="0"/>
              <a:t> entropy </a:t>
            </a:r>
            <a:r>
              <a:rPr sz="1200" dirty="0" err="1"/>
              <a:t>等同于能力，但它确实是一个重要的行为侧信号</a:t>
            </a:r>
            <a:r>
              <a:rPr lang="zh-CN" altLang="en-US" sz="1200" dirty="0"/>
              <a:t>，尤其是探索行为对于</a:t>
            </a:r>
            <a:r>
              <a:rPr lang="en-US" altLang="zh-CN" sz="1200" dirty="0"/>
              <a:t>RL</a:t>
            </a:r>
            <a:r>
              <a:rPr lang="zh-CN" altLang="en-US" sz="1200" dirty="0"/>
              <a:t>这种在线采样的算法是比较重要的一个纬度。</a:t>
            </a:r>
            <a:endParaRPr sz="1200" dirty="0"/>
          </a:p>
          <a:p>
            <a:r>
              <a:rPr lang="en-US" altLang="zh-CN" sz="1200" dirty="0"/>
              <a:t>Entropy</a:t>
            </a:r>
            <a:r>
              <a:rPr lang="zh-CN" altLang="en-US" sz="1200" dirty="0"/>
              <a:t>有用主要是：</a:t>
            </a:r>
            <a:r>
              <a:rPr sz="1200" dirty="0" err="1"/>
              <a:t>第一，token</a:t>
            </a:r>
            <a:r>
              <a:rPr sz="1200" dirty="0"/>
              <a:t> entropy </a:t>
            </a:r>
            <a:r>
              <a:rPr sz="1200" dirty="0" err="1"/>
              <a:t>可以侧面反映模型生成分布的多样性</a:t>
            </a:r>
            <a:r>
              <a:rPr sz="1200" dirty="0"/>
              <a:t>。</a:t>
            </a:r>
            <a:endParaRPr lang="en-US" sz="1200" dirty="0"/>
          </a:p>
          <a:p>
            <a:r>
              <a:rPr sz="1200" dirty="0" err="1"/>
              <a:t>第二，针对性的熵调控能够提升</a:t>
            </a:r>
            <a:r>
              <a:rPr sz="1200" dirty="0"/>
              <a:t> Agentic RL </a:t>
            </a:r>
            <a:r>
              <a:rPr sz="1200" dirty="0" err="1"/>
              <a:t>的</a:t>
            </a:r>
            <a:r>
              <a:rPr sz="1200" dirty="0"/>
              <a:t> effectiveness。</a:t>
            </a:r>
            <a:r>
              <a:rPr lang="zh-CN" altLang="en-US" sz="1200" dirty="0"/>
              <a:t>关键是</a:t>
            </a:r>
            <a:r>
              <a:rPr sz="1200" dirty="0" err="1"/>
              <a:t>识别哪些</a:t>
            </a:r>
            <a:r>
              <a:rPr sz="1200" dirty="0"/>
              <a:t> </a:t>
            </a:r>
            <a:r>
              <a:rPr sz="1200" dirty="0" err="1"/>
              <a:t>token、哪些</a:t>
            </a:r>
            <a:r>
              <a:rPr sz="1200" dirty="0"/>
              <a:t> </a:t>
            </a:r>
            <a:r>
              <a:rPr sz="1200" dirty="0" err="1"/>
              <a:t>prompt、哪些阶段发生了不合理的熵变化，然后</a:t>
            </a:r>
            <a:r>
              <a:rPr lang="zh-CN" altLang="en-US" sz="1200" dirty="0"/>
              <a:t>针对性的</a:t>
            </a:r>
            <a:r>
              <a:rPr sz="1200" dirty="0" err="1"/>
              <a:t>干预这些更新</a:t>
            </a:r>
            <a:r>
              <a:rPr sz="1200" dirty="0"/>
              <a:t>。</a:t>
            </a:r>
          </a:p>
          <a:p>
            <a:endParaRPr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a:lnSpc>
                <a:spcPct val="100000"/>
              </a:lnSpc>
              <a:spcBef>
                <a:spcPts val="0"/>
              </a:spcBef>
              <a:spcAft>
                <a:spcPts val="0"/>
              </a:spcAft>
              <a:buClrTx/>
              <a:buSzTx/>
              <a:buFontTx/>
              <a:buNone/>
            </a:pPr>
            <a:r>
              <a:rPr sz="1200" dirty="0" err="1"/>
              <a:t>第一篇文章是</a:t>
            </a:r>
            <a:r>
              <a:rPr sz="1200" dirty="0"/>
              <a:t> Rethinking Entropy Interventions in </a:t>
            </a:r>
            <a:r>
              <a:rPr sz="1200" dirty="0" err="1"/>
              <a:t>RLVR，也是</a:t>
            </a:r>
            <a:r>
              <a:rPr sz="1200" dirty="0"/>
              <a:t> ACL 2026 Outstanding </a:t>
            </a:r>
            <a:r>
              <a:rPr sz="1200" dirty="0" err="1"/>
              <a:t>Paper。虽然这篇文章讨论的是rlvr的场景，但是它讨论的机制问题是在RLVR和agentic</a:t>
            </a:r>
            <a:r>
              <a:rPr sz="1200" dirty="0"/>
              <a:t> </a:t>
            </a:r>
            <a:r>
              <a:rPr sz="1200" dirty="0" err="1"/>
              <a:t>RL</a:t>
            </a:r>
            <a:r>
              <a:rPr lang="en-US" sz="1200" dirty="0" err="1"/>
              <a:t>当中都存在的问题</a:t>
            </a:r>
            <a:r>
              <a:rPr sz="1200" dirty="0" err="1"/>
              <a:t>。它最重要的贡献，是把</a:t>
            </a:r>
            <a:r>
              <a:rPr lang="zh-CN" altLang="en-US" sz="1200" dirty="0"/>
              <a:t>熵调控问题</a:t>
            </a:r>
            <a:r>
              <a:rPr sz="1200" dirty="0" err="1"/>
              <a:t>从</a:t>
            </a:r>
            <a:r>
              <a:rPr lang="zh-CN" altLang="en-US" sz="1200" dirty="0"/>
              <a:t>之前的</a:t>
            </a:r>
            <a:r>
              <a:rPr sz="1200" dirty="0"/>
              <a:t>“entropy </a:t>
            </a:r>
            <a:r>
              <a:rPr sz="1200" dirty="0" err="1"/>
              <a:t>应该升还是降”改写为“每一次策略更新到底让</a:t>
            </a:r>
            <a:r>
              <a:rPr sz="1200" dirty="0"/>
              <a:t> entropy </a:t>
            </a:r>
            <a:r>
              <a:rPr sz="1200" dirty="0" err="1"/>
              <a:t>改变了多少、方向是什么</a:t>
            </a:r>
            <a:r>
              <a:rPr sz="1200" dirty="0"/>
              <a:t>”。</a:t>
            </a:r>
          </a:p>
          <a:p>
            <a:endParaRPr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dirty="0"/>
              <a:t>GRPO </a:t>
            </a:r>
            <a:r>
              <a:rPr sz="1200" dirty="0" err="1"/>
              <a:t>的第一步，是对同一个</a:t>
            </a:r>
            <a:r>
              <a:rPr sz="1200" dirty="0"/>
              <a:t> prompt </a:t>
            </a:r>
            <a:r>
              <a:rPr sz="1200" dirty="0" err="1"/>
              <a:t>采样多条</a:t>
            </a:r>
            <a:r>
              <a:rPr sz="1200" dirty="0"/>
              <a:t> </a:t>
            </a:r>
            <a:r>
              <a:rPr sz="1200" dirty="0" err="1"/>
              <a:t>response。它不额外训练</a:t>
            </a:r>
            <a:r>
              <a:rPr sz="1200" dirty="0"/>
              <a:t> value </a:t>
            </a:r>
            <a:r>
              <a:rPr sz="1200" dirty="0" err="1"/>
              <a:t>model，而是在组内比较</a:t>
            </a:r>
            <a:r>
              <a:rPr sz="1200" dirty="0"/>
              <a:t> </a:t>
            </a:r>
            <a:r>
              <a:rPr sz="1200" dirty="0" err="1"/>
              <a:t>reward，把每条</a:t>
            </a:r>
            <a:r>
              <a:rPr sz="1200" dirty="0"/>
              <a:t> response </a:t>
            </a:r>
            <a:r>
              <a:rPr sz="1200" dirty="0" err="1"/>
              <a:t>的</a:t>
            </a:r>
            <a:r>
              <a:rPr sz="1200" dirty="0"/>
              <a:t> reward </a:t>
            </a:r>
            <a:r>
              <a:rPr sz="1200" dirty="0" err="1"/>
              <a:t>做标准化，得到</a:t>
            </a:r>
            <a:r>
              <a:rPr sz="1200" dirty="0"/>
              <a:t> relative advantage。</a:t>
            </a:r>
          </a:p>
          <a:p>
            <a:r>
              <a:rPr sz="1200" dirty="0" err="1"/>
              <a:t>第二步与</a:t>
            </a:r>
            <a:r>
              <a:rPr sz="1200" dirty="0"/>
              <a:t> PPO </a:t>
            </a:r>
            <a:r>
              <a:rPr sz="1200" dirty="0" err="1"/>
              <a:t>类似：计算新旧策略的</a:t>
            </a:r>
            <a:r>
              <a:rPr sz="1200" dirty="0"/>
              <a:t> importance </a:t>
            </a:r>
            <a:r>
              <a:rPr sz="1200" dirty="0" err="1"/>
              <a:t>ratio，并用</a:t>
            </a:r>
            <a:r>
              <a:rPr sz="1200" dirty="0"/>
              <a:t> clipping </a:t>
            </a:r>
            <a:r>
              <a:rPr sz="1200" dirty="0" err="1"/>
              <a:t>限制单步策略漂移。最后，sequence-level</a:t>
            </a:r>
            <a:r>
              <a:rPr sz="1200" dirty="0"/>
              <a:t> </a:t>
            </a:r>
            <a:r>
              <a:rPr sz="1200" dirty="0" err="1"/>
              <a:t>的</a:t>
            </a:r>
            <a:r>
              <a:rPr sz="1200" dirty="0"/>
              <a:t> advantage </a:t>
            </a:r>
            <a:r>
              <a:rPr sz="1200" dirty="0" err="1"/>
              <a:t>会作用到</a:t>
            </a:r>
            <a:r>
              <a:rPr sz="1200" dirty="0"/>
              <a:t> response </a:t>
            </a:r>
            <a:r>
              <a:rPr sz="1200" dirty="0" err="1"/>
              <a:t>中的</a:t>
            </a:r>
            <a:r>
              <a:rPr sz="1200" dirty="0"/>
              <a:t> </a:t>
            </a:r>
            <a:r>
              <a:rPr sz="1200" dirty="0" err="1"/>
              <a:t>token，再对所有</a:t>
            </a:r>
            <a:r>
              <a:rPr sz="1200" dirty="0"/>
              <a:t> token </a:t>
            </a:r>
            <a:r>
              <a:rPr sz="1200" dirty="0" err="1"/>
              <a:t>聚合形成</a:t>
            </a:r>
            <a:r>
              <a:rPr sz="1200" dirty="0"/>
              <a:t> policy gradient。</a:t>
            </a:r>
          </a:p>
          <a:p>
            <a:endParaRPr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dirty="0" err="1"/>
              <a:t>这张表把相关方法分成五类。第一类是全局正则，例如</a:t>
            </a:r>
            <a:r>
              <a:rPr sz="1200" dirty="0"/>
              <a:t> entropy bonus </a:t>
            </a:r>
            <a:r>
              <a:rPr sz="1200" dirty="0" err="1"/>
              <a:t>或</a:t>
            </a:r>
            <a:r>
              <a:rPr sz="1200" dirty="0"/>
              <a:t> KL </a:t>
            </a:r>
            <a:r>
              <a:rPr sz="1200" dirty="0" err="1"/>
              <a:t>penalty。优点是实现简单，但它对所有</a:t>
            </a:r>
            <a:r>
              <a:rPr sz="1200" dirty="0"/>
              <a:t> token </a:t>
            </a:r>
            <a:r>
              <a:rPr sz="1200" dirty="0" err="1"/>
              <a:t>一视同仁，无法定位局部坍缩，而且系数非常敏感</a:t>
            </a:r>
            <a:r>
              <a:rPr sz="1200" dirty="0"/>
              <a:t>。</a:t>
            </a:r>
          </a:p>
          <a:p>
            <a:r>
              <a:rPr sz="1200" dirty="0" err="1"/>
              <a:t>第二类是</a:t>
            </a:r>
            <a:r>
              <a:rPr sz="1200" dirty="0"/>
              <a:t> </a:t>
            </a:r>
            <a:r>
              <a:rPr sz="1200" dirty="0" err="1"/>
              <a:t>Clip-Higher，例如</a:t>
            </a:r>
            <a:r>
              <a:rPr sz="1200" dirty="0"/>
              <a:t> DAPO </a:t>
            </a:r>
            <a:r>
              <a:rPr sz="1200" dirty="0" err="1"/>
              <a:t>和</a:t>
            </a:r>
            <a:r>
              <a:rPr sz="1200" dirty="0"/>
              <a:t> </a:t>
            </a:r>
            <a:r>
              <a:rPr sz="1200" dirty="0" err="1"/>
              <a:t>DCPO，通过放宽正优势</a:t>
            </a:r>
            <a:r>
              <a:rPr sz="1200" dirty="0"/>
              <a:t> token </a:t>
            </a:r>
            <a:r>
              <a:rPr sz="1200" dirty="0" err="1"/>
              <a:t>的上裁剪界，保留低概率但正确的探索</a:t>
            </a:r>
            <a:r>
              <a:rPr sz="1200" dirty="0"/>
              <a:t> token</a:t>
            </a:r>
            <a:r>
              <a:rPr lang="zh-CN" altLang="en-US" sz="1200" dirty="0"/>
              <a:t>。它更像一个门控机制，</a:t>
            </a:r>
            <a:r>
              <a:rPr sz="1200" dirty="0" err="1"/>
              <a:t>只影响已经进入</a:t>
            </a:r>
            <a:r>
              <a:rPr sz="1200" dirty="0"/>
              <a:t> clipping </a:t>
            </a:r>
            <a:r>
              <a:rPr sz="1200" dirty="0" err="1"/>
              <a:t>区间的</a:t>
            </a:r>
            <a:r>
              <a:rPr sz="1200" dirty="0"/>
              <a:t> token。</a:t>
            </a:r>
            <a:endParaRPr lang="en-US" sz="1200" dirty="0"/>
          </a:p>
          <a:p>
            <a:r>
              <a:rPr sz="1200" dirty="0" err="1"/>
              <a:t>第三类是正样本重加权，例如</a:t>
            </a:r>
            <a:r>
              <a:rPr sz="1200" dirty="0"/>
              <a:t> Unlikeliness </a:t>
            </a:r>
            <a:r>
              <a:rPr sz="1200" dirty="0" err="1"/>
              <a:t>和</a:t>
            </a:r>
            <a:r>
              <a:rPr sz="1200" dirty="0"/>
              <a:t> </a:t>
            </a:r>
            <a:r>
              <a:rPr sz="1200" dirty="0" err="1"/>
              <a:t>W-REINFORCE，核心是削弱高概率正确路径的垄断，但负样本和其他</a:t>
            </a:r>
            <a:r>
              <a:rPr sz="1200" dirty="0"/>
              <a:t> token </a:t>
            </a:r>
            <a:r>
              <a:rPr sz="1200" dirty="0" err="1"/>
              <a:t>仍然不受控</a:t>
            </a:r>
            <a:r>
              <a:rPr sz="1200" dirty="0"/>
              <a:t>。</a:t>
            </a:r>
          </a:p>
          <a:p>
            <a:r>
              <a:rPr sz="1200" dirty="0" err="1"/>
              <a:t>第四类是</a:t>
            </a:r>
            <a:r>
              <a:rPr sz="1200" dirty="0"/>
              <a:t> entropy-aware </a:t>
            </a:r>
            <a:r>
              <a:rPr sz="1200" dirty="0" err="1"/>
              <a:t>advantage，例如</a:t>
            </a:r>
            <a:r>
              <a:rPr sz="1200" dirty="0"/>
              <a:t> </a:t>
            </a:r>
            <a:r>
              <a:rPr sz="1200" dirty="0" err="1"/>
              <a:t>GTPO、EDGE-GRPO，把高熵</a:t>
            </a:r>
            <a:r>
              <a:rPr sz="1200" dirty="0"/>
              <a:t> token </a:t>
            </a:r>
            <a:r>
              <a:rPr sz="1200" dirty="0" err="1"/>
              <a:t>或</a:t>
            </a:r>
            <a:r>
              <a:rPr sz="1200" dirty="0"/>
              <a:t> group </a:t>
            </a:r>
            <a:r>
              <a:rPr sz="1200" dirty="0" err="1"/>
              <a:t>的优势放大。直觉上是在鼓励探索，但文章指出：它放大的其实是熵变化的绝对幅度。如果训练已经处于降熵阶段，它反而会加速坍缩</a:t>
            </a:r>
            <a:r>
              <a:rPr sz="1200" dirty="0"/>
              <a:t>。</a:t>
            </a:r>
          </a:p>
          <a:p>
            <a:r>
              <a:rPr sz="1200" dirty="0" err="1"/>
              <a:t>最后是</a:t>
            </a:r>
            <a:r>
              <a:rPr sz="1200" dirty="0"/>
              <a:t> </a:t>
            </a:r>
            <a:r>
              <a:rPr sz="1200" dirty="0" err="1"/>
              <a:t>STEER。它不预设</a:t>
            </a:r>
            <a:r>
              <a:rPr sz="1200" dirty="0"/>
              <a:t> entropy </a:t>
            </a:r>
            <a:r>
              <a:rPr sz="1200" dirty="0" err="1"/>
              <a:t>必须增加，而是估计每个</a:t>
            </a:r>
            <a:r>
              <a:rPr sz="1200" dirty="0"/>
              <a:t> token </a:t>
            </a:r>
            <a:r>
              <a:rPr sz="1200" dirty="0" err="1"/>
              <a:t>的</a:t>
            </a:r>
            <a:r>
              <a:rPr sz="1200" dirty="0"/>
              <a:t> entropy </a:t>
            </a:r>
            <a:r>
              <a:rPr sz="1200" dirty="0" err="1"/>
              <a:t>change，并抑制过大的更新。除</a:t>
            </a:r>
            <a:r>
              <a:rPr sz="1200" dirty="0"/>
              <a:t> STEER </a:t>
            </a:r>
            <a:r>
              <a:rPr sz="1200" dirty="0" err="1"/>
              <a:t>外，大多数方法的共同</a:t>
            </a:r>
            <a:r>
              <a:rPr sz="1200" dirty="0"/>
              <a:t> motivation </a:t>
            </a:r>
            <a:r>
              <a:rPr sz="1200" dirty="0" err="1"/>
              <a:t>都是增熵、保探索或延缓坍缩；共同局限是只干预一两个局部因素，没有联合约束</a:t>
            </a:r>
            <a:r>
              <a:rPr sz="1200" dirty="0"/>
              <a:t> signed token-level ΔH。</a:t>
            </a:r>
          </a:p>
          <a:p>
            <a:endParaRPr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err="1"/>
              <a:t>接下来看下这篇文章做了什么</a:t>
            </a:r>
            <a:r>
              <a:rPr lang="zh-CN" altLang="en-US" sz="1200" dirty="0"/>
              <a:t>：</a:t>
            </a:r>
            <a:endParaRPr lang="en-US" sz="1200" dirty="0"/>
          </a:p>
          <a:p>
            <a:r>
              <a:rPr sz="1200" dirty="0" err="1"/>
              <a:t>左侧先定义</a:t>
            </a:r>
            <a:r>
              <a:rPr sz="1200" dirty="0"/>
              <a:t> </a:t>
            </a:r>
            <a:r>
              <a:rPr sz="1200" dirty="0" err="1"/>
              <a:t>entropy。对一个状态，也就是给定</a:t>
            </a:r>
            <a:r>
              <a:rPr sz="1200" dirty="0"/>
              <a:t> query </a:t>
            </a:r>
            <a:r>
              <a:rPr sz="1200" dirty="0" err="1"/>
              <a:t>和已经生成的前缀，token-level</a:t>
            </a:r>
            <a:r>
              <a:rPr sz="1200" dirty="0"/>
              <a:t> entropy </a:t>
            </a:r>
            <a:r>
              <a:rPr sz="1200" dirty="0" err="1"/>
              <a:t>是下一</a:t>
            </a:r>
            <a:r>
              <a:rPr sz="1200" dirty="0"/>
              <a:t> token </a:t>
            </a:r>
            <a:r>
              <a:rPr sz="1200" dirty="0" err="1"/>
              <a:t>分布的</a:t>
            </a:r>
            <a:r>
              <a:rPr sz="1200" dirty="0"/>
              <a:t> Shannon </a:t>
            </a:r>
            <a:r>
              <a:rPr sz="1200" dirty="0" err="1"/>
              <a:t>entropy；global</a:t>
            </a:r>
            <a:r>
              <a:rPr sz="1200" dirty="0"/>
              <a:t> policy entropy </a:t>
            </a:r>
            <a:r>
              <a:rPr sz="1200" dirty="0" err="1"/>
              <a:t>则是在</a:t>
            </a:r>
            <a:r>
              <a:rPr sz="1200" dirty="0"/>
              <a:t> query </a:t>
            </a:r>
            <a:r>
              <a:rPr sz="1200" dirty="0" err="1"/>
              <a:t>数据集和采样</a:t>
            </a:r>
            <a:r>
              <a:rPr sz="1200" dirty="0"/>
              <a:t> response </a:t>
            </a:r>
            <a:r>
              <a:rPr sz="1200" dirty="0" err="1"/>
              <a:t>上，对所有</a:t>
            </a:r>
            <a:r>
              <a:rPr sz="1200" dirty="0"/>
              <a:t> token entropy </a:t>
            </a:r>
            <a:r>
              <a:rPr sz="1200" dirty="0" err="1"/>
              <a:t>求平均</a:t>
            </a:r>
            <a:r>
              <a:rPr sz="1200" dirty="0"/>
              <a:t>。</a:t>
            </a:r>
          </a:p>
          <a:p>
            <a:r>
              <a:rPr sz="1200" dirty="0" err="1"/>
              <a:t>右侧的</a:t>
            </a:r>
            <a:r>
              <a:rPr sz="1200" dirty="0"/>
              <a:t> Theorem 1 </a:t>
            </a:r>
            <a:r>
              <a:rPr lang="zh-CN" altLang="en-US" sz="1200" dirty="0"/>
              <a:t>是这篇文章的核心贡献，它把思路从之前那些定位高</a:t>
            </a:r>
            <a:r>
              <a:rPr lang="en-US" altLang="zh-CN" sz="1200" dirty="0"/>
              <a:t>/</a:t>
            </a:r>
            <a:r>
              <a:rPr lang="zh-CN" altLang="en-US" sz="1200" dirty="0"/>
              <a:t>低熵或者确定性的</a:t>
            </a:r>
            <a:r>
              <a:rPr lang="en-US" altLang="zh-CN" sz="1200" dirty="0"/>
              <a:t>token</a:t>
            </a:r>
            <a:r>
              <a:rPr lang="zh-CN" altLang="en-US" sz="1200" dirty="0"/>
              <a:t>，然后做</a:t>
            </a:r>
            <a:r>
              <a:rPr lang="en-US" altLang="zh-CN" sz="1200" dirty="0"/>
              <a:t>token-level</a:t>
            </a:r>
            <a:r>
              <a:rPr lang="zh-CN" altLang="en-US" sz="1200" dirty="0"/>
              <a:t>的调制，转换策略；它推出</a:t>
            </a:r>
            <a:r>
              <a:rPr lang="en-US" altLang="zh-CN" sz="1200" dirty="0"/>
              <a:t>RL</a:t>
            </a:r>
            <a:r>
              <a:rPr lang="zh-CN" altLang="en-US" sz="1200" dirty="0"/>
              <a:t>算法（诸如</a:t>
            </a:r>
            <a:r>
              <a:rPr lang="en-US" altLang="zh-CN" sz="1200" dirty="0"/>
              <a:t>GRPO</a:t>
            </a:r>
            <a:r>
              <a:rPr lang="zh-CN" altLang="en-US" sz="1200" dirty="0"/>
              <a:t>这类算法）</a:t>
            </a:r>
            <a:r>
              <a:rPr sz="1200" dirty="0" err="1"/>
              <a:t>单步更新后的</a:t>
            </a:r>
            <a:r>
              <a:rPr sz="1200" dirty="0"/>
              <a:t> entropy change </a:t>
            </a:r>
            <a:r>
              <a:rPr sz="1200" dirty="0" err="1"/>
              <a:t>近似</a:t>
            </a:r>
            <a:r>
              <a:rPr lang="zh-CN" altLang="en-US" sz="1200" dirty="0"/>
              <a:t>，通过这个熵的变化来看</a:t>
            </a:r>
            <a:r>
              <a:rPr lang="en-US" altLang="zh-CN" sz="1200" dirty="0"/>
              <a:t>RL</a:t>
            </a:r>
            <a:r>
              <a:rPr lang="zh-CN" altLang="en-US" sz="1200" dirty="0"/>
              <a:t>训练过程中的动力学。在理解这个定理之前，我首先简单介绍下它的推导</a:t>
            </a:r>
            <a:endParaRPr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t>这个推导的流程比较套路，推导核心只有三步：</a:t>
            </a:r>
            <a:r>
              <a:rPr lang="en-US" altLang="zh-CN" sz="1200" dirty="0"/>
              <a:t>1</a:t>
            </a:r>
            <a:r>
              <a:rPr lang="zh-CN" altLang="en-US" sz="1200" dirty="0"/>
              <a:t>）熵变量泰勒一阶展开，最后的近似项其实就是一阶项：这里的</a:t>
            </a:r>
            <a:r>
              <a:rPr lang="en-US" altLang="zh-CN" sz="1200" dirty="0"/>
              <a:t>z</a:t>
            </a:r>
            <a:r>
              <a:rPr lang="zh-CN" altLang="en-US" sz="1200" dirty="0"/>
              <a:t>是</a:t>
            </a:r>
            <a:r>
              <a:rPr lang="en-US" altLang="zh-CN" sz="1200" dirty="0"/>
              <a:t>LLM</a:t>
            </a:r>
            <a:r>
              <a:rPr lang="zh-CN" altLang="en-US" sz="1200" dirty="0"/>
              <a:t>的</a:t>
            </a:r>
            <a:r>
              <a:rPr lang="en-US" altLang="zh-CN" sz="1200" dirty="0"/>
              <a:t>logit</a:t>
            </a:r>
            <a:r>
              <a:rPr lang="zh-CN" altLang="en-US" sz="1200" dirty="0"/>
              <a:t>，第一项是熵变对于</a:t>
            </a:r>
            <a:r>
              <a:rPr lang="en-US" altLang="zh-CN" sz="1200" dirty="0"/>
              <a:t>logit</a:t>
            </a:r>
            <a:r>
              <a:rPr lang="zh-CN" altLang="en-US" sz="1200" dirty="0"/>
              <a:t>的梯度，第二项是</a:t>
            </a:r>
            <a:r>
              <a:rPr lang="en-US" altLang="zh-CN" sz="1200" dirty="0"/>
              <a:t>logit</a:t>
            </a:r>
            <a:r>
              <a:rPr lang="zh-CN" altLang="en-US" sz="1200" dirty="0"/>
              <a:t>在一次</a:t>
            </a:r>
            <a:r>
              <a:rPr lang="en-US" altLang="zh-CN" sz="1200" dirty="0"/>
              <a:t>RL</a:t>
            </a:r>
            <a:r>
              <a:rPr lang="zh-CN" altLang="en-US" sz="1200" dirty="0"/>
              <a:t> </a:t>
            </a:r>
            <a:r>
              <a:rPr lang="en-US" altLang="zh-CN" sz="1200" dirty="0"/>
              <a:t>step</a:t>
            </a:r>
            <a:r>
              <a:rPr lang="zh-CN" altLang="en-US" sz="1200" dirty="0"/>
              <a:t>之后的更新量；所以其实这个推导不是建立在</a:t>
            </a:r>
            <a:r>
              <a:rPr lang="en-US" altLang="zh-CN" sz="1200" dirty="0"/>
              <a:t>LLM</a:t>
            </a:r>
            <a:r>
              <a:rPr lang="zh-CN" altLang="en-US" sz="1200" dirty="0"/>
              <a:t>的参数空间，而是建立在</a:t>
            </a:r>
            <a:r>
              <a:rPr lang="en-US" altLang="zh-CN" sz="1200" dirty="0"/>
              <a:t>logit</a:t>
            </a:r>
            <a:r>
              <a:rPr lang="zh-CN" altLang="en-US" sz="1200" dirty="0"/>
              <a:t>空间，在</a:t>
            </a:r>
            <a:r>
              <a:rPr lang="en-US" altLang="zh-CN" sz="1200" dirty="0"/>
              <a:t>LLM</a:t>
            </a:r>
            <a:r>
              <a:rPr lang="zh-CN" altLang="en-US" sz="1200" dirty="0"/>
              <a:t>里的一个常见方式；</a:t>
            </a:r>
            <a:r>
              <a:rPr lang="en-US" altLang="zh-CN" sz="1200" dirty="0"/>
              <a:t>2</a:t>
            </a:r>
            <a:r>
              <a:rPr lang="zh-CN" altLang="en-US" sz="1200" dirty="0"/>
              <a:t>）求</a:t>
            </a:r>
            <a:r>
              <a:rPr lang="en-US" altLang="zh-CN" sz="1200" dirty="0"/>
              <a:t>GRPO</a:t>
            </a:r>
            <a:r>
              <a:rPr lang="zh-CN" altLang="en-US" sz="1200" dirty="0"/>
              <a:t>在</a:t>
            </a:r>
            <a:r>
              <a:rPr lang="en-US" altLang="zh-CN" sz="1200" dirty="0"/>
              <a:t>logit</a:t>
            </a:r>
            <a:r>
              <a:rPr lang="zh-CN" altLang="en-US" sz="1200" dirty="0"/>
              <a:t> </a:t>
            </a:r>
            <a:r>
              <a:rPr lang="en-US" altLang="zh-CN" sz="1200" dirty="0"/>
              <a:t>space</a:t>
            </a:r>
            <a:r>
              <a:rPr lang="zh-CN" altLang="en-US" sz="1200" dirty="0"/>
              <a:t>上的梯度，得到</a:t>
            </a:r>
            <a:r>
              <a:rPr lang="en-US" altLang="zh-CN" sz="1200" dirty="0"/>
              <a:t>logit</a:t>
            </a:r>
            <a:r>
              <a:rPr lang="zh-CN" altLang="en-US" sz="1200" dirty="0"/>
              <a:t> </a:t>
            </a:r>
            <a:r>
              <a:rPr lang="en-US" altLang="zh-CN" sz="1200" dirty="0"/>
              <a:t>space</a:t>
            </a:r>
            <a:r>
              <a:rPr lang="zh-CN" altLang="en-US" sz="1200" dirty="0"/>
              <a:t>一步更新，再和熵在</a:t>
            </a:r>
            <a:r>
              <a:rPr lang="en-US" altLang="zh-CN" sz="1200" dirty="0"/>
              <a:t>logit</a:t>
            </a:r>
            <a:r>
              <a:rPr lang="zh-CN" altLang="en-US" sz="1200" dirty="0"/>
              <a:t> </a:t>
            </a:r>
            <a:r>
              <a:rPr lang="en-US" altLang="zh-CN" sz="1200" dirty="0"/>
              <a:t>space</a:t>
            </a:r>
            <a:r>
              <a:rPr lang="zh-CN" altLang="en-US" sz="1200" dirty="0"/>
              <a:t>上的梯度求内积，得到一阶项表达式；</a:t>
            </a:r>
            <a:r>
              <a:rPr lang="en-US" altLang="zh-CN" sz="1200" dirty="0"/>
              <a:t>3</a:t>
            </a:r>
            <a:r>
              <a:rPr lang="zh-CN" altLang="en-US" sz="1200" dirty="0"/>
              <a:t>）对高阶项求</a:t>
            </a:r>
            <a:r>
              <a:rPr lang="en-US" altLang="zh-CN" sz="1200" dirty="0"/>
              <a:t>bound</a:t>
            </a:r>
            <a:r>
              <a:rPr lang="zh-CN" altLang="en-US" sz="1200" dirty="0"/>
              <a:t>，有界性的集中不等式；最后只剩下一阶项</a:t>
            </a:r>
            <a:endParaRPr kumimoji="1" lang="zh-CN" altLang="en-US" dirty="0"/>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23221463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dirty="0" err="1"/>
              <a:t>Ω</a:t>
            </a:r>
            <a:r>
              <a:rPr sz="1200" dirty="0"/>
              <a:t>(s) </a:t>
            </a:r>
            <a:r>
              <a:rPr sz="1200" dirty="0" err="1"/>
              <a:t>可以拆成四个因素。I_clip</a:t>
            </a:r>
            <a:r>
              <a:rPr sz="1200" dirty="0"/>
              <a:t> </a:t>
            </a:r>
            <a:r>
              <a:rPr sz="1200" dirty="0" err="1"/>
              <a:t>决定这个</a:t>
            </a:r>
            <a:r>
              <a:rPr sz="1200" dirty="0"/>
              <a:t> token </a:t>
            </a:r>
            <a:r>
              <a:rPr sz="1200" dirty="0" err="1"/>
              <a:t>是否参与更新；A</a:t>
            </a:r>
            <a:r>
              <a:rPr sz="1200" dirty="0"/>
              <a:t> </a:t>
            </a:r>
            <a:r>
              <a:rPr sz="1200" dirty="0" err="1"/>
              <a:t>除以旧策略概率决定更新权重</a:t>
            </a:r>
            <a:r>
              <a:rPr sz="1200" dirty="0"/>
              <a:t>。</a:t>
            </a:r>
          </a:p>
          <a:p>
            <a:r>
              <a:rPr sz="1200" dirty="0" err="1"/>
              <a:t>最关键的局部项可以写成</a:t>
            </a:r>
            <a:r>
              <a:rPr sz="1200" dirty="0"/>
              <a:t> </a:t>
            </a:r>
            <a:r>
              <a:rPr sz="1200" dirty="0" err="1"/>
              <a:t>δ</a:t>
            </a:r>
            <a:r>
              <a:rPr sz="1200" dirty="0"/>
              <a:t>(π</a:t>
            </a:r>
            <a:r>
              <a:rPr sz="1200" dirty="0" err="1"/>
              <a:t>θ,H</a:t>
            </a:r>
            <a:r>
              <a:rPr sz="1200" dirty="0"/>
              <a:t>) </a:t>
            </a:r>
            <a:r>
              <a:rPr lang="zh-CN" altLang="en-US" sz="1200" dirty="0"/>
              <a:t>，它和</a:t>
            </a:r>
            <a:r>
              <a:rPr lang="en-US" altLang="zh-CN" sz="1200" dirty="0"/>
              <a:t>A</a:t>
            </a:r>
            <a:r>
              <a:rPr lang="zh-CN" altLang="en-US" sz="1200" dirty="0"/>
              <a:t>的符号决定了当前</a:t>
            </a:r>
            <a:r>
              <a:rPr lang="en-US" altLang="zh-CN" sz="1200" dirty="0"/>
              <a:t>token</a:t>
            </a:r>
            <a:r>
              <a:rPr lang="zh-CN" altLang="en-US" sz="1200" dirty="0"/>
              <a:t> </a:t>
            </a:r>
            <a:r>
              <a:rPr lang="en-US" altLang="zh-CN" sz="1200" dirty="0"/>
              <a:t>update</a:t>
            </a:r>
            <a:r>
              <a:rPr lang="zh-CN" altLang="en-US" sz="1200" dirty="0"/>
              <a:t>中的熵变化方向。</a:t>
            </a:r>
            <a:endParaRPr lang="en-US" altLang="zh-CN" sz="1200" dirty="0"/>
          </a:p>
          <a:p>
            <a:r>
              <a:rPr sz="1200" dirty="0" err="1"/>
              <a:t>如果</a:t>
            </a:r>
            <a:r>
              <a:rPr sz="1200" dirty="0"/>
              <a:t> π</a:t>
            </a:r>
            <a:r>
              <a:rPr sz="1200" dirty="0" err="1"/>
              <a:t>θ</a:t>
            </a:r>
            <a:r>
              <a:rPr sz="1200" dirty="0"/>
              <a:t> </a:t>
            </a:r>
            <a:r>
              <a:rPr sz="1200" dirty="0" err="1"/>
              <a:t>小于这个分界，δ</a:t>
            </a:r>
            <a:r>
              <a:rPr sz="1200" dirty="0"/>
              <a:t> </a:t>
            </a:r>
            <a:r>
              <a:rPr sz="1200" dirty="0" err="1"/>
              <a:t>为正；如果</a:t>
            </a:r>
            <a:r>
              <a:rPr sz="1200" dirty="0"/>
              <a:t> π</a:t>
            </a:r>
            <a:r>
              <a:rPr sz="1200" dirty="0" err="1"/>
              <a:t>θ</a:t>
            </a:r>
            <a:r>
              <a:rPr sz="1200" dirty="0"/>
              <a:t> </a:t>
            </a:r>
            <a:r>
              <a:rPr sz="1200" dirty="0" err="1"/>
              <a:t>大于分界，δ</a:t>
            </a:r>
            <a:r>
              <a:rPr sz="1200" dirty="0"/>
              <a:t> </a:t>
            </a:r>
            <a:r>
              <a:rPr sz="1200" dirty="0" err="1"/>
              <a:t>为负。对于没有被</a:t>
            </a:r>
            <a:r>
              <a:rPr sz="1200" dirty="0"/>
              <a:t> clip </a:t>
            </a:r>
            <a:r>
              <a:rPr sz="1200" dirty="0" err="1"/>
              <a:t>的</a:t>
            </a:r>
            <a:r>
              <a:rPr sz="1200" dirty="0"/>
              <a:t> </a:t>
            </a:r>
            <a:r>
              <a:rPr sz="1200" dirty="0" err="1"/>
              <a:t>token，最终</a:t>
            </a:r>
            <a:r>
              <a:rPr sz="1200" dirty="0"/>
              <a:t> ΔH </a:t>
            </a:r>
            <a:r>
              <a:rPr sz="1200" dirty="0" err="1"/>
              <a:t>的符号由</a:t>
            </a:r>
            <a:r>
              <a:rPr sz="1200" dirty="0"/>
              <a:t> advantage </a:t>
            </a:r>
            <a:r>
              <a:rPr sz="1200" dirty="0" err="1"/>
              <a:t>与</a:t>
            </a:r>
            <a:r>
              <a:rPr sz="1200" dirty="0"/>
              <a:t> </a:t>
            </a:r>
            <a:r>
              <a:rPr sz="1200" dirty="0" err="1"/>
              <a:t>δ</a:t>
            </a:r>
            <a:r>
              <a:rPr sz="1200" dirty="0"/>
              <a:t> </a:t>
            </a:r>
            <a:r>
              <a:rPr sz="1200" dirty="0" err="1"/>
              <a:t>的乘积决定</a:t>
            </a:r>
            <a:r>
              <a:rPr sz="1200" dirty="0"/>
              <a:t>。</a:t>
            </a:r>
            <a:r>
              <a:rPr lang="zh-CN" altLang="en-US" sz="1200" dirty="0"/>
              <a:t>基于这个表达式现在就可以判断</a:t>
            </a:r>
            <a:r>
              <a:rPr lang="en-US" altLang="zh-CN" sz="1200" dirty="0"/>
              <a:t>RL</a:t>
            </a:r>
            <a:r>
              <a:rPr lang="zh-CN" altLang="en-US" sz="1200" dirty="0"/>
              <a:t>算法一步更新做了什么</a:t>
            </a:r>
            <a:endParaRPr sz="1200" dirty="0"/>
          </a:p>
          <a:p>
            <a:endParaRPr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dirty="0"/>
              <a:t>文章给出一个四象限理论，</a:t>
            </a:r>
            <a:r>
              <a:rPr sz="1200" dirty="0" err="1"/>
              <a:t>横轴是相对概率高低，分界是</a:t>
            </a:r>
            <a:r>
              <a:rPr sz="1200" dirty="0"/>
              <a:t> exp(-H)；</a:t>
            </a:r>
            <a:r>
              <a:rPr sz="1200" dirty="0" err="1"/>
              <a:t>纵轴是</a:t>
            </a:r>
            <a:r>
              <a:rPr sz="1200" dirty="0"/>
              <a:t> advantage </a:t>
            </a:r>
            <a:r>
              <a:rPr sz="1200" dirty="0" err="1"/>
              <a:t>的正负。第一象限是高概率正优势</a:t>
            </a:r>
            <a:r>
              <a:rPr sz="1200" dirty="0"/>
              <a:t> </a:t>
            </a:r>
            <a:r>
              <a:rPr sz="1200" dirty="0" err="1"/>
              <a:t>token，也就是已经常见且正确的</a:t>
            </a:r>
            <a:r>
              <a:rPr sz="1200" dirty="0"/>
              <a:t> </a:t>
            </a:r>
            <a:r>
              <a:rPr sz="1200" dirty="0" err="1"/>
              <a:t>token。继续提高它的概率会让分布更尖，因此是</a:t>
            </a:r>
            <a:r>
              <a:rPr sz="1200" dirty="0"/>
              <a:t> </a:t>
            </a:r>
            <a:r>
              <a:rPr sz="1200" dirty="0" err="1"/>
              <a:t>exploitation，贡献降熵</a:t>
            </a:r>
            <a:r>
              <a:rPr sz="1200" dirty="0"/>
              <a:t>。</a:t>
            </a:r>
          </a:p>
          <a:p>
            <a:r>
              <a:rPr sz="1200" dirty="0" err="1"/>
              <a:t>第二象限是低概率正优势</a:t>
            </a:r>
            <a:r>
              <a:rPr sz="1200" dirty="0"/>
              <a:t> </a:t>
            </a:r>
            <a:r>
              <a:rPr sz="1200" dirty="0" err="1"/>
              <a:t>token，代表罕见但正确的探索路径。提高它的概率会摊平分布，因此贡献升熵。第三象限是低概率负优势</a:t>
            </a:r>
            <a:r>
              <a:rPr sz="1200" dirty="0"/>
              <a:t> </a:t>
            </a:r>
            <a:r>
              <a:rPr sz="1200" dirty="0" err="1"/>
              <a:t>token，策略会进一步压低罕见错误</a:t>
            </a:r>
            <a:r>
              <a:rPr sz="1200" dirty="0"/>
              <a:t> </a:t>
            </a:r>
            <a:r>
              <a:rPr sz="1200" dirty="0" err="1"/>
              <a:t>token，属于</a:t>
            </a:r>
            <a:r>
              <a:rPr sz="1200" dirty="0"/>
              <a:t> </a:t>
            </a:r>
            <a:r>
              <a:rPr sz="1200" dirty="0" err="1"/>
              <a:t>suppression，也贡献降熵。第四象限是高概率负优势</a:t>
            </a:r>
            <a:r>
              <a:rPr sz="1200" dirty="0"/>
              <a:t> </a:t>
            </a:r>
            <a:r>
              <a:rPr sz="1200" dirty="0" err="1"/>
              <a:t>token，模型需要纠正常见错误路径，压低它反而会释放其他</a:t>
            </a:r>
            <a:r>
              <a:rPr sz="1200" dirty="0"/>
              <a:t> token </a:t>
            </a:r>
            <a:r>
              <a:rPr sz="1200" dirty="0" err="1"/>
              <a:t>的概率，因此贡献升熵</a:t>
            </a:r>
            <a:r>
              <a:rPr sz="1200" dirty="0"/>
              <a:t>。</a:t>
            </a:r>
            <a:endParaRPr lang="en-US" sz="1200" dirty="0"/>
          </a:p>
          <a:p>
            <a:r>
              <a:rPr lang="zh-CN" altLang="en-US" sz="1200" dirty="0"/>
              <a:t>所以从这个四象限就可以看出</a:t>
            </a:r>
            <a:r>
              <a:rPr lang="en-US" altLang="zh-CN" sz="1200" dirty="0"/>
              <a:t>RL</a:t>
            </a:r>
            <a:r>
              <a:rPr lang="zh-CN" altLang="en-US" sz="1200" dirty="0"/>
              <a:t>后期的</a:t>
            </a:r>
            <a:r>
              <a:rPr sz="1200" dirty="0"/>
              <a:t>Entropy collapse </a:t>
            </a:r>
            <a:r>
              <a:rPr sz="1200" dirty="0" err="1"/>
              <a:t>并不是所有</a:t>
            </a:r>
            <a:r>
              <a:rPr sz="1200" dirty="0"/>
              <a:t> token </a:t>
            </a:r>
            <a:r>
              <a:rPr sz="1200" dirty="0" err="1"/>
              <a:t>都在降熵，而是第一和第三象限的降熵贡献长期压过第二和第四象限</a:t>
            </a:r>
            <a:r>
              <a:rPr sz="1200" dirty="0"/>
              <a:t>。</a:t>
            </a:r>
            <a:r>
              <a:rPr lang="zh-CN" altLang="en-US" sz="1200" dirty="0"/>
              <a:t>即算法会倾向于不断提升自己已知正确路径的概率，抑制已知错误路径的概率，而不去对模型难以采样的那些正确进行提升，不去对模型常犯的错误进行惩罚。这就是熵坍缩现象背后的动力学。所以基于这张表，就可以做针对性的熵调控</a:t>
            </a:r>
            <a:endParaRPr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dirty="0"/>
              <a:t>所以我们一开始提的几类方法，都可以用这个四象限理论来描述。</a:t>
            </a:r>
            <a:r>
              <a:rPr sz="1200" dirty="0"/>
              <a:t>DAPO </a:t>
            </a:r>
            <a:r>
              <a:rPr sz="1200" dirty="0" err="1"/>
              <a:t>的</a:t>
            </a:r>
            <a:r>
              <a:rPr sz="1200" dirty="0"/>
              <a:t> clip-higher 主要强化第二象限，让低概率正样本不被过早裁剪；但如果同时放宽下界，也可能保留第三象限的低概率负更新，因此参数方向并不是对称安全的。</a:t>
            </a:r>
          </a:p>
          <a:p>
            <a:r>
              <a:rPr sz="1200" dirty="0"/>
              <a:t>Unlikeliness </a:t>
            </a:r>
            <a:r>
              <a:rPr lang="zh-CN" altLang="en-US" sz="1200" dirty="0"/>
              <a:t>是把</a:t>
            </a:r>
            <a:r>
              <a:rPr lang="en-US" altLang="zh-CN" sz="1200" dirty="0" err="1"/>
              <a:t>logp</a:t>
            </a:r>
            <a:r>
              <a:rPr lang="zh-CN" altLang="en-US" sz="1200" dirty="0"/>
              <a:t>高的正确</a:t>
            </a:r>
            <a:r>
              <a:rPr lang="en-US" altLang="zh-CN" sz="1200" dirty="0"/>
              <a:t>token</a:t>
            </a:r>
            <a:r>
              <a:rPr lang="zh-CN" altLang="en-US" sz="1200" dirty="0"/>
              <a:t>抑制更新，把</a:t>
            </a:r>
            <a:r>
              <a:rPr lang="en-US" altLang="zh-CN" sz="1200" dirty="0" err="1"/>
              <a:t>logp</a:t>
            </a:r>
            <a:r>
              <a:rPr lang="zh-CN" altLang="en-US" sz="1200" dirty="0"/>
              <a:t>低的正确概率提升更新，</a:t>
            </a:r>
            <a:r>
              <a:rPr sz="1200" dirty="0" err="1"/>
              <a:t>同时强化第二象限、削弱第一象限，所以通常升熵；W-REINFORCE</a:t>
            </a:r>
            <a:r>
              <a:rPr sz="1200" dirty="0"/>
              <a:t> </a:t>
            </a:r>
            <a:r>
              <a:rPr sz="1200" dirty="0" err="1"/>
              <a:t>会降低全部正样本权重，但因为采样主要被高概率</a:t>
            </a:r>
            <a:r>
              <a:rPr sz="1200" dirty="0"/>
              <a:t> token </a:t>
            </a:r>
            <a:r>
              <a:rPr sz="1200" dirty="0" err="1"/>
              <a:t>主导，实际更多是在削弱第一象限，同时也会损伤一部分探索</a:t>
            </a:r>
            <a:r>
              <a:rPr sz="1200" dirty="0"/>
              <a:t>。</a:t>
            </a:r>
          </a:p>
          <a:p>
            <a:r>
              <a:rPr sz="1200" dirty="0"/>
              <a:t>Entropy Advantage </a:t>
            </a:r>
            <a:r>
              <a:rPr sz="1200" dirty="0" err="1"/>
              <a:t>给高</a:t>
            </a:r>
            <a:r>
              <a:rPr sz="1200" dirty="0"/>
              <a:t> entropy token </a:t>
            </a:r>
            <a:r>
              <a:rPr sz="1200" dirty="0" err="1"/>
              <a:t>更大</a:t>
            </a:r>
            <a:r>
              <a:rPr sz="1200" dirty="0"/>
              <a:t> </a:t>
            </a:r>
            <a:r>
              <a:rPr sz="1200" dirty="0" err="1"/>
              <a:t>advantage，但不区分当前</a:t>
            </a:r>
            <a:r>
              <a:rPr sz="1200" dirty="0"/>
              <a:t> ΔH </a:t>
            </a:r>
            <a:r>
              <a:rPr sz="1200" dirty="0" err="1"/>
              <a:t>的正负，相当于把四个象限的变化幅度一起放大。训练处于降熵阶段时，它们可能比原始</a:t>
            </a:r>
            <a:r>
              <a:rPr sz="1200" dirty="0"/>
              <a:t> GRPO </a:t>
            </a:r>
            <a:r>
              <a:rPr sz="1200" dirty="0" err="1"/>
              <a:t>坍缩更快</a:t>
            </a:r>
            <a:r>
              <a:rPr sz="1200" dirty="0"/>
              <a:t>。</a:t>
            </a:r>
          </a:p>
          <a:p>
            <a:r>
              <a:rPr sz="1200" dirty="0"/>
              <a:t>Entropy regularization </a:t>
            </a:r>
            <a:r>
              <a:rPr sz="1200" dirty="0" err="1"/>
              <a:t>是全局推高，可能爆熵</a:t>
            </a:r>
            <a:r>
              <a:rPr sz="1200" dirty="0"/>
              <a:t>；</a:t>
            </a:r>
          </a:p>
          <a:p>
            <a:endParaRPr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err="1"/>
              <a:t>文章做了一些实验来说明他们分析的正确性</a:t>
            </a:r>
            <a:r>
              <a:rPr lang="zh-CN" altLang="en-US" sz="1200" dirty="0"/>
              <a:t>。</a:t>
            </a:r>
            <a:endParaRPr lang="en-US" sz="1200" dirty="0"/>
          </a:p>
          <a:p>
            <a:endParaRPr lang="en-US" sz="1200" dirty="0"/>
          </a:p>
          <a:p>
            <a:r>
              <a:rPr sz="1200" dirty="0" err="1"/>
              <a:t>第一个现象是</a:t>
            </a:r>
            <a:r>
              <a:rPr sz="1200" dirty="0"/>
              <a:t> clip bound </a:t>
            </a:r>
            <a:r>
              <a:rPr sz="1200" dirty="0" err="1"/>
              <a:t>并不是越宽越安全。提高</a:t>
            </a:r>
            <a:r>
              <a:rPr sz="1200" dirty="0"/>
              <a:t> </a:t>
            </a:r>
            <a:r>
              <a:rPr sz="1200" dirty="0" err="1"/>
              <a:t>ε_high，会让第二象限的低概率正</a:t>
            </a:r>
            <a:r>
              <a:rPr sz="1200" dirty="0"/>
              <a:t> token </a:t>
            </a:r>
            <a:r>
              <a:rPr sz="1200" dirty="0" err="1"/>
              <a:t>更少被裁剪，因此能保留探索，甚至逆转坍缩；但提高</a:t>
            </a:r>
            <a:r>
              <a:rPr sz="1200" dirty="0"/>
              <a:t> </a:t>
            </a:r>
            <a:r>
              <a:rPr sz="1200" dirty="0" err="1"/>
              <a:t>ε_low，会让第三象限的低概率负</a:t>
            </a:r>
            <a:r>
              <a:rPr sz="1200" dirty="0"/>
              <a:t> token </a:t>
            </a:r>
            <a:r>
              <a:rPr sz="1200" dirty="0" err="1"/>
              <a:t>也更少被裁剪，保留更多降熵</a:t>
            </a:r>
            <a:r>
              <a:rPr sz="1200" dirty="0"/>
              <a:t> </a:t>
            </a:r>
            <a:r>
              <a:rPr sz="1200" dirty="0" err="1"/>
              <a:t>suppression，反而加速坍缩</a:t>
            </a:r>
            <a:r>
              <a:rPr sz="1200" dirty="0"/>
              <a:t>。</a:t>
            </a:r>
            <a:endParaRPr lang="en-US" sz="1200" dirty="0"/>
          </a:p>
          <a:p>
            <a:endParaRPr sz="1200" dirty="0"/>
          </a:p>
          <a:p>
            <a:r>
              <a:rPr sz="1200" dirty="0" err="1"/>
              <a:t>第二个现象是</a:t>
            </a:r>
            <a:r>
              <a:rPr sz="1200" dirty="0"/>
              <a:t> positive-only </a:t>
            </a:r>
            <a:r>
              <a:rPr sz="1200" dirty="0" err="1"/>
              <a:t>训练仍然会快速降熵。原因是正样本里最常被采到的是第一象限的高概率正确</a:t>
            </a:r>
            <a:r>
              <a:rPr sz="1200" dirty="0"/>
              <a:t> </a:t>
            </a:r>
            <a:r>
              <a:rPr sz="1200" dirty="0" err="1"/>
              <a:t>token，正更新并不天然等于探索；相反，negative-only</a:t>
            </a:r>
            <a:r>
              <a:rPr sz="1200" dirty="0"/>
              <a:t> </a:t>
            </a:r>
            <a:r>
              <a:rPr sz="1200" dirty="0" err="1"/>
              <a:t>的净作用在实验里反而维持了较高</a:t>
            </a:r>
            <a:r>
              <a:rPr sz="1200" dirty="0"/>
              <a:t> entropy。</a:t>
            </a:r>
            <a:endParaRPr lang="en-US" sz="1200" dirty="0"/>
          </a:p>
          <a:p>
            <a:endParaRPr lang="en-US" sz="1200" dirty="0"/>
          </a:p>
          <a:p>
            <a:r>
              <a:rPr sz="1200" dirty="0" err="1"/>
              <a:t>第三个现象是</a:t>
            </a:r>
            <a:r>
              <a:rPr sz="1200" dirty="0"/>
              <a:t> Entropy Advantage </a:t>
            </a:r>
            <a:r>
              <a:rPr sz="1200" dirty="0" err="1"/>
              <a:t>和</a:t>
            </a:r>
            <a:r>
              <a:rPr sz="1200" dirty="0"/>
              <a:t> GTPO </a:t>
            </a:r>
            <a:r>
              <a:rPr sz="1200" dirty="0" err="1"/>
              <a:t>在进入降熵阶段后比</a:t>
            </a:r>
            <a:r>
              <a:rPr sz="1200" dirty="0"/>
              <a:t> GRPO </a:t>
            </a:r>
            <a:r>
              <a:rPr sz="1200" dirty="0" err="1"/>
              <a:t>坍缩更快。它们增加的是</a:t>
            </a:r>
            <a:r>
              <a:rPr sz="1200" dirty="0"/>
              <a:t> |ΔH|，</a:t>
            </a:r>
            <a:r>
              <a:rPr sz="1200" dirty="0" err="1"/>
              <a:t>而不是保证</a:t>
            </a:r>
            <a:r>
              <a:rPr sz="1200" dirty="0"/>
              <a:t> ΔH 为正。这三个现象共同说明，真正要控制的是变化方向与幅度，而不是把“</a:t>
            </a:r>
            <a:r>
              <a:rPr sz="1200" dirty="0" err="1"/>
              <a:t>正样本</a:t>
            </a:r>
            <a:r>
              <a:rPr sz="1200" dirty="0"/>
              <a:t>”“</a:t>
            </a:r>
            <a:r>
              <a:rPr sz="1200" dirty="0" err="1"/>
              <a:t>高熵</a:t>
            </a:r>
            <a:r>
              <a:rPr sz="1200" dirty="0"/>
              <a:t> </a:t>
            </a:r>
            <a:r>
              <a:rPr sz="1200" dirty="0" err="1"/>
              <a:t>token”简单等同于增熵</a:t>
            </a:r>
            <a:r>
              <a:rPr sz="1200" dirty="0"/>
              <a:t>。</a:t>
            </a:r>
          </a:p>
          <a:p>
            <a:endParaRPr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err="1"/>
              <a:t>所以这篇文章直接把这个一阶项作为token</a:t>
            </a:r>
            <a:r>
              <a:rPr lang="en-US" altLang="zh-CN" sz="1200" dirty="0"/>
              <a:t>-level</a:t>
            </a:r>
            <a:r>
              <a:rPr lang="zh-CN" altLang="en-US" sz="1200" dirty="0"/>
              <a:t> </a:t>
            </a:r>
            <a:r>
              <a:rPr lang="en-US" altLang="zh-CN" sz="1200" dirty="0"/>
              <a:t>update</a:t>
            </a:r>
            <a:r>
              <a:rPr lang="zh-CN" altLang="en-US" sz="1200" dirty="0"/>
              <a:t>的</a:t>
            </a:r>
            <a:r>
              <a:rPr lang="en-US" altLang="zh-CN" sz="1200" dirty="0"/>
              <a:t>weight</a:t>
            </a:r>
            <a:r>
              <a:rPr lang="zh-CN" altLang="en-US" sz="1200" dirty="0"/>
              <a:t>来做熵调制，它的目的是调制熵变化而不是熵本身；</a:t>
            </a:r>
            <a:endParaRPr lang="en-US" altLang="zh-CN" sz="1200" dirty="0"/>
          </a:p>
          <a:p>
            <a:r>
              <a:rPr sz="1200" dirty="0" err="1"/>
              <a:t>这个设计有三个关键性质。第一，λ</a:t>
            </a:r>
            <a:r>
              <a:rPr sz="1200" dirty="0"/>
              <a:t> </a:t>
            </a:r>
            <a:r>
              <a:rPr sz="1200" dirty="0" err="1"/>
              <a:t>始终大于零，所以它不改变</a:t>
            </a:r>
            <a:r>
              <a:rPr sz="1200" dirty="0"/>
              <a:t> ΔH </a:t>
            </a:r>
            <a:r>
              <a:rPr sz="1200" dirty="0" err="1"/>
              <a:t>的方向，只缩小幅度。第二，它使用</a:t>
            </a:r>
            <a:r>
              <a:rPr sz="1200" dirty="0"/>
              <a:t> |</a:t>
            </a:r>
            <a:r>
              <a:rPr sz="1200" dirty="0" err="1"/>
              <a:t>Ω</a:t>
            </a:r>
            <a:r>
              <a:rPr sz="1200" dirty="0"/>
              <a:t>|，</a:t>
            </a:r>
            <a:r>
              <a:rPr sz="1200" dirty="0" err="1"/>
              <a:t>因此无论是大幅降熵还是大幅升熵都会被抑制，既防</a:t>
            </a:r>
            <a:r>
              <a:rPr sz="1200" dirty="0"/>
              <a:t> </a:t>
            </a:r>
            <a:r>
              <a:rPr sz="1200" dirty="0" err="1"/>
              <a:t>collapse，也防</a:t>
            </a:r>
            <a:r>
              <a:rPr sz="1200" dirty="0"/>
              <a:t> entropy </a:t>
            </a:r>
            <a:r>
              <a:rPr sz="1200" dirty="0" err="1"/>
              <a:t>explosion。第三，小变化</a:t>
            </a:r>
            <a:r>
              <a:rPr sz="1200" dirty="0"/>
              <a:t> token </a:t>
            </a:r>
            <a:r>
              <a:rPr sz="1200" dirty="0" err="1"/>
              <a:t>的</a:t>
            </a:r>
            <a:r>
              <a:rPr sz="1200" dirty="0"/>
              <a:t> </a:t>
            </a:r>
            <a:r>
              <a:rPr sz="1200" dirty="0" err="1"/>
              <a:t>λ</a:t>
            </a:r>
            <a:r>
              <a:rPr sz="1200" dirty="0"/>
              <a:t> </a:t>
            </a:r>
            <a:r>
              <a:rPr sz="1200" dirty="0" err="1"/>
              <a:t>接近</a:t>
            </a:r>
            <a:r>
              <a:rPr sz="1200" dirty="0"/>
              <a:t> 1，只有剧烈变化的 token </a:t>
            </a:r>
            <a:r>
              <a:rPr sz="1200" dirty="0" err="1"/>
              <a:t>才会明显降权</a:t>
            </a:r>
            <a:r>
              <a:rPr sz="1200" dirty="0"/>
              <a:t>。</a:t>
            </a:r>
          </a:p>
          <a:p>
            <a:r>
              <a:rPr sz="1200" dirty="0" err="1"/>
              <a:t>可以把它理解成</a:t>
            </a:r>
            <a:r>
              <a:rPr sz="1200" dirty="0"/>
              <a:t> token-level entropy-change trust </a:t>
            </a:r>
            <a:r>
              <a:rPr sz="1200" dirty="0" err="1"/>
              <a:t>region。它不需要额外</a:t>
            </a:r>
            <a:r>
              <a:rPr sz="1200" dirty="0"/>
              <a:t> </a:t>
            </a:r>
            <a:r>
              <a:rPr sz="1200" dirty="0" err="1"/>
              <a:t>rollout，也不需要</a:t>
            </a:r>
            <a:r>
              <a:rPr sz="1200" dirty="0"/>
              <a:t> value </a:t>
            </a:r>
            <a:r>
              <a:rPr sz="1200" dirty="0" err="1"/>
              <a:t>model；主实验使用固定</a:t>
            </a:r>
            <a:r>
              <a:rPr sz="1200" dirty="0"/>
              <a:t> </a:t>
            </a:r>
            <a:r>
              <a:rPr sz="1200" dirty="0" err="1"/>
              <a:t>λ_min</a:t>
            </a:r>
            <a:r>
              <a:rPr sz="1200" dirty="0"/>
              <a:t>=0.7，额外计算只来自 </a:t>
            </a:r>
            <a:r>
              <a:rPr sz="1200" dirty="0" err="1"/>
              <a:t>Ω</a:t>
            </a:r>
            <a:r>
              <a:rPr sz="1200" dirty="0"/>
              <a:t> </a:t>
            </a:r>
            <a:r>
              <a:rPr sz="1200" dirty="0" err="1"/>
              <a:t>的局部估计</a:t>
            </a:r>
            <a:r>
              <a:rPr sz="1200" dirty="0"/>
              <a:t>。</a:t>
            </a:r>
          </a:p>
          <a:p>
            <a:endParaRPr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dirty="0"/>
              <a:t>这里可以看到</a:t>
            </a:r>
            <a:r>
              <a:rPr sz="1200" dirty="0"/>
              <a:t>GRPO </a:t>
            </a:r>
            <a:r>
              <a:rPr sz="1200" dirty="0" err="1"/>
              <a:t>和</a:t>
            </a:r>
            <a:r>
              <a:rPr sz="1200" dirty="0"/>
              <a:t> Entropy Advantage </a:t>
            </a:r>
            <a:r>
              <a:rPr sz="1200" dirty="0" err="1"/>
              <a:t>都发生坍缩；Entropy</a:t>
            </a:r>
            <a:r>
              <a:rPr sz="1200" dirty="0"/>
              <a:t> Loss </a:t>
            </a:r>
            <a:r>
              <a:rPr sz="1200" dirty="0" err="1"/>
              <a:t>把</a:t>
            </a:r>
            <a:r>
              <a:rPr sz="1200" dirty="0"/>
              <a:t> entropy </a:t>
            </a:r>
            <a:r>
              <a:rPr sz="1200" dirty="0" err="1"/>
              <a:t>持续推高，出现爆熵</a:t>
            </a:r>
            <a:r>
              <a:rPr sz="1200" dirty="0"/>
              <a:t>；</a:t>
            </a:r>
            <a:r>
              <a:rPr lang="zh-CN" altLang="en-US" sz="1200" dirty="0"/>
              <a:t>剩下的</a:t>
            </a:r>
            <a:r>
              <a:rPr lang="en-US" altLang="zh-CN" sz="1200" dirty="0"/>
              <a:t>baseline</a:t>
            </a:r>
            <a:r>
              <a:rPr lang="zh-CN" altLang="en-US" sz="1200" dirty="0"/>
              <a:t>要么出现明显波动，要么</a:t>
            </a:r>
            <a:r>
              <a:rPr lang="en-US" altLang="zh-CN" sz="1200" dirty="0"/>
              <a:t>entropy</a:t>
            </a:r>
            <a:r>
              <a:rPr lang="zh-CN" altLang="en-US" sz="1200" dirty="0"/>
              <a:t>持续下降</a:t>
            </a:r>
            <a:r>
              <a:rPr sz="1200" dirty="0"/>
              <a:t>。</a:t>
            </a:r>
            <a:r>
              <a:rPr sz="1200" dirty="0" err="1"/>
              <a:t>只有</a:t>
            </a:r>
            <a:r>
              <a:rPr sz="1200" dirty="0"/>
              <a:t> STEER </a:t>
            </a:r>
            <a:r>
              <a:rPr sz="1200" dirty="0" err="1"/>
              <a:t>在初期下降后稳定下来</a:t>
            </a:r>
            <a:r>
              <a:rPr sz="1200" dirty="0"/>
              <a:t>。</a:t>
            </a:r>
          </a:p>
          <a:p>
            <a:r>
              <a:rPr sz="1200" dirty="0" err="1"/>
              <a:t>因此这篇文章的结论不是</a:t>
            </a:r>
            <a:r>
              <a:rPr sz="1200" dirty="0"/>
              <a:t> entropy </a:t>
            </a:r>
            <a:r>
              <a:rPr sz="1200" dirty="0" err="1"/>
              <a:t>越高越好，而是每一步不要变化得过猛。稳定训练依赖对</a:t>
            </a:r>
            <a:r>
              <a:rPr sz="1200" dirty="0"/>
              <a:t> |ΔH| </a:t>
            </a:r>
            <a:r>
              <a:rPr sz="1200" dirty="0" err="1"/>
              <a:t>的双向约束</a:t>
            </a:r>
            <a:r>
              <a:rPr sz="1200" dirty="0"/>
              <a:t>。</a:t>
            </a:r>
          </a:p>
          <a:p>
            <a:endParaRPr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a:lnSpc>
                <a:spcPct val="100000"/>
              </a:lnSpc>
              <a:spcBef>
                <a:spcPts val="0"/>
              </a:spcBef>
              <a:spcAft>
                <a:spcPts val="0"/>
              </a:spcAft>
              <a:buClrTx/>
              <a:buSzTx/>
              <a:buFontTx/>
              <a:buNone/>
            </a:pPr>
            <a:r>
              <a:rPr dirty="0" err="1"/>
              <a:t>第二篇文章是StarPO团队做的后续的工作：</a:t>
            </a:r>
            <a:r>
              <a:rPr sz="1200" dirty="0" err="1"/>
              <a:t>它们关注</a:t>
            </a:r>
            <a:r>
              <a:rPr lang="zh-CN" altLang="en-US" sz="1200" dirty="0"/>
              <a:t>长程多论</a:t>
            </a:r>
            <a:r>
              <a:rPr lang="en-US" altLang="zh-CN" sz="1200" dirty="0"/>
              <a:t>RL</a:t>
            </a:r>
            <a:r>
              <a:rPr lang="zh-CN" altLang="en-US" sz="1200" dirty="0"/>
              <a:t>中另一种</a:t>
            </a:r>
            <a:r>
              <a:rPr lang="en-US" altLang="zh-CN" sz="1200" dirty="0"/>
              <a:t>collapse</a:t>
            </a:r>
            <a:r>
              <a:rPr lang="zh-CN" altLang="en-US" sz="1200" dirty="0"/>
              <a:t>的现象</a:t>
            </a:r>
            <a:endParaRPr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dirty="0"/>
              <a:t>这篇文章提出在</a:t>
            </a:r>
            <a:r>
              <a:rPr lang="en-US" altLang="zh-CN" sz="1200" dirty="0"/>
              <a:t>multi-turn</a:t>
            </a:r>
            <a:r>
              <a:rPr lang="zh-CN" altLang="en-US" sz="1200" dirty="0"/>
              <a:t> </a:t>
            </a:r>
            <a:r>
              <a:rPr lang="en-US" altLang="zh-CN" sz="1200" dirty="0"/>
              <a:t>RL</a:t>
            </a:r>
            <a:r>
              <a:rPr lang="zh-CN" altLang="en-US" sz="1200" dirty="0"/>
              <a:t>的训练后期，由于监督信号的缺失，模型的输出可能会越来越与输入无关，这是单纯调控熵无法做到的。</a:t>
            </a:r>
            <a:endParaRPr lang="en-US" altLang="zh-CN" sz="1200" dirty="0"/>
          </a:p>
          <a:p>
            <a:r>
              <a:rPr sz="1200" dirty="0" err="1"/>
              <a:t>这就是</a:t>
            </a:r>
            <a:r>
              <a:rPr sz="1200" dirty="0"/>
              <a:t> template </a:t>
            </a:r>
            <a:r>
              <a:rPr sz="1200" dirty="0" err="1"/>
              <a:t>collapse：多样性仍在，输入依赖却消失。因此</a:t>
            </a:r>
            <a:r>
              <a:rPr sz="1200" dirty="0"/>
              <a:t> entropy </a:t>
            </a:r>
            <a:r>
              <a:rPr sz="1200" dirty="0" err="1"/>
              <a:t>只能描述推理质量的一条轴，不能单独排除</a:t>
            </a:r>
            <a:r>
              <a:rPr sz="1200" dirty="0"/>
              <a:t> reasoning collapse。</a:t>
            </a:r>
            <a:endParaRPr lang="en-US" sz="1200" dirty="0"/>
          </a:p>
          <a:p>
            <a:r>
              <a:rPr lang="zh-CN" altLang="en-US" sz="1200" dirty="0"/>
              <a:t>这个在我们训练长程任务的时候可能会遇到，就是发现到后期模型可能会遗忘之前的历史，重复输出一些没什么信息含量的内容</a:t>
            </a:r>
            <a:endParaRPr sz="1200" dirty="0"/>
          </a:p>
          <a:p>
            <a:endParaRPr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dirty="0" err="1"/>
              <a:t>他们用信息分解</a:t>
            </a:r>
            <a:r>
              <a:rPr sz="1200" dirty="0"/>
              <a:t> H(Z)=I(X;Z)+H(Z|X)。H(Z|X) </a:t>
            </a:r>
            <a:r>
              <a:rPr sz="1200" dirty="0" err="1"/>
              <a:t>描述同一个输入下，reasoning</a:t>
            </a:r>
            <a:r>
              <a:rPr sz="1200" dirty="0"/>
              <a:t> </a:t>
            </a:r>
            <a:r>
              <a:rPr sz="1200" dirty="0" err="1"/>
              <a:t>有多随机、多样，也就是常见</a:t>
            </a:r>
            <a:r>
              <a:rPr sz="1200" dirty="0"/>
              <a:t> entropy monitor </a:t>
            </a:r>
            <a:r>
              <a:rPr sz="1200" dirty="0" err="1"/>
              <a:t>主要看到的轴</a:t>
            </a:r>
            <a:r>
              <a:rPr sz="1200" dirty="0"/>
              <a:t>。</a:t>
            </a:r>
          </a:p>
          <a:p>
            <a:r>
              <a:rPr sz="1200" dirty="0"/>
              <a:t>I(X;Z) </a:t>
            </a:r>
            <a:r>
              <a:rPr sz="1200" dirty="0" err="1"/>
              <a:t>描述</a:t>
            </a:r>
            <a:r>
              <a:rPr lang="zh-CN" altLang="en-US" sz="1200" dirty="0"/>
              <a:t>的是两个分布之间的关系，在这里就是描述输入</a:t>
            </a:r>
            <a:r>
              <a:rPr lang="en-US" altLang="zh-CN" sz="1200" dirty="0"/>
              <a:t>prompt</a:t>
            </a:r>
            <a:r>
              <a:rPr lang="zh-CN" altLang="en-US" sz="1200" dirty="0"/>
              <a:t>分布和输出分布之间的关系；</a:t>
            </a:r>
            <a:r>
              <a:rPr sz="1200" dirty="0" err="1"/>
              <a:t>换一个输入或环境状态后，reasoning</a:t>
            </a:r>
            <a:r>
              <a:rPr sz="1200" dirty="0"/>
              <a:t> </a:t>
            </a:r>
            <a:r>
              <a:rPr sz="1200" dirty="0" err="1"/>
              <a:t>是否真的随之改变</a:t>
            </a:r>
            <a:r>
              <a:rPr lang="zh-CN" altLang="en-US" sz="1200" dirty="0"/>
              <a:t>。</a:t>
            </a:r>
            <a:r>
              <a:rPr sz="1200" dirty="0" err="1"/>
              <a:t>一个模型完全可能在每个输入下都生成很多不同句式，所以</a:t>
            </a:r>
            <a:r>
              <a:rPr sz="1200" dirty="0"/>
              <a:t> H(Z|X) </a:t>
            </a:r>
            <a:r>
              <a:rPr sz="1200" dirty="0" err="1"/>
              <a:t>很高，但这些句式对不同输入几乎一样，导致</a:t>
            </a:r>
            <a:r>
              <a:rPr sz="1200" dirty="0"/>
              <a:t> I(X;Z) </a:t>
            </a:r>
            <a:r>
              <a:rPr sz="1200" dirty="0" err="1"/>
              <a:t>接近零</a:t>
            </a:r>
            <a:r>
              <a:rPr sz="1200" dirty="0"/>
              <a:t>。</a:t>
            </a:r>
          </a:p>
          <a:p>
            <a:r>
              <a:rPr sz="1200" dirty="0" err="1"/>
              <a:t>这就是</a:t>
            </a:r>
            <a:r>
              <a:rPr sz="1200" dirty="0"/>
              <a:t> template </a:t>
            </a:r>
            <a:r>
              <a:rPr sz="1200" dirty="0" err="1"/>
              <a:t>collapse：多样性仍在，输入依赖却消失。因此</a:t>
            </a:r>
            <a:r>
              <a:rPr sz="1200" dirty="0"/>
              <a:t> entropy </a:t>
            </a:r>
            <a:r>
              <a:rPr sz="1200" dirty="0" err="1"/>
              <a:t>只能描述推理质量的一条轴，不能单独排除</a:t>
            </a:r>
            <a:r>
              <a:rPr sz="1200" dirty="0"/>
              <a:t> reasoning collapse。</a:t>
            </a:r>
          </a:p>
          <a:p>
            <a:endParaRPr sz="1200"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kern="1200" dirty="0">
                <a:effectLst/>
              </a:rPr>
              <a:t>这篇文章也做了一个四象限的分类，它的两个</a:t>
            </a:r>
            <a:r>
              <a:rPr lang="en-US" altLang="zh-CN" sz="1200" kern="1200" dirty="0" err="1">
                <a:effectLst/>
              </a:rPr>
              <a:t>xy</a:t>
            </a:r>
            <a:r>
              <a:rPr lang="zh-CN" altLang="en-US" sz="1200" kern="1200" dirty="0">
                <a:effectLst/>
              </a:rPr>
              <a:t>分别代表互信息和</a:t>
            </a:r>
            <a:r>
              <a:rPr lang="en-US" altLang="zh-CN" sz="1200" kern="1200" dirty="0">
                <a:effectLst/>
              </a:rPr>
              <a:t>entropy</a:t>
            </a:r>
            <a:r>
              <a:rPr lang="zh-CN" altLang="en-US" sz="1200" kern="1200" dirty="0">
                <a:effectLst/>
              </a:rPr>
              <a:t>。</a:t>
            </a:r>
            <a:r>
              <a:rPr lang="en-US" altLang="zh-CN" sz="1200" kern="1200" dirty="0" err="1">
                <a:effectLst/>
              </a:rPr>
              <a:t>正常情况下，输入变化会引起</a:t>
            </a:r>
            <a:r>
              <a:rPr lang="en-US" altLang="zh-CN" sz="1200" kern="1200" dirty="0">
                <a:effectLst/>
              </a:rPr>
              <a:t> reasoning </a:t>
            </a:r>
            <a:r>
              <a:rPr lang="en-US" altLang="zh-CN" sz="1200" kern="1200" dirty="0" err="1">
                <a:effectLst/>
              </a:rPr>
              <a:t>路径和中间判断变化</a:t>
            </a:r>
            <a:r>
              <a:rPr lang="en-US" altLang="zh-CN" sz="1200" kern="1200" dirty="0">
                <a:effectLst/>
              </a:rPr>
              <a:t>；</a:t>
            </a:r>
            <a:r>
              <a:rPr lang="zh-CN" altLang="en-US" sz="1200" kern="1200" dirty="0">
                <a:effectLst/>
              </a:rPr>
              <a:t>但是</a:t>
            </a:r>
            <a:r>
              <a:rPr lang="en-US" altLang="zh-CN" sz="1200" kern="1200" dirty="0" err="1">
                <a:effectLst/>
              </a:rPr>
              <a:t>模板坍缩后，模型仍然会生成完整、流畅、甚至看起来多样的解释，但核心结构在不同输入之间高度复用</a:t>
            </a:r>
            <a:r>
              <a:rPr lang="en-US" altLang="zh-CN" sz="1200" kern="1200" dirty="0">
                <a:effectLst/>
              </a:rPr>
              <a:t>。</a:t>
            </a:r>
            <a:endParaRPr lang="zh-CN" altLang="zh-CN" sz="1200" kern="1200" dirty="0">
              <a:effectLst/>
            </a:endParaRPr>
          </a:p>
          <a:p>
            <a:r>
              <a:rPr lang="zh-CN" altLang="zh-CN" sz="1200" kern="1200" dirty="0">
                <a:effectLst/>
              </a:rPr>
              <a:t>所以这种</a:t>
            </a:r>
            <a:r>
              <a:rPr lang="en-US" altLang="zh-CN" sz="1200" kern="1200" dirty="0">
                <a:effectLst/>
              </a:rPr>
              <a:t> collapse </a:t>
            </a:r>
            <a:r>
              <a:rPr lang="zh-CN" altLang="zh-CN" sz="1200" kern="1200" dirty="0">
                <a:effectLst/>
              </a:rPr>
              <a:t>很难仅靠语言流畅度、长度或</a:t>
            </a:r>
            <a:r>
              <a:rPr lang="en-US" altLang="zh-CN" sz="1200" kern="1200" dirty="0">
                <a:effectLst/>
              </a:rPr>
              <a:t> token entropy </a:t>
            </a:r>
            <a:r>
              <a:rPr lang="zh-CN" altLang="zh-CN" sz="1200" kern="1200" dirty="0">
                <a:effectLst/>
              </a:rPr>
              <a:t>发现。它更像是模型学会了一套通用话术，用表面随机性掩盖对具体状态的忽略。</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kern="1200" dirty="0">
                <a:effectLst/>
              </a:rPr>
              <a:t>文章用互信息这个指标来对这种</a:t>
            </a:r>
            <a:r>
              <a:rPr lang="en-US" altLang="zh-CN" sz="1200" kern="1200" dirty="0">
                <a:effectLst/>
              </a:rPr>
              <a:t>collapse</a:t>
            </a:r>
            <a:r>
              <a:rPr lang="zh-CN" altLang="en-US" sz="1200" kern="1200" dirty="0">
                <a:effectLst/>
              </a:rPr>
              <a:t>行为做了诊断，他们提出了一些</a:t>
            </a:r>
            <a:r>
              <a:rPr lang="en-US" altLang="zh-CN" sz="1200" kern="1200" dirty="0">
                <a:effectLst/>
              </a:rPr>
              <a:t>MI</a:t>
            </a:r>
            <a:r>
              <a:rPr lang="zh-CN" altLang="en-US" sz="1200" kern="1200" dirty="0">
                <a:effectLst/>
              </a:rPr>
              <a:t>的</a:t>
            </a:r>
            <a:r>
              <a:rPr lang="en-US" altLang="zh-CN" sz="1200" kern="1200" dirty="0">
                <a:effectLst/>
              </a:rPr>
              <a:t>proxy</a:t>
            </a:r>
            <a:r>
              <a:rPr lang="zh-CN" altLang="en-US" sz="1200" kern="1200" dirty="0">
                <a:effectLst/>
              </a:rPr>
              <a:t> </a:t>
            </a:r>
            <a:r>
              <a:rPr lang="en-US" altLang="zh-CN" sz="1200" kern="1200" dirty="0">
                <a:effectLst/>
              </a:rPr>
              <a:t>metric</a:t>
            </a:r>
            <a:r>
              <a:rPr lang="zh-CN" altLang="en-US" sz="1200" kern="1200" dirty="0">
                <a:effectLst/>
              </a:rPr>
              <a:t>去观察模型在训练过程中的</a:t>
            </a:r>
            <a:r>
              <a:rPr lang="en-US" altLang="zh-CN" sz="1200" kern="1200" dirty="0">
                <a:effectLst/>
              </a:rPr>
              <a:t>MI</a:t>
            </a:r>
            <a:r>
              <a:rPr lang="zh-CN" altLang="en-US" sz="1200" kern="1200" dirty="0">
                <a:effectLst/>
              </a:rPr>
              <a:t>变化；</a:t>
            </a:r>
            <a:endParaRPr lang="en-US" altLang="zh-CN" sz="1200" kern="1200" dirty="0">
              <a:effectLst/>
            </a:endParaRPr>
          </a:p>
          <a:p>
            <a:r>
              <a:rPr lang="zh-CN" altLang="en-US" sz="1200" kern="1200" dirty="0">
                <a:effectLst/>
              </a:rPr>
              <a:t>但是为什么会在训练中出现这种</a:t>
            </a:r>
            <a:r>
              <a:rPr lang="en-US" altLang="zh-CN" sz="1200" kern="1200" dirty="0">
                <a:effectLst/>
              </a:rPr>
              <a:t>collapse</a:t>
            </a:r>
            <a:r>
              <a:rPr lang="zh-CN" altLang="en-US" sz="1200" kern="1200" dirty="0">
                <a:effectLst/>
              </a:rPr>
              <a:t>现象，他们进一步从</a:t>
            </a:r>
            <a:r>
              <a:rPr lang="en-US" altLang="zh-CN" sz="1200" kern="1200" dirty="0">
                <a:effectLst/>
              </a:rPr>
              <a:t>RL</a:t>
            </a:r>
            <a:r>
              <a:rPr lang="zh-CN" altLang="en-US" sz="1200" kern="1200" dirty="0">
                <a:effectLst/>
              </a:rPr>
              <a:t>角度进行分析</a:t>
            </a:r>
            <a:endParaRPr lang="en-US" altLang="zh-CN" sz="1200" kern="1200" dirty="0">
              <a:effectLst/>
            </a:endParaRPr>
          </a:p>
          <a:p>
            <a:endParaRPr lang="en-US" altLang="zh-CN" sz="1200" kern="1200" dirty="0">
              <a:effectLst/>
            </a:endParaRPr>
          </a:p>
          <a:p>
            <a:r>
              <a:rPr lang="zh-CN" altLang="en-US" sz="1200" kern="1200" dirty="0">
                <a:effectLst/>
              </a:rPr>
              <a:t>文章做了一个实验看了三个指标之间的关系：</a:t>
            </a:r>
            <a:r>
              <a:rPr lang="en-US" altLang="zh-CN" sz="1200" kern="1200" dirty="0">
                <a:effectLst/>
              </a:rPr>
              <a:t>1</a:t>
            </a:r>
            <a:r>
              <a:rPr lang="zh-CN" altLang="en-US" sz="1200" kern="1200" dirty="0">
                <a:effectLst/>
              </a:rPr>
              <a:t>）</a:t>
            </a:r>
            <a:r>
              <a:rPr lang="en-US" altLang="zh-CN" sz="1200" kern="1200" dirty="0">
                <a:effectLst/>
              </a:rPr>
              <a:t>batch</a:t>
            </a:r>
            <a:r>
              <a:rPr lang="zh-CN" altLang="en-US" sz="1200" kern="1200" dirty="0">
                <a:effectLst/>
              </a:rPr>
              <a:t> </a:t>
            </a:r>
            <a:r>
              <a:rPr lang="en-US" altLang="zh-CN" sz="1200" kern="1200" dirty="0">
                <a:effectLst/>
              </a:rPr>
              <a:t>reward</a:t>
            </a:r>
            <a:r>
              <a:rPr lang="zh-CN" altLang="en-US" sz="1200" kern="1200" dirty="0">
                <a:effectLst/>
              </a:rPr>
              <a:t> </a:t>
            </a:r>
            <a:r>
              <a:rPr lang="en-US" altLang="zh-CN" sz="1200" kern="1200" dirty="0">
                <a:effectLst/>
              </a:rPr>
              <a:t>variance</a:t>
            </a:r>
            <a:r>
              <a:rPr lang="zh-CN" altLang="en-US" sz="1200" kern="1200" dirty="0">
                <a:effectLst/>
              </a:rPr>
              <a:t>；</a:t>
            </a:r>
            <a:r>
              <a:rPr lang="en-US" altLang="zh-CN" sz="1200" kern="1200" dirty="0">
                <a:effectLst/>
              </a:rPr>
              <a:t>2</a:t>
            </a:r>
            <a:r>
              <a:rPr lang="zh-CN" altLang="en-US" sz="1200" kern="1200" dirty="0">
                <a:effectLst/>
              </a:rPr>
              <a:t>）</a:t>
            </a:r>
            <a:r>
              <a:rPr lang="en-US" altLang="zh-CN" sz="1200" kern="1200" dirty="0">
                <a:effectLst/>
              </a:rPr>
              <a:t>task-level</a:t>
            </a:r>
            <a:r>
              <a:rPr lang="zh-CN" altLang="en-US" sz="1200" kern="1200" dirty="0">
                <a:effectLst/>
              </a:rPr>
              <a:t> </a:t>
            </a:r>
            <a:r>
              <a:rPr lang="en-US" altLang="zh-CN" sz="1200" kern="1200" dirty="0">
                <a:effectLst/>
              </a:rPr>
              <a:t>grad</a:t>
            </a:r>
            <a:r>
              <a:rPr lang="zh-CN" altLang="en-US" sz="1200" kern="1200" dirty="0">
                <a:effectLst/>
              </a:rPr>
              <a:t> </a:t>
            </a:r>
            <a:r>
              <a:rPr lang="en-US" altLang="zh-CN" sz="1200" kern="1200" dirty="0">
                <a:effectLst/>
              </a:rPr>
              <a:t>norm</a:t>
            </a:r>
            <a:r>
              <a:rPr lang="zh-CN" altLang="en-US" sz="1200" kern="1200" dirty="0">
                <a:effectLst/>
              </a:rPr>
              <a:t>；</a:t>
            </a:r>
            <a:r>
              <a:rPr lang="en-US" altLang="zh-CN" sz="1200" kern="1200" dirty="0">
                <a:effectLst/>
              </a:rPr>
              <a:t>3</a:t>
            </a:r>
            <a:r>
              <a:rPr lang="zh-CN" altLang="en-US" sz="1200" kern="1200" dirty="0">
                <a:effectLst/>
              </a:rPr>
              <a:t>）</a:t>
            </a:r>
            <a:r>
              <a:rPr lang="en-US" altLang="zh-CN" sz="1200" kern="1200" dirty="0">
                <a:effectLst/>
              </a:rPr>
              <a:t>reg-level</a:t>
            </a:r>
            <a:r>
              <a:rPr lang="zh-CN" altLang="en-US" sz="1200" kern="1200" dirty="0">
                <a:effectLst/>
              </a:rPr>
              <a:t> </a:t>
            </a:r>
            <a:r>
              <a:rPr lang="en-US" altLang="zh-CN" sz="1200" kern="1200" dirty="0">
                <a:effectLst/>
              </a:rPr>
              <a:t>grad</a:t>
            </a:r>
            <a:r>
              <a:rPr lang="zh-CN" altLang="en-US" sz="1200" kern="1200" dirty="0">
                <a:effectLst/>
              </a:rPr>
              <a:t> </a:t>
            </a:r>
            <a:r>
              <a:rPr lang="en-US" altLang="zh-CN" sz="1200" kern="1200" dirty="0">
                <a:effectLst/>
              </a:rPr>
              <a:t>norm</a:t>
            </a:r>
            <a:r>
              <a:rPr lang="zh-CN" altLang="en-US" sz="1200" kern="1200" dirty="0">
                <a:effectLst/>
              </a:rPr>
              <a:t>；有以下的发现：</a:t>
            </a:r>
            <a:endParaRPr lang="en-US" altLang="zh-CN" sz="1200" kern="1200" dirty="0">
              <a:effectLst/>
            </a:endParaRPr>
          </a:p>
          <a:p>
            <a:r>
              <a:rPr lang="en-US" altLang="zh-CN" sz="1200" kern="1200" dirty="0">
                <a:effectLst/>
              </a:rPr>
              <a:t>1</a:t>
            </a:r>
            <a:r>
              <a:rPr lang="zh-CN" altLang="en-US" sz="1200" kern="1200" dirty="0">
                <a:effectLst/>
              </a:rPr>
              <a:t>）</a:t>
            </a:r>
            <a:r>
              <a:rPr lang="en-US" altLang="zh-CN" sz="1200" kern="1200" dirty="0">
                <a:effectLst/>
              </a:rPr>
              <a:t>reward</a:t>
            </a:r>
            <a:r>
              <a:rPr lang="zh-CN" altLang="en-US" sz="1200" kern="1200" dirty="0">
                <a:effectLst/>
              </a:rPr>
              <a:t>相关这部分的</a:t>
            </a:r>
            <a:r>
              <a:rPr lang="en-US" altLang="zh-CN" sz="1200" kern="1200" dirty="0">
                <a:effectLst/>
              </a:rPr>
              <a:t>grad</a:t>
            </a:r>
            <a:r>
              <a:rPr lang="zh-CN" altLang="en-US" sz="1200" kern="1200" dirty="0">
                <a:effectLst/>
              </a:rPr>
              <a:t> </a:t>
            </a:r>
            <a:r>
              <a:rPr lang="en-US" altLang="zh-CN" sz="1200" kern="1200" dirty="0">
                <a:effectLst/>
              </a:rPr>
              <a:t>norm</a:t>
            </a:r>
            <a:r>
              <a:rPr lang="zh-CN" altLang="en-US" sz="1200" kern="1200" dirty="0">
                <a:effectLst/>
              </a:rPr>
              <a:t>和</a:t>
            </a:r>
            <a:r>
              <a:rPr lang="en-US" altLang="zh-CN" sz="1200" kern="1200" dirty="0">
                <a:effectLst/>
              </a:rPr>
              <a:t>RV</a:t>
            </a:r>
            <a:r>
              <a:rPr lang="zh-CN" altLang="en-US" sz="1200" kern="1200" dirty="0">
                <a:effectLst/>
              </a:rPr>
              <a:t>成正比关系，这点从</a:t>
            </a:r>
            <a:r>
              <a:rPr lang="en-US" altLang="zh-CN" sz="1200" kern="1200" dirty="0">
                <a:effectLst/>
              </a:rPr>
              <a:t>GRPO</a:t>
            </a:r>
            <a:r>
              <a:rPr lang="zh-CN" altLang="en-US" sz="1200" kern="1200" dirty="0">
                <a:effectLst/>
              </a:rPr>
              <a:t>的</a:t>
            </a:r>
            <a:r>
              <a:rPr lang="en-US" altLang="zh-CN" sz="1200" kern="1200" dirty="0">
                <a:effectLst/>
              </a:rPr>
              <a:t>grad</a:t>
            </a:r>
            <a:r>
              <a:rPr lang="zh-CN" altLang="en-US" sz="1200" kern="1200" dirty="0">
                <a:effectLst/>
              </a:rPr>
              <a:t>公式也能想到，</a:t>
            </a:r>
            <a:r>
              <a:rPr lang="en-US" altLang="zh-CN" sz="1200" kern="1200" dirty="0">
                <a:effectLst/>
              </a:rPr>
              <a:t>adv</a:t>
            </a:r>
            <a:r>
              <a:rPr lang="zh-CN" altLang="en-US" sz="1200" kern="1200" dirty="0">
                <a:effectLst/>
              </a:rPr>
              <a:t>的值和</a:t>
            </a:r>
            <a:r>
              <a:rPr lang="en-US" altLang="zh-CN" sz="1200" kern="1200" dirty="0">
                <a:effectLst/>
              </a:rPr>
              <a:t>RV</a:t>
            </a:r>
            <a:r>
              <a:rPr lang="zh-CN" altLang="en-US" sz="1200" kern="1200" dirty="0">
                <a:effectLst/>
              </a:rPr>
              <a:t>是强相关的，</a:t>
            </a:r>
            <a:r>
              <a:rPr lang="en-US" altLang="zh-CN" sz="1200" kern="1200" dirty="0">
                <a:effectLst/>
              </a:rPr>
              <a:t>adv</a:t>
            </a:r>
            <a:r>
              <a:rPr lang="zh-CN" altLang="en-US" sz="1200" kern="1200" dirty="0">
                <a:effectLst/>
              </a:rPr>
              <a:t>又是</a:t>
            </a:r>
            <a:r>
              <a:rPr lang="en-US" altLang="zh-CN" sz="1200" kern="1200" dirty="0">
                <a:effectLst/>
              </a:rPr>
              <a:t>grad</a:t>
            </a:r>
            <a:r>
              <a:rPr lang="zh-CN" altLang="en-US" sz="1200" kern="1200" dirty="0">
                <a:effectLst/>
              </a:rPr>
              <a:t>的</a:t>
            </a:r>
            <a:r>
              <a:rPr lang="en-US" altLang="zh-CN" sz="1200" kern="1200" dirty="0">
                <a:effectLst/>
              </a:rPr>
              <a:t>weight</a:t>
            </a:r>
          </a:p>
          <a:p>
            <a:r>
              <a:rPr lang="en-US" altLang="zh-CN" sz="1200" kern="1200" dirty="0">
                <a:effectLst/>
              </a:rPr>
              <a:t>2</a:t>
            </a:r>
            <a:r>
              <a:rPr lang="zh-CN" altLang="en-US" sz="1200" kern="1200" dirty="0">
                <a:effectLst/>
              </a:rPr>
              <a:t>）</a:t>
            </a:r>
            <a:r>
              <a:rPr lang="en-US" altLang="zh-CN" sz="1200" kern="1200" dirty="0">
                <a:effectLst/>
              </a:rPr>
              <a:t>KL</a:t>
            </a:r>
            <a:r>
              <a:rPr lang="zh-CN" altLang="en-US" sz="1200" kern="1200" dirty="0">
                <a:effectLst/>
              </a:rPr>
              <a:t>，</a:t>
            </a:r>
            <a:r>
              <a:rPr lang="en-US" altLang="zh-CN" sz="1200" kern="1200" dirty="0">
                <a:effectLst/>
              </a:rPr>
              <a:t>entropy</a:t>
            </a:r>
            <a:r>
              <a:rPr lang="zh-CN" altLang="en-US" sz="1200" kern="1200" dirty="0">
                <a:effectLst/>
              </a:rPr>
              <a:t>的</a:t>
            </a:r>
            <a:r>
              <a:rPr lang="en-US" altLang="zh-CN" sz="1200" kern="1200" dirty="0">
                <a:effectLst/>
              </a:rPr>
              <a:t>norm</a:t>
            </a:r>
            <a:r>
              <a:rPr lang="zh-CN" altLang="en-US" sz="1200" kern="1200" dirty="0">
                <a:effectLst/>
              </a:rPr>
              <a:t>保持平稳：它基本是样本无关的；所以这部分就是文章所说的和输入无关的梯度噪声项</a:t>
            </a:r>
            <a:endParaRPr lang="en-US" altLang="zh-CN" sz="1200" kern="1200" dirty="0">
              <a:effectLst/>
            </a:endParaRPr>
          </a:p>
          <a:p>
            <a:r>
              <a:rPr lang="en-US" altLang="zh-CN" sz="1200" kern="1200" dirty="0">
                <a:effectLst/>
              </a:rPr>
              <a:t>3</a:t>
            </a:r>
            <a:r>
              <a:rPr lang="zh-CN" altLang="en-US" sz="1200" kern="1200" dirty="0">
                <a:effectLst/>
              </a:rPr>
              <a:t>）低</a:t>
            </a:r>
            <a:r>
              <a:rPr lang="en-US" altLang="zh-CN" sz="1200" kern="1200" dirty="0">
                <a:effectLst/>
              </a:rPr>
              <a:t>RV</a:t>
            </a:r>
            <a:r>
              <a:rPr lang="zh-CN" altLang="en-US" sz="1200" kern="1200" dirty="0">
                <a:effectLst/>
              </a:rPr>
              <a:t>组的梯度可能会被</a:t>
            </a:r>
            <a:r>
              <a:rPr lang="en-US" altLang="zh-CN" sz="1200" kern="1200" dirty="0">
                <a:effectLst/>
              </a:rPr>
              <a:t>KL</a:t>
            </a:r>
            <a:r>
              <a:rPr lang="zh-CN" altLang="en-US" sz="1200" kern="1200" dirty="0">
                <a:effectLst/>
              </a:rPr>
              <a:t>主导，如果一个</a:t>
            </a:r>
            <a:r>
              <a:rPr lang="en-US" altLang="zh-CN" sz="1200" kern="1200" dirty="0">
                <a:effectLst/>
              </a:rPr>
              <a:t>batch</a:t>
            </a:r>
            <a:r>
              <a:rPr lang="zh-CN" altLang="en-US" sz="1200" kern="1200" dirty="0">
                <a:effectLst/>
              </a:rPr>
              <a:t>中出现大量</a:t>
            </a:r>
            <a:r>
              <a:rPr lang="en-US" altLang="zh-CN" sz="1200" kern="1200" dirty="0">
                <a:effectLst/>
              </a:rPr>
              <a:t>low</a:t>
            </a:r>
            <a:r>
              <a:rPr lang="zh-CN" altLang="en-US" sz="1200" kern="1200" dirty="0">
                <a:effectLst/>
              </a:rPr>
              <a:t> </a:t>
            </a:r>
            <a:r>
              <a:rPr lang="en-US" altLang="zh-CN" sz="1200" kern="1200" dirty="0">
                <a:effectLst/>
              </a:rPr>
              <a:t>RV</a:t>
            </a:r>
            <a:r>
              <a:rPr lang="zh-CN" altLang="en-US" sz="1200" kern="1200" dirty="0">
                <a:effectLst/>
              </a:rPr>
              <a:t>的样本（太简单，太难），就可能会导致这种优化目标的偏移现象</a:t>
            </a:r>
            <a:endParaRPr lang="en-US" altLang="zh-CN" sz="1200" kern="1200" dirty="0">
              <a:effectLst/>
            </a:endParaRPr>
          </a:p>
          <a:p>
            <a:endParaRPr lang="en-US" altLang="zh-CN" sz="1200" kern="1200" dirty="0">
              <a:effectLst/>
            </a:endParaRPr>
          </a:p>
          <a:p>
            <a:r>
              <a:rPr lang="zh-CN" altLang="en-US" sz="1200" kern="1200" dirty="0">
                <a:effectLst/>
              </a:rPr>
              <a:t>所以他们提出：这种和输入无关偏移行为很有可能是由低</a:t>
            </a:r>
            <a:r>
              <a:rPr lang="en-US" altLang="zh-CN" sz="1200" kern="1200" dirty="0">
                <a:effectLst/>
              </a:rPr>
              <a:t>RV</a:t>
            </a:r>
            <a:r>
              <a:rPr lang="zh-CN" altLang="en-US" sz="1200" kern="1200" dirty="0">
                <a:effectLst/>
              </a:rPr>
              <a:t>的</a:t>
            </a:r>
            <a:r>
              <a:rPr lang="en-US" altLang="zh-CN" sz="1200" kern="1200" dirty="0">
                <a:effectLst/>
              </a:rPr>
              <a:t>batch</a:t>
            </a:r>
            <a:r>
              <a:rPr lang="zh-CN" altLang="en-US" sz="1200" kern="1200" dirty="0">
                <a:effectLst/>
              </a:rPr>
              <a:t>里面，</a:t>
            </a:r>
            <a:r>
              <a:rPr lang="en-US" altLang="zh-CN" sz="1200" kern="1200" dirty="0">
                <a:effectLst/>
              </a:rPr>
              <a:t>gradient</a:t>
            </a:r>
            <a:r>
              <a:rPr lang="zh-CN" altLang="en-US" sz="1200" kern="1200" dirty="0">
                <a:effectLst/>
              </a:rPr>
              <a:t>被正则化的这些梯度项给主导了导致的</a:t>
            </a:r>
            <a:endParaRPr lang="en-US" altLang="zh-CN" sz="1200" kern="1200" dirty="0">
              <a:effectLst/>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kern="1200" dirty="0">
                <a:effectLst/>
              </a:rPr>
              <a:t>基于以上的观察，这篇文章提出算法：</a:t>
            </a:r>
            <a:r>
              <a:rPr lang="en-US" altLang="zh-CN" sz="1200" kern="1200" dirty="0">
                <a:effectLst/>
              </a:rPr>
              <a:t>SNR-Aware Filtering </a:t>
            </a:r>
            <a:r>
              <a:rPr lang="en-US" altLang="zh-CN" sz="1200" kern="1200" dirty="0" err="1">
                <a:effectLst/>
              </a:rPr>
              <a:t>的输入是每个</a:t>
            </a:r>
            <a:r>
              <a:rPr lang="en-US" altLang="zh-CN" sz="1200" kern="1200" dirty="0">
                <a:effectLst/>
              </a:rPr>
              <a:t> prompt group </a:t>
            </a:r>
            <a:r>
              <a:rPr lang="en-US" altLang="zh-CN" sz="1200" kern="1200" dirty="0" err="1">
                <a:effectLst/>
              </a:rPr>
              <a:t>的</a:t>
            </a:r>
            <a:r>
              <a:rPr lang="en-US" altLang="zh-CN" sz="1200" kern="1200" dirty="0">
                <a:effectLst/>
              </a:rPr>
              <a:t> reward </a:t>
            </a:r>
            <a:r>
              <a:rPr lang="en-US" altLang="zh-CN" sz="1200" kern="1200" dirty="0" err="1">
                <a:effectLst/>
              </a:rPr>
              <a:t>variance。算法先按</a:t>
            </a:r>
            <a:r>
              <a:rPr lang="en-US" altLang="zh-CN" sz="1200" kern="1200" dirty="0">
                <a:effectLst/>
              </a:rPr>
              <a:t> RV </a:t>
            </a:r>
            <a:r>
              <a:rPr lang="en-US" altLang="zh-CN" sz="1200" kern="1200" dirty="0" err="1">
                <a:effectLst/>
              </a:rPr>
              <a:t>从高到低排序，再保留累计</a:t>
            </a:r>
            <a:r>
              <a:rPr lang="en-US" altLang="zh-CN" sz="1200" kern="1200" dirty="0">
                <a:effectLst/>
              </a:rPr>
              <a:t> RV mass </a:t>
            </a:r>
            <a:r>
              <a:rPr lang="en-US" altLang="zh-CN" sz="1200" kern="1200" dirty="0" err="1">
                <a:effectLst/>
              </a:rPr>
              <a:t>达到</a:t>
            </a:r>
            <a:r>
              <a:rPr lang="en-US" altLang="zh-CN" sz="1200" kern="1200" dirty="0">
                <a:effectLst/>
              </a:rPr>
              <a:t> </a:t>
            </a:r>
            <a:r>
              <a:rPr lang="en-US" altLang="zh-CN" sz="1200" kern="1200" dirty="0" err="1">
                <a:effectLst/>
              </a:rPr>
              <a:t>ρ</a:t>
            </a:r>
            <a:r>
              <a:rPr lang="en-US" altLang="zh-CN" sz="1200" kern="1200" dirty="0">
                <a:effectLst/>
              </a:rPr>
              <a:t> </a:t>
            </a:r>
            <a:r>
              <a:rPr lang="en-US" altLang="zh-CN" sz="1200" kern="1200" dirty="0" err="1">
                <a:effectLst/>
              </a:rPr>
              <a:t>的最小前缀。它类似</a:t>
            </a:r>
            <a:r>
              <a:rPr lang="en-US" altLang="zh-CN" sz="1200" kern="1200" dirty="0">
                <a:effectLst/>
              </a:rPr>
              <a:t> nucleus </a:t>
            </a:r>
            <a:r>
              <a:rPr lang="en-US" altLang="zh-CN" sz="1200" kern="1200" dirty="0" err="1">
                <a:effectLst/>
              </a:rPr>
              <a:t>sampling，但筛选的是</a:t>
            </a:r>
            <a:r>
              <a:rPr lang="en-US" altLang="zh-CN" sz="1200" kern="1200" dirty="0">
                <a:effectLst/>
              </a:rPr>
              <a:t> prompt </a:t>
            </a:r>
            <a:r>
              <a:rPr lang="en-US" altLang="zh-CN" sz="1200" kern="1200" dirty="0" err="1">
                <a:effectLst/>
              </a:rPr>
              <a:t>更新，而不是生成</a:t>
            </a:r>
            <a:r>
              <a:rPr lang="en-US" altLang="zh-CN" sz="1200" kern="1200" dirty="0">
                <a:effectLst/>
              </a:rPr>
              <a:t> token。</a:t>
            </a:r>
            <a:endParaRPr lang="zh-CN" altLang="zh-CN" sz="1200" kern="1200" dirty="0">
              <a:effectLst/>
            </a:endParaRPr>
          </a:p>
          <a:p>
            <a:r>
              <a:rPr lang="en-US" altLang="zh-CN" sz="1200" kern="1200" dirty="0" err="1">
                <a:effectLst/>
              </a:rPr>
              <a:t>过滤只发生在</a:t>
            </a:r>
            <a:r>
              <a:rPr lang="en-US" altLang="zh-CN" sz="1200" kern="1200" dirty="0">
                <a:effectLst/>
              </a:rPr>
              <a:t> update </a:t>
            </a:r>
            <a:r>
              <a:rPr lang="en-US" altLang="zh-CN" sz="1200" kern="1200" dirty="0" err="1">
                <a:effectLst/>
              </a:rPr>
              <a:t>阶段：rollout</a:t>
            </a:r>
            <a:r>
              <a:rPr lang="en-US" altLang="zh-CN" sz="1200" kern="1200" dirty="0">
                <a:effectLst/>
              </a:rPr>
              <a:t> </a:t>
            </a:r>
            <a:r>
              <a:rPr lang="en-US" altLang="zh-CN" sz="1200" kern="1200" dirty="0" err="1">
                <a:effectLst/>
              </a:rPr>
              <a:t>已经采样完成，因此不会增加</a:t>
            </a:r>
            <a:r>
              <a:rPr lang="en-US" altLang="zh-CN" sz="1200" kern="1200" dirty="0">
                <a:effectLst/>
              </a:rPr>
              <a:t> rollout </a:t>
            </a:r>
            <a:r>
              <a:rPr lang="en-US" altLang="zh-CN" sz="1200" kern="1200" dirty="0" err="1">
                <a:effectLst/>
              </a:rPr>
              <a:t>成本。Top-p</a:t>
            </a:r>
            <a:r>
              <a:rPr lang="en-US" altLang="zh-CN" sz="1200" kern="1200" dirty="0">
                <a:effectLst/>
              </a:rPr>
              <a:t> </a:t>
            </a:r>
            <a:r>
              <a:rPr lang="en-US" altLang="zh-CN" sz="1200" kern="1200" dirty="0" err="1">
                <a:effectLst/>
              </a:rPr>
              <a:t>相比固定</a:t>
            </a:r>
            <a:r>
              <a:rPr lang="en-US" altLang="zh-CN" sz="1200" kern="1200" dirty="0">
                <a:effectLst/>
              </a:rPr>
              <a:t> Top-k </a:t>
            </a:r>
            <a:r>
              <a:rPr lang="en-US" altLang="zh-CN" sz="1200" kern="1200" dirty="0" err="1">
                <a:effectLst/>
              </a:rPr>
              <a:t>的优势是自适应。如果这一批整体信号弱，它可以少留甚至拒绝更多</a:t>
            </a:r>
            <a:r>
              <a:rPr lang="en-US" altLang="zh-CN" sz="1200" kern="1200" dirty="0">
                <a:effectLst/>
              </a:rPr>
              <a:t> </a:t>
            </a:r>
            <a:r>
              <a:rPr lang="en-US" altLang="zh-CN" sz="1200" kern="1200" dirty="0" err="1">
                <a:effectLst/>
              </a:rPr>
              <a:t>group；如果高信号</a:t>
            </a:r>
            <a:r>
              <a:rPr lang="en-US" altLang="zh-CN" sz="1200" kern="1200" dirty="0">
                <a:effectLst/>
              </a:rPr>
              <a:t> prompt </a:t>
            </a:r>
            <a:r>
              <a:rPr lang="en-US" altLang="zh-CN" sz="1200" kern="1200" dirty="0" err="1">
                <a:effectLst/>
              </a:rPr>
              <a:t>很多，则会保留更多</a:t>
            </a:r>
            <a:r>
              <a:rPr lang="en-US" altLang="zh-CN" sz="1200" kern="1200" dirty="0">
                <a:effectLst/>
              </a:rPr>
              <a:t>。</a:t>
            </a:r>
            <a:endParaRPr lang="zh-CN" altLang="zh-CN" sz="1200" kern="1200" dirty="0">
              <a:effectLst/>
            </a:endParaRPr>
          </a:p>
          <a:p>
            <a:r>
              <a:rPr lang="en-US" altLang="zh-CN" sz="1200" kern="1200" dirty="0" err="1">
                <a:effectLst/>
              </a:rPr>
              <a:t>但</a:t>
            </a:r>
            <a:r>
              <a:rPr lang="en-US" altLang="zh-CN" sz="1200" kern="1200" dirty="0">
                <a:effectLst/>
              </a:rPr>
              <a:t> RV </a:t>
            </a:r>
            <a:r>
              <a:rPr lang="en-US" altLang="zh-CN" sz="1200" kern="1200" dirty="0" err="1">
                <a:effectLst/>
              </a:rPr>
              <a:t>不是永远可靠。高随机环境里，reward</a:t>
            </a:r>
            <a:r>
              <a:rPr lang="en-US" altLang="zh-CN" sz="1200" kern="1200" dirty="0">
                <a:effectLst/>
              </a:rPr>
              <a:t> variance </a:t>
            </a:r>
            <a:r>
              <a:rPr lang="en-US" altLang="zh-CN" sz="1200" kern="1200" dirty="0" err="1">
                <a:effectLst/>
              </a:rPr>
              <a:t>可能来自</a:t>
            </a:r>
            <a:r>
              <a:rPr lang="en-US" altLang="zh-CN" sz="1200" kern="1200" dirty="0">
                <a:effectLst/>
              </a:rPr>
              <a:t> transition </a:t>
            </a:r>
            <a:r>
              <a:rPr lang="en-US" altLang="zh-CN" sz="1200" kern="1200" dirty="0" err="1">
                <a:effectLst/>
              </a:rPr>
              <a:t>noise，而不是可学习的</a:t>
            </a:r>
            <a:r>
              <a:rPr lang="en-US" altLang="zh-CN" sz="1200" kern="1200" dirty="0">
                <a:effectLst/>
              </a:rPr>
              <a:t> policy </a:t>
            </a:r>
            <a:r>
              <a:rPr lang="en-US" altLang="zh-CN" sz="1200" kern="1200" dirty="0" err="1">
                <a:effectLst/>
              </a:rPr>
              <a:t>signal；过滤还可能缩窄</a:t>
            </a:r>
            <a:r>
              <a:rPr lang="en-US" altLang="zh-CN" sz="1200" kern="1200" dirty="0">
                <a:effectLst/>
              </a:rPr>
              <a:t> exploration </a:t>
            </a:r>
            <a:r>
              <a:rPr lang="en-US" altLang="zh-CN" sz="1200" kern="1200" dirty="0" err="1">
                <a:effectLst/>
              </a:rPr>
              <a:t>coverage。所以目标不是机械丢弃低方差样本，而是提高</a:t>
            </a:r>
            <a:r>
              <a:rPr lang="en-US" altLang="zh-CN" sz="1200" kern="1200" dirty="0">
                <a:effectLst/>
              </a:rPr>
              <a:t> task-gradient </a:t>
            </a:r>
            <a:r>
              <a:rPr lang="en-US" altLang="zh-CN" sz="1200" kern="1200" dirty="0" err="1">
                <a:effectLst/>
              </a:rPr>
              <a:t>SNR，并且要结合环境随机性判断</a:t>
            </a:r>
            <a:r>
              <a:rPr lang="en-US" altLang="zh-CN" sz="1200" kern="1200" dirty="0">
                <a:effectLst/>
              </a:rPr>
              <a:t>。</a:t>
            </a:r>
            <a:endParaRPr lang="zh-CN" altLang="zh-CN" sz="1200" kern="1200" dirty="0">
              <a:effectLst/>
            </a:endParaRP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kern="1200" dirty="0">
                <a:effectLst/>
              </a:rPr>
              <a:t>实验部分首先是说明他们建立的指标能够反映实际中的</a:t>
            </a:r>
            <a:r>
              <a:rPr lang="en-US" altLang="zh-CN" sz="1200" kern="1200" dirty="0">
                <a:effectLst/>
              </a:rPr>
              <a:t>collapse</a:t>
            </a:r>
            <a:r>
              <a:rPr lang="zh-CN" altLang="en-US" sz="1200" kern="1200" dirty="0">
                <a:effectLst/>
              </a:rPr>
              <a:t>现象</a:t>
            </a:r>
            <a:endParaRPr lang="en-US" altLang="zh-CN" sz="1200" kern="1200" dirty="0">
              <a:effectLst/>
            </a:endParaRPr>
          </a:p>
          <a:p>
            <a:endParaRPr lang="en-US" altLang="zh-CN" sz="1200" kern="1200" dirty="0">
              <a:effectLst/>
            </a:endParaRPr>
          </a:p>
          <a:p>
            <a:r>
              <a:rPr lang="zh-CN" altLang="en-US" sz="1200" kern="1200" dirty="0">
                <a:effectLst/>
              </a:rPr>
              <a:t>这里的</a:t>
            </a:r>
            <a:r>
              <a:rPr lang="en-US" altLang="zh-CN" sz="1200" kern="1200" dirty="0">
                <a:effectLst/>
              </a:rPr>
              <a:t>Retrieval Accuracy</a:t>
            </a:r>
            <a:r>
              <a:rPr lang="zh-CN" altLang="en-US" sz="1200" kern="1200" dirty="0">
                <a:effectLst/>
              </a:rPr>
              <a:t>是文章自己设计的一个</a:t>
            </a:r>
            <a:r>
              <a:rPr lang="en-US" altLang="zh-CN" sz="1200" kern="1200" dirty="0">
                <a:effectLst/>
              </a:rPr>
              <a:t>MI</a:t>
            </a:r>
            <a:r>
              <a:rPr lang="zh-CN" altLang="en-US" sz="1200" kern="1200" dirty="0">
                <a:effectLst/>
              </a:rPr>
              <a:t> </a:t>
            </a:r>
            <a:r>
              <a:rPr lang="en-US" altLang="zh-CN" sz="1200" kern="1200" dirty="0">
                <a:effectLst/>
              </a:rPr>
              <a:t>proxy</a:t>
            </a:r>
          </a:p>
          <a:p>
            <a:r>
              <a:rPr lang="zh-CN" altLang="en-US" sz="1200" kern="1200" dirty="0">
                <a:effectLst/>
              </a:rPr>
              <a:t>首先左图</a:t>
            </a:r>
            <a:r>
              <a:rPr lang="en-US" altLang="zh-CN" sz="1200" kern="1200" dirty="0">
                <a:effectLst/>
              </a:rPr>
              <a:t>。No Filtering </a:t>
            </a:r>
            <a:r>
              <a:rPr lang="en-US" altLang="zh-CN" sz="1200" kern="1200" dirty="0" err="1">
                <a:effectLst/>
              </a:rPr>
              <a:t>的灰色虚线中，Retrieval</a:t>
            </a:r>
            <a:r>
              <a:rPr lang="en-US" altLang="zh-CN" sz="1200" kern="1200" dirty="0">
                <a:effectLst/>
              </a:rPr>
              <a:t> Accuracy </a:t>
            </a:r>
            <a:r>
              <a:rPr lang="en-US" altLang="zh-CN" sz="1200" kern="1200" dirty="0" err="1">
                <a:effectLst/>
              </a:rPr>
              <a:t>已经持续下降时，success</a:t>
            </a:r>
            <a:r>
              <a:rPr lang="en-US" altLang="zh-CN" sz="1200" kern="1200" dirty="0">
                <a:effectLst/>
              </a:rPr>
              <a:t> rate </a:t>
            </a:r>
            <a:r>
              <a:rPr lang="en-US" altLang="zh-CN" sz="1200" kern="1200" dirty="0" err="1">
                <a:effectLst/>
              </a:rPr>
              <a:t>还没有明显恶化。这说明</a:t>
            </a:r>
            <a:r>
              <a:rPr lang="en-US" altLang="zh-CN" sz="1200" kern="1200" dirty="0">
                <a:effectLst/>
              </a:rPr>
              <a:t> MI proxy </a:t>
            </a:r>
            <a:r>
              <a:rPr lang="en-US" altLang="zh-CN" sz="1200" kern="1200" dirty="0" err="1">
                <a:effectLst/>
              </a:rPr>
              <a:t>能在最终任务表现崩掉之前，先看到</a:t>
            </a:r>
            <a:r>
              <a:rPr lang="en-US" altLang="zh-CN" sz="1200" kern="1200" dirty="0">
                <a:effectLst/>
              </a:rPr>
              <a:t> reasoning </a:t>
            </a:r>
            <a:r>
              <a:rPr lang="en-US" altLang="zh-CN" sz="1200" kern="1200" dirty="0" err="1">
                <a:effectLst/>
              </a:rPr>
              <a:t>与输入的耦合正在减弱</a:t>
            </a:r>
            <a:r>
              <a:rPr lang="en-US" altLang="zh-CN" sz="1200" kern="1200" dirty="0">
                <a:effectLst/>
              </a:rPr>
              <a:t>。</a:t>
            </a:r>
            <a:endParaRPr lang="zh-CN" altLang="zh-CN" sz="1200" kern="1200" dirty="0">
              <a:effectLst/>
            </a:endParaRPr>
          </a:p>
          <a:p>
            <a:r>
              <a:rPr lang="en-US" altLang="zh-CN" sz="1200" kern="1200" dirty="0" err="1">
                <a:effectLst/>
              </a:rPr>
              <a:t>更反直觉的是，reasoning</a:t>
            </a:r>
            <a:r>
              <a:rPr lang="en-US" altLang="zh-CN" sz="1200" kern="1200" dirty="0">
                <a:effectLst/>
              </a:rPr>
              <a:t> entropy </a:t>
            </a:r>
            <a:r>
              <a:rPr lang="en-US" altLang="zh-CN" sz="1200" kern="1200" dirty="0" err="1">
                <a:effectLst/>
              </a:rPr>
              <a:t>并没有同步下降，后期甚至出现明显飙升。如果只看</a:t>
            </a:r>
            <a:r>
              <a:rPr lang="en-US" altLang="zh-CN" sz="1200" kern="1200" dirty="0">
                <a:effectLst/>
              </a:rPr>
              <a:t> </a:t>
            </a:r>
            <a:r>
              <a:rPr lang="en-US" altLang="zh-CN" sz="1200" kern="1200" dirty="0" err="1">
                <a:effectLst/>
              </a:rPr>
              <a:t>entropy，会误以为模型仍然保持丰富探索；实际上它可能只是以更多随机形式重复</a:t>
            </a:r>
            <a:r>
              <a:rPr lang="en-US" altLang="zh-CN" sz="1200" kern="1200" dirty="0">
                <a:effectLst/>
              </a:rPr>
              <a:t> input-agnostic </a:t>
            </a:r>
            <a:r>
              <a:rPr lang="en-US" altLang="zh-CN" sz="1200" kern="1200" dirty="0" err="1">
                <a:effectLst/>
              </a:rPr>
              <a:t>模板</a:t>
            </a:r>
            <a:r>
              <a:rPr lang="en-US" altLang="zh-CN" sz="1200" kern="1200" dirty="0">
                <a:effectLst/>
              </a:rPr>
              <a:t>。</a:t>
            </a:r>
            <a:endParaRPr lang="zh-CN" altLang="zh-CN" sz="1200" kern="1200" dirty="0">
              <a:effectLst/>
            </a:endParaRPr>
          </a:p>
          <a:p>
            <a:r>
              <a:rPr lang="en-US" altLang="zh-CN" sz="1200" kern="1200" dirty="0" err="1">
                <a:effectLst/>
              </a:rPr>
              <a:t>右侧相关系数进一步支持这一点：MI-ZScore</a:t>
            </a:r>
            <a:r>
              <a:rPr lang="en-US" altLang="zh-CN" sz="1200" kern="1200" dirty="0">
                <a:effectLst/>
              </a:rPr>
              <a:t> </a:t>
            </a:r>
            <a:r>
              <a:rPr lang="en-US" altLang="zh-CN" sz="1200" kern="1200" dirty="0" err="1">
                <a:effectLst/>
              </a:rPr>
              <a:t>与</a:t>
            </a:r>
            <a:r>
              <a:rPr lang="en-US" altLang="zh-CN" sz="1200" kern="1200" dirty="0">
                <a:effectLst/>
              </a:rPr>
              <a:t> task success </a:t>
            </a:r>
            <a:r>
              <a:rPr lang="en-US" altLang="zh-CN" sz="1200" kern="1200" dirty="0" err="1">
                <a:effectLst/>
              </a:rPr>
              <a:t>的</a:t>
            </a:r>
            <a:r>
              <a:rPr lang="en-US" altLang="zh-CN" sz="1200" kern="1200" dirty="0">
                <a:effectLst/>
              </a:rPr>
              <a:t> Spearman </a:t>
            </a:r>
            <a:r>
              <a:rPr lang="en-US" altLang="zh-CN" sz="1200" kern="1200" dirty="0" err="1">
                <a:effectLst/>
              </a:rPr>
              <a:t>是</a:t>
            </a:r>
            <a:r>
              <a:rPr lang="en-US" altLang="zh-CN" sz="1200" kern="1200" dirty="0">
                <a:effectLst/>
              </a:rPr>
              <a:t> +0.39，MI-Seq </a:t>
            </a:r>
            <a:r>
              <a:rPr lang="en-US" altLang="zh-CN" sz="1200" kern="1200" dirty="0" err="1">
                <a:effectLst/>
              </a:rPr>
              <a:t>是</a:t>
            </a:r>
            <a:r>
              <a:rPr lang="en-US" altLang="zh-CN" sz="1200" kern="1200" dirty="0">
                <a:effectLst/>
              </a:rPr>
              <a:t> +0.22；Reasoning Entropy </a:t>
            </a:r>
            <a:r>
              <a:rPr lang="en-US" altLang="zh-CN" sz="1200" kern="1200" dirty="0" err="1">
                <a:effectLst/>
              </a:rPr>
              <a:t>和</a:t>
            </a:r>
            <a:r>
              <a:rPr lang="en-US" altLang="zh-CN" sz="1200" kern="1200" dirty="0">
                <a:effectLst/>
              </a:rPr>
              <a:t> Conditional Entropy </a:t>
            </a:r>
            <a:r>
              <a:rPr lang="en-US" altLang="zh-CN" sz="1200" kern="1200" dirty="0" err="1">
                <a:effectLst/>
              </a:rPr>
              <a:t>分别是</a:t>
            </a:r>
            <a:r>
              <a:rPr lang="en-US" altLang="zh-CN" sz="1200" kern="1200" dirty="0">
                <a:effectLst/>
              </a:rPr>
              <a:t> -0.11 </a:t>
            </a:r>
            <a:r>
              <a:rPr lang="en-US" altLang="zh-CN" sz="1200" kern="1200" dirty="0" err="1">
                <a:effectLst/>
              </a:rPr>
              <a:t>和</a:t>
            </a:r>
            <a:r>
              <a:rPr lang="en-US" altLang="zh-CN" sz="1200" kern="1200" dirty="0">
                <a:effectLst/>
              </a:rPr>
              <a:t> -0.14，相关方向甚至相反。Entropy/KL regularization </a:t>
            </a:r>
            <a:r>
              <a:rPr lang="en-US" altLang="zh-CN" sz="1200" kern="1200" dirty="0" err="1">
                <a:effectLst/>
              </a:rPr>
              <a:t>主要改变</a:t>
            </a:r>
            <a:r>
              <a:rPr lang="en-US" altLang="zh-CN" sz="1200" kern="1200" dirty="0">
                <a:effectLst/>
              </a:rPr>
              <a:t> H(Z|X)，</a:t>
            </a:r>
            <a:r>
              <a:rPr lang="en-US" altLang="zh-CN" sz="1200" kern="1200" dirty="0" err="1">
                <a:effectLst/>
              </a:rPr>
              <a:t>而</a:t>
            </a:r>
            <a:r>
              <a:rPr lang="en-US" altLang="zh-CN" sz="1200" kern="1200" dirty="0">
                <a:effectLst/>
              </a:rPr>
              <a:t> Top-p RV filtering </a:t>
            </a:r>
            <a:r>
              <a:rPr lang="en-US" altLang="zh-CN" sz="1200" kern="1200" dirty="0" err="1">
                <a:effectLst/>
              </a:rPr>
              <a:t>才更稳定地同时维持</a:t>
            </a:r>
            <a:r>
              <a:rPr lang="en-US" altLang="zh-CN" sz="1200" kern="1200" dirty="0">
                <a:effectLst/>
              </a:rPr>
              <a:t> MI proxy </a:t>
            </a:r>
            <a:r>
              <a:rPr lang="en-US" altLang="zh-CN" sz="1200" kern="1200" dirty="0" err="1">
                <a:effectLst/>
              </a:rPr>
              <a:t>和任务表现</a:t>
            </a:r>
            <a:r>
              <a:rPr lang="en-US" altLang="zh-CN" sz="1200" kern="1200" dirty="0">
                <a:effectLst/>
              </a:rPr>
              <a:t>。</a:t>
            </a:r>
            <a:endParaRPr lang="zh-CN" altLang="zh-CN" sz="1200" kern="1200" dirty="0">
              <a:effectLst/>
            </a:endParaRP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 </a:t>
            </a:r>
            <a:r>
              <a:rPr lang="en-US" altLang="zh-CN" sz="1200" kern="1200" dirty="0" err="1">
                <a:effectLst/>
              </a:rPr>
              <a:t>左侧</a:t>
            </a:r>
            <a:r>
              <a:rPr lang="en-US" altLang="zh-CN" sz="1200" kern="1200" dirty="0">
                <a:effectLst/>
              </a:rPr>
              <a:t> Figure 7 </a:t>
            </a:r>
            <a:r>
              <a:rPr lang="en-US" altLang="zh-CN" sz="1200" kern="1200" dirty="0" err="1">
                <a:effectLst/>
              </a:rPr>
              <a:t>展示八个环境中的</a:t>
            </a:r>
            <a:r>
              <a:rPr lang="en-US" altLang="zh-CN" sz="1200" kern="1200" dirty="0">
                <a:effectLst/>
              </a:rPr>
              <a:t> reasoning length </a:t>
            </a:r>
            <a:r>
              <a:rPr lang="en-US" altLang="zh-CN" sz="1200" kern="1200" dirty="0" err="1">
                <a:effectLst/>
              </a:rPr>
              <a:t>drift。所有环境的输出长度都下降，最大约</a:t>
            </a:r>
            <a:r>
              <a:rPr lang="en-US" altLang="zh-CN" sz="1200" kern="1200" dirty="0">
                <a:effectLst/>
              </a:rPr>
              <a:t> 87%。</a:t>
            </a:r>
            <a:r>
              <a:rPr lang="en-US" altLang="zh-CN" sz="1200" kern="1200" dirty="0" err="1">
                <a:effectLst/>
              </a:rPr>
              <a:t>文章的解释是：模型逐渐收敛到更短、更公式化、能够跨输入复用的模板</a:t>
            </a:r>
            <a:r>
              <a:rPr lang="en-US" altLang="zh-CN" sz="1200" kern="1200" dirty="0">
                <a:effectLst/>
              </a:rPr>
              <a:t>。</a:t>
            </a:r>
            <a:endParaRPr lang="zh-CN" altLang="zh-CN" sz="1200" kern="1200" dirty="0">
              <a:effectLst/>
            </a:endParaRPr>
          </a:p>
          <a:p>
            <a:r>
              <a:rPr lang="en-US" altLang="zh-CN" sz="1200" kern="1200" dirty="0" err="1">
                <a:effectLst/>
              </a:rPr>
              <a:t>但长度下降本身不是</a:t>
            </a:r>
            <a:r>
              <a:rPr lang="en-US" altLang="zh-CN" sz="1200" kern="1200" dirty="0">
                <a:effectLst/>
              </a:rPr>
              <a:t> collapse </a:t>
            </a:r>
            <a:r>
              <a:rPr lang="en-US" altLang="zh-CN" sz="1200" kern="1200" dirty="0" err="1">
                <a:effectLst/>
              </a:rPr>
              <a:t>的充分条件</a:t>
            </a:r>
            <a:r>
              <a:rPr lang="en-US" altLang="zh-CN" sz="1200" kern="1200" dirty="0">
                <a:effectLst/>
              </a:rPr>
              <a:t>。</a:t>
            </a:r>
            <a:r>
              <a:rPr lang="zh-CN" altLang="zh-CN" sz="1200" kern="1200" dirty="0">
                <a:effectLst/>
              </a:rPr>
              <a:t>模型也可能通过学习变得更高效、更简洁。只有长度缩短同时伴随</a:t>
            </a:r>
            <a:r>
              <a:rPr lang="en-US" altLang="zh-CN" sz="1200" kern="1200" dirty="0">
                <a:effectLst/>
              </a:rPr>
              <a:t> MI proxy </a:t>
            </a:r>
            <a:r>
              <a:rPr lang="zh-CN" altLang="zh-CN" sz="1200" kern="1200" dirty="0">
                <a:effectLst/>
              </a:rPr>
              <a:t>下降，我们才能更有把握地说，模型删掉的是</a:t>
            </a:r>
            <a:r>
              <a:rPr lang="en-US" altLang="zh-CN" sz="1200" kern="1200" dirty="0">
                <a:effectLst/>
              </a:rPr>
              <a:t> input-dependent </a:t>
            </a:r>
            <a:r>
              <a:rPr lang="zh-CN" altLang="zh-CN" sz="1200" kern="1200" dirty="0">
                <a:effectLst/>
              </a:rPr>
              <a:t>中间推理，而不是无效冗余。</a:t>
            </a:r>
          </a:p>
          <a:p>
            <a:r>
              <a:rPr lang="zh-CN" altLang="zh-CN" sz="1200" kern="1200" dirty="0">
                <a:effectLst/>
              </a:rPr>
              <a:t>右侧</a:t>
            </a:r>
            <a:r>
              <a:rPr lang="en-US" altLang="zh-CN" sz="1200" kern="1200" dirty="0">
                <a:effectLst/>
              </a:rPr>
              <a:t> Table 4 </a:t>
            </a:r>
            <a:r>
              <a:rPr lang="zh-CN" altLang="zh-CN" sz="1200" kern="1200" dirty="0">
                <a:effectLst/>
              </a:rPr>
              <a:t>展示</a:t>
            </a:r>
            <a:r>
              <a:rPr lang="en-US" altLang="zh-CN" sz="1200" kern="1200" dirty="0">
                <a:effectLst/>
              </a:rPr>
              <a:t> SNR filtering </a:t>
            </a:r>
            <a:r>
              <a:rPr lang="zh-CN" altLang="zh-CN" sz="1200" kern="1200" dirty="0">
                <a:effectLst/>
              </a:rPr>
              <a:t>的泛化：收益跨</a:t>
            </a:r>
            <a:r>
              <a:rPr lang="en-US" altLang="zh-CN" sz="1200" kern="1200" dirty="0">
                <a:effectLst/>
              </a:rPr>
              <a:t> PPO</a:t>
            </a:r>
            <a:r>
              <a:rPr lang="zh-CN" altLang="zh-CN" sz="1200" kern="1200" dirty="0">
                <a:effectLst/>
              </a:rPr>
              <a:t>、</a:t>
            </a:r>
            <a:r>
              <a:rPr lang="en-US" altLang="zh-CN" sz="1200" kern="1200" dirty="0">
                <a:effectLst/>
              </a:rPr>
              <a:t>DAPO</a:t>
            </a:r>
            <a:r>
              <a:rPr lang="zh-CN" altLang="zh-CN" sz="1200" kern="1200" dirty="0">
                <a:effectLst/>
              </a:rPr>
              <a:t>、</a:t>
            </a:r>
            <a:r>
              <a:rPr lang="en-US" altLang="zh-CN" sz="1200" kern="1200" dirty="0">
                <a:effectLst/>
              </a:rPr>
              <a:t>GRPO</a:t>
            </a:r>
            <a:r>
              <a:rPr lang="zh-CN" altLang="zh-CN" sz="1200" kern="1200" dirty="0">
                <a:effectLst/>
              </a:rPr>
              <a:t>、</a:t>
            </a:r>
            <a:r>
              <a:rPr lang="en-US" altLang="zh-CN" sz="1200" kern="1200" dirty="0" err="1">
                <a:effectLst/>
              </a:rPr>
              <a:t>Dr.GRPO</a:t>
            </a:r>
            <a:r>
              <a:rPr lang="zh-CN" altLang="zh-CN" sz="1200" kern="1200" dirty="0">
                <a:effectLst/>
              </a:rPr>
              <a:t>，跨</a:t>
            </a:r>
            <a:r>
              <a:rPr lang="en-US" altLang="zh-CN" sz="1200" kern="1200" dirty="0">
                <a:effectLst/>
              </a:rPr>
              <a:t> 0.5B </a:t>
            </a:r>
            <a:r>
              <a:rPr lang="zh-CN" altLang="zh-CN" sz="1200" kern="1200" dirty="0">
                <a:effectLst/>
              </a:rPr>
              <a:t>到</a:t>
            </a:r>
            <a:r>
              <a:rPr lang="en-US" altLang="zh-CN" sz="1200" kern="1200" dirty="0">
                <a:effectLst/>
              </a:rPr>
              <a:t> 7B</a:t>
            </a:r>
            <a:r>
              <a:rPr lang="zh-CN" altLang="zh-CN" sz="1200" kern="1200" dirty="0">
                <a:effectLst/>
              </a:rPr>
              <a:t>，跨</a:t>
            </a:r>
            <a:r>
              <a:rPr lang="en-US" altLang="zh-CN" sz="1200" kern="1200" dirty="0">
                <a:effectLst/>
              </a:rPr>
              <a:t> Qwen</a:t>
            </a:r>
            <a:r>
              <a:rPr lang="zh-CN" altLang="zh-CN" sz="1200" kern="1200" dirty="0">
                <a:effectLst/>
              </a:rPr>
              <a:t>、</a:t>
            </a:r>
            <a:r>
              <a:rPr lang="en-US" altLang="zh-CN" sz="1200" kern="1200" dirty="0">
                <a:effectLst/>
              </a:rPr>
              <a:t>Llama</a:t>
            </a:r>
            <a:r>
              <a:rPr lang="zh-CN" altLang="zh-CN" sz="1200" kern="1200" dirty="0">
                <a:effectLst/>
              </a:rPr>
              <a:t>，以及文本和图像环境。这个广度说明它更像是在控制通用的</a:t>
            </a:r>
            <a:r>
              <a:rPr lang="en-US" altLang="zh-CN" sz="1200" kern="1200" dirty="0">
                <a:effectLst/>
              </a:rPr>
              <a:t> task-gradient SNR</a:t>
            </a:r>
            <a:r>
              <a:rPr lang="zh-CN" altLang="zh-CN" sz="1200" kern="1200" dirty="0">
                <a:effectLst/>
              </a:rPr>
              <a:t>，而不是绑定某个算法。分工上，</a:t>
            </a:r>
            <a:r>
              <a:rPr lang="en-US" altLang="zh-CN" sz="1200" kern="1200" dirty="0">
                <a:effectLst/>
              </a:rPr>
              <a:t>MI proxy </a:t>
            </a:r>
            <a:r>
              <a:rPr lang="zh-CN" altLang="zh-CN" sz="1200" kern="1200" dirty="0">
                <a:effectLst/>
              </a:rPr>
              <a:t>用于监控，</a:t>
            </a:r>
            <a:r>
              <a:rPr lang="en-US" altLang="zh-CN" sz="1200" kern="1200" dirty="0">
                <a:effectLst/>
              </a:rPr>
              <a:t>RV filtering </a:t>
            </a:r>
            <a:r>
              <a:rPr lang="zh-CN" altLang="zh-CN" sz="1200" kern="1200" dirty="0">
                <a:effectLst/>
              </a:rPr>
              <a:t>用于干预；边界仍然是高随机环境下</a:t>
            </a:r>
            <a:r>
              <a:rPr lang="en-US" altLang="zh-CN" sz="1200" kern="1200" dirty="0">
                <a:effectLst/>
              </a:rPr>
              <a:t> RV </a:t>
            </a:r>
            <a:r>
              <a:rPr lang="zh-CN" altLang="zh-CN" sz="1200" kern="1200" dirty="0">
                <a:effectLst/>
              </a:rPr>
              <a:t>会混入噪声。</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effectLst/>
              </a:rPr>
              <a:t>T²PO </a:t>
            </a:r>
            <a:r>
              <a:rPr lang="en-US" altLang="zh-CN" sz="1200" kern="1200" dirty="0" err="1">
                <a:effectLst/>
              </a:rPr>
              <a:t>是</a:t>
            </a:r>
            <a:r>
              <a:rPr lang="en-US" altLang="zh-CN" sz="1200" kern="1200" dirty="0">
                <a:effectLst/>
              </a:rPr>
              <a:t> ICML 2026 </a:t>
            </a:r>
            <a:r>
              <a:rPr lang="en-US" altLang="zh-CN" sz="1200" kern="1200" dirty="0" err="1">
                <a:effectLst/>
              </a:rPr>
              <a:t>Spotlight。它</a:t>
            </a:r>
            <a:r>
              <a:rPr lang="zh-CN" altLang="en-US" sz="1200" kern="1200" dirty="0">
                <a:effectLst/>
              </a:rPr>
              <a:t>提出了一个新的 </a:t>
            </a:r>
            <a:r>
              <a:rPr lang="en-US" altLang="zh-CN" sz="1200" kern="1200" dirty="0">
                <a:effectLst/>
              </a:rPr>
              <a:t>uncertainty</a:t>
            </a:r>
            <a:r>
              <a:rPr lang="zh-CN" altLang="en-US" sz="1200" kern="1200" dirty="0">
                <a:effectLst/>
              </a:rPr>
              <a:t> 指标来做</a:t>
            </a:r>
            <a:r>
              <a:rPr lang="en-US" altLang="zh-CN" sz="1200" kern="1200" dirty="0" err="1">
                <a:effectLst/>
              </a:rPr>
              <a:t>RL在线</a:t>
            </a:r>
            <a:r>
              <a:rPr lang="zh-CN" altLang="en-US" sz="1200" kern="1200" dirty="0">
                <a:effectLst/>
              </a:rPr>
              <a:t>采样的干预</a:t>
            </a:r>
            <a:r>
              <a:rPr lang="en-US" altLang="zh-CN" sz="1200" kern="1200" dirty="0">
                <a:effectLst/>
              </a:rPr>
              <a:t>，</a:t>
            </a:r>
            <a:r>
              <a:rPr lang="en-US" altLang="zh-CN" sz="1200" kern="1200" dirty="0" err="1">
                <a:effectLst/>
              </a:rPr>
              <a:t>而且分别作用在</a:t>
            </a:r>
            <a:r>
              <a:rPr lang="en-US" altLang="zh-CN" sz="1200" kern="1200" dirty="0">
                <a:effectLst/>
              </a:rPr>
              <a:t> token </a:t>
            </a:r>
            <a:r>
              <a:rPr lang="en-US" altLang="zh-CN" sz="1200" kern="1200" dirty="0" err="1">
                <a:effectLst/>
              </a:rPr>
              <a:t>和</a:t>
            </a:r>
            <a:r>
              <a:rPr lang="en-US" altLang="zh-CN" sz="1200" kern="1200" dirty="0">
                <a:effectLst/>
              </a:rPr>
              <a:t> turn </a:t>
            </a:r>
            <a:r>
              <a:rPr lang="en-US" altLang="zh-CN" sz="1200" kern="1200" dirty="0" err="1">
                <a:effectLst/>
              </a:rPr>
              <a:t>两个尺度</a:t>
            </a:r>
            <a:r>
              <a:rPr lang="en-US" altLang="zh-CN" sz="1200" kern="1200" dirty="0">
                <a:effectLst/>
              </a:rPr>
              <a:t>。</a:t>
            </a:r>
            <a:endParaRPr lang="zh-CN" altLang="zh-CN" sz="1200" kern="1200" dirty="0">
              <a:effectLst/>
            </a:endParaRP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这篇文章认为，</a:t>
            </a:r>
            <a:r>
              <a:rPr lang="en-US" altLang="zh-CN" dirty="0"/>
              <a:t>agentic</a:t>
            </a:r>
            <a:r>
              <a:rPr lang="zh-CN" altLang="en-US" dirty="0"/>
              <a:t> </a:t>
            </a:r>
            <a:r>
              <a:rPr lang="en-US" altLang="zh-CN" dirty="0"/>
              <a:t>RL</a:t>
            </a:r>
            <a:r>
              <a:rPr lang="zh-CN" altLang="en-US" dirty="0"/>
              <a:t>常用的两个内化指标：熵和</a:t>
            </a:r>
            <a:r>
              <a:rPr lang="en-US" altLang="zh-CN" dirty="0"/>
              <a:t>confidence</a:t>
            </a:r>
            <a:r>
              <a:rPr lang="zh-CN" altLang="en-US" dirty="0"/>
              <a:t>是互补的 。</a:t>
            </a:r>
            <a:endParaRPr lang="en-US" altLang="zh-CN" dirty="0"/>
          </a:p>
          <a:p>
            <a:r>
              <a:rPr lang="en" altLang="zh-CN" dirty="0"/>
              <a:t>Entropy </a:t>
            </a:r>
            <a:r>
              <a:rPr lang="zh-CN" altLang="en-US" dirty="0"/>
              <a:t>使用整个 </a:t>
            </a:r>
            <a:r>
              <a:rPr lang="en" altLang="zh-CN" dirty="0"/>
              <a:t>vocabulary </a:t>
            </a:r>
            <a:r>
              <a:rPr lang="zh-CN" altLang="en-US" dirty="0"/>
              <a:t>上的概率分布进行计算，因此它是一个全局指标：不仅关注概率最高的 </a:t>
            </a:r>
            <a:r>
              <a:rPr lang="en" altLang="zh-CN" dirty="0"/>
              <a:t>token</a:t>
            </a:r>
            <a:r>
              <a:rPr lang="zh-CN" altLang="en" dirty="0"/>
              <a:t>，</a:t>
            </a:r>
            <a:r>
              <a:rPr lang="zh-CN" altLang="en-US" dirty="0"/>
              <a:t>也会关注剩余概率质量如何分布。它比较擅长判断整个分布究竟是平滑还是尖锐的。</a:t>
            </a:r>
          </a:p>
          <a:p>
            <a:r>
              <a:rPr lang="zh-CN" altLang="en-US" dirty="0"/>
              <a:t>但是 </a:t>
            </a:r>
            <a:r>
              <a:rPr lang="en" altLang="zh-CN" dirty="0"/>
              <a:t>entropy </a:t>
            </a:r>
            <a:r>
              <a:rPr lang="zh-CN" altLang="en-US" dirty="0"/>
              <a:t>有自己的盲区。</a:t>
            </a:r>
            <a:r>
              <a:rPr lang="en" altLang="zh-CN" dirty="0"/>
              <a:t>LLM </a:t>
            </a:r>
            <a:r>
              <a:rPr lang="zh-CN" altLang="en-US" dirty="0"/>
              <a:t>的 </a:t>
            </a:r>
            <a:r>
              <a:rPr lang="en" altLang="zh-CN" dirty="0"/>
              <a:t>vocabulary </a:t>
            </a:r>
            <a:r>
              <a:rPr lang="zh-CN" altLang="en-US" dirty="0"/>
              <a:t>非常大，可能有一个分布在单个</a:t>
            </a:r>
            <a:r>
              <a:rPr lang="en-US" altLang="zh-CN" dirty="0"/>
              <a:t>token</a:t>
            </a:r>
            <a:r>
              <a:rPr lang="zh-CN" altLang="en-US" dirty="0"/>
              <a:t>上的概率</a:t>
            </a:r>
            <a:r>
              <a:rPr lang="en-US" altLang="zh-CN" dirty="0"/>
              <a:t>&gt;90%</a:t>
            </a:r>
            <a:r>
              <a:rPr lang="zh-CN" altLang="en-US" dirty="0"/>
              <a:t>，但是另一个分布在两个</a:t>
            </a:r>
            <a:r>
              <a:rPr lang="en-US" altLang="zh-CN" dirty="0"/>
              <a:t>token</a:t>
            </a:r>
            <a:r>
              <a:rPr lang="zh-CN" altLang="en-US" dirty="0"/>
              <a:t>上分别概率是</a:t>
            </a:r>
            <a:r>
              <a:rPr lang="en-US" altLang="zh-CN" dirty="0"/>
              <a:t>50%</a:t>
            </a:r>
            <a:r>
              <a:rPr lang="zh-CN" altLang="en-US" dirty="0"/>
              <a:t>；这种分布对于</a:t>
            </a:r>
            <a:r>
              <a:rPr lang="en-US" altLang="zh-CN" dirty="0"/>
              <a:t>entropy</a:t>
            </a:r>
            <a:r>
              <a:rPr lang="zh-CN" altLang="en-US" dirty="0"/>
              <a:t>指标来说也是尖锐的，它在整个词表上做了归一化之后的区分度不大，但实际上它们采样行为的差别是很大的。</a:t>
            </a:r>
            <a:endParaRPr lang="en-US" altLang="zh-CN" dirty="0"/>
          </a:p>
          <a:p>
            <a:endParaRPr lang="en-US" altLang="zh-CN" dirty="0"/>
          </a:p>
          <a:p>
            <a:r>
              <a:rPr lang="en" altLang="zh-CN" dirty="0"/>
              <a:t>Confidence </a:t>
            </a:r>
            <a:r>
              <a:rPr lang="zh-CN" altLang="en-US" dirty="0"/>
              <a:t>提供了另一个视角。论文实现中，它使用 </a:t>
            </a:r>
            <a:r>
              <a:rPr lang="en" altLang="zh-CN" dirty="0"/>
              <a:t>top-(j) token </a:t>
            </a:r>
            <a:r>
              <a:rPr lang="zh-CN" altLang="en-US" dirty="0"/>
              <a:t>的平均负对数概率，本质上关注的是概率分布的头部：模型是否已经把很大概率集中在最可能的几个 </a:t>
            </a:r>
            <a:r>
              <a:rPr lang="en" altLang="zh-CN" dirty="0"/>
              <a:t>token </a:t>
            </a:r>
            <a:r>
              <a:rPr lang="zh-CN" altLang="en-US" dirty="0"/>
              <a:t>上。</a:t>
            </a:r>
            <a:r>
              <a:rPr lang="en" altLang="zh-CN" dirty="0"/>
              <a:t>Confidence </a:t>
            </a:r>
            <a:r>
              <a:rPr lang="zh-CN" altLang="en-US" dirty="0"/>
              <a:t>能够区分刚才两个尖锐分布，因为 </a:t>
            </a:r>
            <a:r>
              <a:rPr lang="en" altLang="zh-CN" dirty="0"/>
              <a:t>top token </a:t>
            </a:r>
            <a:r>
              <a:rPr lang="zh-CN" altLang="en-US" dirty="0"/>
              <a:t>概率从 </a:t>
            </a:r>
            <a:r>
              <a:rPr lang="en-US" altLang="zh-CN" dirty="0"/>
              <a:t>0.5 </a:t>
            </a:r>
            <a:r>
              <a:rPr lang="zh-CN" altLang="en-US" dirty="0"/>
              <a:t>变成了 </a:t>
            </a:r>
            <a:r>
              <a:rPr lang="en-US" altLang="zh-CN" dirty="0"/>
              <a:t>1</a:t>
            </a:r>
            <a:r>
              <a:rPr lang="zh-CN" altLang="en-US" dirty="0"/>
              <a:t>。但它的盲区是，只关注</a:t>
            </a:r>
            <a:r>
              <a:rPr lang="en-US" altLang="zh-CN" dirty="0" err="1"/>
              <a:t>topP</a:t>
            </a:r>
            <a:r>
              <a:rPr lang="zh-CN" altLang="en-US" dirty="0"/>
              <a:t>。</a:t>
            </a:r>
            <a:endParaRPr lang="en-US" altLang="zh-CN" dirty="0"/>
          </a:p>
          <a:p>
            <a:endParaRPr lang="en" altLang="zh-CN" dirty="0"/>
          </a:p>
          <a:p>
            <a:r>
              <a:rPr lang="zh-CN" altLang="en" dirty="0"/>
              <a:t>概括下来</a:t>
            </a:r>
            <a:r>
              <a:rPr lang="zh-CN" altLang="en-US" dirty="0"/>
              <a:t>就是：</a:t>
            </a:r>
            <a:r>
              <a:rPr lang="en" altLang="zh-CN" dirty="0"/>
              <a:t>entropy </a:t>
            </a:r>
            <a:r>
              <a:rPr lang="zh-CN" altLang="en-US" dirty="0"/>
              <a:t>看的是整个分布，尤其对 </a:t>
            </a:r>
            <a:r>
              <a:rPr lang="en" altLang="zh-CN" dirty="0"/>
              <a:t>tail probability </a:t>
            </a:r>
            <a:r>
              <a:rPr lang="zh-CN" altLang="en-US" dirty="0"/>
              <a:t>的变化更敏感；</a:t>
            </a:r>
            <a:r>
              <a:rPr lang="en" altLang="zh-CN" dirty="0"/>
              <a:t>confidence </a:t>
            </a:r>
            <a:r>
              <a:rPr lang="zh-CN" altLang="en-US" dirty="0"/>
              <a:t>看的是分布头部，尤其对头部是否形成明显优势更敏感。</a:t>
            </a:r>
          </a:p>
          <a:p>
            <a:r>
              <a:rPr lang="zh-CN" altLang="en-US" dirty="0"/>
              <a:t>因此，</a:t>
            </a:r>
            <a:r>
              <a:rPr lang="en" altLang="zh-CN" dirty="0"/>
              <a:t>T²PO </a:t>
            </a:r>
            <a:r>
              <a:rPr lang="zh-CN" altLang="en-US" dirty="0"/>
              <a:t>最终把二者结合起来做一个新的</a:t>
            </a:r>
            <a:r>
              <a:rPr lang="en-US" altLang="zh-CN" dirty="0"/>
              <a:t>uncertainty</a:t>
            </a:r>
            <a:r>
              <a:rPr lang="zh-CN" altLang="en-US" dirty="0"/>
              <a:t> </a:t>
            </a:r>
            <a:r>
              <a:rPr lang="en-US" altLang="zh-CN" dirty="0"/>
              <a:t>metric</a:t>
            </a:r>
            <a:r>
              <a:rPr lang="zh-CN" altLang="en-US" dirty="0"/>
              <a:t>，它作为一个综合的</a:t>
            </a:r>
            <a:r>
              <a:rPr lang="en-US" altLang="zh-CN" dirty="0"/>
              <a:t>uncertainty metric</a:t>
            </a:r>
            <a:r>
              <a:rPr lang="zh-CN" altLang="en-US" dirty="0"/>
              <a:t>能反映更多分布的变化</a:t>
            </a:r>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41129901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kern="1200" dirty="0">
                <a:effectLst/>
              </a:rPr>
              <a:t>所以文章把这两个指标加权处理，提出这个新的</a:t>
            </a:r>
            <a:r>
              <a:rPr lang="en-US" altLang="zh-CN" sz="1200" kern="1200" dirty="0">
                <a:effectLst/>
              </a:rPr>
              <a:t>uncertainty</a:t>
            </a:r>
            <a:r>
              <a:rPr lang="zh-CN" altLang="en-US" sz="1200" kern="1200" dirty="0">
                <a:effectLst/>
              </a:rPr>
              <a:t>度量</a:t>
            </a:r>
            <a:endParaRPr lang="en-US" altLang="zh-CN" sz="1200" kern="1200" dirty="0">
              <a:effectLst/>
            </a:endParaRPr>
          </a:p>
          <a:p>
            <a:r>
              <a:rPr lang="zh-CN" altLang="en-US" sz="1200" kern="1200" dirty="0">
                <a:effectLst/>
              </a:rPr>
              <a:t>在真正部署的时候，用于干预</a:t>
            </a:r>
            <a:r>
              <a:rPr lang="zh-CN" altLang="zh-CN" sz="1200" kern="1200" dirty="0">
                <a:effectLst/>
              </a:rPr>
              <a:t>的不是</a:t>
            </a:r>
            <a:r>
              <a:rPr lang="en-US" altLang="zh-CN" sz="1200" kern="1200" dirty="0">
                <a:effectLst/>
              </a:rPr>
              <a:t> </a:t>
            </a:r>
            <a:r>
              <a:rPr lang="en-US" altLang="zh-CN" sz="1200" kern="1200" dirty="0" err="1">
                <a:effectLst/>
              </a:rPr>
              <a:t>M_t</a:t>
            </a:r>
            <a:r>
              <a:rPr lang="en-US" altLang="zh-CN" sz="1200" kern="1200" dirty="0">
                <a:effectLst/>
              </a:rPr>
              <a:t> </a:t>
            </a:r>
            <a:r>
              <a:rPr lang="zh-CN" altLang="zh-CN" sz="1200" kern="1200" dirty="0">
                <a:effectLst/>
              </a:rPr>
              <a:t>的绝对值，而是一个滑动窗口里的平均</a:t>
            </a:r>
            <a:r>
              <a:rPr lang="en-US" altLang="zh-CN" sz="1200" kern="1200" dirty="0">
                <a:effectLst/>
              </a:rPr>
              <a:t> |</a:t>
            </a:r>
            <a:r>
              <a:rPr lang="en-US" altLang="zh-CN" sz="1200" kern="1200" dirty="0" err="1">
                <a:effectLst/>
              </a:rPr>
              <a:t>ΔM_t</a:t>
            </a:r>
            <a:r>
              <a:rPr lang="en-US" altLang="zh-CN" sz="1200" kern="1200" dirty="0">
                <a:effectLst/>
              </a:rPr>
              <a:t>|</a:t>
            </a:r>
            <a:r>
              <a:rPr lang="zh-CN" altLang="zh-CN" sz="1200" kern="1200" dirty="0">
                <a:effectLst/>
              </a:rPr>
              <a:t>。如果</a:t>
            </a:r>
            <a:r>
              <a:rPr lang="en-US" altLang="zh-CN" sz="1200" kern="1200" dirty="0">
                <a:effectLst/>
              </a:rPr>
              <a:t> predictive distribution </a:t>
            </a:r>
            <a:r>
              <a:rPr lang="zh-CN" altLang="zh-CN" sz="1200" kern="1200" dirty="0">
                <a:effectLst/>
              </a:rPr>
              <a:t>长期不再变化，说明模型继续生成</a:t>
            </a:r>
            <a:r>
              <a:rPr lang="en-US" altLang="zh-CN" sz="1200" kern="1200" dirty="0">
                <a:effectLst/>
              </a:rPr>
              <a:t> thinking token </a:t>
            </a:r>
            <a:r>
              <a:rPr lang="zh-CN" altLang="zh-CN" sz="1200" kern="1200" dirty="0">
                <a:effectLst/>
              </a:rPr>
              <a:t>也没有带来新的</a:t>
            </a:r>
            <a:r>
              <a:rPr lang="en-US" altLang="zh-CN" sz="1200" kern="1200" dirty="0">
                <a:effectLst/>
              </a:rPr>
              <a:t> belief update</a:t>
            </a:r>
            <a:r>
              <a:rPr lang="zh-CN" altLang="zh-CN" sz="1200" kern="1200" dirty="0">
                <a:effectLst/>
              </a:rPr>
              <a:t>，于是强制输出结束思考标记，转入</a:t>
            </a:r>
            <a:r>
              <a:rPr lang="en-US" altLang="zh-CN" sz="1200" kern="1200" dirty="0">
                <a:effectLst/>
              </a:rPr>
              <a:t> action</a:t>
            </a:r>
            <a:r>
              <a:rPr lang="zh-CN" altLang="zh-CN" sz="1200" kern="1200" dirty="0">
                <a:effectLst/>
              </a:rPr>
              <a:t>。</a:t>
            </a:r>
            <a:endParaRPr lang="en-US" altLang="zh-CN" sz="1200" kern="1200" dirty="0">
              <a:effectLst/>
            </a:endParaRPr>
          </a:p>
          <a:p>
            <a:r>
              <a:rPr lang="zh-CN" altLang="en-US" sz="1200" kern="1200" dirty="0">
                <a:effectLst/>
              </a:rPr>
              <a:t>这个思想和我们说的第一篇文章类似，</a:t>
            </a:r>
            <a:r>
              <a:rPr lang="zh-CN" altLang="zh-CN" sz="1200" kern="1200" dirty="0">
                <a:effectLst/>
              </a:rPr>
              <a:t>高</a:t>
            </a:r>
            <a:r>
              <a:rPr lang="en-US" altLang="zh-CN" sz="1200" kern="1200" dirty="0">
                <a:effectLst/>
              </a:rPr>
              <a:t> entropy </a:t>
            </a:r>
            <a:r>
              <a:rPr lang="zh-CN" altLang="zh-CN" sz="1200" kern="1200" dirty="0">
                <a:effectLst/>
              </a:rPr>
              <a:t>不一定该继续思考，低</a:t>
            </a:r>
            <a:r>
              <a:rPr lang="en-US" altLang="zh-CN" sz="1200" kern="1200" dirty="0">
                <a:effectLst/>
              </a:rPr>
              <a:t> entropy </a:t>
            </a:r>
            <a:r>
              <a:rPr lang="zh-CN" altLang="zh-CN" sz="1200" kern="1200" dirty="0">
                <a:effectLst/>
              </a:rPr>
              <a:t>也不一定该停止；它检测的是</a:t>
            </a:r>
            <a:r>
              <a:rPr lang="en-US" altLang="zh-CN" sz="1200" kern="1200" dirty="0">
                <a:effectLst/>
              </a:rPr>
              <a:t> uncertainty </a:t>
            </a:r>
            <a:r>
              <a:rPr lang="zh-CN" altLang="en-US" sz="1200" kern="1200" dirty="0">
                <a:effectLst/>
              </a:rPr>
              <a:t>指标</a:t>
            </a:r>
            <a:r>
              <a:rPr lang="zh-CN" altLang="zh-CN" sz="1200" kern="1200" dirty="0">
                <a:effectLst/>
              </a:rPr>
              <a:t>是否仍在变化</a:t>
            </a:r>
            <a:r>
              <a:rPr lang="zh-CN" altLang="en-US" sz="1200" kern="1200" dirty="0">
                <a:effectLst/>
              </a:rPr>
              <a:t>，如果一直保持不变，说明模型没有带来新的信息，它可能在做一些重复行为。</a:t>
            </a:r>
            <a:endParaRPr lang="en-US" altLang="zh-CN" sz="1200" kern="1200"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dirty="0"/>
              <a:t>T²PO </a:t>
            </a:r>
            <a:r>
              <a:rPr lang="zh-CN" altLang="en-US" dirty="0"/>
              <a:t>观察到，推理过程中自校准不确定性信号 </a:t>
            </a:r>
            <a:r>
              <a:rPr lang="en-US" altLang="zh-CN" dirty="0"/>
              <a:t>(</a:t>
            </a:r>
            <a:r>
              <a:rPr lang="en" altLang="zh-CN" dirty="0" err="1"/>
              <a:t>M_t</a:t>
            </a:r>
            <a:r>
              <a:rPr lang="en" altLang="zh-CN" dirty="0"/>
              <a:t>) </a:t>
            </a:r>
            <a:r>
              <a:rPr lang="zh-CN" altLang="en-US" dirty="0"/>
              <a:t>通常先上升、达到峰值，再逐渐衰减。峰值附近集中出现任务相关的关键 </a:t>
            </a:r>
            <a:r>
              <a:rPr lang="en" altLang="zh-CN" dirty="0"/>
              <a:t>token</a:t>
            </a:r>
            <a:r>
              <a:rPr lang="zh-CN" altLang="en" dirty="0"/>
              <a:t>，</a:t>
            </a:r>
            <a:r>
              <a:rPr lang="zh-CN" altLang="en-US" dirty="0"/>
              <a:t>因此不能立即截断；当滑动窗口内 </a:t>
            </a:r>
            <a:r>
              <a:rPr lang="en-US" altLang="zh-CN" dirty="0"/>
              <a:t>(</a:t>
            </a:r>
            <a:r>
              <a:rPr lang="en" altLang="zh-CN" dirty="0" err="1"/>
              <a:t>M_t</a:t>
            </a:r>
            <a:r>
              <a:rPr lang="en" altLang="zh-CN" dirty="0"/>
              <a:t>) </a:t>
            </a:r>
            <a:r>
              <a:rPr lang="zh-CN" altLang="en-US" dirty="0"/>
              <a:t>的变化幅度持续低于阈值 </a:t>
            </a:r>
            <a:r>
              <a:rPr lang="en-US" altLang="zh-CN" dirty="0"/>
              <a:t>(\</a:t>
            </a:r>
            <a:r>
              <a:rPr lang="en" altLang="zh-CN" dirty="0"/>
              <a:t>epsilon) </a:t>
            </a:r>
            <a:r>
              <a:rPr lang="zh-CN" altLang="en-US" dirty="0"/>
              <a:t>时，说明预测分布已基本稳定，后续 </a:t>
            </a:r>
            <a:r>
              <a:rPr lang="en" altLang="zh-CN" dirty="0"/>
              <a:t>token </a:t>
            </a:r>
            <a:r>
              <a:rPr lang="zh-CN" altLang="en-US" dirty="0"/>
              <a:t>多为重复或低信息量推理。此时 </a:t>
            </a:r>
            <a:r>
              <a:rPr lang="en" altLang="zh-CN" dirty="0"/>
              <a:t>TTI </a:t>
            </a:r>
            <a:r>
              <a:rPr lang="zh-CN" altLang="en-US" dirty="0"/>
              <a:t>强制生成 </a:t>
            </a:r>
            <a:r>
              <a:rPr lang="en-US" altLang="zh-CN" sz="1200" kern="1200" dirty="0"/>
              <a:t>&lt;/</a:t>
            </a:r>
            <a:r>
              <a:rPr lang="en" altLang="zh-CN" sz="1200" kern="1200" dirty="0"/>
              <a:t>think&gt;</a:t>
            </a:r>
            <a:r>
              <a:rPr lang="en" altLang="zh-CN" dirty="0"/>
              <a:t> </a:t>
            </a:r>
            <a:r>
              <a:rPr lang="zh-CN" altLang="en-US" dirty="0"/>
              <a:t>并转入 </a:t>
            </a:r>
            <a:r>
              <a:rPr lang="en" altLang="zh-CN" dirty="0"/>
              <a:t>action</a:t>
            </a:r>
            <a:r>
              <a:rPr lang="zh-CN" altLang="en" dirty="0"/>
              <a:t>，</a:t>
            </a:r>
            <a:r>
              <a:rPr lang="zh-CN" altLang="en-US" dirty="0"/>
              <a:t>从而减少冗余思考，同时保留有效探索。</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kern="1200" dirty="0">
                <a:effectLst/>
              </a:rPr>
              <a:t>算法在两个层面分别做了干预：</a:t>
            </a:r>
            <a:r>
              <a:rPr lang="en-US" altLang="zh-CN" sz="1200" kern="1200" dirty="0">
                <a:effectLst/>
              </a:rPr>
              <a:t>1</a:t>
            </a:r>
            <a:r>
              <a:rPr lang="zh-CN" altLang="en-US" sz="1200" kern="1200" dirty="0">
                <a:effectLst/>
              </a:rPr>
              <a:t>）首先是</a:t>
            </a:r>
            <a:r>
              <a:rPr lang="en-US" altLang="zh-CN" sz="1200" kern="1200" dirty="0">
                <a:effectLst/>
              </a:rPr>
              <a:t>token</a:t>
            </a:r>
            <a:r>
              <a:rPr lang="zh-CN" altLang="en-US" sz="1200" kern="1200" dirty="0">
                <a:effectLst/>
              </a:rPr>
              <a:t>层面；</a:t>
            </a:r>
            <a:r>
              <a:rPr lang="en-US" altLang="zh-CN" sz="1200" kern="1200" dirty="0">
                <a:effectLst/>
              </a:rPr>
              <a:t>2</a:t>
            </a:r>
            <a:r>
              <a:rPr lang="zh-CN" altLang="en-US" sz="1200" kern="1200" dirty="0">
                <a:effectLst/>
              </a:rPr>
              <a:t>）其次是</a:t>
            </a:r>
            <a:r>
              <a:rPr lang="en-US" altLang="zh-CN" sz="1200" kern="1200" dirty="0">
                <a:effectLst/>
              </a:rPr>
              <a:t>turn</a:t>
            </a:r>
            <a:r>
              <a:rPr lang="zh-CN" altLang="en-US" sz="1200" kern="1200" dirty="0">
                <a:effectLst/>
              </a:rPr>
              <a:t>层面</a:t>
            </a:r>
            <a:endParaRPr lang="en-US" altLang="zh-CN" sz="1200" kern="1200" dirty="0">
              <a:effectLst/>
            </a:endParaRPr>
          </a:p>
          <a:p>
            <a:r>
              <a:rPr lang="en-US" altLang="zh-CN" sz="1200" kern="1200" dirty="0" err="1">
                <a:effectLst/>
              </a:rPr>
              <a:t>上半部分是</a:t>
            </a:r>
            <a:r>
              <a:rPr lang="en-US" altLang="zh-CN" sz="1200" kern="1200" dirty="0">
                <a:effectLst/>
              </a:rPr>
              <a:t> Token </a:t>
            </a:r>
            <a:r>
              <a:rPr lang="en-US" altLang="zh-CN" sz="1200" kern="1200" dirty="0" err="1">
                <a:effectLst/>
              </a:rPr>
              <a:t>TTI。模型在当前</a:t>
            </a:r>
            <a:r>
              <a:rPr lang="en-US" altLang="zh-CN" sz="1200" kern="1200" dirty="0">
                <a:effectLst/>
              </a:rPr>
              <a:t> turn </a:t>
            </a:r>
            <a:r>
              <a:rPr lang="en-US" altLang="zh-CN" sz="1200" kern="1200" dirty="0" err="1">
                <a:effectLst/>
              </a:rPr>
              <a:t>内生成</a:t>
            </a:r>
            <a:r>
              <a:rPr lang="en-US" altLang="zh-CN" sz="1200" kern="1200" dirty="0">
                <a:effectLst/>
              </a:rPr>
              <a:t> thinking </a:t>
            </a:r>
            <a:r>
              <a:rPr lang="en-US" altLang="zh-CN" sz="1200" kern="1200" dirty="0" err="1">
                <a:effectLst/>
              </a:rPr>
              <a:t>tokens，同时监控</a:t>
            </a:r>
            <a:r>
              <a:rPr lang="en-US" altLang="zh-CN" sz="1200" kern="1200" dirty="0">
                <a:effectLst/>
              </a:rPr>
              <a:t> </a:t>
            </a:r>
            <a:r>
              <a:rPr lang="en-US" altLang="zh-CN" sz="1200" kern="1200" dirty="0" err="1">
                <a:effectLst/>
              </a:rPr>
              <a:t>M_t；如果窗口内的平均变化低于阈值</a:t>
            </a:r>
            <a:r>
              <a:rPr lang="en-US" altLang="zh-CN" sz="1200" kern="1200" dirty="0">
                <a:effectLst/>
              </a:rPr>
              <a:t> </a:t>
            </a:r>
            <a:r>
              <a:rPr lang="en-US" altLang="zh-CN" sz="1200" kern="1200" dirty="0" err="1">
                <a:effectLst/>
              </a:rPr>
              <a:t>ε，就强制结束</a:t>
            </a:r>
            <a:r>
              <a:rPr lang="en-US" altLang="zh-CN" sz="1200" kern="1200" dirty="0">
                <a:effectLst/>
              </a:rPr>
              <a:t> thinking</a:t>
            </a:r>
            <a:r>
              <a:rPr lang="zh-CN" altLang="en-US" sz="1200" kern="1200" dirty="0">
                <a:effectLst/>
              </a:rPr>
              <a:t>，直接输出</a:t>
            </a:r>
            <a:r>
              <a:rPr lang="en-US" altLang="zh-CN" sz="1200" kern="1200" dirty="0" err="1">
                <a:effectLst/>
              </a:rPr>
              <a:t>action，避免在已经停滞的</a:t>
            </a:r>
            <a:r>
              <a:rPr lang="en-US" altLang="zh-CN" sz="1200" kern="1200" dirty="0">
                <a:effectLst/>
              </a:rPr>
              <a:t> belief </a:t>
            </a:r>
            <a:r>
              <a:rPr lang="en-US" altLang="zh-CN" sz="1200" kern="1200" dirty="0" err="1">
                <a:effectLst/>
              </a:rPr>
              <a:t>上继续堆</a:t>
            </a:r>
            <a:r>
              <a:rPr lang="en-US" altLang="zh-CN" sz="1200" kern="1200" dirty="0">
                <a:effectLst/>
              </a:rPr>
              <a:t> token。</a:t>
            </a:r>
            <a:endParaRPr lang="zh-CN" altLang="zh-CN" sz="1200" kern="1200" dirty="0">
              <a:effectLst/>
            </a:endParaRPr>
          </a:p>
          <a:p>
            <a:r>
              <a:rPr lang="zh-CN" altLang="zh-CN" sz="1200" kern="1200" dirty="0">
                <a:effectLst/>
              </a:rPr>
              <a:t>下半部分是</a:t>
            </a:r>
            <a:r>
              <a:rPr lang="en-US" altLang="zh-CN" sz="1200" kern="1200" dirty="0">
                <a:effectLst/>
              </a:rPr>
              <a:t> Turn TDS</a:t>
            </a:r>
            <a:r>
              <a:rPr lang="zh-CN" altLang="zh-CN" sz="1200" kern="1200" dirty="0">
                <a:effectLst/>
              </a:rPr>
              <a:t>。每个环境交互轮都计算一个状态或</a:t>
            </a:r>
            <a:r>
              <a:rPr lang="en-US" altLang="zh-CN" sz="1200" kern="1200" dirty="0">
                <a:effectLst/>
              </a:rPr>
              <a:t> belief progress </a:t>
            </a:r>
            <a:r>
              <a:rPr lang="zh-CN" altLang="zh-CN" sz="1200" kern="1200" dirty="0">
                <a:effectLst/>
              </a:rPr>
              <a:t>指标 </a:t>
            </a:r>
            <a:r>
              <a:rPr lang="en-US" altLang="zh-CN" sz="1200" kern="1200" dirty="0" err="1">
                <a:effectLst/>
              </a:rPr>
              <a:t>Φ_k</a:t>
            </a:r>
            <a:r>
              <a:rPr lang="zh-CN" altLang="zh-CN" sz="1200" kern="1200" dirty="0">
                <a:effectLst/>
              </a:rPr>
              <a:t>。如果相邻两轮变化小于 </a:t>
            </a:r>
            <a:r>
              <a:rPr lang="en-US" altLang="zh-CN" sz="1200" kern="1200" dirty="0" err="1">
                <a:effectLst/>
              </a:rPr>
              <a:t>η</a:t>
            </a:r>
            <a:r>
              <a:rPr lang="zh-CN" altLang="zh-CN" sz="1200" kern="1200" dirty="0">
                <a:effectLst/>
              </a:rPr>
              <a:t>，说明当前</a:t>
            </a:r>
            <a:r>
              <a:rPr lang="en-US" altLang="zh-CN" sz="1200" kern="1200" dirty="0">
                <a:effectLst/>
              </a:rPr>
              <a:t> action </a:t>
            </a:r>
            <a:r>
              <a:rPr lang="zh-CN" altLang="zh-CN" sz="1200" kern="1200" dirty="0">
                <a:effectLst/>
              </a:rPr>
              <a:t>没有带来有效信息，就重采样这一轮，而不是让错误或无进展轨迹继续延伸。</a:t>
            </a:r>
          </a:p>
          <a:p>
            <a:r>
              <a:rPr lang="en-US" altLang="zh-CN" sz="1200" kern="1200" dirty="0" err="1">
                <a:effectLst/>
              </a:rPr>
              <a:t>因此</a:t>
            </a:r>
            <a:r>
              <a:rPr lang="en-US" altLang="zh-CN" sz="1200" kern="1200" dirty="0">
                <a:effectLst/>
              </a:rPr>
              <a:t> TTI </a:t>
            </a:r>
            <a:r>
              <a:rPr lang="en-US" altLang="zh-CN" sz="1200" kern="1200" dirty="0" err="1">
                <a:effectLst/>
              </a:rPr>
              <a:t>解决</a:t>
            </a:r>
            <a:r>
              <a:rPr lang="en-US" altLang="zh-CN" sz="1200" kern="1200" dirty="0">
                <a:effectLst/>
              </a:rPr>
              <a:t> token </a:t>
            </a:r>
            <a:r>
              <a:rPr lang="en-US" altLang="zh-CN" sz="1200" kern="1200" dirty="0" err="1">
                <a:effectLst/>
              </a:rPr>
              <a:t>冗余，TDS</a:t>
            </a:r>
            <a:r>
              <a:rPr lang="en-US" altLang="zh-CN" sz="1200" kern="1200" dirty="0">
                <a:effectLst/>
              </a:rPr>
              <a:t> </a:t>
            </a:r>
            <a:r>
              <a:rPr lang="en-US" altLang="zh-CN" sz="1200" kern="1200" dirty="0" err="1">
                <a:effectLst/>
              </a:rPr>
              <a:t>解决</a:t>
            </a:r>
            <a:r>
              <a:rPr lang="en-US" altLang="zh-CN" sz="1200" kern="1200" dirty="0">
                <a:effectLst/>
              </a:rPr>
              <a:t> turn </a:t>
            </a:r>
            <a:r>
              <a:rPr lang="en-US" altLang="zh-CN" sz="1200" kern="1200" dirty="0" err="1">
                <a:effectLst/>
              </a:rPr>
              <a:t>冗余。外层</a:t>
            </a:r>
            <a:r>
              <a:rPr lang="en-US" altLang="zh-CN" sz="1200" kern="1200" dirty="0">
                <a:effectLst/>
              </a:rPr>
              <a:t> policy update </a:t>
            </a:r>
            <a:r>
              <a:rPr lang="en-US" altLang="zh-CN" sz="1200" kern="1200" dirty="0" err="1">
                <a:effectLst/>
              </a:rPr>
              <a:t>没有被推翻，仍然使用</a:t>
            </a:r>
            <a:r>
              <a:rPr lang="en-US" altLang="zh-CN" sz="1200" kern="1200" dirty="0">
                <a:effectLst/>
              </a:rPr>
              <a:t> discounted return </a:t>
            </a:r>
            <a:r>
              <a:rPr lang="en-US" altLang="zh-CN" sz="1200" kern="1200" dirty="0" err="1">
                <a:effectLst/>
              </a:rPr>
              <a:t>和</a:t>
            </a:r>
            <a:r>
              <a:rPr lang="en-US" altLang="zh-CN" sz="1200" kern="1200" dirty="0">
                <a:effectLst/>
              </a:rPr>
              <a:t> </a:t>
            </a:r>
            <a:r>
              <a:rPr lang="en-US" altLang="zh-CN" sz="1200" kern="1200" dirty="0" err="1">
                <a:effectLst/>
              </a:rPr>
              <a:t>GiGPO</a:t>
            </a:r>
            <a:r>
              <a:rPr lang="en-US" altLang="zh-CN" sz="1200" kern="1200" dirty="0">
                <a:effectLst/>
              </a:rPr>
              <a:t>-style </a:t>
            </a:r>
            <a:r>
              <a:rPr lang="en-US" altLang="zh-CN" sz="1200" kern="1200" dirty="0" err="1">
                <a:effectLst/>
              </a:rPr>
              <a:t>advantage；改进发生在生成轨迹的内环</a:t>
            </a:r>
            <a:r>
              <a:rPr lang="en-US" altLang="zh-CN" sz="1200" kern="1200" dirty="0">
                <a:effectLst/>
              </a:rPr>
              <a:t>。</a:t>
            </a:r>
            <a:endParaRPr lang="zh-CN" altLang="zh-CN" sz="1200" kern="1200" dirty="0">
              <a:effectLst/>
            </a:endParaRP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 altLang="zh-CN" dirty="0"/>
              <a:t>T²PO </a:t>
            </a:r>
            <a:r>
              <a:rPr lang="zh-CN" altLang="en-US" dirty="0"/>
              <a:t>的成功率持续稳定上升，而 </a:t>
            </a:r>
            <a:r>
              <a:rPr lang="en" altLang="zh-CN" dirty="0" err="1"/>
              <a:t>GiGPO</a:t>
            </a:r>
            <a:r>
              <a:rPr lang="en" altLang="zh-CN" dirty="0"/>
              <a:t> w. RFT </a:t>
            </a:r>
            <a:r>
              <a:rPr lang="zh-CN" altLang="en-US" dirty="0"/>
              <a:t>在训练后期出现明显回落，说明其能够缓解训练坍缩；</a:t>
            </a:r>
            <a:endParaRPr lang="en-US" altLang="zh-CN" dirty="0"/>
          </a:p>
          <a:p>
            <a:r>
              <a:rPr lang="en-US" altLang="zh-CN" dirty="0"/>
              <a:t>(</a:t>
            </a:r>
            <a:r>
              <a:rPr lang="en" altLang="zh-CN" dirty="0"/>
              <a:t>b) </a:t>
            </a:r>
            <a:r>
              <a:rPr lang="zh-CN" altLang="en-US" dirty="0"/>
              <a:t>在相同 </a:t>
            </a:r>
            <a:r>
              <a:rPr lang="en" altLang="zh-CN" dirty="0"/>
              <a:t>token </a:t>
            </a:r>
            <a:r>
              <a:rPr lang="zh-CN" altLang="en-US" dirty="0"/>
              <a:t>预算下，</a:t>
            </a:r>
            <a:r>
              <a:rPr lang="en" altLang="zh-CN" dirty="0"/>
              <a:t>T²PO </a:t>
            </a:r>
            <a:r>
              <a:rPr lang="zh-CN" altLang="en-US" dirty="0"/>
              <a:t>获得成功轨迹的比例更高，成功轨迹的 </a:t>
            </a:r>
            <a:r>
              <a:rPr lang="en" altLang="zh-CN" dirty="0"/>
              <a:t>token </a:t>
            </a:r>
            <a:r>
              <a:rPr lang="zh-CN" altLang="en-US" dirty="0"/>
              <a:t>消耗也更少；</a:t>
            </a:r>
            <a:endParaRPr lang="en-US" altLang="zh-CN" dirty="0"/>
          </a:p>
          <a:p>
            <a:r>
              <a:rPr lang="en-US" altLang="zh-CN" dirty="0"/>
              <a:t>(</a:t>
            </a:r>
            <a:r>
              <a:rPr lang="en" altLang="zh-CN" dirty="0"/>
              <a:t>c) T²PO </a:t>
            </a:r>
            <a:r>
              <a:rPr lang="zh-CN" altLang="en-US" dirty="0"/>
              <a:t>完成任务所需的平均交互轮数降低约 </a:t>
            </a:r>
            <a:r>
              <a:rPr lang="en-US" altLang="zh-CN" dirty="0"/>
              <a:t>25%</a:t>
            </a:r>
            <a:r>
              <a:rPr lang="zh-CN" altLang="en-US" dirty="0"/>
              <a:t>，减少了跨轮次的重复推理。</a:t>
            </a:r>
            <a:endParaRPr lang="en-US" altLang="zh-CN"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sz="1200" kern="1200" dirty="0">
                <a:effectLst/>
              </a:rPr>
              <a:t>左侧长度曲线显示，在</a:t>
            </a:r>
            <a:r>
              <a:rPr lang="en-US" altLang="zh-CN" sz="1200" kern="1200" dirty="0">
                <a:effectLst/>
              </a:rPr>
              <a:t> 500-token </a:t>
            </a:r>
            <a:r>
              <a:rPr lang="zh-CN" altLang="zh-CN" sz="1200" kern="1200" dirty="0">
                <a:effectLst/>
              </a:rPr>
              <a:t>设置下，</a:t>
            </a:r>
            <a:r>
              <a:rPr lang="en-US" altLang="zh-CN" sz="1200" kern="1200" dirty="0">
                <a:effectLst/>
              </a:rPr>
              <a:t>T²PO </a:t>
            </a:r>
            <a:r>
              <a:rPr lang="zh-CN" altLang="zh-CN" sz="1200" kern="1200" dirty="0">
                <a:effectLst/>
              </a:rPr>
              <a:t>大约减少</a:t>
            </a:r>
            <a:r>
              <a:rPr lang="en-US" altLang="zh-CN" sz="1200" kern="1200" dirty="0">
                <a:effectLst/>
              </a:rPr>
              <a:t> 20% token</a:t>
            </a:r>
            <a:r>
              <a:rPr lang="zh-CN" altLang="zh-CN" sz="1200" kern="1200" dirty="0">
                <a:effectLst/>
              </a:rPr>
              <a:t>。关键不只是最终更短，而是前</a:t>
            </a:r>
            <a:r>
              <a:rPr lang="en-US" altLang="zh-CN" sz="1200" kern="1200" dirty="0">
                <a:effectLst/>
              </a:rPr>
              <a:t> 20 </a:t>
            </a:r>
            <a:r>
              <a:rPr lang="zh-CN" altLang="zh-CN" sz="1200" kern="1200" dirty="0">
                <a:effectLst/>
              </a:rPr>
              <a:t>个</a:t>
            </a:r>
            <a:r>
              <a:rPr lang="en-US" altLang="zh-CN" sz="1200" kern="1200" dirty="0">
                <a:effectLst/>
              </a:rPr>
              <a:t> step </a:t>
            </a:r>
            <a:r>
              <a:rPr lang="zh-CN" altLang="zh-CN" sz="1200" kern="1200" dirty="0">
                <a:effectLst/>
              </a:rPr>
              <a:t>的长度先上升，说明训练早期仍允许探索；</a:t>
            </a:r>
            <a:endParaRPr lang="en-US" altLang="zh-CN" sz="1200" kern="1200" dirty="0">
              <a:effectLst/>
            </a:endParaRPr>
          </a:p>
          <a:p>
            <a:r>
              <a:rPr lang="zh-CN" altLang="zh-CN" sz="1200" kern="1200" dirty="0">
                <a:effectLst/>
              </a:rPr>
              <a:t>随后随着</a:t>
            </a:r>
            <a:r>
              <a:rPr lang="en-US" altLang="zh-CN" sz="1200" kern="1200" dirty="0">
                <a:effectLst/>
              </a:rPr>
              <a:t> controller </a:t>
            </a:r>
            <a:r>
              <a:rPr lang="zh-CN" altLang="zh-CN" sz="1200" kern="1200" dirty="0">
                <a:effectLst/>
              </a:rPr>
              <a:t>学会识别无效犹豫，长度才逐渐下降。</a:t>
            </a:r>
            <a:endParaRPr lang="en-US" altLang="zh-CN" sz="1200" kern="1200" dirty="0">
              <a:effectLst/>
            </a:endParaRPr>
          </a:p>
          <a:p>
            <a:endParaRPr lang="zh-CN" altLang="zh-CN" sz="1200" kern="1200" dirty="0">
              <a:effectLst/>
            </a:endParaRPr>
          </a:p>
          <a:p>
            <a:r>
              <a:rPr lang="en-US" altLang="zh-CN" sz="1200" kern="1200" dirty="0" err="1">
                <a:effectLst/>
              </a:rPr>
              <a:t>右侧</a:t>
            </a:r>
            <a:r>
              <a:rPr lang="en-US" altLang="zh-CN" sz="1200" kern="1200" dirty="0">
                <a:effectLst/>
              </a:rPr>
              <a:t> clipping ratio 里，T²PO </a:t>
            </a:r>
            <a:r>
              <a:rPr lang="en-US" altLang="zh-CN" sz="1200" kern="1200" dirty="0" err="1">
                <a:effectLst/>
              </a:rPr>
              <a:t>后期几乎不触发</a:t>
            </a:r>
            <a:r>
              <a:rPr lang="en-US" altLang="zh-CN" sz="1200" kern="1200" dirty="0">
                <a:effectLst/>
              </a:rPr>
              <a:t> </a:t>
            </a:r>
            <a:r>
              <a:rPr lang="en-US" altLang="zh-CN" sz="1200" kern="1200" dirty="0" err="1">
                <a:effectLst/>
              </a:rPr>
              <a:t>clipping；GiGPO</a:t>
            </a:r>
            <a:r>
              <a:rPr lang="en-US" altLang="zh-CN" sz="1200" kern="1200" dirty="0">
                <a:effectLst/>
              </a:rPr>
              <a:t> </a:t>
            </a:r>
            <a:r>
              <a:rPr lang="en-US" altLang="zh-CN" sz="1200" kern="1200" dirty="0" err="1">
                <a:effectLst/>
              </a:rPr>
              <a:t>则早期长度快速下降，更像是策略被粗暴推向短输出</a:t>
            </a:r>
            <a:r>
              <a:rPr lang="en-US" altLang="zh-CN" sz="1200" kern="1200" dirty="0">
                <a:effectLst/>
              </a:rPr>
              <a:t>。</a:t>
            </a:r>
            <a:endParaRPr lang="zh-CN" altLang="zh-CN" sz="1200" kern="1200" dirty="0">
              <a:effectLst/>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effectLst/>
              </a:rPr>
              <a:t>Agent0-VL </a:t>
            </a:r>
            <a:r>
              <a:rPr lang="en-US" altLang="zh-CN" sz="1200" kern="1200" dirty="0" err="1">
                <a:effectLst/>
              </a:rPr>
              <a:t>面向多轮视觉</a:t>
            </a:r>
            <a:r>
              <a:rPr lang="en-US" altLang="zh-CN" sz="1200" kern="1200" dirty="0">
                <a:effectLst/>
              </a:rPr>
              <a:t> </a:t>
            </a:r>
            <a:r>
              <a:rPr lang="en-US" altLang="zh-CN" sz="1200" kern="1200" dirty="0" err="1">
                <a:effectLst/>
              </a:rPr>
              <a:t>agent。它的核心不是额外堆多个模型，而是让一个</a:t>
            </a:r>
            <a:r>
              <a:rPr lang="en-US" altLang="zh-CN" sz="1200" kern="1200" dirty="0">
                <a:effectLst/>
              </a:rPr>
              <a:t> shared policy </a:t>
            </a:r>
            <a:r>
              <a:rPr lang="en-US" altLang="zh-CN" sz="1200" kern="1200" dirty="0" err="1">
                <a:effectLst/>
              </a:rPr>
              <a:t>在</a:t>
            </a:r>
            <a:r>
              <a:rPr lang="en-US" altLang="zh-CN" sz="1200" kern="1200" dirty="0">
                <a:effectLst/>
              </a:rPr>
              <a:t> </a:t>
            </a:r>
            <a:r>
              <a:rPr lang="en-US" altLang="zh-CN" sz="1200" kern="1200" dirty="0" err="1">
                <a:effectLst/>
              </a:rPr>
              <a:t>Solver、Verifier</a:t>
            </a:r>
            <a:r>
              <a:rPr lang="en-US" altLang="zh-CN" sz="1200" kern="1200" dirty="0">
                <a:effectLst/>
              </a:rPr>
              <a:t> </a:t>
            </a:r>
            <a:r>
              <a:rPr lang="en-US" altLang="zh-CN" sz="1200" kern="1200" dirty="0" err="1">
                <a:effectLst/>
              </a:rPr>
              <a:t>和</a:t>
            </a:r>
            <a:r>
              <a:rPr lang="en-US" altLang="zh-CN" sz="1200" kern="1200" dirty="0">
                <a:effectLst/>
              </a:rPr>
              <a:t> Self-Repair </a:t>
            </a:r>
            <a:r>
              <a:rPr lang="en-US" altLang="zh-CN" sz="1200" kern="1200" dirty="0" err="1">
                <a:effectLst/>
              </a:rPr>
              <a:t>三个角色之间循环演化</a:t>
            </a:r>
            <a:r>
              <a:rPr lang="en-US" altLang="zh-CN" sz="1200" kern="1200" dirty="0">
                <a:effectLst/>
              </a:rPr>
              <a:t>。</a:t>
            </a:r>
            <a:endParaRPr lang="zh-CN" altLang="zh-CN" sz="1200" kern="1200" dirty="0">
              <a:effectLst/>
            </a:endParaRP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kern="1200" dirty="0">
                <a:effectLst/>
              </a:rPr>
              <a:t>Agent0-VL </a:t>
            </a:r>
            <a:r>
              <a:rPr lang="en-US" altLang="zh-CN" sz="1200" kern="1200" dirty="0" err="1">
                <a:effectLst/>
              </a:rPr>
              <a:t>使用</a:t>
            </a:r>
            <a:r>
              <a:rPr lang="en-US" altLang="zh-CN" sz="1200" kern="1200" dirty="0">
                <a:effectLst/>
              </a:rPr>
              <a:t> one shared policy </a:t>
            </a:r>
            <a:r>
              <a:rPr lang="en-US" altLang="zh-CN" sz="1200" kern="1200" dirty="0" err="1">
                <a:effectLst/>
              </a:rPr>
              <a:t>扮演三个角色。Solver</a:t>
            </a:r>
            <a:r>
              <a:rPr lang="en-US" altLang="zh-CN" sz="1200" kern="1200" dirty="0">
                <a:effectLst/>
              </a:rPr>
              <a:t> </a:t>
            </a:r>
            <a:r>
              <a:rPr lang="en-US" altLang="zh-CN" sz="1200" kern="1200" dirty="0" err="1">
                <a:effectLst/>
              </a:rPr>
              <a:t>负责多轮推理，并调用</a:t>
            </a:r>
            <a:r>
              <a:rPr lang="en-US" altLang="zh-CN" sz="1200" kern="1200" dirty="0">
                <a:effectLst/>
              </a:rPr>
              <a:t> </a:t>
            </a:r>
            <a:r>
              <a:rPr lang="en-US" altLang="zh-CN" sz="1200" kern="1200" dirty="0" err="1">
                <a:effectLst/>
              </a:rPr>
              <a:t>Python、crop、OCR</a:t>
            </a:r>
            <a:r>
              <a:rPr lang="en-US" altLang="zh-CN" sz="1200" kern="1200" dirty="0">
                <a:effectLst/>
              </a:rPr>
              <a:t> </a:t>
            </a:r>
            <a:r>
              <a:rPr lang="en-US" altLang="zh-CN" sz="1200" kern="1200" dirty="0" err="1">
                <a:effectLst/>
              </a:rPr>
              <a:t>或其他视觉工具。Verifier</a:t>
            </a:r>
            <a:r>
              <a:rPr lang="en-US" altLang="zh-CN" sz="1200" kern="1200" dirty="0">
                <a:effectLst/>
              </a:rPr>
              <a:t> </a:t>
            </a:r>
            <a:r>
              <a:rPr lang="en-US" altLang="zh-CN" sz="1200" kern="1200" dirty="0" err="1">
                <a:effectLst/>
              </a:rPr>
              <a:t>不只是读最终答案，而是逐步输出</a:t>
            </a:r>
            <a:r>
              <a:rPr lang="en-US" altLang="zh-CN" sz="1200" kern="1200" dirty="0">
                <a:effectLst/>
              </a:rPr>
              <a:t> </a:t>
            </a:r>
            <a:r>
              <a:rPr lang="en-US" altLang="zh-CN" sz="1200" kern="1200" dirty="0" err="1">
                <a:effectLst/>
              </a:rPr>
              <a:t>score、confidence</a:t>
            </a:r>
            <a:r>
              <a:rPr lang="en-US" altLang="zh-CN" sz="1200" kern="1200" dirty="0">
                <a:effectLst/>
              </a:rPr>
              <a:t> </a:t>
            </a:r>
            <a:r>
              <a:rPr lang="en-US" altLang="zh-CN" sz="1200" kern="1200" dirty="0" err="1">
                <a:effectLst/>
              </a:rPr>
              <a:t>和</a:t>
            </a:r>
            <a:r>
              <a:rPr lang="en-US" altLang="zh-CN" sz="1200" kern="1200" dirty="0">
                <a:effectLst/>
              </a:rPr>
              <a:t> </a:t>
            </a:r>
            <a:r>
              <a:rPr lang="en-US" altLang="zh-CN" sz="1200" kern="1200" dirty="0" err="1">
                <a:effectLst/>
              </a:rPr>
              <a:t>critique，并且可以重新调用工具交叉核验</a:t>
            </a:r>
            <a:r>
              <a:rPr lang="en-US" altLang="zh-CN" sz="1200" kern="1200" dirty="0">
                <a:effectLst/>
              </a:rPr>
              <a:t>。</a:t>
            </a:r>
            <a:endParaRPr lang="zh-CN" altLang="zh-CN" sz="1200" kern="1200" dirty="0">
              <a:effectLst/>
            </a:endParaRPr>
          </a:p>
          <a:p>
            <a:r>
              <a:rPr lang="en-US" altLang="zh-CN" sz="1200" kern="1200" dirty="0" err="1">
                <a:effectLst/>
              </a:rPr>
              <a:t>如果某一步</a:t>
            </a:r>
            <a:r>
              <a:rPr lang="en-US" altLang="zh-CN" sz="1200" kern="1200" dirty="0">
                <a:effectLst/>
              </a:rPr>
              <a:t> confidence </a:t>
            </a:r>
            <a:r>
              <a:rPr lang="en-US" altLang="zh-CN" sz="1200" kern="1200" dirty="0" err="1">
                <a:effectLst/>
              </a:rPr>
              <a:t>低，Self-Repair</a:t>
            </a:r>
            <a:r>
              <a:rPr lang="en-US" altLang="zh-CN" sz="1200" kern="1200" dirty="0">
                <a:effectLst/>
              </a:rPr>
              <a:t> </a:t>
            </a:r>
            <a:r>
              <a:rPr lang="en-US" altLang="zh-CN" sz="1200" kern="1200" dirty="0" err="1">
                <a:effectLst/>
              </a:rPr>
              <a:t>不会把整条轨迹全部推倒重来，而是根据</a:t>
            </a:r>
            <a:r>
              <a:rPr lang="en-US" altLang="zh-CN" sz="1200" kern="1200" dirty="0">
                <a:effectLst/>
              </a:rPr>
              <a:t> verifier </a:t>
            </a:r>
            <a:r>
              <a:rPr lang="en-US" altLang="zh-CN" sz="1200" kern="1200" dirty="0" err="1">
                <a:effectLst/>
              </a:rPr>
              <a:t>的</a:t>
            </a:r>
            <a:r>
              <a:rPr lang="en-US" altLang="zh-CN" sz="1200" kern="1200" dirty="0">
                <a:effectLst/>
              </a:rPr>
              <a:t> instruction </a:t>
            </a:r>
            <a:r>
              <a:rPr lang="en-US" altLang="zh-CN" sz="1200" kern="1200" dirty="0" err="1">
                <a:effectLst/>
              </a:rPr>
              <a:t>只</a:t>
            </a:r>
            <a:r>
              <a:rPr lang="en-US" altLang="zh-CN" sz="1200" kern="1200" dirty="0">
                <a:effectLst/>
              </a:rPr>
              <a:t> patch </a:t>
            </a:r>
            <a:r>
              <a:rPr lang="en-US" altLang="zh-CN" sz="1200" kern="1200" dirty="0" err="1">
                <a:effectLst/>
              </a:rPr>
              <a:t>错误片段</a:t>
            </a:r>
            <a:r>
              <a:rPr lang="en-US" altLang="zh-CN" sz="1200" kern="1200" dirty="0">
                <a:effectLst/>
              </a:rPr>
              <a:t>。</a:t>
            </a:r>
            <a:r>
              <a:rPr lang="zh-CN" altLang="zh-CN" sz="1200" kern="1200" dirty="0">
                <a:effectLst/>
              </a:rPr>
              <a:t>这样可以保留已经验证正确的上下文和工具证据。</a:t>
            </a:r>
          </a:p>
          <a:p>
            <a:r>
              <a:rPr lang="zh-CN" altLang="zh-CN" sz="1200" kern="1200" dirty="0">
                <a:effectLst/>
              </a:rPr>
              <a:t>这页最重要的变化是：工具不再只是求解器的外部能力，也进入判题过程。</a:t>
            </a:r>
            <a:r>
              <a:rPr lang="en-US" altLang="zh-CN" sz="1200" kern="1200" dirty="0">
                <a:effectLst/>
              </a:rPr>
              <a:t>Reward </a:t>
            </a:r>
            <a:r>
              <a:rPr lang="en-US" altLang="zh-CN" sz="1200" kern="1200" dirty="0" err="1">
                <a:effectLst/>
              </a:rPr>
              <a:t>从最终答案的</a:t>
            </a:r>
            <a:r>
              <a:rPr lang="en-US" altLang="zh-CN" sz="1200" kern="1200" dirty="0">
                <a:effectLst/>
              </a:rPr>
              <a:t> sparse </a:t>
            </a:r>
            <a:r>
              <a:rPr lang="en-US" altLang="zh-CN" sz="1200" kern="1200" dirty="0" err="1">
                <a:effectLst/>
              </a:rPr>
              <a:t>signal，变成带证据的</a:t>
            </a:r>
            <a:r>
              <a:rPr lang="en-US" altLang="zh-CN" sz="1200" kern="1200" dirty="0">
                <a:effectLst/>
              </a:rPr>
              <a:t> step-level credit。</a:t>
            </a:r>
            <a:endParaRPr lang="zh-CN" altLang="zh-CN" sz="1200" kern="1200" dirty="0">
              <a:effectLst/>
            </a:endParaRP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kern="1200" dirty="0">
                <a:effectLst/>
              </a:rPr>
              <a:t>Step reward </a:t>
            </a:r>
            <a:r>
              <a:rPr lang="en-US" altLang="zh-CN" sz="1200" kern="1200" dirty="0" err="1">
                <a:effectLst/>
              </a:rPr>
              <a:t>由三部分组成：工具调用是否产生有效证据，verifier</a:t>
            </a:r>
            <a:r>
              <a:rPr lang="en-US" altLang="zh-CN" sz="1200" kern="1200" dirty="0">
                <a:effectLst/>
              </a:rPr>
              <a:t> </a:t>
            </a:r>
            <a:r>
              <a:rPr lang="en-US" altLang="zh-CN" sz="1200" kern="1200" dirty="0" err="1">
                <a:effectLst/>
              </a:rPr>
              <a:t>给出的</a:t>
            </a:r>
            <a:r>
              <a:rPr lang="en-US" altLang="zh-CN" sz="1200" kern="1200" dirty="0">
                <a:effectLst/>
              </a:rPr>
              <a:t> score </a:t>
            </a:r>
            <a:r>
              <a:rPr lang="en-US" altLang="zh-CN" sz="1200" kern="1200" dirty="0" err="1">
                <a:effectLst/>
              </a:rPr>
              <a:t>乘</a:t>
            </a:r>
            <a:r>
              <a:rPr lang="en-US" altLang="zh-CN" sz="1200" kern="1200" dirty="0">
                <a:effectLst/>
              </a:rPr>
              <a:t> </a:t>
            </a:r>
            <a:r>
              <a:rPr lang="en-US" altLang="zh-CN" sz="1200" kern="1200" dirty="0" err="1">
                <a:effectLst/>
              </a:rPr>
              <a:t>confidence，以及</a:t>
            </a:r>
            <a:r>
              <a:rPr lang="en-US" altLang="zh-CN" sz="1200" kern="1200" dirty="0">
                <a:effectLst/>
              </a:rPr>
              <a:t> KL </a:t>
            </a:r>
            <a:r>
              <a:rPr lang="en-US" altLang="zh-CN" sz="1200" kern="1200" dirty="0" err="1">
                <a:effectLst/>
              </a:rPr>
              <a:t>约束。随后再减去</a:t>
            </a:r>
            <a:r>
              <a:rPr lang="en-US" altLang="zh-CN" sz="1200" kern="1200" dirty="0">
                <a:effectLst/>
              </a:rPr>
              <a:t> repair </a:t>
            </a:r>
            <a:r>
              <a:rPr lang="en-US" altLang="zh-CN" sz="1200" kern="1200" dirty="0" err="1">
                <a:effectLst/>
              </a:rPr>
              <a:t>cost，避免模型通过无限修复刷高表现</a:t>
            </a:r>
            <a:r>
              <a:rPr lang="en-US" altLang="zh-CN" sz="1200" kern="1200" dirty="0">
                <a:effectLst/>
              </a:rPr>
              <a:t>。</a:t>
            </a:r>
            <a:endParaRPr lang="zh-CN" altLang="zh-CN" sz="1200" kern="1200" dirty="0">
              <a:effectLst/>
            </a:endParaRPr>
          </a:p>
          <a:p>
            <a:r>
              <a:rPr lang="en-US" altLang="zh-CN" sz="1200" kern="1200" dirty="0">
                <a:effectLst/>
              </a:rPr>
              <a:t>Repair gate </a:t>
            </a:r>
            <a:r>
              <a:rPr lang="en-US" altLang="zh-CN" sz="1200" kern="1200" dirty="0" err="1">
                <a:effectLst/>
              </a:rPr>
              <a:t>是</a:t>
            </a:r>
            <a:r>
              <a:rPr lang="en-US" altLang="zh-CN" sz="1200" kern="1200" dirty="0">
                <a:effectLst/>
              </a:rPr>
              <a:t> sigmoid[</a:t>
            </a:r>
            <a:r>
              <a:rPr lang="en-US" altLang="zh-CN" sz="1200" kern="1200" dirty="0" err="1">
                <a:effectLst/>
              </a:rPr>
              <a:t>κ</a:t>
            </a:r>
            <a:r>
              <a:rPr lang="en-US" altLang="zh-CN" sz="1200" kern="1200" dirty="0">
                <a:effectLst/>
              </a:rPr>
              <a:t>(</a:t>
            </a:r>
            <a:r>
              <a:rPr lang="en-US" altLang="zh-CN" sz="1200" kern="1200" dirty="0" err="1">
                <a:effectLst/>
              </a:rPr>
              <a:t>τ-conf_t</a:t>
            </a:r>
            <a:r>
              <a:rPr lang="en-US" altLang="zh-CN" sz="1200" kern="1200" dirty="0">
                <a:effectLst/>
              </a:rPr>
              <a:t>)]。</a:t>
            </a:r>
            <a:r>
              <a:rPr lang="en-US" altLang="zh-CN" sz="1200" kern="1200" dirty="0" err="1">
                <a:effectLst/>
              </a:rPr>
              <a:t>当</a:t>
            </a:r>
            <a:r>
              <a:rPr lang="en-US" altLang="zh-CN" sz="1200" kern="1200" dirty="0">
                <a:effectLst/>
              </a:rPr>
              <a:t> confidence </a:t>
            </a:r>
            <a:r>
              <a:rPr lang="en-US" altLang="zh-CN" sz="1200" kern="1200" dirty="0" err="1">
                <a:effectLst/>
              </a:rPr>
              <a:t>低于阈值时，gate</a:t>
            </a:r>
            <a:r>
              <a:rPr lang="en-US" altLang="zh-CN" sz="1200" kern="1200" dirty="0">
                <a:effectLst/>
              </a:rPr>
              <a:t> </a:t>
            </a:r>
            <a:r>
              <a:rPr lang="en-US" altLang="zh-CN" sz="1200" kern="1200" dirty="0" err="1">
                <a:effectLst/>
              </a:rPr>
              <a:t>变大，verifier</a:t>
            </a:r>
            <a:r>
              <a:rPr lang="en-US" altLang="zh-CN" sz="1200" kern="1200" dirty="0">
                <a:effectLst/>
              </a:rPr>
              <a:t> </a:t>
            </a:r>
            <a:r>
              <a:rPr lang="en-US" altLang="zh-CN" sz="1200" kern="1200" dirty="0" err="1">
                <a:effectLst/>
              </a:rPr>
              <a:t>生成局部</a:t>
            </a:r>
            <a:r>
              <a:rPr lang="en-US" altLang="zh-CN" sz="1200" kern="1200" dirty="0">
                <a:effectLst/>
              </a:rPr>
              <a:t> repair </a:t>
            </a:r>
            <a:r>
              <a:rPr lang="en-US" altLang="zh-CN" sz="1200" kern="1200" dirty="0" err="1">
                <a:effectLst/>
              </a:rPr>
              <a:t>instruction，solver</a:t>
            </a:r>
            <a:r>
              <a:rPr lang="en-US" altLang="zh-CN" sz="1200" kern="1200" dirty="0">
                <a:effectLst/>
              </a:rPr>
              <a:t> </a:t>
            </a:r>
            <a:r>
              <a:rPr lang="en-US" altLang="zh-CN" sz="1200" kern="1200" dirty="0" err="1">
                <a:effectLst/>
              </a:rPr>
              <a:t>只重生成这一段。这样</a:t>
            </a:r>
            <a:r>
              <a:rPr lang="en-US" altLang="zh-CN" sz="1200" kern="1200" dirty="0">
                <a:effectLst/>
              </a:rPr>
              <a:t> </a:t>
            </a:r>
            <a:r>
              <a:rPr lang="en-US" altLang="zh-CN" sz="1200" kern="1200" dirty="0" err="1">
                <a:effectLst/>
              </a:rPr>
              <a:t>outcome、tool</a:t>
            </a:r>
            <a:r>
              <a:rPr lang="en-US" altLang="zh-CN" sz="1200" kern="1200" dirty="0">
                <a:effectLst/>
              </a:rPr>
              <a:t> </a:t>
            </a:r>
            <a:r>
              <a:rPr lang="en-US" altLang="zh-CN" sz="1200" kern="1200" dirty="0" err="1">
                <a:effectLst/>
              </a:rPr>
              <a:t>check、process</a:t>
            </a:r>
            <a:r>
              <a:rPr lang="en-US" altLang="zh-CN" sz="1200" kern="1200" dirty="0">
                <a:effectLst/>
              </a:rPr>
              <a:t> </a:t>
            </a:r>
            <a:r>
              <a:rPr lang="en-US" altLang="zh-CN" sz="1200" kern="1200" dirty="0" err="1">
                <a:effectLst/>
              </a:rPr>
              <a:t>reward、local</a:t>
            </a:r>
            <a:r>
              <a:rPr lang="en-US" altLang="zh-CN" sz="1200" kern="1200" dirty="0">
                <a:effectLst/>
              </a:rPr>
              <a:t> repair </a:t>
            </a:r>
            <a:r>
              <a:rPr lang="en-US" altLang="zh-CN" sz="1200" kern="1200" dirty="0" err="1">
                <a:effectLst/>
              </a:rPr>
              <a:t>最终组成可供</a:t>
            </a:r>
            <a:r>
              <a:rPr lang="en-US" altLang="zh-CN" sz="1200" kern="1200" dirty="0">
                <a:effectLst/>
              </a:rPr>
              <a:t> GRPO </a:t>
            </a:r>
            <a:r>
              <a:rPr lang="en-US" altLang="zh-CN" sz="1200" kern="1200" dirty="0" err="1">
                <a:effectLst/>
              </a:rPr>
              <a:t>计算</a:t>
            </a:r>
            <a:r>
              <a:rPr lang="en-US" altLang="zh-CN" sz="1200" kern="1200" dirty="0">
                <a:effectLst/>
              </a:rPr>
              <a:t> advantage </a:t>
            </a:r>
            <a:r>
              <a:rPr lang="en-US" altLang="zh-CN" sz="1200" kern="1200" dirty="0" err="1">
                <a:effectLst/>
              </a:rPr>
              <a:t>的</a:t>
            </a:r>
            <a:r>
              <a:rPr lang="en-US" altLang="zh-CN" sz="1200" kern="1200" dirty="0">
                <a:effectLst/>
              </a:rPr>
              <a:t> return。</a:t>
            </a:r>
            <a:endParaRPr lang="zh-CN" altLang="zh-CN" sz="1200" kern="1200" dirty="0">
              <a:effectLst/>
            </a:endParaRPr>
          </a:p>
          <a:p>
            <a:r>
              <a:rPr lang="en-US" altLang="zh-CN" sz="1200" kern="1200" dirty="0" err="1">
                <a:effectLst/>
              </a:rPr>
              <a:t>从</a:t>
            </a:r>
            <a:r>
              <a:rPr lang="en-US" altLang="zh-CN" sz="1200" kern="1200" dirty="0">
                <a:effectLst/>
              </a:rPr>
              <a:t> credit assignment 角度看，它把“最终答对没有”细化成“</a:t>
            </a:r>
            <a:r>
              <a:rPr lang="en-US" altLang="zh-CN" sz="1200" kern="1200" dirty="0" err="1">
                <a:effectLst/>
              </a:rPr>
              <a:t>哪一步工具证据可靠、哪一步需要修</a:t>
            </a:r>
            <a:r>
              <a:rPr lang="en-US" altLang="zh-CN" sz="1200" kern="1200" dirty="0">
                <a:effectLst/>
              </a:rPr>
              <a:t>”。</a:t>
            </a:r>
            <a:r>
              <a:rPr lang="en-US" altLang="zh-CN" sz="1200" kern="1200" dirty="0" err="1">
                <a:effectLst/>
              </a:rPr>
              <a:t>但收益依赖</a:t>
            </a:r>
            <a:r>
              <a:rPr lang="en-US" altLang="zh-CN" sz="1200" kern="1200" dirty="0">
                <a:effectLst/>
              </a:rPr>
              <a:t> verifier </a:t>
            </a:r>
            <a:r>
              <a:rPr lang="en-US" altLang="zh-CN" sz="1200" kern="1200" dirty="0" err="1">
                <a:effectLst/>
              </a:rPr>
              <a:t>是否可信。由于</a:t>
            </a:r>
            <a:r>
              <a:rPr lang="en-US" altLang="zh-CN" sz="1200" kern="1200" dirty="0">
                <a:effectLst/>
              </a:rPr>
              <a:t> Solver </a:t>
            </a:r>
            <a:r>
              <a:rPr lang="en-US" altLang="zh-CN" sz="1200" kern="1200" dirty="0" err="1">
                <a:effectLst/>
              </a:rPr>
              <a:t>和</a:t>
            </a:r>
            <a:r>
              <a:rPr lang="en-US" altLang="zh-CN" sz="1200" kern="1200" dirty="0">
                <a:effectLst/>
              </a:rPr>
              <a:t> Verifier </a:t>
            </a:r>
            <a:r>
              <a:rPr lang="en-US" altLang="zh-CN" sz="1200" kern="1200" dirty="0" err="1">
                <a:effectLst/>
              </a:rPr>
              <a:t>共享模型，错误判断也可能被自我强化，因此工具交叉核验和</a:t>
            </a:r>
            <a:r>
              <a:rPr lang="en-US" altLang="zh-CN" sz="1200" kern="1200" dirty="0">
                <a:effectLst/>
              </a:rPr>
              <a:t> confidence calibration </a:t>
            </a:r>
            <a:r>
              <a:rPr lang="en-US" altLang="zh-CN" sz="1200" kern="1200" dirty="0" err="1">
                <a:effectLst/>
              </a:rPr>
              <a:t>是关键</a:t>
            </a:r>
            <a:r>
              <a:rPr lang="en-US" altLang="zh-CN" sz="1200" kern="1200" dirty="0">
                <a:effectLst/>
              </a:rPr>
              <a:t>。</a:t>
            </a:r>
            <a:endParaRPr lang="zh-CN" altLang="zh-CN" sz="1200" kern="1200" dirty="0">
              <a:effectLst/>
            </a:endParaRP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kern="1200" dirty="0" err="1">
                <a:effectLst/>
              </a:rPr>
              <a:t>内环是</a:t>
            </a:r>
            <a:r>
              <a:rPr lang="en-US" altLang="zh-CN" sz="1200" kern="1200" dirty="0">
                <a:effectLst/>
              </a:rPr>
              <a:t> </a:t>
            </a:r>
            <a:r>
              <a:rPr lang="en-US" altLang="zh-CN" sz="1200" kern="1200" dirty="0" err="1">
                <a:effectLst/>
              </a:rPr>
              <a:t>Solver、Tool、Verifier</a:t>
            </a:r>
            <a:r>
              <a:rPr lang="en-US" altLang="zh-CN" sz="1200" kern="1200" dirty="0">
                <a:effectLst/>
              </a:rPr>
              <a:t> </a:t>
            </a:r>
            <a:r>
              <a:rPr lang="en-US" altLang="zh-CN" sz="1200" kern="1200" dirty="0" err="1">
                <a:effectLst/>
              </a:rPr>
              <a:t>和</a:t>
            </a:r>
            <a:r>
              <a:rPr lang="en-US" altLang="zh-CN" sz="1200" kern="1200" dirty="0">
                <a:effectLst/>
              </a:rPr>
              <a:t> optional </a:t>
            </a:r>
            <a:r>
              <a:rPr lang="en-US" altLang="zh-CN" sz="1200" kern="1200" dirty="0" err="1">
                <a:effectLst/>
              </a:rPr>
              <a:t>Repair。它的目标是在单条</a:t>
            </a:r>
            <a:r>
              <a:rPr lang="en-US" altLang="zh-CN" sz="1200" kern="1200" dirty="0">
                <a:effectLst/>
              </a:rPr>
              <a:t> trajectory </a:t>
            </a:r>
            <a:r>
              <a:rPr lang="en-US" altLang="zh-CN" sz="1200" kern="1200" dirty="0" err="1">
                <a:effectLst/>
              </a:rPr>
              <a:t>内生成更可靠的过程证据，并局部修正低置信步骤</a:t>
            </a:r>
            <a:r>
              <a:rPr lang="en-US" altLang="zh-CN" sz="1200" kern="1200" dirty="0">
                <a:effectLst/>
              </a:rPr>
              <a:t>。</a:t>
            </a:r>
            <a:endParaRPr lang="zh-CN" altLang="zh-CN" sz="1200" kern="1200" dirty="0">
              <a:effectLst/>
            </a:endParaRPr>
          </a:p>
          <a:p>
            <a:r>
              <a:rPr lang="en-US" altLang="zh-CN" sz="1200" kern="1200" dirty="0" err="1">
                <a:effectLst/>
              </a:rPr>
              <a:t>外环对同一问题采样</a:t>
            </a:r>
            <a:r>
              <a:rPr lang="en-US" altLang="zh-CN" sz="1200" kern="1200" dirty="0">
                <a:effectLst/>
              </a:rPr>
              <a:t> G </a:t>
            </a:r>
            <a:r>
              <a:rPr lang="en-US" altLang="zh-CN" sz="1200" kern="1200" dirty="0" err="1">
                <a:effectLst/>
              </a:rPr>
              <a:t>条</a:t>
            </a:r>
            <a:r>
              <a:rPr lang="en-US" altLang="zh-CN" sz="1200" kern="1200" dirty="0">
                <a:effectLst/>
              </a:rPr>
              <a:t> </a:t>
            </a:r>
            <a:r>
              <a:rPr lang="en-US" altLang="zh-CN" sz="1200" kern="1200" dirty="0" err="1">
                <a:effectLst/>
              </a:rPr>
              <a:t>trajectories，用终局</a:t>
            </a:r>
            <a:r>
              <a:rPr lang="en-US" altLang="zh-CN" sz="1200" kern="1200" dirty="0">
                <a:effectLst/>
              </a:rPr>
              <a:t> reward </a:t>
            </a:r>
            <a:r>
              <a:rPr lang="en-US" altLang="zh-CN" sz="1200" kern="1200" dirty="0" err="1">
                <a:effectLst/>
              </a:rPr>
              <a:t>加上折扣后的</a:t>
            </a:r>
            <a:r>
              <a:rPr lang="en-US" altLang="zh-CN" sz="1200" kern="1200" dirty="0">
                <a:effectLst/>
              </a:rPr>
              <a:t> step reward </a:t>
            </a:r>
            <a:r>
              <a:rPr lang="en-US" altLang="zh-CN" sz="1200" kern="1200" dirty="0" err="1">
                <a:effectLst/>
              </a:rPr>
              <a:t>形成总</a:t>
            </a:r>
            <a:r>
              <a:rPr lang="en-US" altLang="zh-CN" sz="1200" kern="1200" dirty="0">
                <a:effectLst/>
              </a:rPr>
              <a:t> </a:t>
            </a:r>
            <a:r>
              <a:rPr lang="en-US" altLang="zh-CN" sz="1200" kern="1200" dirty="0" err="1">
                <a:effectLst/>
              </a:rPr>
              <a:t>return，再做</a:t>
            </a:r>
            <a:r>
              <a:rPr lang="en-US" altLang="zh-CN" sz="1200" kern="1200" dirty="0">
                <a:effectLst/>
              </a:rPr>
              <a:t> group advantage </a:t>
            </a:r>
            <a:r>
              <a:rPr lang="en-US" altLang="zh-CN" sz="1200" kern="1200" dirty="0" err="1">
                <a:effectLst/>
              </a:rPr>
              <a:t>和</a:t>
            </a:r>
            <a:r>
              <a:rPr lang="en-US" altLang="zh-CN" sz="1200" kern="1200" dirty="0">
                <a:effectLst/>
              </a:rPr>
              <a:t> GRPO </a:t>
            </a:r>
            <a:r>
              <a:rPr lang="en-US" altLang="zh-CN" sz="1200" kern="1200" dirty="0" err="1">
                <a:effectLst/>
              </a:rPr>
              <a:t>更新。也就是说，内环改变</a:t>
            </a:r>
            <a:r>
              <a:rPr lang="en-US" altLang="zh-CN" sz="1200" kern="1200" dirty="0">
                <a:effectLst/>
              </a:rPr>
              <a:t> trajectory </a:t>
            </a:r>
            <a:r>
              <a:rPr lang="en-US" altLang="zh-CN" sz="1200" kern="1200" dirty="0" err="1">
                <a:effectLst/>
              </a:rPr>
              <a:t>的质量和</a:t>
            </a:r>
            <a:r>
              <a:rPr lang="en-US" altLang="zh-CN" sz="1200" kern="1200" dirty="0">
                <a:effectLst/>
              </a:rPr>
              <a:t> reward </a:t>
            </a:r>
            <a:r>
              <a:rPr lang="en-US" altLang="zh-CN" sz="1200" kern="1200" dirty="0" err="1">
                <a:effectLst/>
              </a:rPr>
              <a:t>密度，外环把这些改进蒸馏回</a:t>
            </a:r>
            <a:r>
              <a:rPr lang="en-US" altLang="zh-CN" sz="1200" kern="1200" dirty="0">
                <a:effectLst/>
              </a:rPr>
              <a:t> shared policy。</a:t>
            </a:r>
            <a:endParaRPr lang="zh-CN" altLang="zh-CN" sz="1200" kern="1200" dirty="0">
              <a:effectLst/>
            </a:endParaRPr>
          </a:p>
          <a:p>
            <a:r>
              <a:rPr lang="en-US" altLang="zh-CN" sz="1200" kern="1200" dirty="0" err="1">
                <a:effectLst/>
              </a:rPr>
              <a:t>这个结构解释了为什么</a:t>
            </a:r>
            <a:r>
              <a:rPr lang="en-US" altLang="zh-CN" sz="1200" kern="1200" dirty="0">
                <a:effectLst/>
              </a:rPr>
              <a:t> Agent0-VL </a:t>
            </a:r>
            <a:r>
              <a:rPr lang="en-US" altLang="zh-CN" sz="1200" kern="1200" dirty="0" err="1">
                <a:effectLst/>
              </a:rPr>
              <a:t>的提升来自迭代闭环，而不是一次</a:t>
            </a:r>
            <a:r>
              <a:rPr lang="en-US" altLang="zh-CN" sz="1200" kern="1200" dirty="0">
                <a:effectLst/>
              </a:rPr>
              <a:t> inference-time </a:t>
            </a:r>
            <a:r>
              <a:rPr lang="en-US" altLang="zh-CN" sz="1200" kern="1200" dirty="0" err="1">
                <a:effectLst/>
              </a:rPr>
              <a:t>repair：每一轮修复产生的数据会反过来训练下一轮</a:t>
            </a:r>
            <a:r>
              <a:rPr lang="en-US" altLang="zh-CN" sz="1200" kern="1200" dirty="0">
                <a:effectLst/>
              </a:rPr>
              <a:t> Solver </a:t>
            </a:r>
            <a:r>
              <a:rPr lang="en-US" altLang="zh-CN" sz="1200" kern="1200" dirty="0" err="1">
                <a:effectLst/>
              </a:rPr>
              <a:t>和</a:t>
            </a:r>
            <a:r>
              <a:rPr lang="en-US" altLang="zh-CN" sz="1200" kern="1200" dirty="0">
                <a:effectLst/>
              </a:rPr>
              <a:t> Verifier。</a:t>
            </a:r>
            <a:endParaRPr lang="zh-CN" altLang="zh-CN" sz="1200" kern="1200" dirty="0">
              <a:effectLst/>
            </a:endParaRP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sz="1200" kern="1200" dirty="0">
                <a:effectLst/>
              </a:rPr>
              <a:t>左侧曲线显示随着自演化迭代，平均表现持续上升。</a:t>
            </a:r>
            <a:r>
              <a:rPr lang="en-US" altLang="zh-CN" sz="1200" kern="1200" dirty="0">
                <a:effectLst/>
              </a:rPr>
              <a:t>Qwen2.5-VL-7B </a:t>
            </a:r>
            <a:r>
              <a:rPr lang="zh-CN" altLang="zh-CN" sz="1200" kern="1200" dirty="0">
                <a:effectLst/>
              </a:rPr>
              <a:t>从</a:t>
            </a:r>
            <a:r>
              <a:rPr lang="en-US" altLang="zh-CN" sz="1200" kern="1200" dirty="0">
                <a:effectLst/>
              </a:rPr>
              <a:t> 58.3 </a:t>
            </a:r>
            <a:r>
              <a:rPr lang="zh-CN" altLang="zh-CN" sz="1200" kern="1200" dirty="0">
                <a:effectLst/>
              </a:rPr>
              <a:t>提高到</a:t>
            </a:r>
            <a:r>
              <a:rPr lang="en-US" altLang="zh-CN" sz="1200" kern="1200" dirty="0">
                <a:effectLst/>
              </a:rPr>
              <a:t> 65.6</a:t>
            </a:r>
            <a:r>
              <a:rPr lang="zh-CN" altLang="zh-CN" sz="1200" kern="1200" dirty="0">
                <a:effectLst/>
              </a:rPr>
              <a:t>，</a:t>
            </a:r>
            <a:r>
              <a:rPr lang="en-US" altLang="zh-CN" sz="1200" kern="1200" dirty="0">
                <a:effectLst/>
              </a:rPr>
              <a:t>Qwen3-VL-8B </a:t>
            </a:r>
            <a:r>
              <a:rPr lang="zh-CN" altLang="zh-CN" sz="1200" kern="1200" dirty="0">
                <a:effectLst/>
              </a:rPr>
              <a:t>从</a:t>
            </a:r>
            <a:r>
              <a:rPr lang="en-US" altLang="zh-CN" sz="1200" kern="1200" dirty="0">
                <a:effectLst/>
              </a:rPr>
              <a:t> 70.3 </a:t>
            </a:r>
            <a:r>
              <a:rPr lang="zh-CN" altLang="zh-CN" sz="1200" kern="1200" dirty="0">
                <a:effectLst/>
              </a:rPr>
              <a:t>提高到</a:t>
            </a:r>
            <a:r>
              <a:rPr lang="en-US" altLang="zh-CN" sz="1200" kern="1200" dirty="0">
                <a:effectLst/>
              </a:rPr>
              <a:t> 74.6</a:t>
            </a:r>
            <a:r>
              <a:rPr lang="zh-CN" altLang="zh-CN" sz="1200" kern="1200" dirty="0">
                <a:effectLst/>
              </a:rPr>
              <a:t>。</a:t>
            </a:r>
          </a:p>
          <a:p>
            <a:r>
              <a:rPr lang="en-US" altLang="zh-CN" sz="1200" kern="1200" dirty="0">
                <a:effectLst/>
              </a:rPr>
              <a:t>Ablation </a:t>
            </a:r>
            <a:r>
              <a:rPr lang="zh-CN" altLang="zh-CN" sz="1200" kern="1200" dirty="0">
                <a:effectLst/>
              </a:rPr>
              <a:t>的层级很清楚：去掉</a:t>
            </a:r>
            <a:r>
              <a:rPr lang="en-US" altLang="zh-CN" sz="1200" kern="1200" dirty="0">
                <a:effectLst/>
              </a:rPr>
              <a:t> SERC</a:t>
            </a:r>
            <a:r>
              <a:rPr lang="zh-CN" altLang="zh-CN" sz="1200" kern="1200" dirty="0">
                <a:effectLst/>
              </a:rPr>
              <a:t>、只保留</a:t>
            </a:r>
            <a:r>
              <a:rPr lang="en-US" altLang="zh-CN" sz="1200" kern="1200" dirty="0">
                <a:effectLst/>
              </a:rPr>
              <a:t> SFT</a:t>
            </a:r>
            <a:r>
              <a:rPr lang="zh-CN" altLang="zh-CN" sz="1200" kern="1200" dirty="0">
                <a:effectLst/>
              </a:rPr>
              <a:t>，退化最大；去掉</a:t>
            </a:r>
            <a:r>
              <a:rPr lang="en-US" altLang="zh-CN" sz="1200" kern="1200" dirty="0">
                <a:effectLst/>
              </a:rPr>
              <a:t> Tool Use </a:t>
            </a:r>
            <a:r>
              <a:rPr lang="zh-CN" altLang="zh-CN" sz="1200" kern="1200" dirty="0">
                <a:effectLst/>
              </a:rPr>
              <a:t>次之；去掉</a:t>
            </a:r>
            <a:r>
              <a:rPr lang="en-US" altLang="zh-CN" sz="1200" kern="1200" dirty="0">
                <a:effectLst/>
              </a:rPr>
              <a:t> Self-Repair </a:t>
            </a:r>
            <a:r>
              <a:rPr lang="zh-CN" altLang="zh-CN" sz="1200" kern="1200" dirty="0">
                <a:effectLst/>
              </a:rPr>
              <a:t>也会下降，但幅度更小。这说明主要增益来自完整的</a:t>
            </a:r>
            <a:r>
              <a:rPr lang="en-US" altLang="zh-CN" sz="1200" kern="1200" dirty="0">
                <a:effectLst/>
              </a:rPr>
              <a:t> solver-verifier-reward </a:t>
            </a:r>
            <a:r>
              <a:rPr lang="zh-CN" altLang="zh-CN" sz="1200" kern="1200" dirty="0">
                <a:effectLst/>
              </a:rPr>
              <a:t>闭环，局部</a:t>
            </a:r>
            <a:r>
              <a:rPr lang="en-US" altLang="zh-CN" sz="1200" kern="1200" dirty="0">
                <a:effectLst/>
              </a:rPr>
              <a:t> repair </a:t>
            </a:r>
            <a:r>
              <a:rPr lang="zh-CN" altLang="zh-CN" sz="1200" kern="1200" dirty="0">
                <a:effectLst/>
              </a:rPr>
              <a:t>是补充而不是全部来源。</a:t>
            </a:r>
          </a:p>
          <a:p>
            <a:r>
              <a:rPr lang="zh-CN" altLang="zh-CN" sz="1200" kern="1200" dirty="0">
                <a:effectLst/>
              </a:rPr>
              <a:t>论文使用</a:t>
            </a:r>
            <a:r>
              <a:rPr lang="en-US" altLang="zh-CN" sz="1200" kern="1200" dirty="0">
                <a:effectLst/>
              </a:rPr>
              <a:t>“zero external reward”</a:t>
            </a:r>
            <a:r>
              <a:rPr lang="zh-CN" altLang="zh-CN" sz="1200" kern="1200" dirty="0">
                <a:effectLst/>
              </a:rPr>
              <a:t>时需要降调。附录仍包含外部正确性</a:t>
            </a:r>
            <a:r>
              <a:rPr lang="en-US" altLang="zh-CN" sz="1200" kern="1200" dirty="0">
                <a:effectLst/>
              </a:rPr>
              <a:t> reward warm-up</a:t>
            </a:r>
            <a:r>
              <a:rPr lang="zh-CN" altLang="zh-CN" sz="1200" kern="1200" dirty="0">
                <a:effectLst/>
              </a:rPr>
              <a:t>，</a:t>
            </a:r>
            <a:r>
              <a:rPr lang="en-US" altLang="zh-CN" sz="1200" kern="1200" dirty="0">
                <a:effectLst/>
              </a:rPr>
              <a:t>SFT </a:t>
            </a:r>
            <a:r>
              <a:rPr lang="zh-CN" altLang="zh-CN" sz="1200" kern="1200" dirty="0">
                <a:effectLst/>
              </a:rPr>
              <a:t>依赖强教师和人工</a:t>
            </a:r>
            <a:r>
              <a:rPr lang="en-US" altLang="zh-CN" sz="1200" kern="1200" dirty="0">
                <a:effectLst/>
              </a:rPr>
              <a:t> spot-check</a:t>
            </a:r>
            <a:r>
              <a:rPr lang="zh-CN" altLang="zh-CN" sz="1200" kern="1200" dirty="0">
                <a:effectLst/>
              </a:rPr>
              <a:t>；训练与评测同名数据集还有重叠，论文没有给完整</a:t>
            </a:r>
            <a:r>
              <a:rPr lang="en-US" altLang="zh-CN" sz="1200" kern="1200" dirty="0">
                <a:effectLst/>
              </a:rPr>
              <a:t> contamination audit</a:t>
            </a:r>
            <a:r>
              <a:rPr lang="zh-CN" altLang="zh-CN" sz="1200" kern="1200" dirty="0">
                <a:effectLst/>
              </a:rPr>
              <a:t>。</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kern="1200" dirty="0" err="1">
                <a:effectLst/>
              </a:rPr>
              <a:t>这页把</a:t>
            </a:r>
            <a:r>
              <a:rPr lang="en-US" altLang="zh-CN" sz="1200" kern="1200" dirty="0">
                <a:effectLst/>
              </a:rPr>
              <a:t> ablation </a:t>
            </a:r>
            <a:r>
              <a:rPr lang="en-US" altLang="zh-CN" sz="1200" kern="1200" dirty="0" err="1">
                <a:effectLst/>
              </a:rPr>
              <a:t>数字化。移除</a:t>
            </a:r>
            <a:r>
              <a:rPr lang="en-US" altLang="zh-CN" sz="1200" kern="1200" dirty="0">
                <a:effectLst/>
              </a:rPr>
              <a:t> </a:t>
            </a:r>
            <a:r>
              <a:rPr lang="en-US" altLang="zh-CN" sz="1200" kern="1200" dirty="0" err="1">
                <a:effectLst/>
              </a:rPr>
              <a:t>SERC，平均下降约</a:t>
            </a:r>
            <a:r>
              <a:rPr lang="en-US" altLang="zh-CN" sz="1200" kern="1200" dirty="0">
                <a:effectLst/>
              </a:rPr>
              <a:t> 8.7%；</a:t>
            </a:r>
            <a:r>
              <a:rPr lang="en-US" altLang="zh-CN" sz="1200" kern="1200" dirty="0" err="1">
                <a:effectLst/>
              </a:rPr>
              <a:t>移除</a:t>
            </a:r>
            <a:r>
              <a:rPr lang="en-US" altLang="zh-CN" sz="1200" kern="1200" dirty="0">
                <a:effectLst/>
              </a:rPr>
              <a:t> Tool Use </a:t>
            </a:r>
            <a:r>
              <a:rPr lang="en-US" altLang="zh-CN" sz="1200" kern="1200" dirty="0" err="1">
                <a:effectLst/>
              </a:rPr>
              <a:t>下降约</a:t>
            </a:r>
            <a:r>
              <a:rPr lang="en-US" altLang="zh-CN" sz="1200" kern="1200" dirty="0">
                <a:effectLst/>
              </a:rPr>
              <a:t> 6.5%；</a:t>
            </a:r>
            <a:r>
              <a:rPr lang="en-US" altLang="zh-CN" sz="1200" kern="1200" dirty="0" err="1">
                <a:effectLst/>
              </a:rPr>
              <a:t>移除</a:t>
            </a:r>
            <a:r>
              <a:rPr lang="en-US" altLang="zh-CN" sz="1200" kern="1200" dirty="0">
                <a:effectLst/>
              </a:rPr>
              <a:t> Self-Repair </a:t>
            </a:r>
            <a:r>
              <a:rPr lang="en-US" altLang="zh-CN" sz="1200" kern="1200" dirty="0" err="1">
                <a:effectLst/>
              </a:rPr>
              <a:t>下降约</a:t>
            </a:r>
            <a:r>
              <a:rPr lang="en-US" altLang="zh-CN" sz="1200" kern="1200" dirty="0">
                <a:effectLst/>
              </a:rPr>
              <a:t> 2.5%。</a:t>
            </a:r>
            <a:r>
              <a:rPr lang="en-US" altLang="zh-CN" sz="1200" kern="1200" dirty="0" err="1">
                <a:effectLst/>
              </a:rPr>
              <a:t>这个顺序再次说明，闭环训练和工具证据比单次局部修复贡献更大</a:t>
            </a:r>
            <a:r>
              <a:rPr lang="en-US" altLang="zh-CN" sz="1200" kern="1200" dirty="0">
                <a:effectLst/>
              </a:rPr>
              <a:t>。</a:t>
            </a:r>
            <a:endParaRPr lang="zh-CN" altLang="zh-CN" sz="1200" kern="1200" dirty="0">
              <a:effectLst/>
            </a:endParaRPr>
          </a:p>
          <a:p>
            <a:r>
              <a:rPr lang="en-US" altLang="zh-CN" sz="1200" kern="1200" dirty="0" err="1">
                <a:effectLst/>
              </a:rPr>
              <a:t>另一方面，把训练出的</a:t>
            </a:r>
            <a:r>
              <a:rPr lang="en-US" altLang="zh-CN" sz="1200" kern="1200" dirty="0">
                <a:effectLst/>
              </a:rPr>
              <a:t> Verifier </a:t>
            </a:r>
            <a:r>
              <a:rPr lang="en-US" altLang="zh-CN" sz="1200" kern="1200" dirty="0" err="1">
                <a:effectLst/>
              </a:rPr>
              <a:t>当成</a:t>
            </a:r>
            <a:r>
              <a:rPr lang="en-US" altLang="zh-CN" sz="1200" kern="1200" dirty="0">
                <a:effectLst/>
              </a:rPr>
              <a:t> </a:t>
            </a:r>
            <a:r>
              <a:rPr lang="en-US" altLang="zh-CN" sz="1200" kern="1200" dirty="0" err="1">
                <a:effectLst/>
              </a:rPr>
              <a:t>PRM，为其他</a:t>
            </a:r>
            <a:r>
              <a:rPr lang="en-US" altLang="zh-CN" sz="1200" kern="1200" dirty="0">
                <a:effectLst/>
              </a:rPr>
              <a:t> VLM </a:t>
            </a:r>
            <a:r>
              <a:rPr lang="en-US" altLang="zh-CN" sz="1200" kern="1200" dirty="0" err="1">
                <a:effectLst/>
              </a:rPr>
              <a:t>的</a:t>
            </a:r>
            <a:r>
              <a:rPr lang="en-US" altLang="zh-CN" sz="1200" kern="1200" dirty="0">
                <a:effectLst/>
              </a:rPr>
              <a:t> Best-of-8 candidates </a:t>
            </a:r>
            <a:r>
              <a:rPr lang="en-US" altLang="zh-CN" sz="1200" kern="1200" dirty="0" err="1">
                <a:effectLst/>
              </a:rPr>
              <a:t>排序，平均还能提升</a:t>
            </a:r>
            <a:r>
              <a:rPr lang="en-US" altLang="zh-CN" sz="1200" kern="1200" dirty="0">
                <a:effectLst/>
              </a:rPr>
              <a:t> 7.3%。</a:t>
            </a:r>
            <a:r>
              <a:rPr lang="en-US" altLang="zh-CN" sz="1200" kern="1200" dirty="0" err="1">
                <a:effectLst/>
              </a:rPr>
              <a:t>这说明</a:t>
            </a:r>
            <a:r>
              <a:rPr lang="en-US" altLang="zh-CN" sz="1200" kern="1200" dirty="0">
                <a:effectLst/>
              </a:rPr>
              <a:t> verifier </a:t>
            </a:r>
            <a:r>
              <a:rPr lang="en-US" altLang="zh-CN" sz="1200" kern="1200" dirty="0" err="1">
                <a:effectLst/>
              </a:rPr>
              <a:t>学到的过程判断具有一定迁移性，不只是和原</a:t>
            </a:r>
            <a:r>
              <a:rPr lang="en-US" altLang="zh-CN" sz="1200" kern="1200" dirty="0">
                <a:effectLst/>
              </a:rPr>
              <a:t> Solver </a:t>
            </a:r>
            <a:r>
              <a:rPr lang="en-US" altLang="zh-CN" sz="1200" kern="1200" dirty="0" err="1">
                <a:effectLst/>
              </a:rPr>
              <a:t>绑定</a:t>
            </a:r>
            <a:r>
              <a:rPr lang="en-US" altLang="zh-CN" sz="1200" kern="1200" dirty="0">
                <a:effectLst/>
              </a:rPr>
              <a:t>。</a:t>
            </a:r>
            <a:endParaRPr lang="zh-CN" altLang="zh-CN" sz="1200" kern="1200" dirty="0">
              <a:effectLst/>
            </a:endParaRPr>
          </a:p>
          <a:p>
            <a:r>
              <a:rPr lang="zh-CN" altLang="zh-CN" sz="1200" kern="1200" dirty="0">
                <a:effectLst/>
              </a:rPr>
              <a:t>不过迁移效果仍依赖候选分布和工具证据是否匹配，不能直接推断为通用、无偏的视觉</a:t>
            </a:r>
            <a:r>
              <a:rPr lang="en-US" altLang="zh-CN" sz="1200" kern="1200" dirty="0">
                <a:effectLst/>
              </a:rPr>
              <a:t> reward model</a:t>
            </a:r>
            <a:r>
              <a:rPr lang="zh-CN" altLang="zh-CN" sz="1200" kern="1200" dirty="0">
                <a:effectLst/>
              </a:rPr>
              <a:t>。</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下面浅显的介绍下</a:t>
            </a:r>
            <a:r>
              <a:rPr lang="en-US" altLang="zh-CN" dirty="0"/>
              <a:t>GLM5.2</a:t>
            </a:r>
            <a:r>
              <a:rPr lang="zh-CN" altLang="en-US" dirty="0"/>
              <a:t> </a:t>
            </a:r>
            <a:r>
              <a:rPr lang="en-US" altLang="zh-CN" dirty="0"/>
              <a:t>blog</a:t>
            </a:r>
            <a:r>
              <a:rPr lang="zh-CN" altLang="en-US" dirty="0"/>
              <a:t>中提到的一些长程</a:t>
            </a:r>
            <a:r>
              <a:rPr lang="en-US" altLang="zh-CN" dirty="0"/>
              <a:t>agentic</a:t>
            </a:r>
            <a:r>
              <a:rPr lang="zh-CN" altLang="en-US" dirty="0"/>
              <a:t>的技术</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kern="1200" dirty="0">
                <a:effectLst/>
              </a:rPr>
              <a:t>首先长程一定会遇到的问题是</a:t>
            </a:r>
            <a:r>
              <a:rPr lang="en-US" altLang="zh-CN" sz="1200" kern="1200" dirty="0">
                <a:effectLst/>
              </a:rPr>
              <a:t>attention</a:t>
            </a:r>
            <a:r>
              <a:rPr lang="zh-CN" altLang="en-US" sz="1200" kern="1200" dirty="0">
                <a:effectLst/>
              </a:rPr>
              <a:t>架构的问题，注意力的计算</a:t>
            </a:r>
            <a:r>
              <a:rPr lang="en-US" altLang="zh-CN" sz="1200" kern="1200" dirty="0">
                <a:effectLst/>
              </a:rPr>
              <a:t>QK</a:t>
            </a:r>
            <a:r>
              <a:rPr lang="zh-CN" altLang="en-US" sz="1200" kern="1200" dirty="0">
                <a:effectLst/>
              </a:rPr>
              <a:t>矩阵的计算复杂度是</a:t>
            </a:r>
            <a:r>
              <a:rPr lang="en-US" altLang="zh-CN" sz="1200" kern="1200" dirty="0">
                <a:effectLst/>
              </a:rPr>
              <a:t>N^2</a:t>
            </a:r>
            <a:r>
              <a:rPr lang="zh-CN" altLang="en-US" sz="1200" kern="1200" dirty="0">
                <a:effectLst/>
              </a:rPr>
              <a:t>级别的，</a:t>
            </a:r>
            <a:r>
              <a:rPr lang="en-US" altLang="zh-CN" sz="1200" kern="1200" dirty="0">
                <a:effectLst/>
              </a:rPr>
              <a:t>query</a:t>
            </a:r>
            <a:r>
              <a:rPr lang="zh-CN" altLang="en-US" sz="1200" kern="1200" dirty="0">
                <a:effectLst/>
              </a:rPr>
              <a:t> </a:t>
            </a:r>
            <a:r>
              <a:rPr lang="en-US" altLang="zh-CN" sz="1200" kern="1200" dirty="0">
                <a:effectLst/>
              </a:rPr>
              <a:t>key</a:t>
            </a:r>
            <a:r>
              <a:rPr lang="zh-CN" altLang="en-US" sz="1200" kern="1200" dirty="0">
                <a:effectLst/>
              </a:rPr>
              <a:t>和</a:t>
            </a:r>
            <a:r>
              <a:rPr lang="en-US" altLang="zh-CN" sz="1200" kern="1200" dirty="0">
                <a:effectLst/>
              </a:rPr>
              <a:t>value</a:t>
            </a:r>
            <a:r>
              <a:rPr lang="zh-CN" altLang="en-US" sz="1200" kern="1200" dirty="0">
                <a:effectLst/>
              </a:rPr>
              <a:t>三个矩阵的一个纬度都是序列长度，平方级的增长很难扛住</a:t>
            </a:r>
            <a:endParaRPr lang="en-US" altLang="zh-CN" sz="1200" kern="1200" dirty="0">
              <a:effectLst/>
            </a:endParaRPr>
          </a:p>
          <a:p>
            <a:endParaRPr lang="en-US" altLang="zh-CN" sz="1200" kern="1200" dirty="0">
              <a:effectLst/>
            </a:endParaRPr>
          </a:p>
          <a:p>
            <a:r>
              <a:rPr lang="zh-CN" altLang="en-US" sz="1200" kern="1200" dirty="0">
                <a:effectLst/>
              </a:rPr>
              <a:t>所以之前</a:t>
            </a:r>
            <a:r>
              <a:rPr lang="en-US" altLang="zh-CN" sz="1200" kern="1200" dirty="0" err="1">
                <a:effectLst/>
              </a:rPr>
              <a:t>dpsk</a:t>
            </a:r>
            <a:r>
              <a:rPr lang="zh-CN" altLang="en-US" sz="1200" kern="1200" dirty="0">
                <a:effectLst/>
              </a:rPr>
              <a:t>也用到</a:t>
            </a:r>
            <a:r>
              <a:rPr lang="en-US" altLang="zh-CN" sz="1200" kern="1200" dirty="0">
                <a:effectLst/>
              </a:rPr>
              <a:t>sparse</a:t>
            </a:r>
            <a:r>
              <a:rPr lang="zh-CN" altLang="en-US" sz="1200" kern="1200" dirty="0">
                <a:effectLst/>
              </a:rPr>
              <a:t> </a:t>
            </a:r>
            <a:r>
              <a:rPr lang="en-US" altLang="zh-CN" sz="1200" kern="1200" dirty="0">
                <a:effectLst/>
              </a:rPr>
              <a:t>attention</a:t>
            </a:r>
            <a:r>
              <a:rPr lang="zh-CN" altLang="en-US" sz="1200" kern="1200" dirty="0">
                <a:effectLst/>
              </a:rPr>
              <a:t>的技术，就是每个</a:t>
            </a:r>
            <a:r>
              <a:rPr lang="en-US" altLang="zh-CN" sz="1200" kern="1200" dirty="0">
                <a:effectLst/>
              </a:rPr>
              <a:t>query</a:t>
            </a:r>
            <a:r>
              <a:rPr lang="zh-CN" altLang="en-US" sz="1200" kern="1200" dirty="0">
                <a:effectLst/>
              </a:rPr>
              <a:t>不再</a:t>
            </a:r>
            <a:r>
              <a:rPr lang="en-US" altLang="zh-CN" sz="1200" kern="1200" dirty="0">
                <a:effectLst/>
              </a:rPr>
              <a:t>attend</a:t>
            </a:r>
            <a:r>
              <a:rPr lang="zh-CN" altLang="en-US" sz="1200" kern="1200" dirty="0">
                <a:effectLst/>
              </a:rPr>
              <a:t>到所有的</a:t>
            </a:r>
            <a:r>
              <a:rPr lang="en-US" altLang="zh-CN" sz="1200" kern="1200" dirty="0">
                <a:effectLst/>
              </a:rPr>
              <a:t>key</a:t>
            </a:r>
            <a:r>
              <a:rPr lang="zh-CN" altLang="en-US" sz="1200" kern="1200" dirty="0">
                <a:effectLst/>
              </a:rPr>
              <a:t>，而是用一个简易的</a:t>
            </a:r>
            <a:r>
              <a:rPr lang="en-US" altLang="zh-CN" sz="1200" kern="1200" dirty="0">
                <a:effectLst/>
              </a:rPr>
              <a:t>selector</a:t>
            </a:r>
            <a:r>
              <a:rPr lang="zh-CN" altLang="en-US" sz="1200" kern="1200" dirty="0">
                <a:effectLst/>
              </a:rPr>
              <a:t>对每个</a:t>
            </a:r>
            <a:r>
              <a:rPr lang="en-US" altLang="zh-CN" sz="1200" kern="1200" dirty="0">
                <a:effectLst/>
              </a:rPr>
              <a:t>query</a:t>
            </a:r>
            <a:r>
              <a:rPr lang="zh-CN" altLang="en-US" sz="1200" kern="1200" dirty="0">
                <a:effectLst/>
              </a:rPr>
              <a:t>选择部分</a:t>
            </a:r>
            <a:r>
              <a:rPr lang="en-US" altLang="zh-CN" sz="1200" kern="1200" dirty="0">
                <a:effectLst/>
              </a:rPr>
              <a:t>key</a:t>
            </a:r>
          </a:p>
          <a:p>
            <a:endParaRPr lang="en-US" altLang="zh-CN" sz="1200" kern="1200" dirty="0">
              <a:effectLst/>
            </a:endParaRPr>
          </a:p>
          <a:p>
            <a:r>
              <a:rPr lang="en-US" altLang="zh-CN" sz="1200" kern="1200" dirty="0" err="1">
                <a:effectLst/>
              </a:rPr>
              <a:t>IndexShare</a:t>
            </a:r>
            <a:r>
              <a:rPr lang="en-US" altLang="zh-CN" sz="1200" kern="1200" dirty="0">
                <a:effectLst/>
              </a:rPr>
              <a:t> </a:t>
            </a:r>
            <a:r>
              <a:rPr lang="en-US" altLang="zh-CN" sz="1200" kern="1200" dirty="0" err="1">
                <a:effectLst/>
              </a:rPr>
              <a:t>进一步让每四个</a:t>
            </a:r>
            <a:r>
              <a:rPr lang="en-US" altLang="zh-CN" sz="1200" kern="1200" dirty="0">
                <a:effectLst/>
              </a:rPr>
              <a:t> Transformer layers </a:t>
            </a:r>
            <a:r>
              <a:rPr lang="en-US" altLang="zh-CN" sz="1200" kern="1200" dirty="0" err="1">
                <a:effectLst/>
              </a:rPr>
              <a:t>只计算一次</a:t>
            </a:r>
            <a:r>
              <a:rPr lang="en-US" altLang="zh-CN" sz="1200" kern="1200" dirty="0">
                <a:effectLst/>
              </a:rPr>
              <a:t> </a:t>
            </a:r>
            <a:r>
              <a:rPr lang="en-US" altLang="zh-CN" sz="1200" kern="1200" dirty="0" err="1">
                <a:effectLst/>
              </a:rPr>
              <a:t>indexer，并复用同一组</a:t>
            </a:r>
            <a:r>
              <a:rPr lang="en-US" altLang="zh-CN" sz="1200" kern="1200" dirty="0">
                <a:effectLst/>
              </a:rPr>
              <a:t> Top-k </a:t>
            </a:r>
            <a:r>
              <a:rPr lang="en-US" altLang="zh-CN" sz="1200" kern="1200" dirty="0" err="1">
                <a:effectLst/>
              </a:rPr>
              <a:t>indices。粗略成本可以写成四分之一的</a:t>
            </a:r>
            <a:r>
              <a:rPr lang="en-US" altLang="zh-CN" sz="1200" kern="1200" dirty="0">
                <a:effectLst/>
              </a:rPr>
              <a:t> O(NL²) </a:t>
            </a:r>
            <a:r>
              <a:rPr lang="en-US" altLang="zh-CN" sz="1200" kern="1200" dirty="0" err="1">
                <a:effectLst/>
              </a:rPr>
              <a:t>加</a:t>
            </a:r>
            <a:r>
              <a:rPr lang="en-US" altLang="zh-CN" sz="1200" kern="1200" dirty="0">
                <a:effectLst/>
              </a:rPr>
              <a:t> O(</a:t>
            </a:r>
            <a:r>
              <a:rPr lang="en-US" altLang="zh-CN" sz="1200" kern="1200" dirty="0" err="1">
                <a:effectLst/>
              </a:rPr>
              <a:t>NLk</a:t>
            </a:r>
            <a:r>
              <a:rPr lang="en-US" altLang="zh-CN" sz="1200" kern="1200" dirty="0">
                <a:effectLst/>
              </a:rPr>
              <a:t>)。</a:t>
            </a:r>
            <a:r>
              <a:rPr lang="en-US" altLang="zh-CN" sz="1200" kern="1200" dirty="0" err="1">
                <a:effectLst/>
              </a:rPr>
              <a:t>官方给出的结果是，在</a:t>
            </a:r>
            <a:r>
              <a:rPr lang="en-US" altLang="zh-CN" sz="1200" kern="1200" dirty="0">
                <a:effectLst/>
              </a:rPr>
              <a:t> 1M context </a:t>
            </a:r>
            <a:r>
              <a:rPr lang="en-US" altLang="zh-CN" sz="1200" kern="1200" dirty="0" err="1">
                <a:effectLst/>
              </a:rPr>
              <a:t>下单</a:t>
            </a:r>
            <a:r>
              <a:rPr lang="en-US" altLang="zh-CN" sz="1200" kern="1200" dirty="0">
                <a:effectLst/>
              </a:rPr>
              <a:t> token FLOPs </a:t>
            </a:r>
            <a:r>
              <a:rPr lang="en-US" altLang="zh-CN" sz="1200" kern="1200" dirty="0" err="1">
                <a:effectLst/>
              </a:rPr>
              <a:t>下降</a:t>
            </a:r>
            <a:r>
              <a:rPr lang="en-US" altLang="zh-CN" sz="1200" kern="1200" dirty="0">
                <a:effectLst/>
              </a:rPr>
              <a:t> 2.9 </a:t>
            </a:r>
            <a:r>
              <a:rPr lang="en-US" altLang="zh-CN" sz="1200" kern="1200" dirty="0" err="1">
                <a:effectLst/>
              </a:rPr>
              <a:t>倍</a:t>
            </a:r>
            <a:r>
              <a:rPr lang="en-US" altLang="zh-CN" sz="1200" kern="1200" dirty="0">
                <a:effectLst/>
              </a:rPr>
              <a:t>。</a:t>
            </a:r>
            <a:endParaRPr lang="zh-CN" altLang="zh-CN" sz="1200" kern="1200" dirty="0">
              <a:effectLst/>
            </a:endParaRP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kern="1200" dirty="0">
                <a:effectLst/>
              </a:rPr>
              <a:t>我比较想提的是</a:t>
            </a:r>
            <a:r>
              <a:rPr lang="en-US" altLang="zh-CN" sz="1200" kern="1200" dirty="0">
                <a:effectLst/>
              </a:rPr>
              <a:t>RL</a:t>
            </a:r>
            <a:r>
              <a:rPr lang="zh-CN" altLang="en-US" sz="1200" kern="1200" dirty="0">
                <a:effectLst/>
              </a:rPr>
              <a:t>算法这块：</a:t>
            </a:r>
            <a:endParaRPr lang="en-US" altLang="zh-CN" sz="1200" kern="1200" dirty="0">
              <a:effectLst/>
            </a:endParaRPr>
          </a:p>
          <a:p>
            <a:endParaRPr lang="en-US" altLang="zh-CN" sz="1200" kern="1200" dirty="0">
              <a:effectLst/>
            </a:endParaRPr>
          </a:p>
          <a:p>
            <a:r>
              <a:rPr lang="en-US" altLang="zh-CN" sz="1200" kern="1200" dirty="0" err="1">
                <a:effectLst/>
              </a:rPr>
              <a:t>在普通</a:t>
            </a:r>
            <a:r>
              <a:rPr lang="en-US" altLang="zh-CN" sz="1200" kern="1200" dirty="0">
                <a:effectLst/>
              </a:rPr>
              <a:t> GRPO </a:t>
            </a:r>
            <a:r>
              <a:rPr lang="en-US" altLang="zh-CN" sz="1200" kern="1200" dirty="0" err="1">
                <a:effectLst/>
              </a:rPr>
              <a:t>中，同一</a:t>
            </a:r>
            <a:r>
              <a:rPr lang="en-US" altLang="zh-CN" sz="1200" kern="1200" dirty="0">
                <a:effectLst/>
              </a:rPr>
              <a:t> prompt </a:t>
            </a:r>
            <a:r>
              <a:rPr lang="en-US" altLang="zh-CN" sz="1200" kern="1200" dirty="0" err="1">
                <a:effectLst/>
              </a:rPr>
              <a:t>的</a:t>
            </a:r>
            <a:r>
              <a:rPr lang="en-US" altLang="zh-CN" sz="1200" kern="1200" dirty="0">
                <a:effectLst/>
              </a:rPr>
              <a:t> G </a:t>
            </a:r>
            <a:r>
              <a:rPr lang="en-US" altLang="zh-CN" sz="1200" kern="1200" dirty="0" err="1">
                <a:effectLst/>
              </a:rPr>
              <a:t>条</a:t>
            </a:r>
            <a:r>
              <a:rPr lang="en-US" altLang="zh-CN" sz="1200" kern="1200" dirty="0">
                <a:effectLst/>
              </a:rPr>
              <a:t> rollout </a:t>
            </a:r>
            <a:r>
              <a:rPr lang="en-US" altLang="zh-CN" sz="1200" kern="1200" dirty="0" err="1">
                <a:effectLst/>
              </a:rPr>
              <a:t>可以直接比较</a:t>
            </a:r>
            <a:r>
              <a:rPr lang="en-US" altLang="zh-CN" sz="1200" kern="1200" dirty="0">
                <a:effectLst/>
              </a:rPr>
              <a:t> sequence </a:t>
            </a:r>
            <a:r>
              <a:rPr lang="en-US" altLang="zh-CN" sz="1200" kern="1200" dirty="0" err="1">
                <a:effectLst/>
              </a:rPr>
              <a:t>reward，组内标准化后得到</a:t>
            </a:r>
            <a:r>
              <a:rPr lang="en-US" altLang="zh-CN" sz="1200" kern="1200" dirty="0">
                <a:effectLst/>
              </a:rPr>
              <a:t> sequence-level </a:t>
            </a:r>
            <a:r>
              <a:rPr lang="en-US" altLang="zh-CN" sz="1200" kern="1200" dirty="0" err="1">
                <a:effectLst/>
              </a:rPr>
              <a:t>advantage。但长程</a:t>
            </a:r>
            <a:r>
              <a:rPr lang="en-US" altLang="zh-CN" sz="1200" kern="1200" dirty="0">
                <a:effectLst/>
              </a:rPr>
              <a:t> agent </a:t>
            </a:r>
            <a:r>
              <a:rPr lang="en-US" altLang="zh-CN" sz="1200" kern="1200" dirty="0" err="1">
                <a:effectLst/>
              </a:rPr>
              <a:t>会做</a:t>
            </a:r>
            <a:r>
              <a:rPr lang="zh-CN" altLang="en-US" sz="1200" kern="1200" dirty="0">
                <a:effectLst/>
              </a:rPr>
              <a:t>轨迹切分，因为一条原始轨迹长度太长了没法直接训练</a:t>
            </a:r>
            <a:r>
              <a:rPr lang="en-US" altLang="zh-CN" sz="1200" kern="1200" dirty="0">
                <a:effectLst/>
              </a:rPr>
              <a:t>，</a:t>
            </a:r>
            <a:r>
              <a:rPr lang="zh-CN" altLang="en-US" sz="1200" kern="1200" dirty="0">
                <a:effectLst/>
              </a:rPr>
              <a:t>所以</a:t>
            </a:r>
            <a:r>
              <a:rPr lang="en-US" altLang="zh-CN" sz="1200" kern="1200" dirty="0" err="1">
                <a:effectLst/>
              </a:rPr>
              <a:t>一条原始</a:t>
            </a:r>
            <a:r>
              <a:rPr lang="en-US" altLang="zh-CN" sz="1200" kern="1200" dirty="0">
                <a:effectLst/>
              </a:rPr>
              <a:t> trajectory </a:t>
            </a:r>
            <a:r>
              <a:rPr lang="en-US" altLang="zh-CN" sz="1200" kern="1200" dirty="0" err="1">
                <a:effectLst/>
              </a:rPr>
              <a:t>被切成数量不同、长度不同的</a:t>
            </a:r>
            <a:r>
              <a:rPr lang="en-US" altLang="zh-CN" sz="1200" kern="1200" dirty="0">
                <a:effectLst/>
              </a:rPr>
              <a:t> </a:t>
            </a:r>
            <a:r>
              <a:rPr lang="en-US" altLang="zh-CN" sz="1200" kern="1200" dirty="0" err="1">
                <a:effectLst/>
              </a:rPr>
              <a:t>sub-traces。此时</a:t>
            </a:r>
            <a:r>
              <a:rPr lang="en-US" altLang="zh-CN" sz="1200" kern="1200" dirty="0">
                <a:effectLst/>
              </a:rPr>
              <a:t> rollout </a:t>
            </a:r>
            <a:r>
              <a:rPr lang="en-US" altLang="zh-CN" sz="1200" kern="1200" dirty="0" err="1">
                <a:effectLst/>
              </a:rPr>
              <a:t>不再等价</a:t>
            </a:r>
            <a:r>
              <a:rPr lang="en-US" altLang="zh-CN" sz="1200" kern="1200" dirty="0">
                <a:effectLst/>
              </a:rPr>
              <a:t>，</a:t>
            </a:r>
            <a:r>
              <a:rPr lang="zh-CN" altLang="en-US" sz="1200" kern="1200" dirty="0">
                <a:effectLst/>
              </a:rPr>
              <a:t>再做像</a:t>
            </a:r>
            <a:r>
              <a:rPr lang="en-US" altLang="zh-CN" sz="1200" kern="1200" dirty="0">
                <a:effectLst/>
              </a:rPr>
              <a:t>GRPO</a:t>
            </a:r>
            <a:r>
              <a:rPr lang="zh-CN" altLang="en-US" sz="1200" kern="1200" dirty="0">
                <a:effectLst/>
              </a:rPr>
              <a:t>这种算法的组内归一化没有意义。</a:t>
            </a:r>
            <a:endParaRPr lang="en-US" altLang="zh-CN" sz="1200" kern="1200" dirty="0">
              <a:effectLst/>
            </a:endParaRPr>
          </a:p>
          <a:p>
            <a:endParaRPr lang="zh-CN" altLang="zh-CN" sz="1200" kern="1200" dirty="0">
              <a:effectLst/>
            </a:endParaRPr>
          </a:p>
          <a:p>
            <a:r>
              <a:rPr lang="en-US" altLang="zh-CN" sz="1200" kern="1200" dirty="0" err="1">
                <a:effectLst/>
              </a:rPr>
              <a:t>因此在这种</a:t>
            </a:r>
            <a:r>
              <a:rPr lang="en-US" altLang="zh-CN" sz="1200" kern="1200" dirty="0">
                <a:effectLst/>
              </a:rPr>
              <a:t> compact trajectory </a:t>
            </a:r>
            <a:r>
              <a:rPr lang="en-US" altLang="zh-CN" sz="1200" kern="1200" dirty="0" err="1">
                <a:effectLst/>
              </a:rPr>
              <a:t>设置下，方案转向带</a:t>
            </a:r>
            <a:r>
              <a:rPr lang="en-US" altLang="zh-CN" sz="1200" kern="1200" dirty="0">
                <a:effectLst/>
              </a:rPr>
              <a:t> critic </a:t>
            </a:r>
            <a:r>
              <a:rPr lang="en-US" altLang="zh-CN" sz="1200" kern="1200" dirty="0" err="1">
                <a:effectLst/>
              </a:rPr>
              <a:t>的</a:t>
            </a:r>
            <a:r>
              <a:rPr lang="en-US" altLang="zh-CN" sz="1200" kern="1200" dirty="0">
                <a:effectLst/>
              </a:rPr>
              <a:t> </a:t>
            </a:r>
            <a:r>
              <a:rPr lang="en-US" altLang="zh-CN" sz="1200" kern="1200" dirty="0" err="1">
                <a:effectLst/>
              </a:rPr>
              <a:t>PPO。Critic</a:t>
            </a:r>
            <a:r>
              <a:rPr lang="en-US" altLang="zh-CN" sz="1200" kern="1200" dirty="0">
                <a:effectLst/>
              </a:rPr>
              <a:t> </a:t>
            </a:r>
            <a:r>
              <a:rPr lang="en-US" altLang="zh-CN" sz="1200" kern="1200" dirty="0" err="1">
                <a:effectLst/>
              </a:rPr>
              <a:t>估计</a:t>
            </a:r>
            <a:r>
              <a:rPr lang="en-US" altLang="zh-CN" sz="1200" kern="1200" dirty="0">
                <a:effectLst/>
              </a:rPr>
              <a:t> V(s)，</a:t>
            </a:r>
            <a:r>
              <a:rPr lang="en-US" altLang="zh-CN" sz="1200" kern="1200" dirty="0" err="1">
                <a:effectLst/>
              </a:rPr>
              <a:t>通过</a:t>
            </a:r>
            <a:r>
              <a:rPr lang="en-US" altLang="zh-CN" sz="1200" kern="1200" dirty="0">
                <a:effectLst/>
              </a:rPr>
              <a:t> TD residual </a:t>
            </a:r>
            <a:r>
              <a:rPr lang="en-US" altLang="zh-CN" sz="1200" kern="1200" dirty="0" err="1">
                <a:effectLst/>
              </a:rPr>
              <a:t>δ_t</a:t>
            </a:r>
            <a:r>
              <a:rPr lang="en-US" altLang="zh-CN" sz="1200" kern="1200" dirty="0">
                <a:effectLst/>
              </a:rPr>
              <a:t> </a:t>
            </a:r>
            <a:r>
              <a:rPr lang="en-US" altLang="zh-CN" sz="1200" kern="1200" dirty="0" err="1">
                <a:effectLst/>
              </a:rPr>
              <a:t>和</a:t>
            </a:r>
            <a:r>
              <a:rPr lang="en-US" altLang="zh-CN" sz="1200" kern="1200" dirty="0">
                <a:effectLst/>
              </a:rPr>
              <a:t> GAE </a:t>
            </a:r>
            <a:r>
              <a:rPr lang="en-US" altLang="zh-CN" sz="1200" kern="1200" dirty="0" err="1">
                <a:effectLst/>
              </a:rPr>
              <a:t>得到</a:t>
            </a:r>
            <a:r>
              <a:rPr lang="en-US" altLang="zh-CN" sz="1200" kern="1200" dirty="0">
                <a:effectLst/>
              </a:rPr>
              <a:t> token-level </a:t>
            </a:r>
            <a:r>
              <a:rPr lang="en-US" altLang="zh-CN" sz="1200" kern="1200" dirty="0" err="1">
                <a:effectLst/>
              </a:rPr>
              <a:t>advantage，再对全量</a:t>
            </a:r>
            <a:r>
              <a:rPr lang="en-US" altLang="zh-CN" sz="1200" kern="1200" dirty="0">
                <a:effectLst/>
              </a:rPr>
              <a:t> sub-traces </a:t>
            </a:r>
            <a:r>
              <a:rPr lang="en-US" altLang="zh-CN" sz="1200" kern="1200" dirty="0" err="1">
                <a:effectLst/>
              </a:rPr>
              <a:t>做</a:t>
            </a:r>
            <a:r>
              <a:rPr lang="en-US" altLang="zh-CN" sz="1200" kern="1200" dirty="0">
                <a:effectLst/>
              </a:rPr>
              <a:t> token normalization。</a:t>
            </a:r>
            <a:r>
              <a:rPr lang="zh-CN" altLang="zh-CN" sz="1200" kern="1200" dirty="0">
                <a:effectLst/>
              </a:rPr>
              <a:t>这样可以处理不同</a:t>
            </a:r>
            <a:r>
              <a:rPr lang="en-US" altLang="zh-CN" sz="1200" kern="1200" dirty="0">
                <a:effectLst/>
              </a:rPr>
              <a:t> </a:t>
            </a:r>
            <a:r>
              <a:rPr lang="en-US" altLang="zh-CN" sz="1200" kern="1200" dirty="0" err="1">
                <a:effectLst/>
              </a:rPr>
              <a:t>m_i</a:t>
            </a:r>
            <a:r>
              <a:rPr lang="en-US" altLang="zh-CN" sz="1200" kern="1200" dirty="0">
                <a:effectLst/>
              </a:rPr>
              <a:t> </a:t>
            </a:r>
            <a:r>
              <a:rPr lang="zh-CN" altLang="zh-CN" sz="1200" kern="1200" dirty="0">
                <a:effectLst/>
              </a:rPr>
              <a:t>和</a:t>
            </a:r>
            <a:r>
              <a:rPr lang="en-US" altLang="zh-CN" sz="1200" kern="1200" dirty="0">
                <a:effectLst/>
              </a:rPr>
              <a:t> T_{</a:t>
            </a:r>
            <a:r>
              <a:rPr lang="en-US" altLang="zh-CN" sz="1200" kern="1200" dirty="0" err="1">
                <a:effectLst/>
              </a:rPr>
              <a:t>ij</a:t>
            </a:r>
            <a:r>
              <a:rPr lang="en-US" altLang="zh-CN" sz="1200" kern="1200" dirty="0">
                <a:effectLst/>
              </a:rPr>
              <a:t>}</a:t>
            </a:r>
            <a:r>
              <a:rPr lang="zh-CN" altLang="zh-CN" sz="1200" kern="1200" dirty="0">
                <a:effectLst/>
              </a:rPr>
              <a:t>，也避免超长轨迹仅凭</a:t>
            </a:r>
            <a:r>
              <a:rPr lang="en-US" altLang="zh-CN" sz="1200" kern="1200" dirty="0">
                <a:effectLst/>
              </a:rPr>
              <a:t> token </a:t>
            </a:r>
            <a:r>
              <a:rPr lang="zh-CN" altLang="zh-CN" sz="1200" kern="1200" dirty="0">
                <a:effectLst/>
              </a:rPr>
              <a:t>数支配梯度。</a:t>
            </a:r>
            <a:r>
              <a:rPr lang="zh-CN" altLang="en-US" sz="1200" kern="1200" dirty="0">
                <a:effectLst/>
              </a:rPr>
              <a:t>回归</a:t>
            </a:r>
            <a:r>
              <a:rPr lang="en-US" altLang="zh-CN" sz="1200" kern="1200" dirty="0">
                <a:effectLst/>
              </a:rPr>
              <a:t>PPO</a:t>
            </a:r>
            <a:r>
              <a:rPr lang="zh-CN" altLang="en-US" sz="1200" kern="1200" dirty="0">
                <a:effectLst/>
              </a:rPr>
              <a:t>既是工程的选择，也是算法的选择，就像我们之前几篇文章的分析，长程轨迹的训练无法再靠一个</a:t>
            </a:r>
            <a:r>
              <a:rPr lang="en-US" altLang="zh-CN" sz="1200" kern="1200" dirty="0">
                <a:effectLst/>
              </a:rPr>
              <a:t>01</a:t>
            </a:r>
            <a:r>
              <a:rPr lang="zh-CN" altLang="en-US" sz="1200" kern="1200" dirty="0">
                <a:effectLst/>
              </a:rPr>
              <a:t> </a:t>
            </a:r>
            <a:r>
              <a:rPr lang="en-US" altLang="zh-CN" sz="1200" kern="1200" dirty="0">
                <a:effectLst/>
              </a:rPr>
              <a:t>reward</a:t>
            </a:r>
            <a:r>
              <a:rPr lang="zh-CN" altLang="en-US" sz="1200" kern="1200" dirty="0">
                <a:effectLst/>
              </a:rPr>
              <a:t>撑起来了，像</a:t>
            </a:r>
            <a:r>
              <a:rPr lang="en-US" altLang="zh-CN" sz="1200" kern="1200" dirty="0">
                <a:effectLst/>
              </a:rPr>
              <a:t>entropy</a:t>
            </a:r>
            <a:r>
              <a:rPr lang="zh-CN" altLang="en-US" sz="1200" kern="1200" dirty="0">
                <a:effectLst/>
              </a:rPr>
              <a:t>，</a:t>
            </a:r>
            <a:r>
              <a:rPr lang="en-US" altLang="zh-CN" sz="1200" kern="1200" dirty="0">
                <a:effectLst/>
              </a:rPr>
              <a:t>confidence</a:t>
            </a:r>
            <a:r>
              <a:rPr lang="zh-CN" altLang="en-US" sz="1200" kern="1200" dirty="0">
                <a:effectLst/>
              </a:rPr>
              <a:t>这种模型内化的指标也要用上；有了</a:t>
            </a:r>
            <a:r>
              <a:rPr lang="en-US" altLang="zh-CN" sz="1200" kern="1200" dirty="0">
                <a:effectLst/>
              </a:rPr>
              <a:t>critic</a:t>
            </a:r>
            <a:r>
              <a:rPr lang="zh-CN" altLang="en-US" sz="1200" kern="1200" dirty="0">
                <a:effectLst/>
              </a:rPr>
              <a:t>直接一步到位，每一步都有属于</a:t>
            </a:r>
            <a:r>
              <a:rPr lang="en-US" altLang="zh-CN" sz="1200" kern="1200" dirty="0">
                <a:effectLst/>
              </a:rPr>
              <a:t>adv</a:t>
            </a:r>
          </a:p>
          <a:p>
            <a:endParaRPr lang="en-US" altLang="zh-CN" sz="1200" kern="1200" dirty="0">
              <a:effectLst/>
            </a:endParaRPr>
          </a:p>
          <a:p>
            <a:r>
              <a:rPr lang="zh-CN" altLang="en-US" sz="1200" kern="1200" dirty="0">
                <a:effectLst/>
              </a:rPr>
              <a:t>另外就是基模训练的时候</a:t>
            </a:r>
            <a:r>
              <a:rPr lang="en-US" altLang="zh-CN" sz="1200" kern="1200" dirty="0">
                <a:effectLst/>
              </a:rPr>
              <a:t>reward</a:t>
            </a:r>
            <a:r>
              <a:rPr lang="zh-CN" altLang="en-US" sz="1200" kern="1200" dirty="0">
                <a:effectLst/>
              </a:rPr>
              <a:t> </a:t>
            </a:r>
            <a:r>
              <a:rPr lang="en-US" altLang="zh-CN" sz="1200" kern="1200" dirty="0">
                <a:effectLst/>
              </a:rPr>
              <a:t>hacking</a:t>
            </a:r>
            <a:r>
              <a:rPr lang="zh-CN" altLang="en-US" sz="1200" kern="1200" dirty="0">
                <a:effectLst/>
              </a:rPr>
              <a:t>现象也很严重，</a:t>
            </a:r>
            <a:r>
              <a:rPr lang="en-US" altLang="zh-CN" sz="1200" kern="1200" dirty="0">
                <a:effectLst/>
              </a:rPr>
              <a:t>GLM5.2</a:t>
            </a:r>
            <a:r>
              <a:rPr lang="zh-CN" altLang="en-US" sz="1200" kern="1200" dirty="0">
                <a:effectLst/>
              </a:rPr>
              <a:t>里面提了两条：</a:t>
            </a:r>
            <a:endParaRPr lang="en-US" altLang="zh-CN" sz="1200" kern="1200" dirty="0">
              <a:effectLst/>
            </a:endParaRPr>
          </a:p>
          <a:p>
            <a:r>
              <a:rPr lang="en-US" altLang="zh-CN" sz="1200" kern="1200" dirty="0">
                <a:effectLst/>
              </a:rPr>
              <a:t>1</a:t>
            </a:r>
            <a:r>
              <a:rPr lang="zh-CN" altLang="en-US" sz="1200" kern="1200" dirty="0">
                <a:effectLst/>
              </a:rPr>
              <a:t>）规则过滤</a:t>
            </a:r>
            <a:endParaRPr lang="en-US" altLang="zh-CN" sz="1200" kern="1200" dirty="0">
              <a:effectLst/>
            </a:endParaRPr>
          </a:p>
          <a:p>
            <a:r>
              <a:rPr lang="en-US" altLang="zh-CN" sz="1200" kern="1200" dirty="0">
                <a:effectLst/>
              </a:rPr>
              <a:t>2</a:t>
            </a:r>
            <a:r>
              <a:rPr lang="zh-CN" altLang="en-US" sz="1200" kern="1200" dirty="0">
                <a:effectLst/>
              </a:rPr>
              <a:t>）</a:t>
            </a:r>
            <a:r>
              <a:rPr lang="en-US" altLang="zh-CN" sz="1200" kern="1200" dirty="0">
                <a:effectLst/>
              </a:rPr>
              <a:t>LLM-as-Judge</a:t>
            </a:r>
          </a:p>
          <a:p>
            <a:endParaRPr lang="en-US" altLang="zh-CN" sz="1200" kern="1200" dirty="0">
              <a:effectLst/>
            </a:endParaRPr>
          </a:p>
          <a:p>
            <a:r>
              <a:rPr lang="en-US" altLang="zh-CN" sz="1200" kern="1200" dirty="0" err="1">
                <a:effectLst/>
              </a:rPr>
              <a:t>第三块是</a:t>
            </a:r>
            <a:r>
              <a:rPr lang="en-US" altLang="zh-CN" sz="1200" kern="1200" dirty="0">
                <a:effectLst/>
              </a:rPr>
              <a:t> </a:t>
            </a:r>
            <a:r>
              <a:rPr lang="en-US" altLang="zh-CN" sz="1200" kern="1200" dirty="0" err="1">
                <a:effectLst/>
              </a:rPr>
              <a:t>OPD，也就是</a:t>
            </a:r>
            <a:r>
              <a:rPr lang="en-US" altLang="zh-CN" sz="1200" kern="1200" dirty="0">
                <a:effectLst/>
              </a:rPr>
              <a:t> on-policy </a:t>
            </a:r>
            <a:r>
              <a:rPr lang="en-US" altLang="zh-CN" sz="1200" kern="1200" dirty="0" err="1">
                <a:effectLst/>
              </a:rPr>
              <a:t>distillation。它在学生自己</a:t>
            </a:r>
            <a:r>
              <a:rPr lang="en-US" altLang="zh-CN" sz="1200" kern="1200" dirty="0">
                <a:effectLst/>
              </a:rPr>
              <a:t> rollout </a:t>
            </a:r>
            <a:r>
              <a:rPr lang="en-US" altLang="zh-CN" sz="1200" kern="1200" dirty="0" err="1">
                <a:effectLst/>
              </a:rPr>
              <a:t>出来的状态分布上，引入</a:t>
            </a:r>
            <a:r>
              <a:rPr lang="en-US" altLang="zh-CN" sz="1200" kern="1200" dirty="0">
                <a:effectLst/>
              </a:rPr>
              <a:t> teacher </a:t>
            </a:r>
            <a:r>
              <a:rPr lang="en-US" altLang="zh-CN" sz="1200" kern="1200" dirty="0" err="1">
                <a:effectLst/>
              </a:rPr>
              <a:t>与</a:t>
            </a:r>
            <a:r>
              <a:rPr lang="en-US" altLang="zh-CN" sz="1200" kern="1200" dirty="0">
                <a:effectLst/>
              </a:rPr>
              <a:t> student </a:t>
            </a:r>
            <a:r>
              <a:rPr lang="en-US" altLang="zh-CN" sz="1200" kern="1200" dirty="0" err="1">
                <a:effectLst/>
              </a:rPr>
              <a:t>的</a:t>
            </a:r>
            <a:r>
              <a:rPr lang="en-US" altLang="zh-CN" sz="1200" kern="1200" dirty="0">
                <a:effectLst/>
              </a:rPr>
              <a:t> token-level KL </a:t>
            </a:r>
            <a:r>
              <a:rPr lang="en-US" altLang="zh-CN" sz="1200" kern="1200" dirty="0" err="1">
                <a:effectLst/>
              </a:rPr>
              <a:t>信号。这个蒸馏项与</a:t>
            </a:r>
            <a:r>
              <a:rPr lang="en-US" altLang="zh-CN" sz="1200" kern="1200" dirty="0">
                <a:effectLst/>
              </a:rPr>
              <a:t> PPO </a:t>
            </a:r>
            <a:r>
              <a:rPr lang="en-US" altLang="zh-CN" sz="1200" kern="1200" dirty="0" err="1">
                <a:effectLst/>
              </a:rPr>
              <a:t>或</a:t>
            </a:r>
            <a:r>
              <a:rPr lang="en-US" altLang="zh-CN" sz="1200" kern="1200" dirty="0">
                <a:effectLst/>
              </a:rPr>
              <a:t> GRPO </a:t>
            </a:r>
            <a:r>
              <a:rPr lang="en-US" altLang="zh-CN" sz="1200" kern="1200" dirty="0" err="1">
                <a:effectLst/>
              </a:rPr>
              <a:t>的</a:t>
            </a:r>
            <a:r>
              <a:rPr lang="en-US" altLang="zh-CN" sz="1200" kern="1200" dirty="0">
                <a:effectLst/>
              </a:rPr>
              <a:t> estimator </a:t>
            </a:r>
            <a:r>
              <a:rPr lang="zh-CN" altLang="en-US" sz="1200" kern="1200" dirty="0">
                <a:effectLst/>
              </a:rPr>
              <a:t>是正交的。</a:t>
            </a:r>
            <a:r>
              <a:rPr lang="en-US" altLang="zh-CN" sz="1200" kern="1200" dirty="0">
                <a:effectLst/>
              </a:rPr>
              <a:t>OPD</a:t>
            </a:r>
            <a:r>
              <a:rPr lang="zh-CN" altLang="en-US" sz="1200" kern="1200" dirty="0">
                <a:effectLst/>
              </a:rPr>
              <a:t>现在在模型训练中一般用于合版，也就是对于多个针对不同任务训练的专项模型合到一个模型当中进行发布；</a:t>
            </a:r>
            <a:r>
              <a:rPr lang="en-US" altLang="zh-CN" sz="1200" kern="1200" dirty="0">
                <a:effectLst/>
              </a:rPr>
              <a:t>OPD</a:t>
            </a:r>
            <a:r>
              <a:rPr lang="zh-CN" altLang="en-US" sz="1200" kern="1200" dirty="0">
                <a:effectLst/>
              </a:rPr>
              <a:t>这个技术本身也可以作为</a:t>
            </a:r>
            <a:r>
              <a:rPr lang="en-US" altLang="zh-CN" sz="1200" kern="1200" dirty="0">
                <a:effectLst/>
              </a:rPr>
              <a:t>RL</a:t>
            </a:r>
            <a:r>
              <a:rPr lang="zh-CN" altLang="en-US" sz="1200" kern="1200" dirty="0">
                <a:effectLst/>
              </a:rPr>
              <a:t>的补充项，去处理</a:t>
            </a:r>
            <a:r>
              <a:rPr lang="en-US" altLang="zh-CN" sz="1200" kern="1200" dirty="0">
                <a:effectLst/>
              </a:rPr>
              <a:t>RL</a:t>
            </a:r>
            <a:r>
              <a:rPr lang="zh-CN" altLang="en-US" sz="1200" kern="1200" dirty="0">
                <a:effectLst/>
              </a:rPr>
              <a:t> </a:t>
            </a:r>
            <a:r>
              <a:rPr lang="en-US" altLang="zh-CN" sz="1200" kern="1200" dirty="0">
                <a:effectLst/>
              </a:rPr>
              <a:t>reward</a:t>
            </a:r>
            <a:r>
              <a:rPr lang="zh-CN" altLang="en-US" sz="1200" kern="1200" dirty="0">
                <a:effectLst/>
              </a:rPr>
              <a:t>稀疏的问题。</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kern="1200" dirty="0">
                <a:effectLst/>
              </a:rPr>
              <a:t>MTP </a:t>
            </a:r>
            <a:r>
              <a:rPr lang="en-US" altLang="zh-CN" sz="1200" kern="1200" dirty="0" err="1">
                <a:effectLst/>
              </a:rPr>
              <a:t>部分把</a:t>
            </a:r>
            <a:r>
              <a:rPr lang="en-US" altLang="zh-CN" sz="1200" kern="1200" dirty="0">
                <a:effectLst/>
              </a:rPr>
              <a:t> </a:t>
            </a:r>
            <a:r>
              <a:rPr lang="en-US" altLang="zh-CN" sz="1200" kern="1200" dirty="0" err="1">
                <a:effectLst/>
              </a:rPr>
              <a:t>IndexShare</a:t>
            </a:r>
            <a:r>
              <a:rPr lang="en-US" altLang="zh-CN" sz="1200" kern="1200" dirty="0">
                <a:effectLst/>
              </a:rPr>
              <a:t> </a:t>
            </a:r>
            <a:r>
              <a:rPr lang="en-US" altLang="zh-CN" sz="1200" kern="1200" dirty="0" err="1">
                <a:effectLst/>
              </a:rPr>
              <a:t>和</a:t>
            </a:r>
            <a:r>
              <a:rPr lang="en-US" altLang="zh-CN" sz="1200" kern="1200" dirty="0">
                <a:effectLst/>
              </a:rPr>
              <a:t> </a:t>
            </a:r>
            <a:r>
              <a:rPr lang="en-US" altLang="zh-CN" sz="1200" kern="1200" dirty="0" err="1">
                <a:effectLst/>
              </a:rPr>
              <a:t>KVShare</a:t>
            </a:r>
            <a:r>
              <a:rPr lang="en-US" altLang="zh-CN" sz="1200" kern="1200" dirty="0">
                <a:effectLst/>
              </a:rPr>
              <a:t> </a:t>
            </a:r>
            <a:r>
              <a:rPr lang="en-US" altLang="zh-CN" sz="1200" kern="1200" dirty="0" err="1">
                <a:effectLst/>
              </a:rPr>
              <a:t>复用到多</a:t>
            </a:r>
            <a:r>
              <a:rPr lang="en-US" altLang="zh-CN" sz="1200" kern="1200" dirty="0">
                <a:effectLst/>
              </a:rPr>
              <a:t> token prediction </a:t>
            </a:r>
            <a:r>
              <a:rPr lang="en-US" altLang="zh-CN" sz="1200" kern="1200" dirty="0" err="1">
                <a:effectLst/>
              </a:rPr>
              <a:t>heads，并结合</a:t>
            </a:r>
            <a:r>
              <a:rPr lang="en-US" altLang="zh-CN" sz="1200" kern="1200" dirty="0">
                <a:effectLst/>
              </a:rPr>
              <a:t> rejection sampling </a:t>
            </a:r>
            <a:r>
              <a:rPr lang="en-US" altLang="zh-CN" sz="1200" kern="1200" dirty="0" err="1">
                <a:effectLst/>
              </a:rPr>
              <a:t>与端到端</a:t>
            </a:r>
            <a:r>
              <a:rPr lang="en-US" altLang="zh-CN" sz="1200" kern="1200" dirty="0">
                <a:effectLst/>
              </a:rPr>
              <a:t> total variation </a:t>
            </a:r>
            <a:r>
              <a:rPr lang="en-US" altLang="zh-CN" sz="1200" kern="1200" dirty="0" err="1">
                <a:effectLst/>
              </a:rPr>
              <a:t>loss。官方报告</a:t>
            </a:r>
            <a:r>
              <a:rPr lang="en-US" altLang="zh-CN" sz="1200" kern="1200" dirty="0">
                <a:effectLst/>
              </a:rPr>
              <a:t> acceptance length </a:t>
            </a:r>
            <a:r>
              <a:rPr lang="en-US" altLang="zh-CN" sz="1200" kern="1200" dirty="0" err="1">
                <a:effectLst/>
              </a:rPr>
              <a:t>从</a:t>
            </a:r>
            <a:r>
              <a:rPr lang="en-US" altLang="zh-CN" sz="1200" kern="1200" dirty="0">
                <a:effectLst/>
              </a:rPr>
              <a:t> 4.56 </a:t>
            </a:r>
            <a:r>
              <a:rPr lang="en-US" altLang="zh-CN" sz="1200" kern="1200" dirty="0" err="1">
                <a:effectLst/>
              </a:rPr>
              <a:t>提高到</a:t>
            </a:r>
            <a:r>
              <a:rPr lang="en-US" altLang="zh-CN" sz="1200" kern="1200" dirty="0">
                <a:effectLst/>
              </a:rPr>
              <a:t> 5.47，约提升 20%。</a:t>
            </a:r>
            <a:r>
              <a:rPr lang="en-US" altLang="zh-CN" sz="1200" kern="1200" dirty="0" err="1">
                <a:effectLst/>
              </a:rPr>
              <a:t>这意味着一次验证可以接受更多</a:t>
            </a:r>
            <a:r>
              <a:rPr lang="en-US" altLang="zh-CN" sz="1200" kern="1200" dirty="0">
                <a:effectLst/>
              </a:rPr>
              <a:t> draft tokens。</a:t>
            </a:r>
            <a:endParaRPr lang="zh-CN" altLang="zh-CN" sz="1200" kern="1200" dirty="0">
              <a:effectLst/>
            </a:endParaRPr>
          </a:p>
          <a:p>
            <a:r>
              <a:rPr lang="en-US" altLang="zh-CN" sz="1200" kern="1200" dirty="0" err="1">
                <a:effectLst/>
              </a:rPr>
              <a:t>当</a:t>
            </a:r>
            <a:r>
              <a:rPr lang="en-US" altLang="zh-CN" sz="1200" kern="1200" dirty="0">
                <a:effectLst/>
              </a:rPr>
              <a:t> context </a:t>
            </a:r>
            <a:r>
              <a:rPr lang="en-US" altLang="zh-CN" sz="1200" kern="1200" dirty="0" err="1">
                <a:effectLst/>
              </a:rPr>
              <a:t>达到</a:t>
            </a:r>
            <a:r>
              <a:rPr lang="en-US" altLang="zh-CN" sz="1200" kern="1200" dirty="0">
                <a:effectLst/>
              </a:rPr>
              <a:t> 1M，瓶颈不再只是 attention </a:t>
            </a:r>
            <a:r>
              <a:rPr lang="en-US" altLang="zh-CN" sz="1200" kern="1200" dirty="0" err="1">
                <a:effectLst/>
              </a:rPr>
              <a:t>FLOPs，而会转向</a:t>
            </a:r>
            <a:r>
              <a:rPr lang="en-US" altLang="zh-CN" sz="1200" kern="1200" dirty="0">
                <a:effectLst/>
              </a:rPr>
              <a:t> KV-cache </a:t>
            </a:r>
            <a:r>
              <a:rPr lang="en-US" altLang="zh-CN" sz="1200" kern="1200" dirty="0" err="1">
                <a:effectLst/>
              </a:rPr>
              <a:t>容量与传输、长上下文</a:t>
            </a:r>
            <a:r>
              <a:rPr lang="en-US" altLang="zh-CN" sz="1200" kern="1200" dirty="0">
                <a:effectLst/>
              </a:rPr>
              <a:t> </a:t>
            </a:r>
            <a:r>
              <a:rPr lang="en-US" altLang="zh-CN" sz="1200" kern="1200" dirty="0" err="1">
                <a:effectLst/>
              </a:rPr>
              <a:t>kernel、CPU</a:t>
            </a:r>
            <a:r>
              <a:rPr lang="en-US" altLang="zh-CN" sz="1200" kern="1200" dirty="0">
                <a:effectLst/>
              </a:rPr>
              <a:t> scheduling </a:t>
            </a:r>
            <a:r>
              <a:rPr lang="en-US" altLang="zh-CN" sz="1200" kern="1200" dirty="0" err="1">
                <a:effectLst/>
              </a:rPr>
              <a:t>和</a:t>
            </a:r>
            <a:r>
              <a:rPr lang="en-US" altLang="zh-CN" sz="1200" kern="1200" dirty="0">
                <a:effectLst/>
              </a:rPr>
              <a:t> prefill/decode </a:t>
            </a:r>
            <a:r>
              <a:rPr lang="en-US" altLang="zh-CN" sz="1200" kern="1200" dirty="0" err="1">
                <a:effectLst/>
              </a:rPr>
              <a:t>解耦。因此</a:t>
            </a:r>
            <a:r>
              <a:rPr lang="en-US" altLang="zh-CN" sz="1200" kern="1200" dirty="0">
                <a:effectLst/>
              </a:rPr>
              <a:t> serving </a:t>
            </a:r>
            <a:r>
              <a:rPr lang="en-US" altLang="zh-CN" sz="1200" kern="1200" dirty="0" err="1">
                <a:effectLst/>
              </a:rPr>
              <a:t>需要</a:t>
            </a:r>
            <a:r>
              <a:rPr lang="en-US" altLang="zh-CN" sz="1200" kern="1200" dirty="0">
                <a:effectLst/>
              </a:rPr>
              <a:t> </a:t>
            </a:r>
            <a:r>
              <a:rPr lang="en-US" altLang="zh-CN" sz="1200" kern="1200" dirty="0" err="1">
                <a:effectLst/>
              </a:rPr>
              <a:t>LayerSplit、cache-transfer-aware</a:t>
            </a:r>
            <a:r>
              <a:rPr lang="en-US" altLang="zh-CN" sz="1200" kern="1200" dirty="0">
                <a:effectLst/>
              </a:rPr>
              <a:t> </a:t>
            </a:r>
            <a:r>
              <a:rPr lang="en-US" altLang="zh-CN" sz="1200" kern="1200" dirty="0" err="1">
                <a:effectLst/>
              </a:rPr>
              <a:t>kernel、KV-cache</a:t>
            </a:r>
            <a:r>
              <a:rPr lang="en-US" altLang="zh-CN" sz="1200" kern="1200" dirty="0">
                <a:effectLst/>
              </a:rPr>
              <a:t> FP8 </a:t>
            </a:r>
            <a:r>
              <a:rPr lang="en-US" altLang="zh-CN" sz="1200" kern="1200" dirty="0" err="1">
                <a:effectLst/>
              </a:rPr>
              <a:t>和</a:t>
            </a:r>
            <a:r>
              <a:rPr lang="en-US" altLang="zh-CN" sz="1200" kern="1200" dirty="0">
                <a:effectLst/>
              </a:rPr>
              <a:t> PD </a:t>
            </a:r>
            <a:r>
              <a:rPr lang="en-US" altLang="zh-CN" sz="1200" kern="1200" dirty="0" err="1">
                <a:effectLst/>
              </a:rPr>
              <a:t>解耦等系统优化</a:t>
            </a:r>
            <a:r>
              <a:rPr lang="en-US" altLang="zh-CN" sz="1200" kern="1200" dirty="0">
                <a:effectLst/>
              </a:rPr>
              <a:t>。</a:t>
            </a:r>
            <a:endParaRPr lang="zh-CN" altLang="zh-CN" sz="1200" kern="1200" dirty="0">
              <a:effectLst/>
            </a:endParaRPr>
          </a:p>
          <a:p>
            <a:r>
              <a:rPr lang="en-US" altLang="zh-CN" sz="1200" kern="1200" dirty="0">
                <a:effectLst/>
              </a:rPr>
              <a:t>Anti-hack </a:t>
            </a:r>
            <a:r>
              <a:rPr lang="en-US" altLang="zh-CN" sz="1200" kern="1200" dirty="0" err="1">
                <a:effectLst/>
              </a:rPr>
              <a:t>则是训练稳定性的一部分。系统先用</a:t>
            </a:r>
            <a:r>
              <a:rPr lang="en-US" altLang="zh-CN" sz="1200" kern="1200" dirty="0">
                <a:effectLst/>
              </a:rPr>
              <a:t> rule filter </a:t>
            </a:r>
            <a:r>
              <a:rPr lang="en-US" altLang="zh-CN" sz="1200" kern="1200" dirty="0" err="1">
                <a:effectLst/>
              </a:rPr>
              <a:t>阻断明显违规</a:t>
            </a:r>
            <a:r>
              <a:rPr lang="en-US" altLang="zh-CN" sz="1200" kern="1200" dirty="0">
                <a:effectLst/>
              </a:rPr>
              <a:t> tool </a:t>
            </a:r>
            <a:r>
              <a:rPr lang="en-US" altLang="zh-CN" sz="1200" kern="1200" dirty="0" err="1">
                <a:effectLst/>
              </a:rPr>
              <a:t>call，再用</a:t>
            </a:r>
            <a:r>
              <a:rPr lang="en-US" altLang="zh-CN" sz="1200" kern="1200" dirty="0">
                <a:effectLst/>
              </a:rPr>
              <a:t> LLM intent judge </a:t>
            </a:r>
            <a:r>
              <a:rPr lang="en-US" altLang="zh-CN" sz="1200" kern="1200" dirty="0" err="1">
                <a:effectLst/>
              </a:rPr>
              <a:t>判断潜在投机行为；被阻断后返回</a:t>
            </a:r>
            <a:r>
              <a:rPr lang="en-US" altLang="zh-CN" sz="1200" kern="1200" dirty="0">
                <a:effectLst/>
              </a:rPr>
              <a:t> dummy </a:t>
            </a:r>
            <a:r>
              <a:rPr lang="en-US" altLang="zh-CN" sz="1200" kern="1200" dirty="0" err="1">
                <a:effectLst/>
              </a:rPr>
              <a:t>result，但继续</a:t>
            </a:r>
            <a:r>
              <a:rPr lang="en-US" altLang="zh-CN" sz="1200" kern="1200" dirty="0">
                <a:effectLst/>
              </a:rPr>
              <a:t> </a:t>
            </a:r>
            <a:r>
              <a:rPr lang="en-US" altLang="zh-CN" sz="1200" kern="1200" dirty="0" err="1">
                <a:effectLst/>
              </a:rPr>
              <a:t>rollout。这样既不让模型真正执行</a:t>
            </a:r>
            <a:r>
              <a:rPr lang="en-US" altLang="zh-CN" sz="1200" kern="1200" dirty="0">
                <a:effectLst/>
              </a:rPr>
              <a:t> </a:t>
            </a:r>
            <a:r>
              <a:rPr lang="en-US" altLang="zh-CN" sz="1200" kern="1200" dirty="0" err="1">
                <a:effectLst/>
              </a:rPr>
              <a:t>hack，也保留失败反馈用于后续学习</a:t>
            </a:r>
            <a:r>
              <a:rPr lang="en-US" altLang="zh-CN" sz="1200" kern="1200" dirty="0">
                <a:effectLst/>
              </a:rPr>
              <a:t>。</a:t>
            </a:r>
            <a:endParaRPr lang="zh-CN" altLang="zh-CN" sz="1200" kern="1200" dirty="0">
              <a:effectLst/>
            </a:endParaRPr>
          </a:p>
          <a:p>
            <a:r>
              <a:rPr lang="en-US" altLang="zh-CN" sz="1200" kern="1200" dirty="0" err="1">
                <a:effectLst/>
              </a:rPr>
              <a:t>所以这页的闭环是：MTP</a:t>
            </a:r>
            <a:r>
              <a:rPr lang="en-US" altLang="zh-CN" sz="1200" kern="1200" dirty="0">
                <a:effectLst/>
              </a:rPr>
              <a:t> </a:t>
            </a:r>
            <a:r>
              <a:rPr lang="en-US" altLang="zh-CN" sz="1200" kern="1200" dirty="0" err="1">
                <a:effectLst/>
              </a:rPr>
              <a:t>提高解码效率，serving</a:t>
            </a:r>
            <a:r>
              <a:rPr lang="en-US" altLang="zh-CN" sz="1200" kern="1200" dirty="0">
                <a:effectLst/>
              </a:rPr>
              <a:t> </a:t>
            </a:r>
            <a:r>
              <a:rPr lang="en-US" altLang="zh-CN" sz="1200" kern="1200" dirty="0" err="1">
                <a:effectLst/>
              </a:rPr>
              <a:t>承担</a:t>
            </a:r>
            <a:r>
              <a:rPr lang="en-US" altLang="zh-CN" sz="1200" kern="1200" dirty="0">
                <a:effectLst/>
              </a:rPr>
              <a:t> 1M context </a:t>
            </a:r>
            <a:r>
              <a:rPr lang="en-US" altLang="zh-CN" sz="1200" kern="1200" dirty="0" err="1">
                <a:effectLst/>
              </a:rPr>
              <a:t>的系统瓶颈，anti-hack</a:t>
            </a:r>
            <a:r>
              <a:rPr lang="en-US" altLang="zh-CN" sz="1200" kern="1200" dirty="0">
                <a:effectLst/>
              </a:rPr>
              <a:t> </a:t>
            </a:r>
            <a:r>
              <a:rPr lang="en-US" altLang="zh-CN" sz="1200" kern="1200" dirty="0" err="1">
                <a:effectLst/>
              </a:rPr>
              <a:t>保证长轨迹</a:t>
            </a:r>
            <a:r>
              <a:rPr lang="en-US" altLang="zh-CN" sz="1200" kern="1200" dirty="0">
                <a:effectLst/>
              </a:rPr>
              <a:t> reward </a:t>
            </a:r>
            <a:r>
              <a:rPr lang="en-US" altLang="zh-CN" sz="1200" kern="1200" dirty="0" err="1">
                <a:effectLst/>
              </a:rPr>
              <a:t>不被投机行为劫持</a:t>
            </a:r>
            <a:r>
              <a:rPr lang="en-US" altLang="zh-CN" sz="1200" kern="1200" dirty="0">
                <a:effectLst/>
              </a:rPr>
              <a:t>。</a:t>
            </a:r>
            <a:endParaRPr lang="zh-CN" altLang="zh-CN" sz="1200" kern="1200" dirty="0">
              <a:effectLst/>
            </a:endParaRP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kern="1200" dirty="0" err="1">
                <a:effectLst/>
              </a:rPr>
              <a:t>左侧是</a:t>
            </a:r>
            <a:r>
              <a:rPr lang="en-US" altLang="zh-CN" sz="1200" kern="1200" dirty="0">
                <a:effectLst/>
              </a:rPr>
              <a:t> context management </a:t>
            </a:r>
            <a:r>
              <a:rPr lang="en-US" altLang="zh-CN" sz="1200" kern="1200" dirty="0" err="1">
                <a:effectLst/>
              </a:rPr>
              <a:t>实验。随着步骤增加，简单</a:t>
            </a:r>
            <a:r>
              <a:rPr lang="en-US" altLang="zh-CN" sz="1200" kern="1200" dirty="0">
                <a:effectLst/>
              </a:rPr>
              <a:t> </a:t>
            </a:r>
            <a:r>
              <a:rPr lang="en-US" altLang="zh-CN" sz="1200" kern="1200" dirty="0" err="1">
                <a:effectLst/>
              </a:rPr>
              <a:t>discard、固定步长保留和更合理的</a:t>
            </a:r>
            <a:r>
              <a:rPr lang="en-US" altLang="zh-CN" sz="1200" kern="1200" dirty="0">
                <a:effectLst/>
              </a:rPr>
              <a:t> context strategy </a:t>
            </a:r>
            <a:r>
              <a:rPr lang="en-US" altLang="zh-CN" sz="1200" kern="1200" dirty="0" err="1">
                <a:effectLst/>
              </a:rPr>
              <a:t>表现差距不断扩大；页面总结的</a:t>
            </a:r>
            <a:r>
              <a:rPr lang="en-US" altLang="zh-CN" sz="1200" kern="1200" dirty="0">
                <a:effectLst/>
              </a:rPr>
              <a:t> 55.3、62.0、75.9 </a:t>
            </a:r>
            <a:r>
              <a:rPr lang="en-US" altLang="zh-CN" sz="1200" kern="1200" dirty="0" err="1">
                <a:effectLst/>
              </a:rPr>
              <a:t>说明</a:t>
            </a:r>
            <a:r>
              <a:rPr lang="en-US" altLang="zh-CN" sz="1200" kern="1200" dirty="0">
                <a:effectLst/>
              </a:rPr>
              <a:t> context management </a:t>
            </a:r>
            <a:r>
              <a:rPr lang="en-US" altLang="zh-CN" sz="1200" kern="1200" dirty="0" err="1">
                <a:effectLst/>
              </a:rPr>
              <a:t>本身就是能力组件</a:t>
            </a:r>
            <a:r>
              <a:rPr lang="en-US" altLang="zh-CN" sz="1200" kern="1200" dirty="0">
                <a:effectLst/>
              </a:rPr>
              <a:t>。</a:t>
            </a:r>
            <a:r>
              <a:rPr lang="zh-CN" altLang="zh-CN" sz="1200" kern="1200" dirty="0">
                <a:effectLst/>
              </a:rPr>
              <a:t>尤其超过</a:t>
            </a:r>
            <a:r>
              <a:rPr lang="en-US" altLang="zh-CN" sz="1200" kern="1200" dirty="0">
                <a:effectLst/>
              </a:rPr>
              <a:t> 100k </a:t>
            </a:r>
            <a:r>
              <a:rPr lang="zh-CN" altLang="zh-CN" sz="1200" kern="1200" dirty="0">
                <a:effectLst/>
              </a:rPr>
              <a:t>后，直接堆上下文并不会自动保持准确率。</a:t>
            </a:r>
          </a:p>
          <a:p>
            <a:r>
              <a:rPr lang="zh-CN" altLang="zh-CN" sz="1200" kern="1200" dirty="0">
                <a:effectLst/>
              </a:rPr>
              <a:t>右侧是</a:t>
            </a:r>
            <a:r>
              <a:rPr lang="en-US" altLang="zh-CN" sz="1200" kern="1200" dirty="0">
                <a:effectLst/>
              </a:rPr>
              <a:t> reward hacking</a:t>
            </a:r>
            <a:r>
              <a:rPr lang="zh-CN" altLang="zh-CN" sz="1200" kern="1200" dirty="0">
                <a:effectLst/>
              </a:rPr>
              <a:t>。</a:t>
            </a:r>
            <a:r>
              <a:rPr lang="en-US" altLang="zh-CN" sz="1200" kern="1200" dirty="0">
                <a:effectLst/>
              </a:rPr>
              <a:t>Slide RL </a:t>
            </a:r>
            <a:r>
              <a:rPr lang="zh-CN" altLang="zh-CN" sz="1200" kern="1200" dirty="0">
                <a:effectLst/>
              </a:rPr>
              <a:t>会学会隐藏本应展示的内容，或者通过操纵</a:t>
            </a:r>
            <a:r>
              <a:rPr lang="en-US" altLang="zh-CN" sz="1200" kern="1200" dirty="0">
                <a:effectLst/>
              </a:rPr>
              <a:t> spacing </a:t>
            </a:r>
            <a:r>
              <a:rPr lang="zh-CN" altLang="zh-CN" sz="1200" kern="1200" dirty="0">
                <a:effectLst/>
              </a:rPr>
              <a:t>和</a:t>
            </a:r>
            <a:r>
              <a:rPr lang="en-US" altLang="zh-CN" sz="1200" kern="1200" dirty="0">
                <a:effectLst/>
              </a:rPr>
              <a:t> layout </a:t>
            </a:r>
            <a:r>
              <a:rPr lang="zh-CN" altLang="zh-CN" sz="1200" kern="1200" dirty="0">
                <a:effectLst/>
              </a:rPr>
              <a:t>让自动指标变高，但实际页面质量变差。</a:t>
            </a:r>
          </a:p>
          <a:p>
            <a:r>
              <a:rPr lang="zh-CN" altLang="zh-CN" sz="1200" kern="1200" dirty="0">
                <a:effectLst/>
              </a:rPr>
              <a:t>这两个现象共同说明：长程能力不只是模型记得更多。</a:t>
            </a:r>
            <a:r>
              <a:rPr lang="en-US" altLang="zh-CN" sz="1200" kern="1200" dirty="0">
                <a:effectLst/>
              </a:rPr>
              <a:t>Compaction</a:t>
            </a:r>
            <a:r>
              <a:rPr lang="zh-CN" altLang="zh-CN" sz="1200" kern="1200" dirty="0">
                <a:effectLst/>
              </a:rPr>
              <a:t>、</a:t>
            </a:r>
            <a:r>
              <a:rPr lang="en-US" altLang="zh-CN" sz="1200" kern="1200" dirty="0">
                <a:effectLst/>
              </a:rPr>
              <a:t>runtime render</a:t>
            </a:r>
            <a:r>
              <a:rPr lang="zh-CN" altLang="zh-CN" sz="1200" kern="1200" dirty="0">
                <a:effectLst/>
              </a:rPr>
              <a:t>、</a:t>
            </a:r>
            <a:r>
              <a:rPr lang="en-US" altLang="zh-CN" sz="1200" kern="1200" dirty="0">
                <a:effectLst/>
              </a:rPr>
              <a:t>verifier </a:t>
            </a:r>
            <a:r>
              <a:rPr lang="zh-CN" altLang="zh-CN" sz="1200" kern="1200" dirty="0">
                <a:effectLst/>
              </a:rPr>
              <a:t>和</a:t>
            </a:r>
            <a:r>
              <a:rPr lang="en-US" altLang="zh-CN" sz="1200" kern="1200" dirty="0">
                <a:effectLst/>
              </a:rPr>
              <a:t> anti-hack </a:t>
            </a:r>
            <a:r>
              <a:rPr lang="zh-CN" altLang="zh-CN" sz="1200" kern="1200" dirty="0">
                <a:effectLst/>
              </a:rPr>
              <a:t>都必须进入训练环境，否则模型会利用评测器和系统接口的漏洞。注意这页行为结果来自</a:t>
            </a:r>
            <a:r>
              <a:rPr lang="en-US" altLang="zh-CN" sz="1200" kern="1200" dirty="0">
                <a:effectLst/>
              </a:rPr>
              <a:t> GLM-5 technical report</a:t>
            </a:r>
            <a:r>
              <a:rPr lang="zh-CN" altLang="zh-CN" sz="1200" kern="1200" dirty="0">
                <a:effectLst/>
              </a:rPr>
              <a:t>，不是独立的</a:t>
            </a:r>
            <a:r>
              <a:rPr lang="en-US" altLang="zh-CN" sz="1200" kern="1200" dirty="0">
                <a:effectLst/>
              </a:rPr>
              <a:t> GLM-5.2 report</a:t>
            </a:r>
            <a:r>
              <a:rPr lang="zh-CN" altLang="zh-CN" sz="1200" kern="1200" dirty="0">
                <a:effectLst/>
              </a:rPr>
              <a:t>。</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K3 当前可靠的亮点主要是架构和 agent usage protocol，而不是 RL 算法。</a:t>
            </a:r>
          </a:p>
          <a:p>
            <a:r>
              <a:t>原生视觉让它可用 screenshot feedback 做 vision-in-the-loop 编码与设计。</a:t>
            </a:r>
          </a:p>
          <a:p>
            <a:r>
              <a:t>官方 limitation 还包括 excessive proactiveness，需要更明确的 system prompt / AGENTS.md 边界。</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所有主结论均来自原论文或官方材料。</a:t>
            </a:r>
          </a:p>
          <a:p>
            <a:r>
              <a:t>若需要更深入答疑，可打开附带在工作区中的精读笔记与 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8" Type="http://schemas.openxmlformats.org/officeDocument/2006/relationships/hyperlink" Target="https://arxiv.org/abs/2505.22312" TargetMode="External"/><Relationship Id="rId13" Type="http://schemas.openxmlformats.org/officeDocument/2006/relationships/hyperlink" Target="https://arxiv.org/abs/2507.21848" TargetMode="External"/><Relationship Id="rId3" Type="http://schemas.openxmlformats.org/officeDocument/2006/relationships/image" Target="../media/image4.png"/><Relationship Id="rId7" Type="http://schemas.openxmlformats.org/officeDocument/2006/relationships/hyperlink" Target="https://arxiv.org/abs/2402.03300" TargetMode="External"/><Relationship Id="rId12" Type="http://schemas.openxmlformats.org/officeDocument/2006/relationships/hyperlink" Target="https://arxiv.org/abs/2508.04349"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hyperlink" Target="https://arxiv.org/abs/2506.01347" TargetMode="External"/><Relationship Id="rId5" Type="http://schemas.openxmlformats.org/officeDocument/2006/relationships/image" Target="../media/image6.png"/><Relationship Id="rId15" Type="http://schemas.openxmlformats.org/officeDocument/2006/relationships/image" Target="../media/image8.png"/><Relationship Id="rId10" Type="http://schemas.openxmlformats.org/officeDocument/2006/relationships/hyperlink" Target="https://arxiv.org/abs/2509.02333" TargetMode="External"/><Relationship Id="rId4" Type="http://schemas.openxmlformats.org/officeDocument/2006/relationships/image" Target="../media/image5.png"/><Relationship Id="rId9" Type="http://schemas.openxmlformats.org/officeDocument/2006/relationships/hyperlink" Target="https://arxiv.org/abs/2503.14476" TargetMode="External"/><Relationship Id="rId14" Type="http://schemas.openxmlformats.org/officeDocument/2006/relationships/hyperlink" Target="https://arxiv.org/abs/2510.10150"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2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44.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48.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53.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3497B2C1-17C5-4900-BBD7-C3794BA2C44C}"/>
              </a:ext>
            </a:extLst>
          </p:cNvPr>
          <p:cNvSpPr>
            <a:spLocks noGrp="1"/>
          </p:cNvSpPr>
          <p:nvPr/>
        </p:nvSpPr>
        <p:spPr>
          <a:xfrm>
            <a:off x="419100" y="361950"/>
            <a:ext cx="3238500" cy="266700"/>
          </a:xfrm>
          <a:prstGeom prst="rect">
            <a:avLst/>
          </a:prstGeom>
          <a:noFill/>
          <a:ln w="0">
            <a:noFill/>
            <a:prstDash val="solid"/>
          </a:ln>
        </p:spPr>
        <p:txBody>
          <a:bodyPr wrap="square" lIns="0" tIns="0" rIns="0" bIns="0" anchor="t">
            <a:noAutofit/>
          </a:bodyPr>
          <a:lstStyle/>
          <a:p>
            <a:pPr algn="l">
              <a:buNone/>
              <a:defRPr sz="1125" b="1">
                <a:solidFill>
                  <a:srgbClr val="2787F5"/>
                </a:solidFill>
                <a:latin typeface="Helvetica Neue"/>
                <a:ea typeface="Helvetica Neue"/>
                <a:cs typeface="Helvetica Neue"/>
              </a:defRPr>
            </a:pPr>
            <a:r>
              <a:rPr sz="1125" b="1">
                <a:solidFill>
                  <a:srgbClr val="2787F5"/>
                </a:solidFill>
                <a:latin typeface="Times New Roman"/>
                <a:ea typeface="Times New Roman"/>
                <a:cs typeface="Times New Roman"/>
              </a:rPr>
              <a:t>论文分享 · 2026.07</a:t>
            </a:r>
          </a:p>
        </p:txBody>
      </p:sp>
      <p:sp>
        <p:nvSpPr>
          <p:cNvPr id="2" name="矩形 1">
            <a:extLst>
              <a:ext uri="{FF2B5EF4-FFF2-40B4-BE49-F238E27FC236}">
                <a16:creationId xmlns:a16="http://schemas.microsoft.com/office/drawing/2014/main" id="{22875494-A2F3-49CC-AC4B-8E48C09904D0}"/>
              </a:ext>
            </a:extLst>
          </p:cNvPr>
          <p:cNvSpPr>
            <a:spLocks noGrp="1"/>
          </p:cNvSpPr>
          <p:nvPr/>
        </p:nvSpPr>
        <p:spPr>
          <a:xfrm>
            <a:off x="419100" y="1846305"/>
            <a:ext cx="10726695" cy="1809750"/>
          </a:xfrm>
          <a:prstGeom prst="rect">
            <a:avLst/>
          </a:prstGeom>
          <a:noFill/>
          <a:ln w="0">
            <a:noFill/>
            <a:prstDash val="solid"/>
          </a:ln>
        </p:spPr>
        <p:txBody>
          <a:bodyPr wrap="square" lIns="0" tIns="0" rIns="0" bIns="0" anchor="b">
            <a:noAutofit/>
          </a:bodyPr>
          <a:lstStyle/>
          <a:p>
            <a:pPr algn="l">
              <a:buNone/>
              <a:defRPr sz="4350" b="1">
                <a:solidFill>
                  <a:srgbClr val="101214"/>
                </a:solidFill>
                <a:latin typeface="Hiragino Sans GB"/>
                <a:ea typeface="Hiragino Sans GB"/>
                <a:cs typeface="Hiragino Sans GB"/>
              </a:defRPr>
            </a:pPr>
            <a:r>
              <a:rPr sz="4350" b="1" dirty="0">
                <a:solidFill>
                  <a:srgbClr val="101214"/>
                </a:solidFill>
                <a:latin typeface="Times New Roman"/>
                <a:ea typeface="Times New Roman"/>
                <a:cs typeface="Times New Roman"/>
              </a:rPr>
              <a:t>Agentic RL </a:t>
            </a:r>
            <a:r>
              <a:rPr sz="4350" b="1" dirty="0" err="1">
                <a:solidFill>
                  <a:srgbClr val="101214"/>
                </a:solidFill>
                <a:latin typeface="Times New Roman"/>
                <a:ea typeface="Times New Roman"/>
                <a:cs typeface="Times New Roman"/>
              </a:rPr>
              <a:t>的熵变化机制和训练稳定性</a:t>
            </a:r>
            <a:endParaRPr sz="4350" b="1" dirty="0">
              <a:solidFill>
                <a:srgbClr val="101214"/>
              </a:solidFill>
              <a:latin typeface="Times New Roman"/>
              <a:ea typeface="Times New Roman"/>
              <a:cs typeface="Times New Roman"/>
            </a:endParaRPr>
          </a:p>
        </p:txBody>
      </p:sp>
      <p:sp>
        <p:nvSpPr>
          <p:cNvPr id="4" name="直线连接符 3">
            <a:extLst>
              <a:ext uri="{FF2B5EF4-FFF2-40B4-BE49-F238E27FC236}">
                <a16:creationId xmlns:a16="http://schemas.microsoft.com/office/drawing/2014/main" id="{355D14F0-FD6B-4732-A769-D717C52C4B63}"/>
              </a:ext>
            </a:extLst>
          </p:cNvPr>
          <p:cNvSpPr>
            <a:spLocks noGrp="1"/>
          </p:cNvSpPr>
          <p:nvPr/>
        </p:nvSpPr>
        <p:spPr>
          <a:xfrm>
            <a:off x="419100" y="4762500"/>
            <a:ext cx="7239000" cy="0"/>
          </a:xfrm>
          <a:prstGeom prst="line">
            <a:avLst/>
          </a:prstGeom>
          <a:noFill/>
          <a:ln w="19050">
            <a:solidFill>
              <a:srgbClr val="101214"/>
            </a:solidFill>
            <a:prstDash val="solid"/>
          </a:ln>
        </p:spPr>
      </p:sp>
      <p:sp>
        <p:nvSpPr>
          <p:cNvPr id="5" name="矩形 4">
            <a:extLst>
              <a:ext uri="{FF2B5EF4-FFF2-40B4-BE49-F238E27FC236}">
                <a16:creationId xmlns:a16="http://schemas.microsoft.com/office/drawing/2014/main" id="{CE11D2DC-12BE-4BB1-ADA4-56C4A4E00B6C}"/>
              </a:ext>
            </a:extLst>
          </p:cNvPr>
          <p:cNvSpPr>
            <a:spLocks noGrp="1"/>
          </p:cNvSpPr>
          <p:nvPr/>
        </p:nvSpPr>
        <p:spPr>
          <a:xfrm>
            <a:off x="419100" y="5048250"/>
            <a:ext cx="9334500" cy="342900"/>
          </a:xfrm>
          <a:prstGeom prst="rect">
            <a:avLst/>
          </a:prstGeom>
          <a:noFill/>
          <a:ln w="0">
            <a:noFill/>
            <a:prstDash val="solid"/>
          </a:ln>
        </p:spPr>
        <p:txBody>
          <a:bodyPr wrap="square" lIns="0" tIns="0" rIns="0" bIns="0" anchor="t">
            <a:noAutofit/>
          </a:bodyPr>
          <a:lstStyle/>
          <a:p>
            <a:pPr algn="l">
              <a:buNone/>
              <a:defRPr sz="1350" b="0">
                <a:solidFill>
                  <a:srgbClr val="5E6470"/>
                </a:solidFill>
                <a:latin typeface="Helvetica Neue"/>
                <a:ea typeface="Helvetica Neue"/>
                <a:cs typeface="Helvetica Neue"/>
              </a:defRPr>
            </a:pPr>
            <a:r>
              <a:rPr sz="1350" b="0">
                <a:solidFill>
                  <a:srgbClr val="5E6470"/>
                </a:solidFill>
                <a:latin typeface="Times New Roman"/>
                <a:ea typeface="Times New Roman"/>
                <a:cs typeface="Times New Roman"/>
              </a:rPr>
              <a:t>STEER · RAGEN-2 · T²PO · Agent0-VL · GLM-5.2 · Kimi K3</a:t>
            </a:r>
          </a:p>
        </p:txBody>
      </p:sp>
      <p:sp>
        <p:nvSpPr>
          <p:cNvPr id="6" name="圆角矩形 5">
            <a:extLst>
              <a:ext uri="{FF2B5EF4-FFF2-40B4-BE49-F238E27FC236}">
                <a16:creationId xmlns:a16="http://schemas.microsoft.com/office/drawing/2014/main" id="{C65F8F4B-2E73-4333-B31B-37D4A3090F8B}"/>
              </a:ext>
            </a:extLst>
          </p:cNvPr>
          <p:cNvSpPr>
            <a:spLocks noGrp="1"/>
          </p:cNvSpPr>
          <p:nvPr/>
        </p:nvSpPr>
        <p:spPr>
          <a:xfrm>
            <a:off x="11287125" y="1257300"/>
            <a:ext cx="95250" cy="3790950"/>
          </a:xfrm>
          <a:prstGeom prst="roundRect">
            <a:avLst>
              <a:gd name="adj" fmla="val 50000"/>
            </a:avLst>
          </a:prstGeom>
          <a:solidFill>
            <a:srgbClr val="2787F5"/>
          </a:solidFill>
          <a:ln w="0">
            <a:noFill/>
            <a:prstDash val="solid"/>
          </a:ln>
        </p:spPr>
      </p:sp>
      <p:sp>
        <p:nvSpPr>
          <p:cNvPr id="7" name="矩形 6">
            <a:extLst>
              <a:ext uri="{FF2B5EF4-FFF2-40B4-BE49-F238E27FC236}">
                <a16:creationId xmlns:a16="http://schemas.microsoft.com/office/drawing/2014/main" id="{8800815F-A6E1-44F8-A3BF-14F79E4F88DB}"/>
              </a:ext>
            </a:extLst>
          </p:cNvPr>
          <p:cNvSpPr>
            <a:spLocks noGrp="1"/>
          </p:cNvSpPr>
          <p:nvPr/>
        </p:nvSpPr>
        <p:spPr>
          <a:xfrm>
            <a:off x="11334750" y="6362700"/>
            <a:ext cx="438150" cy="219075"/>
          </a:xfrm>
          <a:prstGeom prst="rect">
            <a:avLst/>
          </a:prstGeom>
          <a:noFill/>
          <a:ln w="0">
            <a:noFill/>
            <a:prstDash val="solid"/>
          </a:ln>
        </p:spPr>
        <p:txBody>
          <a:bodyPr wrap="square" lIns="0" tIns="0" rIns="0" bIns="0" anchor="t">
            <a:noAutofit/>
          </a:bodyPr>
          <a:lstStyle/>
          <a:p>
            <a:pPr algn="r">
              <a:buNone/>
              <a:defRPr sz="825" b="0">
                <a:solidFill>
                  <a:srgbClr val="5E6470"/>
                </a:solidFill>
                <a:latin typeface="Helvetica Neue"/>
                <a:ea typeface="Helvetica Neue"/>
                <a:cs typeface="Helvetica Neue"/>
              </a:defRPr>
            </a:pPr>
            <a:r>
              <a:rPr sz="825" b="0">
                <a:solidFill>
                  <a:srgbClr val="5E6470"/>
                </a:solidFill>
                <a:latin typeface="Helvetica Neue"/>
                <a:ea typeface="Helvetica Neue"/>
                <a:cs typeface="Helvetica Neue"/>
              </a:rPr>
              <a:t>01</a:t>
            </a:r>
          </a:p>
        </p:txBody>
      </p:sp>
    </p:spTree>
    <p:extLst>
      <p:ext uri="{BB962C8B-B14F-4D97-AF65-F5344CB8AC3E}">
        <p14:creationId xmlns:p14="http://schemas.microsoft.com/office/powerpoint/2010/main" val="10710240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矩形 16">
            <a:extLst>
              <a:ext uri="{FF2B5EF4-FFF2-40B4-BE49-F238E27FC236}">
                <a16:creationId xmlns:a16="http://schemas.microsoft.com/office/drawing/2014/main" id="{C14502FB-89CF-4E26-A7C5-19662F57A2E6}"/>
              </a:ext>
            </a:extLst>
          </p:cNvPr>
          <p:cNvSpPr>
            <a:spLocks noGrp="1"/>
          </p:cNvSpPr>
          <p:nvPr/>
        </p:nvSpPr>
        <p:spPr>
          <a:xfrm>
            <a:off x="419100" y="171450"/>
            <a:ext cx="2952750" cy="228600"/>
          </a:xfrm>
          <a:prstGeom prst="rect">
            <a:avLst/>
          </a:prstGeom>
          <a:noFill/>
          <a:ln w="0">
            <a:noFill/>
            <a:prstDash val="solid"/>
          </a:ln>
        </p:spPr>
        <p:txBody>
          <a:bodyPr wrap="square" lIns="0" tIns="0" rIns="0" bIns="0" anchor="t">
            <a:noAutofit/>
          </a:bodyPr>
          <a:lstStyle/>
          <a:p>
            <a:pPr algn="l">
              <a:buNone/>
              <a:defRPr sz="975" b="1">
                <a:solidFill>
                  <a:srgbClr val="5E6470"/>
                </a:solidFill>
                <a:latin typeface="Helvetica Neue"/>
                <a:ea typeface="Helvetica Neue"/>
                <a:cs typeface="Helvetica Neue"/>
              </a:defRPr>
            </a:pPr>
            <a:r>
              <a:rPr sz="975" b="1">
                <a:solidFill>
                  <a:srgbClr val="5E6470"/>
                </a:solidFill>
                <a:latin typeface="Helvetica Neue"/>
                <a:ea typeface="Helvetica Neue"/>
                <a:cs typeface="Helvetica Neue"/>
              </a:rPr>
              <a:t>OPENING · WHY ENTROPY</a:t>
            </a:r>
          </a:p>
        </p:txBody>
      </p:sp>
      <p:sp>
        <p:nvSpPr>
          <p:cNvPr id="2" name="矩形 1">
            <a:extLst>
              <a:ext uri="{FF2B5EF4-FFF2-40B4-BE49-F238E27FC236}">
                <a16:creationId xmlns:a16="http://schemas.microsoft.com/office/drawing/2014/main" id="{534B6FBC-C7BC-4D86-AF7E-5F6B6A0F236A}"/>
              </a:ext>
            </a:extLst>
          </p:cNvPr>
          <p:cNvSpPr>
            <a:spLocks noGrp="1"/>
          </p:cNvSpPr>
          <p:nvPr/>
        </p:nvSpPr>
        <p:spPr>
          <a:xfrm>
            <a:off x="419100" y="409575"/>
            <a:ext cx="11353800" cy="514350"/>
          </a:xfrm>
          <a:prstGeom prst="rect">
            <a:avLst/>
          </a:prstGeom>
          <a:noFill/>
          <a:ln w="0">
            <a:noFill/>
            <a:prstDash val="solid"/>
          </a:ln>
        </p:spPr>
        <p:txBody>
          <a:bodyPr wrap="square" lIns="0" tIns="0" rIns="0" bIns="0" anchor="t">
            <a:noAutofit/>
          </a:bodyPr>
          <a:lstStyle/>
          <a:p>
            <a:pPr algn="l">
              <a:buNone/>
              <a:defRPr sz="2850" b="1">
                <a:solidFill>
                  <a:srgbClr val="101214"/>
                </a:solidFill>
                <a:latin typeface="Hiragino Sans GB"/>
                <a:ea typeface="Hiragino Sans GB"/>
                <a:cs typeface="Hiragino Sans GB"/>
              </a:defRPr>
            </a:pPr>
            <a:r>
              <a:rPr sz="2850" b="1">
                <a:solidFill>
                  <a:srgbClr val="101214"/>
                </a:solidFill>
                <a:latin typeface="Times New Roman"/>
                <a:ea typeface="Times New Roman"/>
                <a:cs typeface="Times New Roman"/>
              </a:rPr>
              <a:t>Agentic RL 训练坍缩现象</a:t>
            </a:r>
          </a:p>
        </p:txBody>
      </p:sp>
      <p:sp>
        <p:nvSpPr>
          <p:cNvPr id="12" name="圆角矩形 11">
            <a:extLst>
              <a:ext uri="{FF2B5EF4-FFF2-40B4-BE49-F238E27FC236}">
                <a16:creationId xmlns:a16="http://schemas.microsoft.com/office/drawing/2014/main" id="{19A1A15B-FF34-4FFD-989D-F8CFF331717F}"/>
              </a:ext>
            </a:extLst>
          </p:cNvPr>
          <p:cNvSpPr>
            <a:spLocks noGrp="1"/>
          </p:cNvSpPr>
          <p:nvPr/>
        </p:nvSpPr>
        <p:spPr>
          <a:xfrm>
            <a:off x="419100" y="5713940"/>
            <a:ext cx="11353800" cy="361950"/>
          </a:xfrm>
          <a:prstGeom prst="roundRect">
            <a:avLst>
              <a:gd name="adj" fmla="val 21053"/>
            </a:avLst>
          </a:prstGeom>
          <a:solidFill>
            <a:srgbClr val="FDEBEC"/>
          </a:solidFill>
          <a:ln w="0">
            <a:noFill/>
            <a:prstDash val="solid"/>
          </a:ln>
        </p:spPr>
        <p:txBody>
          <a:bodyPr/>
          <a:lstStyle/>
          <a:p>
            <a:endParaRPr/>
          </a:p>
        </p:txBody>
      </p:sp>
      <p:sp>
        <p:nvSpPr>
          <p:cNvPr id="13" name="矩形 12">
            <a:extLst>
              <a:ext uri="{FF2B5EF4-FFF2-40B4-BE49-F238E27FC236}">
                <a16:creationId xmlns:a16="http://schemas.microsoft.com/office/drawing/2014/main" id="{196017E9-62F9-41A6-A43B-5FABE69A38EA}"/>
              </a:ext>
            </a:extLst>
          </p:cNvPr>
          <p:cNvSpPr>
            <a:spLocks noGrp="1"/>
          </p:cNvSpPr>
          <p:nvPr/>
        </p:nvSpPr>
        <p:spPr>
          <a:xfrm>
            <a:off x="609600" y="5790140"/>
            <a:ext cx="10972800" cy="209550"/>
          </a:xfrm>
          <a:prstGeom prst="rect">
            <a:avLst/>
          </a:prstGeom>
          <a:noFill/>
          <a:ln w="0">
            <a:noFill/>
            <a:prstDash val="solid"/>
          </a:ln>
        </p:spPr>
        <p:txBody>
          <a:bodyPr wrap="square" lIns="0" tIns="0" rIns="0" bIns="0" anchor="t">
            <a:noAutofit/>
          </a:bodyPr>
          <a:lstStyle/>
          <a:p>
            <a:pPr algn="ctr">
              <a:buNone/>
              <a:defRPr sz="1163" b="0">
                <a:solidFill>
                  <a:srgbClr val="D94C4C"/>
                </a:solidFill>
                <a:latin typeface="Hiragino Sans GB"/>
                <a:ea typeface="Hiragino Sans GB"/>
                <a:cs typeface="Hiragino Sans GB"/>
              </a:defRPr>
            </a:pPr>
            <a:r>
              <a:rPr sz="1163">
                <a:solidFill>
                  <a:srgbClr val="D94C4C"/>
                </a:solidFill>
                <a:latin typeface="Times New Roman"/>
                <a:ea typeface="Times New Roman"/>
                <a:cs typeface="Times New Roman"/>
              </a:rPr>
              <a:t>在LLM中，token entropy作为LLM分布diversity的指标，能够侧面反映LLM的生成行为</a:t>
            </a:r>
          </a:p>
        </p:txBody>
      </p:sp>
      <p:sp>
        <p:nvSpPr>
          <p:cNvPr id="14" name="直线连接符 13">
            <a:extLst>
              <a:ext uri="{FF2B5EF4-FFF2-40B4-BE49-F238E27FC236}">
                <a16:creationId xmlns:a16="http://schemas.microsoft.com/office/drawing/2014/main" id="{E55F7556-5F43-4F5F-A68E-F4ED8D782A04}"/>
              </a:ext>
            </a:extLst>
          </p:cNvPr>
          <p:cNvSpPr>
            <a:spLocks noGrp="1"/>
          </p:cNvSpPr>
          <p:nvPr/>
        </p:nvSpPr>
        <p:spPr>
          <a:xfrm>
            <a:off x="419100" y="6636457"/>
            <a:ext cx="11353800" cy="0"/>
          </a:xfrm>
          <a:prstGeom prst="line">
            <a:avLst/>
          </a:prstGeom>
          <a:noFill/>
          <a:ln w="9525">
            <a:solidFill>
              <a:srgbClr val="B8BCC4"/>
            </a:solidFill>
            <a:prstDash val="solid"/>
          </a:ln>
        </p:spPr>
      </p:sp>
      <p:sp>
        <p:nvSpPr>
          <p:cNvPr id="15" name="矩形 14">
            <a:extLst>
              <a:ext uri="{FF2B5EF4-FFF2-40B4-BE49-F238E27FC236}">
                <a16:creationId xmlns:a16="http://schemas.microsoft.com/office/drawing/2014/main" id="{5F4DAFFC-51FC-46F4-B495-276741623A64}"/>
              </a:ext>
            </a:extLst>
          </p:cNvPr>
          <p:cNvSpPr>
            <a:spLocks noGrp="1"/>
          </p:cNvSpPr>
          <p:nvPr/>
        </p:nvSpPr>
        <p:spPr>
          <a:xfrm>
            <a:off x="419100" y="6469595"/>
            <a:ext cx="10763250" cy="219075"/>
          </a:xfrm>
          <a:prstGeom prst="rect">
            <a:avLst/>
          </a:prstGeom>
          <a:noFill/>
          <a:ln w="0">
            <a:noFill/>
            <a:prstDash val="solid"/>
          </a:ln>
        </p:spPr>
        <p:txBody>
          <a:bodyPr wrap="square" lIns="0" tIns="0" rIns="0" bIns="0" anchor="t">
            <a:noAutofit/>
          </a:bodyPr>
          <a:lstStyle/>
          <a:p>
            <a:pPr algn="l">
              <a:buNone/>
              <a:defRPr sz="788" b="0">
                <a:solidFill>
                  <a:srgbClr val="5E6470"/>
                </a:solidFill>
                <a:latin typeface="Helvetica Neue"/>
                <a:ea typeface="Helvetica Neue"/>
                <a:cs typeface="Helvetica Neue"/>
              </a:defRPr>
            </a:pPr>
            <a:r>
              <a:rPr sz="788" b="0">
                <a:solidFill>
                  <a:srgbClr val="5E6470"/>
                </a:solidFill>
                <a:latin typeface="Times New Roman"/>
                <a:ea typeface="Times New Roman"/>
                <a:cs typeface="Times New Roman"/>
              </a:rPr>
              <a:t>Sources: Flexible Entropy Control in RLVR, arXiv:2602.09782, Fig. 6 · PAEC, arXiv:2606.08543, Fig. 2（两文均明确讨论 policy entropy collapse）</a:t>
            </a:r>
          </a:p>
        </p:txBody>
      </p:sp>
      <p:sp>
        <p:nvSpPr>
          <p:cNvPr id="16" name="矩形 15">
            <a:extLst>
              <a:ext uri="{FF2B5EF4-FFF2-40B4-BE49-F238E27FC236}">
                <a16:creationId xmlns:a16="http://schemas.microsoft.com/office/drawing/2014/main" id="{28F3AE1B-ED9B-4C2C-97B8-BBB37EEF8CD9}"/>
              </a:ext>
            </a:extLst>
          </p:cNvPr>
          <p:cNvSpPr>
            <a:spLocks noGrp="1"/>
          </p:cNvSpPr>
          <p:nvPr/>
        </p:nvSpPr>
        <p:spPr>
          <a:xfrm>
            <a:off x="11334750" y="6532035"/>
            <a:ext cx="438150" cy="219075"/>
          </a:xfrm>
          <a:prstGeom prst="rect">
            <a:avLst/>
          </a:prstGeom>
          <a:noFill/>
          <a:ln w="0">
            <a:noFill/>
            <a:prstDash val="solid"/>
          </a:ln>
        </p:spPr>
        <p:txBody>
          <a:bodyPr wrap="square" lIns="0" tIns="0" rIns="0" bIns="0" anchor="t">
            <a:noAutofit/>
          </a:bodyPr>
          <a:lstStyle/>
          <a:p>
            <a:pPr algn="r">
              <a:buNone/>
              <a:defRPr sz="825" b="0">
                <a:solidFill>
                  <a:srgbClr val="5E6470"/>
                </a:solidFill>
                <a:latin typeface="Helvetica Neue"/>
                <a:ea typeface="Helvetica Neue"/>
                <a:cs typeface="Helvetica Neue"/>
              </a:defRPr>
            </a:pPr>
            <a:r>
              <a:rPr sz="825" b="0">
                <a:solidFill>
                  <a:srgbClr val="5E6470"/>
                </a:solidFill>
                <a:latin typeface="Helvetica Neue"/>
                <a:ea typeface="Helvetica Neue"/>
                <a:cs typeface="Helvetica Neue"/>
              </a:rPr>
              <a:t>02</a:t>
            </a:r>
          </a:p>
        </p:txBody>
      </p:sp>
      <p:pic>
        <p:nvPicPr>
          <p:cNvPr id="30" name="图片 17"/>
          <p:cNvPicPr>
            <a:picLocks noChangeAspect="1"/>
          </p:cNvPicPr>
          <p:nvPr/>
        </p:nvPicPr>
        <p:blipFill rotWithShape="1">
          <a:blip r:embed="rId3"/>
          <a:srcRect l="1036" t="14479" r="-1" b="1915"/>
          <a:stretch>
            <a:fillRect/>
          </a:stretch>
        </p:blipFill>
        <p:spPr>
          <a:xfrm>
            <a:off x="3530600" y="2073298"/>
            <a:ext cx="8336602" cy="3059511"/>
          </a:xfrm>
          <a:prstGeom prst="rect">
            <a:avLst/>
          </a:prstGeom>
        </p:spPr>
      </p:pic>
      <p:sp>
        <p:nvSpPr>
          <p:cNvPr id="18" name="文本框 17">
            <a:extLst>
              <a:ext uri="{FF2B5EF4-FFF2-40B4-BE49-F238E27FC236}">
                <a16:creationId xmlns:a16="http://schemas.microsoft.com/office/drawing/2014/main" id="{80F7501E-917E-0D68-6A7A-622FBC24F7DC}"/>
              </a:ext>
            </a:extLst>
          </p:cNvPr>
          <p:cNvSpPr>
            <a:spLocks noGrp="1"/>
          </p:cNvSpPr>
          <p:nvPr/>
        </p:nvSpPr>
        <p:spPr>
          <a:xfrm>
            <a:off x="419100" y="1069272"/>
            <a:ext cx="11089446" cy="369332"/>
          </a:xfrm>
          <a:prstGeom prst="rect">
            <a:avLst/>
          </a:prstGeom>
          <a:noFill/>
        </p:spPr>
        <p:txBody>
          <a:bodyPr wrap="none">
            <a:spAutoFit/>
          </a:bodyPr>
          <a:lstStyle/>
          <a:p>
            <a:r>
              <a:t>Agentic RL的训练容易出现不稳定现象，其原因很多，其中一条是由于模型输出越来越确定导致的模式坍缩</a:t>
            </a:r>
          </a:p>
        </p:txBody>
      </p:sp>
      <p:sp>
        <p:nvSpPr>
          <p:cNvPr id="21" name="文本框 20">
            <a:extLst>
              <a:ext uri="{FF2B5EF4-FFF2-40B4-BE49-F238E27FC236}">
                <a16:creationId xmlns:a16="http://schemas.microsoft.com/office/drawing/2014/main" id="{74975181-A9B9-9DC3-D93F-A7380D3202B1}"/>
              </a:ext>
            </a:extLst>
          </p:cNvPr>
          <p:cNvSpPr>
            <a:spLocks noGrp="1"/>
          </p:cNvSpPr>
          <p:nvPr/>
        </p:nvSpPr>
        <p:spPr>
          <a:xfrm>
            <a:off x="324798" y="3141388"/>
            <a:ext cx="2997424" cy="923330"/>
          </a:xfrm>
          <a:prstGeom prst="rect">
            <a:avLst/>
          </a:prstGeom>
          <a:noFill/>
        </p:spPr>
        <p:txBody>
          <a:bodyPr wrap="none">
            <a:spAutoFit/>
          </a:bodyPr>
          <a:lstStyle/>
          <a:p>
            <a:pPr marL="342900" indent="-342900">
              <a:buAutoNum type="arabicPeriod"/>
            </a:pPr>
            <a:r>
              <a:t>模型的探索行为减少</a:t>
            </a:r>
          </a:p>
          <a:p>
            <a:pPr marL="342900" indent="-342900">
              <a:buAutoNum type="arabicPeriod"/>
            </a:pPr>
            <a:r>
              <a:t>Group-wise算法优化失效</a:t>
            </a:r>
          </a:p>
          <a:p>
            <a:pPr marL="342900" indent="-342900">
              <a:buAutoNum type="arabicPeriod"/>
            </a:pPr>
            <a:r>
              <a:t>模型陷入局部最优</a:t>
            </a:r>
          </a:p>
        </p:txBody>
      </p:sp>
    </p:spTree>
    <p:extLst>
      <p:ext uri="{BB962C8B-B14F-4D97-AF65-F5344CB8AC3E}">
        <p14:creationId xmlns:p14="http://schemas.microsoft.com/office/powerpoint/2010/main" val="5612648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CF6A8E52-71D6-4251-93B9-3B480D398953}"/>
              </a:ext>
            </a:extLst>
          </p:cNvPr>
          <p:cNvSpPr>
            <a:spLocks noGrp="1"/>
          </p:cNvSpPr>
          <p:nvPr/>
        </p:nvSpPr>
        <p:spPr>
          <a:xfrm>
            <a:off x="419100" y="171450"/>
            <a:ext cx="2952750" cy="228600"/>
          </a:xfrm>
          <a:prstGeom prst="rect">
            <a:avLst/>
          </a:prstGeom>
          <a:noFill/>
          <a:ln w="0">
            <a:noFill/>
            <a:prstDash val="solid"/>
          </a:ln>
        </p:spPr>
        <p:txBody>
          <a:bodyPr wrap="square" lIns="0" tIns="0" rIns="0" bIns="0" anchor="t">
            <a:noAutofit/>
          </a:bodyPr>
          <a:lstStyle/>
          <a:p>
            <a:pPr algn="l">
              <a:buNone/>
              <a:defRPr sz="975" b="1">
                <a:solidFill>
                  <a:srgbClr val="5E6470"/>
                </a:solidFill>
                <a:latin typeface="Helvetica Neue"/>
                <a:ea typeface="Helvetica Neue"/>
                <a:cs typeface="Helvetica Neue"/>
              </a:defRPr>
            </a:pPr>
            <a:r>
              <a:rPr sz="975" b="1">
                <a:solidFill>
                  <a:srgbClr val="5E6470"/>
                </a:solidFill>
                <a:latin typeface="Helvetica Neue"/>
                <a:ea typeface="Helvetica Neue"/>
                <a:cs typeface="Helvetica Neue"/>
              </a:rPr>
              <a:t>ROADMAP</a:t>
            </a:r>
          </a:p>
        </p:txBody>
      </p:sp>
      <p:sp>
        <p:nvSpPr>
          <p:cNvPr id="2" name="矩形 1">
            <a:extLst>
              <a:ext uri="{FF2B5EF4-FFF2-40B4-BE49-F238E27FC236}">
                <a16:creationId xmlns:a16="http://schemas.microsoft.com/office/drawing/2014/main" id="{867B3751-7AA0-4549-9C8A-16957DD154C5}"/>
              </a:ext>
            </a:extLst>
          </p:cNvPr>
          <p:cNvSpPr>
            <a:spLocks noGrp="1"/>
          </p:cNvSpPr>
          <p:nvPr/>
        </p:nvSpPr>
        <p:spPr>
          <a:xfrm>
            <a:off x="419100" y="409575"/>
            <a:ext cx="11353800" cy="514350"/>
          </a:xfrm>
          <a:prstGeom prst="rect">
            <a:avLst/>
          </a:prstGeom>
          <a:noFill/>
          <a:ln w="0">
            <a:noFill/>
            <a:prstDash val="solid"/>
          </a:ln>
        </p:spPr>
        <p:txBody>
          <a:bodyPr wrap="square" lIns="0" tIns="0" rIns="0" bIns="0" anchor="t">
            <a:noAutofit/>
          </a:bodyPr>
          <a:lstStyle/>
          <a:p>
            <a:pPr algn="l">
              <a:buNone/>
              <a:defRPr sz="2850" b="1">
                <a:solidFill>
                  <a:srgbClr val="101214"/>
                </a:solidFill>
                <a:latin typeface="Hiragino Sans GB"/>
                <a:ea typeface="Hiragino Sans GB"/>
                <a:cs typeface="Hiragino Sans GB"/>
              </a:defRPr>
            </a:pPr>
            <a:r>
              <a:rPr sz="2850" b="1">
                <a:solidFill>
                  <a:srgbClr val="101214"/>
                </a:solidFill>
                <a:latin typeface="Hiragino Sans GB"/>
                <a:ea typeface="Hiragino Sans GB"/>
                <a:cs typeface="Hiragino Sans GB"/>
              </a:rPr>
              <a:t>目录</a:t>
            </a:r>
          </a:p>
        </p:txBody>
      </p:sp>
      <p:sp>
        <p:nvSpPr>
          <p:cNvPr id="3" name="直线连接符 2">
            <a:extLst>
              <a:ext uri="{FF2B5EF4-FFF2-40B4-BE49-F238E27FC236}">
                <a16:creationId xmlns:a16="http://schemas.microsoft.com/office/drawing/2014/main" id="{832D291B-79C5-41BC-99A7-6A027F1B77FE}"/>
              </a:ext>
            </a:extLst>
          </p:cNvPr>
          <p:cNvSpPr>
            <a:spLocks noGrp="1"/>
          </p:cNvSpPr>
          <p:nvPr/>
        </p:nvSpPr>
        <p:spPr>
          <a:xfrm>
            <a:off x="419100" y="1352550"/>
            <a:ext cx="11353800" cy="0"/>
          </a:xfrm>
          <a:prstGeom prst="line">
            <a:avLst/>
          </a:prstGeom>
          <a:noFill/>
          <a:ln w="19050">
            <a:solidFill>
              <a:srgbClr val="101214"/>
            </a:solidFill>
            <a:prstDash val="solid"/>
          </a:ln>
        </p:spPr>
      </p:sp>
      <p:sp>
        <p:nvSpPr>
          <p:cNvPr id="4" name="矩形 3">
            <a:extLst>
              <a:ext uri="{FF2B5EF4-FFF2-40B4-BE49-F238E27FC236}">
                <a16:creationId xmlns:a16="http://schemas.microsoft.com/office/drawing/2014/main" id="{7C00E4D2-E096-42D8-A54E-A55C81D74FDE}"/>
              </a:ext>
            </a:extLst>
          </p:cNvPr>
          <p:cNvSpPr>
            <a:spLocks noGrp="1"/>
          </p:cNvSpPr>
          <p:nvPr/>
        </p:nvSpPr>
        <p:spPr>
          <a:xfrm>
            <a:off x="419100" y="1524000"/>
            <a:ext cx="952500" cy="457200"/>
          </a:xfrm>
          <a:prstGeom prst="rect">
            <a:avLst/>
          </a:prstGeom>
          <a:noFill/>
          <a:ln w="0">
            <a:noFill/>
            <a:prstDash val="solid"/>
          </a:ln>
        </p:spPr>
        <p:txBody>
          <a:bodyPr wrap="square" lIns="0" tIns="0" rIns="0" bIns="0" anchor="t">
            <a:noAutofit/>
          </a:bodyPr>
          <a:lstStyle/>
          <a:p>
            <a:pPr algn="l">
              <a:buNone/>
              <a:defRPr sz="2100" b="1">
                <a:solidFill>
                  <a:srgbClr val="2787F5"/>
                </a:solidFill>
                <a:latin typeface="Helvetica Neue"/>
                <a:ea typeface="Helvetica Neue"/>
                <a:cs typeface="Helvetica Neue"/>
              </a:defRPr>
            </a:pPr>
            <a:r>
              <a:rPr sz="2100" b="1">
                <a:solidFill>
                  <a:srgbClr val="2787F5"/>
                </a:solidFill>
                <a:latin typeface="Helvetica Neue"/>
                <a:ea typeface="Helvetica Neue"/>
                <a:cs typeface="Helvetica Neue"/>
              </a:rPr>
              <a:t>01</a:t>
            </a:r>
          </a:p>
        </p:txBody>
      </p:sp>
      <p:sp>
        <p:nvSpPr>
          <p:cNvPr id="5" name="矩形 4">
            <a:extLst>
              <a:ext uri="{FF2B5EF4-FFF2-40B4-BE49-F238E27FC236}">
                <a16:creationId xmlns:a16="http://schemas.microsoft.com/office/drawing/2014/main" id="{56581508-5E10-4C26-BAE9-65756B16A2B9}"/>
              </a:ext>
            </a:extLst>
          </p:cNvPr>
          <p:cNvSpPr>
            <a:spLocks noGrp="1"/>
          </p:cNvSpPr>
          <p:nvPr/>
        </p:nvSpPr>
        <p:spPr>
          <a:xfrm>
            <a:off x="1619250" y="1504950"/>
            <a:ext cx="5334000" cy="457200"/>
          </a:xfrm>
          <a:prstGeom prst="rect">
            <a:avLst/>
          </a:prstGeom>
          <a:noFill/>
          <a:ln w="0">
            <a:noFill/>
            <a:prstDash val="solid"/>
          </a:ln>
        </p:spPr>
        <p:txBody>
          <a:bodyPr wrap="square" lIns="0" tIns="0" rIns="0" bIns="0" anchor="t">
            <a:noAutofit/>
          </a:bodyPr>
          <a:lstStyle/>
          <a:p>
            <a:pPr algn="l">
              <a:buNone/>
              <a:defRPr sz="2100" b="1">
                <a:solidFill>
                  <a:srgbClr val="101214"/>
                </a:solidFill>
                <a:latin typeface="Hiragino Sans GB"/>
                <a:ea typeface="Hiragino Sans GB"/>
                <a:cs typeface="Hiragino Sans GB"/>
              </a:defRPr>
            </a:pPr>
            <a:r>
              <a:rPr sz="2100" b="1">
                <a:solidFill>
                  <a:srgbClr val="101214"/>
                </a:solidFill>
                <a:latin typeface="Times New Roman"/>
                <a:ea typeface="Times New Roman"/>
                <a:cs typeface="Times New Roman"/>
              </a:rPr>
              <a:t>机制：Agentic RL中entropy如何变化</a:t>
            </a:r>
          </a:p>
        </p:txBody>
      </p:sp>
      <p:sp>
        <p:nvSpPr>
          <p:cNvPr id="6" name="矩形 5">
            <a:extLst>
              <a:ext uri="{FF2B5EF4-FFF2-40B4-BE49-F238E27FC236}">
                <a16:creationId xmlns:a16="http://schemas.microsoft.com/office/drawing/2014/main" id="{4BFDD4A6-132C-440F-997A-49C478233C1A}"/>
              </a:ext>
            </a:extLst>
          </p:cNvPr>
          <p:cNvSpPr>
            <a:spLocks noGrp="1"/>
          </p:cNvSpPr>
          <p:nvPr/>
        </p:nvSpPr>
        <p:spPr>
          <a:xfrm>
            <a:off x="7143750" y="1543050"/>
            <a:ext cx="4286250" cy="533400"/>
          </a:xfrm>
          <a:prstGeom prst="rect">
            <a:avLst/>
          </a:prstGeom>
          <a:noFill/>
          <a:ln w="0">
            <a:noFill/>
            <a:prstDash val="solid"/>
          </a:ln>
        </p:spPr>
        <p:txBody>
          <a:bodyPr wrap="square" lIns="0" tIns="0" rIns="0" bIns="0" anchor="t">
            <a:noAutofit/>
          </a:bodyPr>
          <a:lstStyle/>
          <a:p>
            <a:pPr algn="l">
              <a:buNone/>
              <a:defRPr sz="1275" b="0">
                <a:solidFill>
                  <a:srgbClr val="5E6470"/>
                </a:solidFill>
                <a:latin typeface="Helvetica Neue"/>
                <a:ea typeface="Helvetica Neue"/>
                <a:cs typeface="Helvetica Neue"/>
              </a:defRPr>
            </a:pPr>
            <a:r>
              <a:rPr sz="1275" b="0">
                <a:solidFill>
                  <a:srgbClr val="5E6470"/>
                </a:solidFill>
                <a:latin typeface="Times New Roman"/>
                <a:ea typeface="Times New Roman"/>
                <a:cs typeface="Times New Roman"/>
              </a:rPr>
              <a:t>STEER + RAGEN-2：ΔH、MI、reward SNR</a:t>
            </a:r>
          </a:p>
        </p:txBody>
      </p:sp>
      <p:sp>
        <p:nvSpPr>
          <p:cNvPr id="7" name="直线连接符 6">
            <a:extLst>
              <a:ext uri="{FF2B5EF4-FFF2-40B4-BE49-F238E27FC236}">
                <a16:creationId xmlns:a16="http://schemas.microsoft.com/office/drawing/2014/main" id="{1453A280-6925-4673-84D5-B7E6064DDC27}"/>
              </a:ext>
            </a:extLst>
          </p:cNvPr>
          <p:cNvSpPr>
            <a:spLocks noGrp="1"/>
          </p:cNvSpPr>
          <p:nvPr/>
        </p:nvSpPr>
        <p:spPr>
          <a:xfrm>
            <a:off x="419100" y="2705100"/>
            <a:ext cx="11353800" cy="0"/>
          </a:xfrm>
          <a:prstGeom prst="line">
            <a:avLst/>
          </a:prstGeom>
          <a:noFill/>
          <a:ln w="9525">
            <a:solidFill>
              <a:srgbClr val="B8BCC4"/>
            </a:solidFill>
            <a:prstDash val="solid"/>
          </a:ln>
        </p:spPr>
      </p:sp>
      <p:sp>
        <p:nvSpPr>
          <p:cNvPr id="8" name="矩形 7">
            <a:extLst>
              <a:ext uri="{FF2B5EF4-FFF2-40B4-BE49-F238E27FC236}">
                <a16:creationId xmlns:a16="http://schemas.microsoft.com/office/drawing/2014/main" id="{42F276B3-54D1-439E-838D-CE3285D924BA}"/>
              </a:ext>
            </a:extLst>
          </p:cNvPr>
          <p:cNvSpPr>
            <a:spLocks noGrp="1"/>
          </p:cNvSpPr>
          <p:nvPr/>
        </p:nvSpPr>
        <p:spPr>
          <a:xfrm>
            <a:off x="419100" y="2876550"/>
            <a:ext cx="952500" cy="457200"/>
          </a:xfrm>
          <a:prstGeom prst="rect">
            <a:avLst/>
          </a:prstGeom>
          <a:noFill/>
          <a:ln w="0">
            <a:noFill/>
            <a:prstDash val="solid"/>
          </a:ln>
        </p:spPr>
        <p:txBody>
          <a:bodyPr wrap="square" lIns="0" tIns="0" rIns="0" bIns="0" anchor="t">
            <a:noAutofit/>
          </a:bodyPr>
          <a:lstStyle/>
          <a:p>
            <a:pPr algn="l">
              <a:buNone/>
              <a:defRPr sz="2100" b="1">
                <a:solidFill>
                  <a:srgbClr val="2787F5"/>
                </a:solidFill>
                <a:latin typeface="Helvetica Neue"/>
                <a:ea typeface="Helvetica Neue"/>
                <a:cs typeface="Helvetica Neue"/>
              </a:defRPr>
            </a:pPr>
            <a:r>
              <a:rPr sz="2100" b="1">
                <a:solidFill>
                  <a:srgbClr val="2787F5"/>
                </a:solidFill>
                <a:latin typeface="Helvetica Neue"/>
                <a:ea typeface="Helvetica Neue"/>
                <a:cs typeface="Helvetica Neue"/>
              </a:rPr>
              <a:t>02</a:t>
            </a:r>
          </a:p>
        </p:txBody>
      </p:sp>
      <p:sp>
        <p:nvSpPr>
          <p:cNvPr id="9" name="矩形 8">
            <a:extLst>
              <a:ext uri="{FF2B5EF4-FFF2-40B4-BE49-F238E27FC236}">
                <a16:creationId xmlns:a16="http://schemas.microsoft.com/office/drawing/2014/main" id="{712101C2-8BCD-4CA4-84FF-E5E246FF123A}"/>
              </a:ext>
            </a:extLst>
          </p:cNvPr>
          <p:cNvSpPr>
            <a:spLocks noGrp="1"/>
          </p:cNvSpPr>
          <p:nvPr/>
        </p:nvSpPr>
        <p:spPr>
          <a:xfrm>
            <a:off x="1619250" y="2857500"/>
            <a:ext cx="5334000" cy="457200"/>
          </a:xfrm>
          <a:prstGeom prst="rect">
            <a:avLst/>
          </a:prstGeom>
          <a:noFill/>
          <a:ln w="0">
            <a:noFill/>
            <a:prstDash val="solid"/>
          </a:ln>
        </p:spPr>
        <p:txBody>
          <a:bodyPr wrap="square" lIns="0" tIns="0" rIns="0" bIns="0" anchor="t">
            <a:noAutofit/>
          </a:bodyPr>
          <a:lstStyle/>
          <a:p>
            <a:pPr algn="l">
              <a:buNone/>
              <a:defRPr sz="2100" b="1">
                <a:solidFill>
                  <a:srgbClr val="101214"/>
                </a:solidFill>
                <a:latin typeface="Hiragino Sans GB"/>
                <a:ea typeface="Hiragino Sans GB"/>
                <a:cs typeface="Hiragino Sans GB"/>
              </a:defRPr>
            </a:pPr>
            <a:r>
              <a:rPr sz="2100" b="1">
                <a:solidFill>
                  <a:srgbClr val="101214"/>
                </a:solidFill>
                <a:latin typeface="Times New Roman"/>
                <a:ea typeface="Times New Roman"/>
                <a:cs typeface="Times New Roman"/>
              </a:rPr>
              <a:t>算法：Uncertainty如何提升算法性能</a:t>
            </a:r>
          </a:p>
        </p:txBody>
      </p:sp>
      <p:sp>
        <p:nvSpPr>
          <p:cNvPr id="10" name="矩形 9">
            <a:extLst>
              <a:ext uri="{FF2B5EF4-FFF2-40B4-BE49-F238E27FC236}">
                <a16:creationId xmlns:a16="http://schemas.microsoft.com/office/drawing/2014/main" id="{E33ACED2-CE15-40A1-BDCE-68779D6189F4}"/>
              </a:ext>
            </a:extLst>
          </p:cNvPr>
          <p:cNvSpPr>
            <a:spLocks noGrp="1"/>
          </p:cNvSpPr>
          <p:nvPr/>
        </p:nvSpPr>
        <p:spPr>
          <a:xfrm>
            <a:off x="7143750" y="2895600"/>
            <a:ext cx="4286250" cy="533400"/>
          </a:xfrm>
          <a:prstGeom prst="rect">
            <a:avLst/>
          </a:prstGeom>
          <a:noFill/>
          <a:ln w="0">
            <a:noFill/>
            <a:prstDash val="solid"/>
          </a:ln>
        </p:spPr>
        <p:txBody>
          <a:bodyPr wrap="square" lIns="0" tIns="0" rIns="0" bIns="0" anchor="t">
            <a:noAutofit/>
          </a:bodyPr>
          <a:lstStyle/>
          <a:p>
            <a:pPr algn="l">
              <a:buNone/>
              <a:defRPr sz="1275" b="0">
                <a:solidFill>
                  <a:srgbClr val="5E6470"/>
                </a:solidFill>
                <a:latin typeface="Helvetica Neue"/>
                <a:ea typeface="Helvetica Neue"/>
                <a:cs typeface="Helvetica Neue"/>
              </a:defRPr>
            </a:pPr>
            <a:r>
              <a:rPr sz="1275" b="0">
                <a:solidFill>
                  <a:srgbClr val="5E6470"/>
                </a:solidFill>
                <a:latin typeface="Times New Roman"/>
                <a:ea typeface="Times New Roman"/>
                <a:cs typeface="Times New Roman"/>
              </a:rPr>
              <a:t>T²PO + Agent0-VL：rollout controller 与 tool-grounded verifier</a:t>
            </a:r>
          </a:p>
        </p:txBody>
      </p:sp>
      <p:sp>
        <p:nvSpPr>
          <p:cNvPr id="11" name="直线连接符 10">
            <a:extLst>
              <a:ext uri="{FF2B5EF4-FFF2-40B4-BE49-F238E27FC236}">
                <a16:creationId xmlns:a16="http://schemas.microsoft.com/office/drawing/2014/main" id="{D7A04D50-2EB4-4E61-B3FA-C29E6267B8D5}"/>
              </a:ext>
            </a:extLst>
          </p:cNvPr>
          <p:cNvSpPr>
            <a:spLocks noGrp="1"/>
          </p:cNvSpPr>
          <p:nvPr/>
        </p:nvSpPr>
        <p:spPr>
          <a:xfrm>
            <a:off x="419100" y="4057650"/>
            <a:ext cx="11353800" cy="0"/>
          </a:xfrm>
          <a:prstGeom prst="line">
            <a:avLst/>
          </a:prstGeom>
          <a:noFill/>
          <a:ln w="9525">
            <a:solidFill>
              <a:srgbClr val="B8BCC4"/>
            </a:solidFill>
            <a:prstDash val="solid"/>
          </a:ln>
        </p:spPr>
      </p:sp>
      <p:sp>
        <p:nvSpPr>
          <p:cNvPr id="12" name="矩形 11">
            <a:extLst>
              <a:ext uri="{FF2B5EF4-FFF2-40B4-BE49-F238E27FC236}">
                <a16:creationId xmlns:a16="http://schemas.microsoft.com/office/drawing/2014/main" id="{18295CC1-E243-47E7-8E36-883503D4ED26}"/>
              </a:ext>
            </a:extLst>
          </p:cNvPr>
          <p:cNvSpPr>
            <a:spLocks noGrp="1"/>
          </p:cNvSpPr>
          <p:nvPr/>
        </p:nvSpPr>
        <p:spPr>
          <a:xfrm>
            <a:off x="419100" y="4229100"/>
            <a:ext cx="952500" cy="457200"/>
          </a:xfrm>
          <a:prstGeom prst="rect">
            <a:avLst/>
          </a:prstGeom>
          <a:noFill/>
          <a:ln w="0">
            <a:noFill/>
            <a:prstDash val="solid"/>
          </a:ln>
        </p:spPr>
        <p:txBody>
          <a:bodyPr wrap="square" lIns="0" tIns="0" rIns="0" bIns="0" anchor="t">
            <a:noAutofit/>
          </a:bodyPr>
          <a:lstStyle/>
          <a:p>
            <a:pPr algn="l">
              <a:buNone/>
              <a:defRPr sz="2100" b="1">
                <a:solidFill>
                  <a:srgbClr val="2787F5"/>
                </a:solidFill>
                <a:latin typeface="Helvetica Neue"/>
                <a:ea typeface="Helvetica Neue"/>
                <a:cs typeface="Helvetica Neue"/>
              </a:defRPr>
            </a:pPr>
            <a:r>
              <a:rPr sz="2100" b="1">
                <a:solidFill>
                  <a:srgbClr val="2787F5"/>
                </a:solidFill>
                <a:latin typeface="Helvetica Neue"/>
                <a:ea typeface="Helvetica Neue"/>
                <a:cs typeface="Helvetica Neue"/>
              </a:rPr>
              <a:t>03</a:t>
            </a:r>
          </a:p>
        </p:txBody>
      </p:sp>
      <p:sp>
        <p:nvSpPr>
          <p:cNvPr id="13" name="矩形 12">
            <a:extLst>
              <a:ext uri="{FF2B5EF4-FFF2-40B4-BE49-F238E27FC236}">
                <a16:creationId xmlns:a16="http://schemas.microsoft.com/office/drawing/2014/main" id="{76936E3F-B95B-46B2-B3FB-CAED7FE0B031}"/>
              </a:ext>
            </a:extLst>
          </p:cNvPr>
          <p:cNvSpPr>
            <a:spLocks noGrp="1"/>
          </p:cNvSpPr>
          <p:nvPr/>
        </p:nvSpPr>
        <p:spPr>
          <a:xfrm>
            <a:off x="1619250" y="4210050"/>
            <a:ext cx="5334000" cy="457200"/>
          </a:xfrm>
          <a:prstGeom prst="rect">
            <a:avLst/>
          </a:prstGeom>
          <a:noFill/>
          <a:ln w="0">
            <a:noFill/>
            <a:prstDash val="solid"/>
          </a:ln>
        </p:spPr>
        <p:txBody>
          <a:bodyPr wrap="square" lIns="0" tIns="0" rIns="0" bIns="0" anchor="t">
            <a:noAutofit/>
          </a:bodyPr>
          <a:lstStyle/>
          <a:p>
            <a:pPr algn="l">
              <a:buNone/>
              <a:defRPr sz="2100" b="1">
                <a:solidFill>
                  <a:srgbClr val="101214"/>
                </a:solidFill>
                <a:latin typeface="Hiragino Sans GB"/>
                <a:ea typeface="Hiragino Sans GB"/>
                <a:cs typeface="Hiragino Sans GB"/>
              </a:defRPr>
            </a:pPr>
            <a:r>
              <a:rPr sz="2100">
                <a:solidFill>
                  <a:srgbClr val="101214"/>
                </a:solidFill>
                <a:latin typeface="Hiragino Sans GB"/>
                <a:ea typeface="Hiragino Sans GB"/>
                <a:cs typeface="Hiragino Sans GB"/>
              </a:rPr>
              <a:t>系统：长程能力如何落地</a:t>
            </a:r>
          </a:p>
        </p:txBody>
      </p:sp>
      <p:sp>
        <p:nvSpPr>
          <p:cNvPr id="14" name="矩形 13">
            <a:extLst>
              <a:ext uri="{FF2B5EF4-FFF2-40B4-BE49-F238E27FC236}">
                <a16:creationId xmlns:a16="http://schemas.microsoft.com/office/drawing/2014/main" id="{5D3A3095-AAAC-46F9-A9F6-E35160B6FA8E}"/>
              </a:ext>
            </a:extLst>
          </p:cNvPr>
          <p:cNvSpPr>
            <a:spLocks noGrp="1"/>
          </p:cNvSpPr>
          <p:nvPr/>
        </p:nvSpPr>
        <p:spPr>
          <a:xfrm>
            <a:off x="7143750" y="4248150"/>
            <a:ext cx="4286250" cy="533400"/>
          </a:xfrm>
          <a:prstGeom prst="rect">
            <a:avLst/>
          </a:prstGeom>
          <a:noFill/>
          <a:ln w="0">
            <a:noFill/>
            <a:prstDash val="solid"/>
          </a:ln>
        </p:spPr>
        <p:txBody>
          <a:bodyPr wrap="square" lIns="0" tIns="0" rIns="0" bIns="0" anchor="t">
            <a:noAutofit/>
          </a:bodyPr>
          <a:lstStyle/>
          <a:p>
            <a:pPr algn="l">
              <a:buNone/>
              <a:defRPr sz="1275" b="0">
                <a:solidFill>
                  <a:srgbClr val="5E6470"/>
                </a:solidFill>
                <a:latin typeface="Helvetica Neue"/>
                <a:ea typeface="Helvetica Neue"/>
                <a:cs typeface="Helvetica Neue"/>
              </a:defRPr>
            </a:pPr>
            <a:r>
              <a:rPr sz="1275" b="0">
                <a:solidFill>
                  <a:srgbClr val="5E6470"/>
                </a:solidFill>
                <a:latin typeface="Times New Roman"/>
                <a:ea typeface="Times New Roman"/>
                <a:cs typeface="Times New Roman"/>
              </a:rPr>
              <a:t>GLM-5.2 + Kimi K3：1M context、长轨迹 RL、tool protocol、serving</a:t>
            </a:r>
          </a:p>
        </p:txBody>
      </p:sp>
      <p:sp>
        <p:nvSpPr>
          <p:cNvPr id="15" name="直线连接符 14">
            <a:extLst>
              <a:ext uri="{FF2B5EF4-FFF2-40B4-BE49-F238E27FC236}">
                <a16:creationId xmlns:a16="http://schemas.microsoft.com/office/drawing/2014/main" id="{D11CF5F1-749C-47DE-8E60-EE8CB94C1367}"/>
              </a:ext>
            </a:extLst>
          </p:cNvPr>
          <p:cNvSpPr>
            <a:spLocks noGrp="1"/>
          </p:cNvSpPr>
          <p:nvPr/>
        </p:nvSpPr>
        <p:spPr>
          <a:xfrm>
            <a:off x="419100" y="6286500"/>
            <a:ext cx="11353800" cy="0"/>
          </a:xfrm>
          <a:prstGeom prst="line">
            <a:avLst/>
          </a:prstGeom>
          <a:noFill/>
          <a:ln w="9525">
            <a:solidFill>
              <a:srgbClr val="B8BCC4"/>
            </a:solidFill>
            <a:prstDash val="solid"/>
          </a:ln>
        </p:spPr>
      </p:sp>
      <p:sp>
        <p:nvSpPr>
          <p:cNvPr id="16" name="矩形 15">
            <a:extLst>
              <a:ext uri="{FF2B5EF4-FFF2-40B4-BE49-F238E27FC236}">
                <a16:creationId xmlns:a16="http://schemas.microsoft.com/office/drawing/2014/main" id="{B9E7BD4A-173C-4C8E-9EB7-0543B9DBAAFF}"/>
              </a:ext>
            </a:extLst>
          </p:cNvPr>
          <p:cNvSpPr>
            <a:spLocks noGrp="1"/>
          </p:cNvSpPr>
          <p:nvPr/>
        </p:nvSpPr>
        <p:spPr>
          <a:xfrm>
            <a:off x="419100" y="6362700"/>
            <a:ext cx="10763250" cy="219075"/>
          </a:xfrm>
          <a:prstGeom prst="rect">
            <a:avLst/>
          </a:prstGeom>
          <a:noFill/>
          <a:ln w="0">
            <a:noFill/>
            <a:prstDash val="solid"/>
          </a:ln>
        </p:spPr>
        <p:txBody>
          <a:bodyPr wrap="square" lIns="0" tIns="0" rIns="0" bIns="0" anchor="t">
            <a:noAutofit/>
          </a:bodyPr>
          <a:lstStyle/>
          <a:p>
            <a:pPr algn="l">
              <a:buNone/>
              <a:defRPr sz="788" b="0">
                <a:solidFill>
                  <a:srgbClr val="5E6470"/>
                </a:solidFill>
                <a:latin typeface="Helvetica Neue"/>
                <a:ea typeface="Helvetica Neue"/>
                <a:cs typeface="Helvetica Neue"/>
              </a:defRPr>
            </a:pPr>
            <a:r>
              <a:rPr sz="788" b="0">
                <a:solidFill>
                  <a:srgbClr val="5E6470"/>
                </a:solidFill>
                <a:latin typeface="Helvetica Neue"/>
                <a:ea typeface="Helvetica Neue"/>
                <a:cs typeface="Helvetica Neue"/>
              </a:rPr>
              <a:t>Deck structure</a:t>
            </a:r>
          </a:p>
        </p:txBody>
      </p:sp>
      <p:sp>
        <p:nvSpPr>
          <p:cNvPr id="17" name="矩形 16">
            <a:extLst>
              <a:ext uri="{FF2B5EF4-FFF2-40B4-BE49-F238E27FC236}">
                <a16:creationId xmlns:a16="http://schemas.microsoft.com/office/drawing/2014/main" id="{0F8D8071-966D-452A-AD40-3A85F41A3640}"/>
              </a:ext>
            </a:extLst>
          </p:cNvPr>
          <p:cNvSpPr>
            <a:spLocks noGrp="1"/>
          </p:cNvSpPr>
          <p:nvPr/>
        </p:nvSpPr>
        <p:spPr>
          <a:xfrm>
            <a:off x="11334750" y="6362700"/>
            <a:ext cx="438150" cy="219075"/>
          </a:xfrm>
          <a:prstGeom prst="rect">
            <a:avLst/>
          </a:prstGeom>
          <a:noFill/>
          <a:ln w="0">
            <a:noFill/>
            <a:prstDash val="solid"/>
          </a:ln>
        </p:spPr>
        <p:txBody>
          <a:bodyPr wrap="square" lIns="0" tIns="0" rIns="0" bIns="0" anchor="t">
            <a:noAutofit/>
          </a:bodyPr>
          <a:lstStyle/>
          <a:p>
            <a:pPr algn="r">
              <a:buNone/>
              <a:defRPr sz="825" b="0">
                <a:solidFill>
                  <a:srgbClr val="5E6470"/>
                </a:solidFill>
                <a:latin typeface="Helvetica Neue"/>
                <a:ea typeface="Helvetica Neue"/>
                <a:cs typeface="Helvetica Neue"/>
              </a:defRPr>
            </a:pPr>
            <a:r>
              <a:rPr sz="825" b="0">
                <a:solidFill>
                  <a:srgbClr val="5E6470"/>
                </a:solidFill>
                <a:latin typeface="Helvetica Neue"/>
                <a:ea typeface="Helvetica Neue"/>
                <a:cs typeface="Helvetica Neue"/>
              </a:rPr>
              <a:t>03</a:t>
            </a:r>
          </a:p>
        </p:txBody>
      </p:sp>
    </p:spTree>
    <p:extLst>
      <p:ext uri="{BB962C8B-B14F-4D97-AF65-F5344CB8AC3E}">
        <p14:creationId xmlns:p14="http://schemas.microsoft.com/office/powerpoint/2010/main" val="3945934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09B04460-BEC2-F791-E8B5-1A56DD0E4DF0}"/>
              </a:ext>
            </a:extLst>
          </p:cNvPr>
          <p:cNvSpPr>
            <a:spLocks noGrp="1"/>
          </p:cNvSpPr>
          <p:nvPr/>
        </p:nvSpPr>
        <p:spPr>
          <a:xfrm>
            <a:off x="419100" y="1846305"/>
            <a:ext cx="10726695" cy="1809750"/>
          </a:xfrm>
          <a:prstGeom prst="rect">
            <a:avLst/>
          </a:prstGeom>
          <a:noFill/>
          <a:ln w="0">
            <a:noFill/>
            <a:prstDash val="solid"/>
          </a:ln>
        </p:spPr>
        <p:txBody>
          <a:bodyPr wrap="square" lIns="0" tIns="0" rIns="0" bIns="0" anchor="b">
            <a:noAutofit/>
          </a:bodyPr>
          <a:lstStyle/>
          <a:p>
            <a:pPr algn="l">
              <a:buNone/>
              <a:defRPr sz="4350" b="1">
                <a:solidFill>
                  <a:srgbClr val="101214"/>
                </a:solidFill>
                <a:latin typeface="Hiragino Sans GB"/>
                <a:ea typeface="Hiragino Sans GB"/>
                <a:cs typeface="Hiragino Sans GB"/>
              </a:defRPr>
            </a:pPr>
            <a:endParaRPr/>
          </a:p>
        </p:txBody>
      </p:sp>
      <p:sp>
        <p:nvSpPr>
          <p:cNvPr id="5" name="文本框 4">
            <a:extLst>
              <a:ext uri="{FF2B5EF4-FFF2-40B4-BE49-F238E27FC236}">
                <a16:creationId xmlns:a16="http://schemas.microsoft.com/office/drawing/2014/main" id="{3E5F628E-39A2-06E0-3976-84725ED03AD1}"/>
              </a:ext>
            </a:extLst>
          </p:cNvPr>
          <p:cNvSpPr>
            <a:spLocks noGrp="1"/>
          </p:cNvSpPr>
          <p:nvPr/>
        </p:nvSpPr>
        <p:spPr>
          <a:xfrm>
            <a:off x="128337" y="2371908"/>
            <a:ext cx="11935326" cy="1446550"/>
          </a:xfrm>
          <a:prstGeom prst="rect">
            <a:avLst/>
          </a:prstGeom>
          <a:noFill/>
        </p:spPr>
        <p:txBody>
          <a:bodyPr wrap="square">
            <a:spAutoFit/>
          </a:bodyPr>
          <a:lstStyle/>
          <a:p>
            <a:pPr algn="ctr">
              <a:buNone/>
            </a:pPr>
            <a:r>
              <a:rPr sz="4400" b="1">
                <a:latin typeface="Times New Roman"/>
                <a:ea typeface="Times New Roman"/>
                <a:cs typeface="Times New Roman"/>
              </a:rPr>
              <a:t>Rethinking Entropy Interventions in RLVR: </a:t>
            </a:r>
          </a:p>
          <a:p>
            <a:pPr algn="ctr">
              <a:buNone/>
            </a:pPr>
            <a:r>
              <a:rPr sz="4400" b="1">
                <a:latin typeface="Times New Roman"/>
                <a:ea typeface="Times New Roman"/>
                <a:cs typeface="Times New Roman"/>
              </a:rPr>
              <a:t>An Entropy Change Perspective</a:t>
            </a:r>
          </a:p>
        </p:txBody>
      </p:sp>
      <p:sp>
        <p:nvSpPr>
          <p:cNvPr id="6" name="矩形 5">
            <a:extLst>
              <a:ext uri="{FF2B5EF4-FFF2-40B4-BE49-F238E27FC236}">
                <a16:creationId xmlns:a16="http://schemas.microsoft.com/office/drawing/2014/main" id="{3DE99FA2-1243-D7C5-618A-2218CD935318}"/>
              </a:ext>
            </a:extLst>
          </p:cNvPr>
          <p:cNvSpPr>
            <a:spLocks noGrp="1"/>
          </p:cNvSpPr>
          <p:nvPr/>
        </p:nvSpPr>
        <p:spPr>
          <a:xfrm>
            <a:off x="1428750" y="4010208"/>
            <a:ext cx="9334500" cy="342900"/>
          </a:xfrm>
          <a:prstGeom prst="rect">
            <a:avLst/>
          </a:prstGeom>
          <a:noFill/>
          <a:ln w="0">
            <a:noFill/>
            <a:prstDash val="solid"/>
          </a:ln>
        </p:spPr>
        <p:txBody>
          <a:bodyPr wrap="square" lIns="0" tIns="0" rIns="0" bIns="0" anchor="t">
            <a:noAutofit/>
          </a:bodyPr>
          <a:lstStyle/>
          <a:p>
            <a:pPr algn="ctr">
              <a:buNone/>
              <a:defRPr sz="1350" b="0">
                <a:solidFill>
                  <a:srgbClr val="5E6470"/>
                </a:solidFill>
                <a:latin typeface="Helvetica Neue"/>
                <a:ea typeface="Helvetica Neue"/>
                <a:cs typeface="Helvetica Neue"/>
              </a:defRPr>
            </a:pPr>
            <a:r>
              <a:rPr sz="1350">
                <a:solidFill>
                  <a:srgbClr val="5E6470"/>
                </a:solidFill>
                <a:latin typeface="Helvetica Neue"/>
                <a:ea typeface="Helvetica Neue"/>
                <a:cs typeface="Helvetica Neue"/>
              </a:rPr>
              <a:t>ACL 2026 outstanding paper</a:t>
            </a:r>
          </a:p>
        </p:txBody>
      </p:sp>
    </p:spTree>
    <p:extLst>
      <p:ext uri="{BB962C8B-B14F-4D97-AF65-F5344CB8AC3E}">
        <p14:creationId xmlns:p14="http://schemas.microsoft.com/office/powerpoint/2010/main" val="15230968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矩形 21">
            <a:extLst>
              <a:ext uri="{FF2B5EF4-FFF2-40B4-BE49-F238E27FC236}">
                <a16:creationId xmlns:a16="http://schemas.microsoft.com/office/drawing/2014/main" id="{117E80EB-FA80-4B14-8674-044D221C4293}"/>
              </a:ext>
            </a:extLst>
          </p:cNvPr>
          <p:cNvSpPr>
            <a:spLocks noGrp="1"/>
          </p:cNvSpPr>
          <p:nvPr/>
        </p:nvSpPr>
        <p:spPr>
          <a:xfrm>
            <a:off x="419100" y="171450"/>
            <a:ext cx="2952750" cy="228600"/>
          </a:xfrm>
          <a:prstGeom prst="rect">
            <a:avLst/>
          </a:prstGeom>
          <a:noFill/>
          <a:ln w="0">
            <a:noFill/>
            <a:prstDash val="solid"/>
          </a:ln>
        </p:spPr>
        <p:txBody>
          <a:bodyPr wrap="square" lIns="0" tIns="0" rIns="0" bIns="0" anchor="t">
            <a:noAutofit/>
          </a:bodyPr>
          <a:lstStyle/>
          <a:p>
            <a:pPr algn="l">
              <a:buNone/>
              <a:defRPr sz="975" b="1">
                <a:solidFill>
                  <a:srgbClr val="5E6470"/>
                </a:solidFill>
                <a:latin typeface="Helvetica Neue"/>
                <a:ea typeface="Helvetica Neue"/>
                <a:cs typeface="Helvetica Neue"/>
              </a:defRPr>
            </a:pPr>
            <a:r>
              <a:rPr sz="975" b="1">
                <a:solidFill>
                  <a:srgbClr val="5E6470"/>
                </a:solidFill>
                <a:latin typeface="Helvetica Neue"/>
                <a:ea typeface="Helvetica Neue"/>
                <a:cs typeface="Helvetica Neue"/>
              </a:rPr>
              <a:t>BACKGROUND · GRPO</a:t>
            </a:r>
          </a:p>
        </p:txBody>
      </p:sp>
      <p:sp>
        <p:nvSpPr>
          <p:cNvPr id="2" name="矩形 1">
            <a:extLst>
              <a:ext uri="{FF2B5EF4-FFF2-40B4-BE49-F238E27FC236}">
                <a16:creationId xmlns:a16="http://schemas.microsoft.com/office/drawing/2014/main" id="{33CAC163-9BC6-42EE-953C-BC3C91E13CE2}"/>
              </a:ext>
            </a:extLst>
          </p:cNvPr>
          <p:cNvSpPr>
            <a:spLocks noGrp="1"/>
          </p:cNvSpPr>
          <p:nvPr/>
        </p:nvSpPr>
        <p:spPr>
          <a:xfrm>
            <a:off x="419100" y="409575"/>
            <a:ext cx="11353800" cy="514350"/>
          </a:xfrm>
          <a:prstGeom prst="rect">
            <a:avLst/>
          </a:prstGeom>
          <a:noFill/>
          <a:ln w="0">
            <a:noFill/>
            <a:prstDash val="solid"/>
          </a:ln>
        </p:spPr>
        <p:txBody>
          <a:bodyPr wrap="square" lIns="0" tIns="0" rIns="0" bIns="0" anchor="t">
            <a:noAutofit/>
          </a:bodyPr>
          <a:lstStyle/>
          <a:p>
            <a:pPr algn="l">
              <a:buNone/>
              <a:defRPr sz="2850" b="1">
                <a:solidFill>
                  <a:srgbClr val="101214"/>
                </a:solidFill>
                <a:latin typeface="Hiragino Sans GB"/>
                <a:ea typeface="Hiragino Sans GB"/>
                <a:cs typeface="Hiragino Sans GB"/>
              </a:defRPr>
            </a:pPr>
            <a:r>
              <a:rPr sz="2850" b="1">
                <a:solidFill>
                  <a:srgbClr val="101214"/>
                </a:solidFill>
                <a:latin typeface="Hiragino Sans GB"/>
                <a:ea typeface="Hiragino Sans GB"/>
                <a:cs typeface="Hiragino Sans GB"/>
              </a:rPr>
              <a:t>Review GRPO</a:t>
            </a:r>
          </a:p>
        </p:txBody>
      </p:sp>
      <p:sp>
        <p:nvSpPr>
          <p:cNvPr id="6" name="圆角矩形 5">
            <a:extLst>
              <a:ext uri="{FF2B5EF4-FFF2-40B4-BE49-F238E27FC236}">
                <a16:creationId xmlns:a16="http://schemas.microsoft.com/office/drawing/2014/main" id="{6EDBAA6B-274B-4288-A912-07693B916876}"/>
              </a:ext>
            </a:extLst>
          </p:cNvPr>
          <p:cNvSpPr>
            <a:spLocks noGrp="1"/>
          </p:cNvSpPr>
          <p:nvPr/>
        </p:nvSpPr>
        <p:spPr>
          <a:xfrm>
            <a:off x="419100" y="3143250"/>
            <a:ext cx="2571750" cy="1809750"/>
          </a:xfrm>
          <a:prstGeom prst="roundRect">
            <a:avLst>
              <a:gd name="adj" fmla="val 4211"/>
            </a:avLst>
          </a:prstGeom>
          <a:solidFill>
            <a:srgbClr val="F1F2F4"/>
          </a:solidFill>
          <a:ln w="0">
            <a:noFill/>
            <a:prstDash val="solid"/>
          </a:ln>
        </p:spPr>
      </p:sp>
      <p:sp>
        <p:nvSpPr>
          <p:cNvPr id="7" name="矩形 6">
            <a:extLst>
              <a:ext uri="{FF2B5EF4-FFF2-40B4-BE49-F238E27FC236}">
                <a16:creationId xmlns:a16="http://schemas.microsoft.com/office/drawing/2014/main" id="{850920EC-8A56-4AC4-B9C0-25AF42755C17}"/>
              </a:ext>
            </a:extLst>
          </p:cNvPr>
          <p:cNvSpPr>
            <a:spLocks noGrp="1"/>
          </p:cNvSpPr>
          <p:nvPr/>
        </p:nvSpPr>
        <p:spPr>
          <a:xfrm>
            <a:off x="590550" y="3352800"/>
            <a:ext cx="2228850" cy="342900"/>
          </a:xfrm>
          <a:prstGeom prst="rect">
            <a:avLst/>
          </a:prstGeom>
          <a:noFill/>
          <a:ln w="0">
            <a:noFill/>
            <a:prstDash val="solid"/>
          </a:ln>
        </p:spPr>
        <p:txBody>
          <a:bodyPr wrap="square" lIns="0" tIns="0" rIns="0" bIns="0" anchor="t">
            <a:noAutofit/>
          </a:bodyPr>
          <a:lstStyle/>
          <a:p>
            <a:pPr algn="l">
              <a:buNone/>
              <a:defRPr sz="1575" b="1">
                <a:solidFill>
                  <a:srgbClr val="101214"/>
                </a:solidFill>
                <a:latin typeface="Hiragino Sans GB"/>
                <a:ea typeface="Hiragino Sans GB"/>
                <a:cs typeface="Hiragino Sans GB"/>
              </a:defRPr>
            </a:pPr>
            <a:r>
              <a:rPr sz="1575" b="1">
                <a:solidFill>
                  <a:srgbClr val="101214"/>
                </a:solidFill>
                <a:latin typeface="Hiragino Sans GB"/>
                <a:ea typeface="Hiragino Sans GB"/>
                <a:cs typeface="Hiragino Sans GB"/>
              </a:rPr>
              <a:t>① Group rollout</a:t>
            </a:r>
          </a:p>
        </p:txBody>
      </p:sp>
      <p:sp>
        <p:nvSpPr>
          <p:cNvPr id="8" name="矩形 7">
            <a:extLst>
              <a:ext uri="{FF2B5EF4-FFF2-40B4-BE49-F238E27FC236}">
                <a16:creationId xmlns:a16="http://schemas.microsoft.com/office/drawing/2014/main" id="{94FC0E85-4F47-425F-805E-4F4AEE919A6D}"/>
              </a:ext>
            </a:extLst>
          </p:cNvPr>
          <p:cNvSpPr>
            <a:spLocks noGrp="1"/>
          </p:cNvSpPr>
          <p:nvPr/>
        </p:nvSpPr>
        <p:spPr>
          <a:xfrm>
            <a:off x="590550" y="3933825"/>
            <a:ext cx="2228850" cy="723900"/>
          </a:xfrm>
          <a:prstGeom prst="rect">
            <a:avLst/>
          </a:prstGeom>
          <a:noFill/>
          <a:ln w="0">
            <a:noFill/>
            <a:prstDash val="solid"/>
          </a:ln>
        </p:spPr>
        <p:txBody>
          <a:bodyPr wrap="square" lIns="0" tIns="0" rIns="0" bIns="0" anchor="t">
            <a:noAutofit/>
          </a:bodyPr>
          <a:lstStyle/>
          <a:p>
            <a:pPr algn="l">
              <a:buNone/>
              <a:defRPr sz="1275" b="0">
                <a:solidFill>
                  <a:srgbClr val="5E6470"/>
                </a:solidFill>
                <a:latin typeface="Hiragino Sans GB"/>
                <a:ea typeface="Hiragino Sans GB"/>
                <a:cs typeface="Hiragino Sans GB"/>
              </a:defRPr>
            </a:pPr>
            <a:r>
              <a:rPr sz="1275" b="0">
                <a:solidFill>
                  <a:srgbClr val="5E6470"/>
                </a:solidFill>
                <a:latin typeface="Hiragino Sans GB"/>
                <a:ea typeface="Hiragino Sans GB"/>
                <a:cs typeface="Hiragino Sans GB"/>
              </a:rPr>
              <a:t>同一 prompt 采样多条 response；reward 在组内比较。</a:t>
            </a:r>
          </a:p>
        </p:txBody>
      </p:sp>
      <p:sp>
        <p:nvSpPr>
          <p:cNvPr id="9" name="圆角矩形 8">
            <a:extLst>
              <a:ext uri="{FF2B5EF4-FFF2-40B4-BE49-F238E27FC236}">
                <a16:creationId xmlns:a16="http://schemas.microsoft.com/office/drawing/2014/main" id="{2D299BE1-88A4-44D7-B409-277D9F8C1C19}"/>
              </a:ext>
            </a:extLst>
          </p:cNvPr>
          <p:cNvSpPr>
            <a:spLocks noGrp="1"/>
          </p:cNvSpPr>
          <p:nvPr/>
        </p:nvSpPr>
        <p:spPr>
          <a:xfrm>
            <a:off x="3295650" y="3143250"/>
            <a:ext cx="2571750" cy="1809750"/>
          </a:xfrm>
          <a:prstGeom prst="roundRect">
            <a:avLst>
              <a:gd name="adj" fmla="val 4211"/>
            </a:avLst>
          </a:prstGeom>
          <a:solidFill>
            <a:srgbClr val="F1F2F4"/>
          </a:solidFill>
          <a:ln w="0">
            <a:noFill/>
            <a:prstDash val="solid"/>
          </a:ln>
        </p:spPr>
      </p:sp>
      <p:sp>
        <p:nvSpPr>
          <p:cNvPr id="10" name="矩形 9">
            <a:extLst>
              <a:ext uri="{FF2B5EF4-FFF2-40B4-BE49-F238E27FC236}">
                <a16:creationId xmlns:a16="http://schemas.microsoft.com/office/drawing/2014/main" id="{13000A26-FB82-4F86-BE7F-9C4D640FF2E3}"/>
              </a:ext>
            </a:extLst>
          </p:cNvPr>
          <p:cNvSpPr>
            <a:spLocks noGrp="1"/>
          </p:cNvSpPr>
          <p:nvPr/>
        </p:nvSpPr>
        <p:spPr>
          <a:xfrm>
            <a:off x="3467100" y="3352800"/>
            <a:ext cx="2228850" cy="342900"/>
          </a:xfrm>
          <a:prstGeom prst="rect">
            <a:avLst/>
          </a:prstGeom>
          <a:noFill/>
          <a:ln w="0">
            <a:noFill/>
            <a:prstDash val="solid"/>
          </a:ln>
        </p:spPr>
        <p:txBody>
          <a:bodyPr wrap="square" lIns="0" tIns="0" rIns="0" bIns="0" anchor="t">
            <a:noAutofit/>
          </a:bodyPr>
          <a:lstStyle/>
          <a:p>
            <a:pPr algn="l">
              <a:buNone/>
              <a:defRPr sz="1575" b="1">
                <a:solidFill>
                  <a:srgbClr val="101214"/>
                </a:solidFill>
                <a:latin typeface="Hiragino Sans GB"/>
                <a:ea typeface="Hiragino Sans GB"/>
                <a:cs typeface="Hiragino Sans GB"/>
              </a:defRPr>
            </a:pPr>
            <a:r>
              <a:rPr sz="1575" b="1">
                <a:solidFill>
                  <a:srgbClr val="101214"/>
                </a:solidFill>
                <a:latin typeface="Hiragino Sans GB"/>
                <a:ea typeface="Hiragino Sans GB"/>
                <a:cs typeface="Hiragino Sans GB"/>
              </a:rPr>
              <a:t>② Relative advantage</a:t>
            </a:r>
          </a:p>
        </p:txBody>
      </p:sp>
      <p:sp>
        <p:nvSpPr>
          <p:cNvPr id="11" name="矩形 10">
            <a:extLst>
              <a:ext uri="{FF2B5EF4-FFF2-40B4-BE49-F238E27FC236}">
                <a16:creationId xmlns:a16="http://schemas.microsoft.com/office/drawing/2014/main" id="{4908DDF7-FBA1-4E8C-AB64-E83205D62A61}"/>
              </a:ext>
            </a:extLst>
          </p:cNvPr>
          <p:cNvSpPr>
            <a:spLocks noGrp="1"/>
          </p:cNvSpPr>
          <p:nvPr/>
        </p:nvSpPr>
        <p:spPr>
          <a:xfrm>
            <a:off x="3467100" y="3933825"/>
            <a:ext cx="2228850" cy="723900"/>
          </a:xfrm>
          <a:prstGeom prst="rect">
            <a:avLst/>
          </a:prstGeom>
          <a:noFill/>
          <a:ln w="0">
            <a:noFill/>
            <a:prstDash val="solid"/>
          </a:ln>
        </p:spPr>
        <p:txBody>
          <a:bodyPr wrap="square" lIns="0" tIns="0" rIns="0" bIns="0" anchor="t">
            <a:noAutofit/>
          </a:bodyPr>
          <a:lstStyle/>
          <a:p>
            <a:pPr algn="l">
              <a:buNone/>
              <a:defRPr sz="1275" b="0">
                <a:solidFill>
                  <a:srgbClr val="5E6470"/>
                </a:solidFill>
                <a:latin typeface="Hiragino Sans GB"/>
                <a:ea typeface="Hiragino Sans GB"/>
                <a:cs typeface="Hiragino Sans GB"/>
              </a:defRPr>
            </a:pPr>
            <a:r>
              <a:rPr sz="1275" b="0">
                <a:solidFill>
                  <a:srgbClr val="5E6470"/>
                </a:solidFill>
                <a:latin typeface="Hiragino Sans GB"/>
                <a:ea typeface="Hiragino Sans GB"/>
                <a:cs typeface="Hiragino Sans GB"/>
              </a:rPr>
              <a:t>组内 reward 标准化；不需要额外训练 value model。</a:t>
            </a:r>
          </a:p>
        </p:txBody>
      </p:sp>
      <p:sp>
        <p:nvSpPr>
          <p:cNvPr id="12" name="圆角矩形 11">
            <a:extLst>
              <a:ext uri="{FF2B5EF4-FFF2-40B4-BE49-F238E27FC236}">
                <a16:creationId xmlns:a16="http://schemas.microsoft.com/office/drawing/2014/main" id="{D91D8885-AC38-4D05-8CD7-9499728FB17C}"/>
              </a:ext>
            </a:extLst>
          </p:cNvPr>
          <p:cNvSpPr>
            <a:spLocks noGrp="1"/>
          </p:cNvSpPr>
          <p:nvPr/>
        </p:nvSpPr>
        <p:spPr>
          <a:xfrm>
            <a:off x="6172200" y="3143250"/>
            <a:ext cx="2571750" cy="1809750"/>
          </a:xfrm>
          <a:prstGeom prst="roundRect">
            <a:avLst>
              <a:gd name="adj" fmla="val 4211"/>
            </a:avLst>
          </a:prstGeom>
          <a:solidFill>
            <a:srgbClr val="F1F2F4"/>
          </a:solidFill>
          <a:ln w="0">
            <a:noFill/>
            <a:prstDash val="solid"/>
          </a:ln>
        </p:spPr>
      </p:sp>
      <p:sp>
        <p:nvSpPr>
          <p:cNvPr id="13" name="矩形 12">
            <a:extLst>
              <a:ext uri="{FF2B5EF4-FFF2-40B4-BE49-F238E27FC236}">
                <a16:creationId xmlns:a16="http://schemas.microsoft.com/office/drawing/2014/main" id="{9C6AF877-082C-4C23-81E7-ABEFA19EB3D7}"/>
              </a:ext>
            </a:extLst>
          </p:cNvPr>
          <p:cNvSpPr>
            <a:spLocks noGrp="1"/>
          </p:cNvSpPr>
          <p:nvPr/>
        </p:nvSpPr>
        <p:spPr>
          <a:xfrm>
            <a:off x="6343650" y="3352800"/>
            <a:ext cx="2228850" cy="342900"/>
          </a:xfrm>
          <a:prstGeom prst="rect">
            <a:avLst/>
          </a:prstGeom>
          <a:noFill/>
          <a:ln w="0">
            <a:noFill/>
            <a:prstDash val="solid"/>
          </a:ln>
        </p:spPr>
        <p:txBody>
          <a:bodyPr wrap="square" lIns="0" tIns="0" rIns="0" bIns="0" anchor="t">
            <a:noAutofit/>
          </a:bodyPr>
          <a:lstStyle/>
          <a:p>
            <a:pPr algn="l">
              <a:buNone/>
              <a:defRPr sz="1575" b="1">
                <a:solidFill>
                  <a:srgbClr val="2787F5"/>
                </a:solidFill>
                <a:latin typeface="Hiragino Sans GB"/>
                <a:ea typeface="Hiragino Sans GB"/>
                <a:cs typeface="Hiragino Sans GB"/>
              </a:defRPr>
            </a:pPr>
            <a:r>
              <a:rPr sz="1575">
                <a:solidFill>
                  <a:srgbClr val="000001"/>
                </a:solidFill>
                <a:latin typeface="Hiragino Sans GB"/>
                <a:ea typeface="Hiragino Sans GB"/>
                <a:cs typeface="Hiragino Sans GB"/>
              </a:rPr>
              <a:t>③ PPO-style clipping</a:t>
            </a:r>
          </a:p>
        </p:txBody>
      </p:sp>
      <p:sp>
        <p:nvSpPr>
          <p:cNvPr id="14" name="矩形 13">
            <a:extLst>
              <a:ext uri="{FF2B5EF4-FFF2-40B4-BE49-F238E27FC236}">
                <a16:creationId xmlns:a16="http://schemas.microsoft.com/office/drawing/2014/main" id="{99EAFD36-86A6-4A8D-9429-3DA8AFAA486E}"/>
              </a:ext>
            </a:extLst>
          </p:cNvPr>
          <p:cNvSpPr>
            <a:spLocks noGrp="1"/>
          </p:cNvSpPr>
          <p:nvPr/>
        </p:nvSpPr>
        <p:spPr>
          <a:xfrm>
            <a:off x="6343650" y="3933825"/>
            <a:ext cx="2228850" cy="723900"/>
          </a:xfrm>
          <a:prstGeom prst="rect">
            <a:avLst/>
          </a:prstGeom>
          <a:noFill/>
          <a:ln w="0">
            <a:noFill/>
            <a:prstDash val="solid"/>
          </a:ln>
        </p:spPr>
        <p:txBody>
          <a:bodyPr wrap="square" lIns="0" tIns="0" rIns="0" bIns="0" anchor="t">
            <a:noAutofit/>
          </a:bodyPr>
          <a:lstStyle/>
          <a:p>
            <a:pPr algn="l">
              <a:buNone/>
              <a:defRPr sz="1275" b="0">
                <a:solidFill>
                  <a:srgbClr val="5E6470"/>
                </a:solidFill>
                <a:latin typeface="Hiragino Sans GB"/>
                <a:ea typeface="Hiragino Sans GB"/>
                <a:cs typeface="Hiragino Sans GB"/>
              </a:defRPr>
            </a:pPr>
            <a:r>
              <a:rPr sz="1275" b="0">
                <a:solidFill>
                  <a:srgbClr val="5E6470"/>
                </a:solidFill>
                <a:latin typeface="Hiragino Sans GB"/>
                <a:ea typeface="Hiragino Sans GB"/>
                <a:cs typeface="Hiragino Sans GB"/>
              </a:rPr>
              <a:t>importance ratio 超出区间后截断，限制单步策略漂移。</a:t>
            </a:r>
          </a:p>
        </p:txBody>
      </p:sp>
      <p:sp>
        <p:nvSpPr>
          <p:cNvPr id="15" name="圆角矩形 14">
            <a:extLst>
              <a:ext uri="{FF2B5EF4-FFF2-40B4-BE49-F238E27FC236}">
                <a16:creationId xmlns:a16="http://schemas.microsoft.com/office/drawing/2014/main" id="{BA79F2E0-D357-49B4-ABF1-ED81C00F00CE}"/>
              </a:ext>
            </a:extLst>
          </p:cNvPr>
          <p:cNvSpPr>
            <a:spLocks noGrp="1"/>
          </p:cNvSpPr>
          <p:nvPr/>
        </p:nvSpPr>
        <p:spPr>
          <a:xfrm>
            <a:off x="9048750" y="3143250"/>
            <a:ext cx="2571750" cy="1809750"/>
          </a:xfrm>
          <a:prstGeom prst="roundRect">
            <a:avLst>
              <a:gd name="adj" fmla="val 4211"/>
            </a:avLst>
          </a:prstGeom>
          <a:solidFill>
            <a:srgbClr val="F1F2F4"/>
          </a:solidFill>
          <a:ln w="0">
            <a:noFill/>
            <a:prstDash val="solid"/>
          </a:ln>
        </p:spPr>
      </p:sp>
      <p:sp>
        <p:nvSpPr>
          <p:cNvPr id="16" name="矩形 15">
            <a:extLst>
              <a:ext uri="{FF2B5EF4-FFF2-40B4-BE49-F238E27FC236}">
                <a16:creationId xmlns:a16="http://schemas.microsoft.com/office/drawing/2014/main" id="{C39E31C4-7F57-4AEA-B913-252FD9E073F2}"/>
              </a:ext>
            </a:extLst>
          </p:cNvPr>
          <p:cNvSpPr>
            <a:spLocks noGrp="1"/>
          </p:cNvSpPr>
          <p:nvPr/>
        </p:nvSpPr>
        <p:spPr>
          <a:xfrm>
            <a:off x="9220200" y="3352800"/>
            <a:ext cx="2228850" cy="342900"/>
          </a:xfrm>
          <a:prstGeom prst="rect">
            <a:avLst/>
          </a:prstGeom>
          <a:noFill/>
          <a:ln w="0">
            <a:noFill/>
            <a:prstDash val="solid"/>
          </a:ln>
        </p:spPr>
        <p:txBody>
          <a:bodyPr wrap="square" lIns="0" tIns="0" rIns="0" bIns="0" anchor="t">
            <a:noAutofit/>
          </a:bodyPr>
          <a:lstStyle/>
          <a:p>
            <a:pPr algn="l">
              <a:buNone/>
              <a:defRPr sz="1575" b="1">
                <a:solidFill>
                  <a:srgbClr val="101214"/>
                </a:solidFill>
                <a:latin typeface="Hiragino Sans GB"/>
                <a:ea typeface="Hiragino Sans GB"/>
                <a:cs typeface="Hiragino Sans GB"/>
              </a:defRPr>
            </a:pPr>
            <a:r>
              <a:rPr sz="1575" b="1">
                <a:solidFill>
                  <a:srgbClr val="101214"/>
                </a:solidFill>
                <a:latin typeface="Hiragino Sans GB"/>
                <a:ea typeface="Hiragino Sans GB"/>
                <a:cs typeface="Hiragino Sans GB"/>
              </a:rPr>
              <a:t>④ Token-level update</a:t>
            </a:r>
          </a:p>
        </p:txBody>
      </p:sp>
      <p:sp>
        <p:nvSpPr>
          <p:cNvPr id="17" name="矩形 16">
            <a:extLst>
              <a:ext uri="{FF2B5EF4-FFF2-40B4-BE49-F238E27FC236}">
                <a16:creationId xmlns:a16="http://schemas.microsoft.com/office/drawing/2014/main" id="{0D424987-57B6-4C94-8931-910F3108B8A4}"/>
              </a:ext>
            </a:extLst>
          </p:cNvPr>
          <p:cNvSpPr>
            <a:spLocks noGrp="1"/>
          </p:cNvSpPr>
          <p:nvPr/>
        </p:nvSpPr>
        <p:spPr>
          <a:xfrm>
            <a:off x="9220200" y="3933825"/>
            <a:ext cx="2228850" cy="723900"/>
          </a:xfrm>
          <a:prstGeom prst="rect">
            <a:avLst/>
          </a:prstGeom>
          <a:noFill/>
          <a:ln w="0">
            <a:noFill/>
            <a:prstDash val="solid"/>
          </a:ln>
        </p:spPr>
        <p:txBody>
          <a:bodyPr wrap="square" lIns="0" tIns="0" rIns="0" bIns="0" anchor="t">
            <a:noAutofit/>
          </a:bodyPr>
          <a:lstStyle/>
          <a:p>
            <a:pPr algn="l">
              <a:buNone/>
              <a:defRPr sz="1275" b="0">
                <a:solidFill>
                  <a:srgbClr val="5E6470"/>
                </a:solidFill>
                <a:latin typeface="Hiragino Sans GB"/>
                <a:ea typeface="Hiragino Sans GB"/>
                <a:cs typeface="Hiragino Sans GB"/>
              </a:defRPr>
            </a:pPr>
            <a:r>
              <a:rPr sz="1275" b="0">
                <a:solidFill>
                  <a:srgbClr val="5E6470"/>
                </a:solidFill>
                <a:latin typeface="Hiragino Sans GB"/>
                <a:ea typeface="Hiragino Sans GB"/>
                <a:cs typeface="Hiragino Sans GB"/>
              </a:rPr>
              <a:t>对全部 response token 聚合；后续熵分析从单 token 更新切入。</a:t>
            </a:r>
          </a:p>
        </p:txBody>
      </p:sp>
      <p:sp>
        <p:nvSpPr>
          <p:cNvPr id="18" name="矩形 17">
            <a:extLst>
              <a:ext uri="{FF2B5EF4-FFF2-40B4-BE49-F238E27FC236}">
                <a16:creationId xmlns:a16="http://schemas.microsoft.com/office/drawing/2014/main" id="{73B3B848-5E80-40AD-AE1A-31DF1A3F493F}"/>
              </a:ext>
            </a:extLst>
          </p:cNvPr>
          <p:cNvSpPr>
            <a:spLocks noGrp="1"/>
          </p:cNvSpPr>
          <p:nvPr/>
        </p:nvSpPr>
        <p:spPr>
          <a:xfrm>
            <a:off x="419100" y="5391150"/>
            <a:ext cx="11353800" cy="323850"/>
          </a:xfrm>
          <a:prstGeom prst="rect">
            <a:avLst/>
          </a:prstGeom>
          <a:noFill/>
          <a:ln w="0">
            <a:noFill/>
            <a:prstDash val="solid"/>
          </a:ln>
        </p:spPr>
        <p:txBody>
          <a:bodyPr wrap="square" lIns="0" tIns="0" rIns="0" bIns="0" anchor="t">
            <a:noAutofit/>
          </a:bodyPr>
          <a:lstStyle/>
          <a:p>
            <a:pPr algn="l">
              <a:buNone/>
              <a:defRPr sz="1500" b="1">
                <a:solidFill>
                  <a:srgbClr val="F59E0B"/>
                </a:solidFill>
                <a:latin typeface="Hiragino Sans GB"/>
                <a:ea typeface="Hiragino Sans GB"/>
                <a:cs typeface="Hiragino Sans GB"/>
              </a:defRPr>
            </a:pPr>
            <a:r>
              <a:rPr sz="1500" b="1">
                <a:solidFill>
                  <a:srgbClr val="F59E0B"/>
                </a:solidFill>
                <a:latin typeface="Hiragino Sans GB"/>
                <a:ea typeface="Hiragino Sans GB"/>
                <a:cs typeface="Hiragino Sans GB"/>
              </a:rPr>
              <a:t>这篇文章采用 token-level GRPO，并省略 KL 项：entropy 不是直接优化目标，而是策略更新后的结果。</a:t>
            </a:r>
          </a:p>
        </p:txBody>
      </p:sp>
      <p:sp>
        <p:nvSpPr>
          <p:cNvPr id="19" name="直线连接符 18">
            <a:extLst>
              <a:ext uri="{FF2B5EF4-FFF2-40B4-BE49-F238E27FC236}">
                <a16:creationId xmlns:a16="http://schemas.microsoft.com/office/drawing/2014/main" id="{584247A6-37AB-4E81-99BB-CCDDBAFC5828}"/>
              </a:ext>
            </a:extLst>
          </p:cNvPr>
          <p:cNvSpPr>
            <a:spLocks noGrp="1"/>
          </p:cNvSpPr>
          <p:nvPr/>
        </p:nvSpPr>
        <p:spPr>
          <a:xfrm>
            <a:off x="419100" y="6286500"/>
            <a:ext cx="11353800" cy="0"/>
          </a:xfrm>
          <a:prstGeom prst="line">
            <a:avLst/>
          </a:prstGeom>
          <a:noFill/>
          <a:ln w="9525">
            <a:solidFill>
              <a:srgbClr val="B8BCC4"/>
            </a:solidFill>
            <a:prstDash val="solid"/>
          </a:ln>
        </p:spPr>
      </p:sp>
      <p:sp>
        <p:nvSpPr>
          <p:cNvPr id="20" name="矩形 19">
            <a:extLst>
              <a:ext uri="{FF2B5EF4-FFF2-40B4-BE49-F238E27FC236}">
                <a16:creationId xmlns:a16="http://schemas.microsoft.com/office/drawing/2014/main" id="{E4F30BA3-05A2-42DF-9E44-9F944570A278}"/>
              </a:ext>
            </a:extLst>
          </p:cNvPr>
          <p:cNvSpPr>
            <a:spLocks noGrp="1"/>
          </p:cNvSpPr>
          <p:nvPr/>
        </p:nvSpPr>
        <p:spPr>
          <a:xfrm>
            <a:off x="419100" y="6362700"/>
            <a:ext cx="10763250" cy="219075"/>
          </a:xfrm>
          <a:prstGeom prst="rect">
            <a:avLst/>
          </a:prstGeom>
          <a:noFill/>
          <a:ln w="0">
            <a:noFill/>
            <a:prstDash val="solid"/>
          </a:ln>
        </p:spPr>
        <p:txBody>
          <a:bodyPr wrap="square" lIns="0" tIns="0" rIns="0" bIns="0" anchor="t">
            <a:noAutofit/>
          </a:bodyPr>
          <a:lstStyle/>
          <a:p>
            <a:pPr algn="l">
              <a:buNone/>
              <a:defRPr sz="788" b="0">
                <a:solidFill>
                  <a:srgbClr val="5E6470"/>
                </a:solidFill>
                <a:latin typeface="Helvetica Neue"/>
                <a:ea typeface="Helvetica Neue"/>
                <a:cs typeface="Helvetica Neue"/>
              </a:defRPr>
            </a:pPr>
            <a:r>
              <a:rPr sz="788" b="0">
                <a:solidFill>
                  <a:srgbClr val="5E6470"/>
                </a:solidFill>
                <a:latin typeface="Helvetica Neue"/>
                <a:ea typeface="Helvetica Neue"/>
                <a:cs typeface="Helvetica Neue"/>
              </a:rPr>
              <a:t>Hao et al., Rethinking Entropy Interventions in RLVR, Eq. 1–2  ·  GRPO: Shao et al. (2024)</a:t>
            </a:r>
          </a:p>
        </p:txBody>
      </p:sp>
      <p:sp>
        <p:nvSpPr>
          <p:cNvPr id="21" name="矩形 20">
            <a:extLst>
              <a:ext uri="{FF2B5EF4-FFF2-40B4-BE49-F238E27FC236}">
                <a16:creationId xmlns:a16="http://schemas.microsoft.com/office/drawing/2014/main" id="{1881E8C2-84EB-4263-B9DE-EE199BE7729B}"/>
              </a:ext>
            </a:extLst>
          </p:cNvPr>
          <p:cNvSpPr>
            <a:spLocks noGrp="1"/>
          </p:cNvSpPr>
          <p:nvPr/>
        </p:nvSpPr>
        <p:spPr>
          <a:xfrm>
            <a:off x="11334750" y="6362700"/>
            <a:ext cx="438150" cy="219075"/>
          </a:xfrm>
          <a:prstGeom prst="rect">
            <a:avLst/>
          </a:prstGeom>
          <a:noFill/>
          <a:ln w="0">
            <a:noFill/>
            <a:prstDash val="solid"/>
          </a:ln>
        </p:spPr>
        <p:txBody>
          <a:bodyPr wrap="square" lIns="0" tIns="0" rIns="0" bIns="0" anchor="t">
            <a:noAutofit/>
          </a:bodyPr>
          <a:lstStyle/>
          <a:p>
            <a:pPr algn="r">
              <a:buNone/>
              <a:defRPr sz="825" b="0">
                <a:solidFill>
                  <a:srgbClr val="5E6470"/>
                </a:solidFill>
                <a:latin typeface="Helvetica Neue"/>
                <a:ea typeface="Helvetica Neue"/>
                <a:cs typeface="Helvetica Neue"/>
              </a:defRPr>
            </a:pPr>
            <a:r>
              <a:rPr sz="825" b="0">
                <a:solidFill>
                  <a:srgbClr val="5E6470"/>
                </a:solidFill>
                <a:latin typeface="Helvetica Neue"/>
                <a:ea typeface="Helvetica Neue"/>
                <a:cs typeface="Helvetica Neue"/>
              </a:rPr>
              <a:t>03</a:t>
            </a:r>
          </a:p>
        </p:txBody>
      </p:sp>
      <p:pic>
        <p:nvPicPr>
          <p:cNvPr id="43" name="图片 43"/>
          <p:cNvPicPr>
            <a:picLocks noChangeAspect="1"/>
          </p:cNvPicPr>
          <p:nvPr/>
        </p:nvPicPr>
        <p:blipFill>
          <a:blip r:embed="rId3"/>
          <a:stretch/>
        </p:blipFill>
        <p:spPr>
          <a:xfrm>
            <a:off x="2185737" y="1276350"/>
            <a:ext cx="7820526" cy="742950"/>
          </a:xfrm>
          <a:prstGeom prst="rect">
            <a:avLst/>
          </a:prstGeom>
        </p:spPr>
      </p:pic>
      <p:pic>
        <p:nvPicPr>
          <p:cNvPr id="44" name="图片 44"/>
          <p:cNvPicPr>
            <a:picLocks noChangeAspect="1"/>
          </p:cNvPicPr>
          <p:nvPr/>
        </p:nvPicPr>
        <p:blipFill>
          <a:blip r:embed="rId4"/>
          <a:stretch/>
        </p:blipFill>
        <p:spPr>
          <a:xfrm>
            <a:off x="2974150" y="2122665"/>
            <a:ext cx="6243700" cy="590550"/>
          </a:xfrm>
          <a:prstGeom prst="rect">
            <a:avLst/>
          </a:prstGeom>
        </p:spPr>
      </p:pic>
    </p:spTree>
    <p:extLst>
      <p:ext uri="{BB962C8B-B14F-4D97-AF65-F5344CB8AC3E}">
        <p14:creationId xmlns:p14="http://schemas.microsoft.com/office/powerpoint/2010/main" val="17548936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2" name="矩形 71">
            <a:extLst>
              <a:ext uri="{FF2B5EF4-FFF2-40B4-BE49-F238E27FC236}">
                <a16:creationId xmlns:a16="http://schemas.microsoft.com/office/drawing/2014/main" id="{5FF924B1-C146-4FFB-8D62-E6E2FC88DA0D}"/>
              </a:ext>
            </a:extLst>
          </p:cNvPr>
          <p:cNvSpPr>
            <a:spLocks noGrp="1"/>
          </p:cNvSpPr>
          <p:nvPr/>
        </p:nvSpPr>
        <p:spPr>
          <a:xfrm>
            <a:off x="419100" y="171450"/>
            <a:ext cx="2952750" cy="228600"/>
          </a:xfrm>
          <a:prstGeom prst="rect">
            <a:avLst/>
          </a:prstGeom>
          <a:noFill/>
          <a:ln w="0">
            <a:noFill/>
            <a:prstDash val="solid"/>
          </a:ln>
        </p:spPr>
        <p:txBody>
          <a:bodyPr wrap="square" lIns="0" tIns="0" rIns="0" bIns="0" anchor="t">
            <a:noAutofit/>
          </a:bodyPr>
          <a:lstStyle/>
          <a:p>
            <a:pPr algn="l">
              <a:buNone/>
              <a:defRPr sz="975" b="1">
                <a:solidFill>
                  <a:srgbClr val="5E6470"/>
                </a:solidFill>
                <a:latin typeface="Helvetica Neue"/>
                <a:ea typeface="Helvetica Neue"/>
                <a:cs typeface="Helvetica Neue"/>
              </a:defRPr>
            </a:pPr>
            <a:r>
              <a:rPr sz="975" b="1">
                <a:solidFill>
                  <a:srgbClr val="5E6470"/>
                </a:solidFill>
                <a:latin typeface="Helvetica Neue"/>
                <a:ea typeface="Helvetica Neue"/>
                <a:cs typeface="Helvetica Neue"/>
              </a:rPr>
              <a:t>I · ENTROPY MECHANISM</a:t>
            </a:r>
          </a:p>
        </p:txBody>
      </p:sp>
      <p:sp>
        <p:nvSpPr>
          <p:cNvPr id="2" name="矩形 1">
            <a:extLst>
              <a:ext uri="{FF2B5EF4-FFF2-40B4-BE49-F238E27FC236}">
                <a16:creationId xmlns:a16="http://schemas.microsoft.com/office/drawing/2014/main" id="{7D4F8289-0A1D-49A4-B3EE-20CC78862CB6}"/>
              </a:ext>
            </a:extLst>
          </p:cNvPr>
          <p:cNvSpPr>
            <a:spLocks noGrp="1"/>
          </p:cNvSpPr>
          <p:nvPr/>
        </p:nvSpPr>
        <p:spPr>
          <a:xfrm>
            <a:off x="419100" y="533400"/>
            <a:ext cx="11353800" cy="514350"/>
          </a:xfrm>
          <a:prstGeom prst="rect">
            <a:avLst/>
          </a:prstGeom>
          <a:noFill/>
          <a:ln w="0">
            <a:noFill/>
            <a:prstDash val="solid"/>
          </a:ln>
        </p:spPr>
        <p:txBody>
          <a:bodyPr wrap="square" lIns="0" tIns="0" rIns="0" bIns="0" anchor="t">
            <a:noAutofit/>
          </a:bodyPr>
          <a:lstStyle/>
          <a:p>
            <a:pPr algn="l">
              <a:buNone/>
              <a:defRPr sz="2850" b="1">
                <a:solidFill>
                  <a:srgbClr val="101214"/>
                </a:solidFill>
                <a:latin typeface="Hiragino Sans GB"/>
                <a:ea typeface="Hiragino Sans GB"/>
                <a:cs typeface="Hiragino Sans GB"/>
              </a:defRPr>
            </a:pPr>
            <a:r>
              <a:rPr sz="2850" b="1">
                <a:solidFill>
                  <a:srgbClr val="101214"/>
                </a:solidFill>
                <a:latin typeface="Hiragino Sans GB"/>
                <a:ea typeface="Hiragino Sans GB"/>
                <a:cs typeface="Hiragino Sans GB"/>
              </a:rPr>
              <a:t>目前的熵调控算法</a:t>
            </a:r>
          </a:p>
        </p:txBody>
      </p:sp>
      <p:sp>
        <p:nvSpPr>
          <p:cNvPr id="3" name="矩形 2">
            <a:extLst>
              <a:ext uri="{FF2B5EF4-FFF2-40B4-BE49-F238E27FC236}">
                <a16:creationId xmlns:a16="http://schemas.microsoft.com/office/drawing/2014/main" id="{E9449B80-0ED6-4E93-9AEC-2496D3866F06}"/>
              </a:ext>
            </a:extLst>
          </p:cNvPr>
          <p:cNvSpPr>
            <a:spLocks noGrp="1"/>
          </p:cNvSpPr>
          <p:nvPr/>
        </p:nvSpPr>
        <p:spPr>
          <a:xfrm>
            <a:off x="419100" y="1702172"/>
            <a:ext cx="2381250" cy="495300"/>
          </a:xfrm>
          <a:prstGeom prst="rect">
            <a:avLst/>
          </a:prstGeom>
          <a:noFill/>
          <a:ln w="0">
            <a:noFill/>
            <a:prstDash val="solid"/>
          </a:ln>
        </p:spPr>
      </p:sp>
      <p:sp>
        <p:nvSpPr>
          <p:cNvPr id="4" name="矩形 3">
            <a:extLst>
              <a:ext uri="{FF2B5EF4-FFF2-40B4-BE49-F238E27FC236}">
                <a16:creationId xmlns:a16="http://schemas.microsoft.com/office/drawing/2014/main" id="{53836EE8-F109-4372-BFDA-48002CF0E8FB}"/>
              </a:ext>
            </a:extLst>
          </p:cNvPr>
          <p:cNvSpPr>
            <a:spLocks noGrp="1"/>
          </p:cNvSpPr>
          <p:nvPr/>
        </p:nvSpPr>
        <p:spPr>
          <a:xfrm>
            <a:off x="495300" y="1816472"/>
            <a:ext cx="2228850" cy="247650"/>
          </a:xfrm>
          <a:prstGeom prst="rect">
            <a:avLst/>
          </a:prstGeom>
          <a:noFill/>
          <a:ln w="0">
            <a:noFill/>
            <a:prstDash val="solid"/>
          </a:ln>
        </p:spPr>
        <p:txBody>
          <a:bodyPr wrap="square" lIns="0" tIns="0" rIns="0" bIns="0" anchor="ctr">
            <a:noAutofit/>
          </a:bodyPr>
          <a:lstStyle/>
          <a:p>
            <a:pPr algn="l">
              <a:buNone/>
              <a:defRPr sz="1238" b="1">
                <a:solidFill>
                  <a:srgbClr val="FFFFFF"/>
                </a:solidFill>
                <a:latin typeface="Helvetica Neue"/>
                <a:ea typeface="Helvetica Neue"/>
                <a:cs typeface="Helvetica Neue"/>
              </a:defRPr>
            </a:pPr>
            <a:r>
              <a:rPr sz="1238" b="1">
                <a:solidFill>
                  <a:srgbClr val="101214"/>
                </a:solidFill>
                <a:latin typeface="Helvetica Neue"/>
                <a:ea typeface="Helvetica Neue"/>
                <a:cs typeface="Helvetica Neue"/>
              </a:rPr>
              <a:t>算法 / 代表方法</a:t>
            </a:r>
          </a:p>
        </p:txBody>
      </p:sp>
      <p:sp>
        <p:nvSpPr>
          <p:cNvPr id="5" name="矩形 4">
            <a:extLst>
              <a:ext uri="{FF2B5EF4-FFF2-40B4-BE49-F238E27FC236}">
                <a16:creationId xmlns:a16="http://schemas.microsoft.com/office/drawing/2014/main" id="{CF5BDC90-13CE-49E1-AF36-4E9BCCF0E215}"/>
              </a:ext>
            </a:extLst>
          </p:cNvPr>
          <p:cNvSpPr>
            <a:spLocks noGrp="1"/>
          </p:cNvSpPr>
          <p:nvPr/>
        </p:nvSpPr>
        <p:spPr>
          <a:xfrm>
            <a:off x="2800350" y="1702172"/>
            <a:ext cx="1714500" cy="495300"/>
          </a:xfrm>
          <a:prstGeom prst="rect">
            <a:avLst/>
          </a:prstGeom>
          <a:noFill/>
          <a:ln w="0">
            <a:noFill/>
            <a:prstDash val="solid"/>
          </a:ln>
        </p:spPr>
      </p:sp>
      <p:sp>
        <p:nvSpPr>
          <p:cNvPr id="6" name="矩形 5">
            <a:extLst>
              <a:ext uri="{FF2B5EF4-FFF2-40B4-BE49-F238E27FC236}">
                <a16:creationId xmlns:a16="http://schemas.microsoft.com/office/drawing/2014/main" id="{527F3671-BC97-4C72-BBF3-FB9C690BAD80}"/>
              </a:ext>
            </a:extLst>
          </p:cNvPr>
          <p:cNvSpPr>
            <a:spLocks noGrp="1"/>
          </p:cNvSpPr>
          <p:nvPr/>
        </p:nvSpPr>
        <p:spPr>
          <a:xfrm>
            <a:off x="2876550" y="1816472"/>
            <a:ext cx="1562100" cy="247650"/>
          </a:xfrm>
          <a:prstGeom prst="rect">
            <a:avLst/>
          </a:prstGeom>
          <a:noFill/>
          <a:ln w="0">
            <a:noFill/>
            <a:prstDash val="solid"/>
          </a:ln>
        </p:spPr>
        <p:txBody>
          <a:bodyPr wrap="square" lIns="0" tIns="0" rIns="0" bIns="0" anchor="ctr">
            <a:noAutofit/>
          </a:bodyPr>
          <a:lstStyle/>
          <a:p>
            <a:pPr algn="ctr">
              <a:buNone/>
              <a:defRPr sz="1238" b="1">
                <a:solidFill>
                  <a:srgbClr val="101214"/>
                </a:solidFill>
                <a:latin typeface="Helvetica Neue"/>
                <a:ea typeface="Helvetica Neue"/>
                <a:cs typeface="Helvetica Neue"/>
              </a:defRPr>
            </a:pPr>
            <a:r>
              <a:rPr sz="1238" b="1">
                <a:solidFill>
                  <a:srgbClr val="101214"/>
                </a:solidFill>
                <a:latin typeface="Helvetica Neue"/>
                <a:ea typeface="Helvetica Neue"/>
                <a:cs typeface="Helvetica Neue"/>
              </a:rPr>
              <a:t>具体做法</a:t>
            </a:r>
          </a:p>
        </p:txBody>
      </p:sp>
      <p:sp>
        <p:nvSpPr>
          <p:cNvPr id="7" name="矩形 6">
            <a:extLst>
              <a:ext uri="{FF2B5EF4-FFF2-40B4-BE49-F238E27FC236}">
                <a16:creationId xmlns:a16="http://schemas.microsoft.com/office/drawing/2014/main" id="{FAB166DE-5831-4A50-AC8E-4435B9D038E0}"/>
              </a:ext>
            </a:extLst>
          </p:cNvPr>
          <p:cNvSpPr>
            <a:spLocks noGrp="1"/>
          </p:cNvSpPr>
          <p:nvPr/>
        </p:nvSpPr>
        <p:spPr>
          <a:xfrm>
            <a:off x="4514850" y="1702172"/>
            <a:ext cx="1095375" cy="495300"/>
          </a:xfrm>
          <a:prstGeom prst="rect">
            <a:avLst/>
          </a:prstGeom>
          <a:noFill/>
          <a:ln w="0">
            <a:noFill/>
            <a:prstDash val="solid"/>
          </a:ln>
        </p:spPr>
      </p:sp>
      <p:sp>
        <p:nvSpPr>
          <p:cNvPr id="8" name="矩形 7">
            <a:extLst>
              <a:ext uri="{FF2B5EF4-FFF2-40B4-BE49-F238E27FC236}">
                <a16:creationId xmlns:a16="http://schemas.microsoft.com/office/drawing/2014/main" id="{D59DAF5E-D7E8-4A2B-AA09-715BD83157E9}"/>
              </a:ext>
            </a:extLst>
          </p:cNvPr>
          <p:cNvSpPr>
            <a:spLocks noGrp="1"/>
          </p:cNvSpPr>
          <p:nvPr/>
        </p:nvSpPr>
        <p:spPr>
          <a:xfrm>
            <a:off x="4591050" y="1816472"/>
            <a:ext cx="942975" cy="247650"/>
          </a:xfrm>
          <a:prstGeom prst="rect">
            <a:avLst/>
          </a:prstGeom>
          <a:noFill/>
          <a:ln w="0">
            <a:noFill/>
            <a:prstDash val="solid"/>
          </a:ln>
        </p:spPr>
        <p:txBody>
          <a:bodyPr wrap="square" lIns="0" tIns="0" rIns="0" bIns="0" anchor="ctr">
            <a:noAutofit/>
          </a:bodyPr>
          <a:lstStyle/>
          <a:p>
            <a:pPr algn="ctr">
              <a:buNone/>
              <a:defRPr sz="1238" b="1">
                <a:solidFill>
                  <a:srgbClr val="101214"/>
                </a:solidFill>
                <a:latin typeface="Helvetica Neue"/>
                <a:ea typeface="Helvetica Neue"/>
                <a:cs typeface="Helvetica Neue"/>
              </a:defRPr>
            </a:pPr>
            <a:r>
              <a:rPr sz="1238" b="1">
                <a:solidFill>
                  <a:srgbClr val="101214"/>
                </a:solidFill>
                <a:latin typeface="Helvetica Neue"/>
                <a:ea typeface="Helvetica Neue"/>
                <a:cs typeface="Helvetica Neue"/>
              </a:rPr>
              <a:t>作用对象</a:t>
            </a:r>
          </a:p>
        </p:txBody>
      </p:sp>
      <p:sp>
        <p:nvSpPr>
          <p:cNvPr id="9" name="矩形 8">
            <a:extLst>
              <a:ext uri="{FF2B5EF4-FFF2-40B4-BE49-F238E27FC236}">
                <a16:creationId xmlns:a16="http://schemas.microsoft.com/office/drawing/2014/main" id="{51583A0D-D4D3-4359-B710-AF34F2A387E9}"/>
              </a:ext>
            </a:extLst>
          </p:cNvPr>
          <p:cNvSpPr>
            <a:spLocks noGrp="1"/>
          </p:cNvSpPr>
          <p:nvPr/>
        </p:nvSpPr>
        <p:spPr>
          <a:xfrm>
            <a:off x="5610225" y="1702172"/>
            <a:ext cx="1238250" cy="495300"/>
          </a:xfrm>
          <a:prstGeom prst="rect">
            <a:avLst/>
          </a:prstGeom>
          <a:noFill/>
          <a:ln w="0">
            <a:noFill/>
            <a:prstDash val="solid"/>
          </a:ln>
        </p:spPr>
      </p:sp>
      <p:sp>
        <p:nvSpPr>
          <p:cNvPr id="10" name="矩形 9">
            <a:extLst>
              <a:ext uri="{FF2B5EF4-FFF2-40B4-BE49-F238E27FC236}">
                <a16:creationId xmlns:a16="http://schemas.microsoft.com/office/drawing/2014/main" id="{1661B3B3-6E40-4E04-8905-9D85B222079F}"/>
              </a:ext>
            </a:extLst>
          </p:cNvPr>
          <p:cNvSpPr>
            <a:spLocks noGrp="1"/>
          </p:cNvSpPr>
          <p:nvPr/>
        </p:nvSpPr>
        <p:spPr>
          <a:xfrm>
            <a:off x="5686425" y="1816472"/>
            <a:ext cx="1085850" cy="247650"/>
          </a:xfrm>
          <a:prstGeom prst="rect">
            <a:avLst/>
          </a:prstGeom>
          <a:noFill/>
          <a:ln w="0">
            <a:noFill/>
            <a:prstDash val="solid"/>
          </a:ln>
        </p:spPr>
        <p:txBody>
          <a:bodyPr wrap="square" lIns="0" tIns="0" rIns="0" bIns="0" anchor="ctr">
            <a:noAutofit/>
          </a:bodyPr>
          <a:lstStyle/>
          <a:p>
            <a:pPr algn="ctr">
              <a:buNone/>
              <a:defRPr sz="1238" b="1">
                <a:solidFill>
                  <a:srgbClr val="101214"/>
                </a:solidFill>
                <a:latin typeface="Helvetica Neue"/>
                <a:ea typeface="Helvetica Neue"/>
                <a:cs typeface="Helvetica Neue"/>
              </a:defRPr>
            </a:pPr>
            <a:r>
              <a:rPr sz="1238" b="1">
                <a:solidFill>
                  <a:srgbClr val="101214"/>
                </a:solidFill>
                <a:latin typeface="Helvetica Neue"/>
                <a:ea typeface="Helvetica Neue"/>
                <a:cs typeface="Helvetica Neue"/>
              </a:rPr>
              <a:t>直接效果</a:t>
            </a:r>
          </a:p>
        </p:txBody>
      </p:sp>
      <p:sp>
        <p:nvSpPr>
          <p:cNvPr id="11" name="矩形 10">
            <a:extLst>
              <a:ext uri="{FF2B5EF4-FFF2-40B4-BE49-F238E27FC236}">
                <a16:creationId xmlns:a16="http://schemas.microsoft.com/office/drawing/2014/main" id="{D55A3D79-B804-4FD4-BD1F-7C1B92FA6CCB}"/>
              </a:ext>
            </a:extLst>
          </p:cNvPr>
          <p:cNvSpPr>
            <a:spLocks noGrp="1"/>
          </p:cNvSpPr>
          <p:nvPr/>
        </p:nvSpPr>
        <p:spPr>
          <a:xfrm>
            <a:off x="6848475" y="1702172"/>
            <a:ext cx="1285875" cy="495300"/>
          </a:xfrm>
          <a:prstGeom prst="rect">
            <a:avLst/>
          </a:prstGeom>
          <a:noFill/>
          <a:ln w="0">
            <a:noFill/>
            <a:prstDash val="solid"/>
          </a:ln>
        </p:spPr>
      </p:sp>
      <p:sp>
        <p:nvSpPr>
          <p:cNvPr id="12" name="矩形 11">
            <a:extLst>
              <a:ext uri="{FF2B5EF4-FFF2-40B4-BE49-F238E27FC236}">
                <a16:creationId xmlns:a16="http://schemas.microsoft.com/office/drawing/2014/main" id="{0F307A39-9CD3-47B3-BA77-BA2C5AD39DD8}"/>
              </a:ext>
            </a:extLst>
          </p:cNvPr>
          <p:cNvSpPr>
            <a:spLocks noGrp="1"/>
          </p:cNvSpPr>
          <p:nvPr/>
        </p:nvSpPr>
        <p:spPr>
          <a:xfrm>
            <a:off x="6924675" y="1816472"/>
            <a:ext cx="1133475" cy="247650"/>
          </a:xfrm>
          <a:prstGeom prst="rect">
            <a:avLst/>
          </a:prstGeom>
          <a:noFill/>
          <a:ln w="0">
            <a:noFill/>
            <a:prstDash val="solid"/>
          </a:ln>
        </p:spPr>
        <p:txBody>
          <a:bodyPr wrap="square" lIns="0" tIns="0" rIns="0" bIns="0" anchor="ctr">
            <a:noAutofit/>
          </a:bodyPr>
          <a:lstStyle/>
          <a:p>
            <a:pPr algn="ctr">
              <a:buNone/>
              <a:defRPr sz="1238" b="1">
                <a:solidFill>
                  <a:srgbClr val="101214"/>
                </a:solidFill>
                <a:latin typeface="Helvetica Neue"/>
                <a:ea typeface="Helvetica Neue"/>
                <a:cs typeface="Helvetica Neue"/>
              </a:defRPr>
            </a:pPr>
            <a:r>
              <a:rPr sz="1238" b="1">
                <a:solidFill>
                  <a:srgbClr val="101214"/>
                </a:solidFill>
                <a:latin typeface="Helvetica Neue"/>
                <a:ea typeface="Helvetica Neue"/>
                <a:cs typeface="Helvetica Neue"/>
              </a:rPr>
              <a:t>主要局限</a:t>
            </a:r>
          </a:p>
        </p:txBody>
      </p:sp>
      <p:sp>
        <p:nvSpPr>
          <p:cNvPr id="13" name="矩形 12">
            <a:extLst>
              <a:ext uri="{FF2B5EF4-FFF2-40B4-BE49-F238E27FC236}">
                <a16:creationId xmlns:a16="http://schemas.microsoft.com/office/drawing/2014/main" id="{B1764E59-E2B2-497C-9244-76FE4F08B3BC}"/>
              </a:ext>
            </a:extLst>
          </p:cNvPr>
          <p:cNvSpPr>
            <a:spLocks noGrp="1"/>
          </p:cNvSpPr>
          <p:nvPr/>
        </p:nvSpPr>
        <p:spPr>
          <a:xfrm>
            <a:off x="419100" y="2197472"/>
            <a:ext cx="2381250" cy="552450"/>
          </a:xfrm>
          <a:prstGeom prst="rect">
            <a:avLst/>
          </a:prstGeom>
          <a:noFill/>
          <a:ln w="0">
            <a:noFill/>
            <a:prstDash val="solid"/>
          </a:ln>
        </p:spPr>
      </p:sp>
      <p:sp>
        <p:nvSpPr>
          <p:cNvPr id="14" name="矩形 13">
            <a:extLst>
              <a:ext uri="{FF2B5EF4-FFF2-40B4-BE49-F238E27FC236}">
                <a16:creationId xmlns:a16="http://schemas.microsoft.com/office/drawing/2014/main" id="{1B1B748D-C1D6-4681-A3BA-58A82CB926FB}"/>
              </a:ext>
            </a:extLst>
          </p:cNvPr>
          <p:cNvSpPr>
            <a:spLocks noGrp="1"/>
          </p:cNvSpPr>
          <p:nvPr/>
        </p:nvSpPr>
        <p:spPr>
          <a:xfrm>
            <a:off x="495300" y="2264147"/>
            <a:ext cx="2228850" cy="419100"/>
          </a:xfrm>
          <a:prstGeom prst="rect">
            <a:avLst/>
          </a:prstGeom>
          <a:noFill/>
          <a:ln w="0">
            <a:noFill/>
            <a:prstDash val="solid"/>
          </a:ln>
        </p:spPr>
        <p:txBody>
          <a:bodyPr wrap="square" lIns="0" tIns="0" rIns="0" bIns="0" anchor="ctr">
            <a:noAutofit/>
          </a:bodyPr>
          <a:lstStyle/>
          <a:p>
            <a:pPr algn="l">
              <a:lnSpc>
                <a:spcPct val="92000"/>
              </a:lnSpc>
              <a:buNone/>
              <a:defRPr sz="1065" b="0">
                <a:solidFill>
                  <a:srgbClr val="101214"/>
                </a:solidFill>
                <a:latin typeface="Helvetica Neue"/>
                <a:ea typeface="Helvetica Neue"/>
                <a:cs typeface="Helvetica Neue"/>
              </a:defRPr>
            </a:pPr>
            <a:r>
              <a:rPr sz="1065" b="0" dirty="0" err="1">
                <a:solidFill>
                  <a:srgbClr val="101214"/>
                </a:solidFill>
                <a:latin typeface="Times New Roman"/>
                <a:ea typeface="Times New Roman"/>
                <a:cs typeface="Times New Roman"/>
              </a:rPr>
              <a:t>全局正则</a:t>
            </a:r>
            <a:endParaRPr sz="1065" b="0" dirty="0">
              <a:solidFill>
                <a:srgbClr val="101214"/>
              </a:solidFill>
              <a:latin typeface="Times New Roman"/>
              <a:ea typeface="Times New Roman"/>
              <a:cs typeface="Times New Roman"/>
            </a:endParaRPr>
          </a:p>
          <a:p>
            <a:pPr algn="l">
              <a:lnSpc>
                <a:spcPct val="92000"/>
              </a:lnSpc>
              <a:buNone/>
              <a:defRPr sz="1065" b="0">
                <a:solidFill>
                  <a:srgbClr val="101214"/>
                </a:solidFill>
                <a:latin typeface="Helvetica Neue"/>
                <a:ea typeface="Helvetica Neue"/>
                <a:cs typeface="Helvetica Neue"/>
              </a:defRPr>
            </a:pPr>
            <a:r>
              <a:rPr sz="1065" b="0" dirty="0">
                <a:solidFill>
                  <a:srgbClr val="101214"/>
                </a:solidFill>
                <a:latin typeface="Times New Roman"/>
                <a:ea typeface="Times New Roman"/>
                <a:cs typeface="Times New Roman"/>
              </a:rPr>
              <a:t>Entropy Reg. / KL penalty</a:t>
            </a:r>
          </a:p>
        </p:txBody>
      </p:sp>
      <p:sp>
        <p:nvSpPr>
          <p:cNvPr id="15" name="矩形 14">
            <a:extLst>
              <a:ext uri="{FF2B5EF4-FFF2-40B4-BE49-F238E27FC236}">
                <a16:creationId xmlns:a16="http://schemas.microsoft.com/office/drawing/2014/main" id="{A544BEE2-645E-410E-98EB-CAE0B977512E}"/>
              </a:ext>
            </a:extLst>
          </p:cNvPr>
          <p:cNvSpPr>
            <a:spLocks noGrp="1"/>
          </p:cNvSpPr>
          <p:nvPr/>
        </p:nvSpPr>
        <p:spPr>
          <a:xfrm>
            <a:off x="2800350" y="2197472"/>
            <a:ext cx="1714500" cy="552450"/>
          </a:xfrm>
          <a:prstGeom prst="rect">
            <a:avLst/>
          </a:prstGeom>
          <a:noFill/>
          <a:ln w="0">
            <a:noFill/>
            <a:prstDash val="solid"/>
          </a:ln>
        </p:spPr>
      </p:sp>
      <p:sp>
        <p:nvSpPr>
          <p:cNvPr id="16" name="矩形 15">
            <a:extLst>
              <a:ext uri="{FF2B5EF4-FFF2-40B4-BE49-F238E27FC236}">
                <a16:creationId xmlns:a16="http://schemas.microsoft.com/office/drawing/2014/main" id="{AB41DFE4-0690-412F-A0BD-DC0D5612B8B1}"/>
              </a:ext>
            </a:extLst>
          </p:cNvPr>
          <p:cNvSpPr>
            <a:spLocks noGrp="1"/>
          </p:cNvSpPr>
          <p:nvPr/>
        </p:nvSpPr>
        <p:spPr>
          <a:xfrm>
            <a:off x="2876550" y="2264147"/>
            <a:ext cx="1562100" cy="419100"/>
          </a:xfrm>
          <a:prstGeom prst="rect">
            <a:avLst/>
          </a:prstGeom>
          <a:noFill/>
          <a:ln w="0">
            <a:noFill/>
            <a:prstDash val="solid"/>
          </a:ln>
        </p:spPr>
        <p:txBody>
          <a:bodyPr wrap="square" lIns="0" tIns="0" rIns="0" bIns="0" anchor="ctr">
            <a:noAutofit/>
          </a:bodyPr>
          <a:lstStyle/>
          <a:p>
            <a:pPr algn="ctr">
              <a:lnSpc>
                <a:spcPct val="92000"/>
              </a:lnSpc>
              <a:buNone/>
              <a:defRPr sz="1065" b="1">
                <a:solidFill>
                  <a:srgbClr val="101214"/>
                </a:solidFill>
                <a:latin typeface="Hiragino Sans GB"/>
                <a:ea typeface="Hiragino Sans GB"/>
                <a:cs typeface="Hiragino Sans GB"/>
              </a:defRPr>
            </a:pPr>
            <a:r>
              <a:rPr sz="1065" b="1">
                <a:solidFill>
                  <a:srgbClr val="101214"/>
                </a:solidFill>
                <a:latin typeface="Hiragino Sans GB"/>
                <a:ea typeface="Hiragino Sans GB"/>
                <a:cs typeface="Hiragino Sans GB"/>
              </a:rPr>
              <a:t>loss 加熵奖励</a:t>
            </a:r>
          </a:p>
          <a:p>
            <a:pPr algn="ctr">
              <a:lnSpc>
                <a:spcPct val="92000"/>
              </a:lnSpc>
              <a:buNone/>
              <a:defRPr sz="1065" b="1">
                <a:solidFill>
                  <a:srgbClr val="101214"/>
                </a:solidFill>
                <a:latin typeface="Hiragino Sans GB"/>
                <a:ea typeface="Hiragino Sans GB"/>
                <a:cs typeface="Hiragino Sans GB"/>
              </a:defRPr>
            </a:pPr>
            <a:r>
              <a:rPr sz="1065" b="1">
                <a:solidFill>
                  <a:srgbClr val="101214"/>
                </a:solidFill>
                <a:latin typeface="Hiragino Sans GB"/>
                <a:ea typeface="Hiragino Sans GB"/>
                <a:cs typeface="Hiragino Sans GB"/>
              </a:rPr>
              <a:t>或 KL 惩罚</a:t>
            </a:r>
          </a:p>
        </p:txBody>
      </p:sp>
      <p:sp>
        <p:nvSpPr>
          <p:cNvPr id="17" name="矩形 16">
            <a:extLst>
              <a:ext uri="{FF2B5EF4-FFF2-40B4-BE49-F238E27FC236}">
                <a16:creationId xmlns:a16="http://schemas.microsoft.com/office/drawing/2014/main" id="{B44FCC48-2BA2-479A-A6DE-8C7B2B3E650E}"/>
              </a:ext>
            </a:extLst>
          </p:cNvPr>
          <p:cNvSpPr>
            <a:spLocks noGrp="1"/>
          </p:cNvSpPr>
          <p:nvPr/>
        </p:nvSpPr>
        <p:spPr>
          <a:xfrm>
            <a:off x="4514850" y="2197472"/>
            <a:ext cx="1095375" cy="552450"/>
          </a:xfrm>
          <a:prstGeom prst="rect">
            <a:avLst/>
          </a:prstGeom>
          <a:noFill/>
          <a:ln w="0">
            <a:noFill/>
            <a:prstDash val="solid"/>
          </a:ln>
        </p:spPr>
      </p:sp>
      <p:sp>
        <p:nvSpPr>
          <p:cNvPr id="18" name="矩形 17">
            <a:extLst>
              <a:ext uri="{FF2B5EF4-FFF2-40B4-BE49-F238E27FC236}">
                <a16:creationId xmlns:a16="http://schemas.microsoft.com/office/drawing/2014/main" id="{41F6B779-0969-48B4-BF69-775C3E7730AE}"/>
              </a:ext>
            </a:extLst>
          </p:cNvPr>
          <p:cNvSpPr>
            <a:spLocks noGrp="1"/>
          </p:cNvSpPr>
          <p:nvPr/>
        </p:nvSpPr>
        <p:spPr>
          <a:xfrm>
            <a:off x="4591050" y="2264147"/>
            <a:ext cx="942975" cy="419100"/>
          </a:xfrm>
          <a:prstGeom prst="rect">
            <a:avLst/>
          </a:prstGeom>
          <a:noFill/>
          <a:ln w="0">
            <a:noFill/>
            <a:prstDash val="solid"/>
          </a:ln>
        </p:spPr>
        <p:txBody>
          <a:bodyPr wrap="square" lIns="0" tIns="0" rIns="0" bIns="0" anchor="ctr">
            <a:noAutofit/>
          </a:bodyPr>
          <a:lstStyle/>
          <a:p>
            <a:pPr algn="ctr">
              <a:lnSpc>
                <a:spcPct val="92000"/>
              </a:lnSpc>
              <a:buNone/>
              <a:defRPr sz="1065" b="1">
                <a:solidFill>
                  <a:srgbClr val="101214"/>
                </a:solidFill>
                <a:latin typeface="Hiragino Sans GB"/>
                <a:ea typeface="Hiragino Sans GB"/>
                <a:cs typeface="Hiragino Sans GB"/>
              </a:defRPr>
            </a:pPr>
            <a:r>
              <a:rPr sz="1065" b="1">
                <a:solidFill>
                  <a:srgbClr val="101214"/>
                </a:solidFill>
                <a:latin typeface="Hiragino Sans GB"/>
                <a:ea typeface="Hiragino Sans GB"/>
                <a:cs typeface="Hiragino Sans GB"/>
              </a:rPr>
              <a:t>所有 token</a:t>
            </a:r>
          </a:p>
          <a:p>
            <a:pPr algn="ctr">
              <a:lnSpc>
                <a:spcPct val="92000"/>
              </a:lnSpc>
              <a:buNone/>
              <a:defRPr sz="1065" b="1">
                <a:solidFill>
                  <a:srgbClr val="101214"/>
                </a:solidFill>
                <a:latin typeface="Hiragino Sans GB"/>
                <a:ea typeface="Hiragino Sans GB"/>
                <a:cs typeface="Hiragino Sans GB"/>
              </a:defRPr>
            </a:pPr>
            <a:r>
              <a:rPr sz="1065" b="1">
                <a:solidFill>
                  <a:srgbClr val="101214"/>
                </a:solidFill>
                <a:latin typeface="Hiragino Sans GB"/>
                <a:ea typeface="Hiragino Sans GB"/>
                <a:cs typeface="Hiragino Sans GB"/>
              </a:rPr>
              <a:t>（全局）</a:t>
            </a:r>
          </a:p>
        </p:txBody>
      </p:sp>
      <p:sp>
        <p:nvSpPr>
          <p:cNvPr id="19" name="矩形 18">
            <a:extLst>
              <a:ext uri="{FF2B5EF4-FFF2-40B4-BE49-F238E27FC236}">
                <a16:creationId xmlns:a16="http://schemas.microsoft.com/office/drawing/2014/main" id="{F88528FC-8816-4745-872B-F85E5DB53DD5}"/>
              </a:ext>
            </a:extLst>
          </p:cNvPr>
          <p:cNvSpPr>
            <a:spLocks noGrp="1"/>
          </p:cNvSpPr>
          <p:nvPr/>
        </p:nvSpPr>
        <p:spPr>
          <a:xfrm>
            <a:off x="5610225" y="2197472"/>
            <a:ext cx="1238250" cy="552450"/>
          </a:xfrm>
          <a:prstGeom prst="rect">
            <a:avLst/>
          </a:prstGeom>
          <a:noFill/>
          <a:ln w="0">
            <a:noFill/>
            <a:prstDash val="solid"/>
          </a:ln>
        </p:spPr>
      </p:sp>
      <p:sp>
        <p:nvSpPr>
          <p:cNvPr id="20" name="矩形 19">
            <a:extLst>
              <a:ext uri="{FF2B5EF4-FFF2-40B4-BE49-F238E27FC236}">
                <a16:creationId xmlns:a16="http://schemas.microsoft.com/office/drawing/2014/main" id="{0C1B1A86-2D48-4AE6-B63F-0D224A9AA623}"/>
              </a:ext>
            </a:extLst>
          </p:cNvPr>
          <p:cNvSpPr>
            <a:spLocks noGrp="1"/>
          </p:cNvSpPr>
          <p:nvPr/>
        </p:nvSpPr>
        <p:spPr>
          <a:xfrm>
            <a:off x="5686425" y="2264147"/>
            <a:ext cx="1085850" cy="419100"/>
          </a:xfrm>
          <a:prstGeom prst="rect">
            <a:avLst/>
          </a:prstGeom>
          <a:noFill/>
          <a:ln w="0">
            <a:noFill/>
            <a:prstDash val="solid"/>
          </a:ln>
        </p:spPr>
        <p:txBody>
          <a:bodyPr wrap="square" lIns="0" tIns="0" rIns="0" bIns="0" anchor="ctr">
            <a:noAutofit/>
          </a:bodyPr>
          <a:lstStyle/>
          <a:p>
            <a:pPr algn="ctr">
              <a:lnSpc>
                <a:spcPct val="92000"/>
              </a:lnSpc>
              <a:buNone/>
              <a:defRPr sz="1065" b="1">
                <a:solidFill>
                  <a:srgbClr val="101214"/>
                </a:solidFill>
                <a:latin typeface="Hiragino Sans GB"/>
                <a:ea typeface="Hiragino Sans GB"/>
                <a:cs typeface="Hiragino Sans GB"/>
              </a:defRPr>
            </a:pPr>
            <a:r>
              <a:rPr sz="1065" b="1">
                <a:solidFill>
                  <a:srgbClr val="101214"/>
                </a:solidFill>
                <a:latin typeface="Hiragino Sans GB"/>
                <a:ea typeface="Hiragino Sans GB"/>
                <a:cs typeface="Hiragino Sans GB"/>
              </a:rPr>
              <a:t>简单；延缓</a:t>
            </a:r>
          </a:p>
          <a:p>
            <a:pPr algn="ctr">
              <a:lnSpc>
                <a:spcPct val="92000"/>
              </a:lnSpc>
              <a:buNone/>
              <a:defRPr sz="1065" b="1">
                <a:solidFill>
                  <a:srgbClr val="101214"/>
                </a:solidFill>
                <a:latin typeface="Hiragino Sans GB"/>
                <a:ea typeface="Hiragino Sans GB"/>
                <a:cs typeface="Hiragino Sans GB"/>
              </a:defRPr>
            </a:pPr>
            <a:r>
              <a:rPr sz="1065" b="1">
                <a:solidFill>
                  <a:srgbClr val="101214"/>
                </a:solidFill>
                <a:latin typeface="Hiragino Sans GB"/>
                <a:ea typeface="Hiragino Sans GB"/>
                <a:cs typeface="Hiragino Sans GB"/>
              </a:rPr>
              <a:t>整体降熵</a:t>
            </a:r>
          </a:p>
        </p:txBody>
      </p:sp>
      <p:sp>
        <p:nvSpPr>
          <p:cNvPr id="21" name="矩形 20">
            <a:extLst>
              <a:ext uri="{FF2B5EF4-FFF2-40B4-BE49-F238E27FC236}">
                <a16:creationId xmlns:a16="http://schemas.microsoft.com/office/drawing/2014/main" id="{C6A38D6C-F8BB-4674-917B-D5BB559FB21A}"/>
              </a:ext>
            </a:extLst>
          </p:cNvPr>
          <p:cNvSpPr>
            <a:spLocks noGrp="1"/>
          </p:cNvSpPr>
          <p:nvPr/>
        </p:nvSpPr>
        <p:spPr>
          <a:xfrm>
            <a:off x="6848475" y="2197472"/>
            <a:ext cx="1285875" cy="552450"/>
          </a:xfrm>
          <a:prstGeom prst="rect">
            <a:avLst/>
          </a:prstGeom>
          <a:noFill/>
          <a:ln w="0">
            <a:noFill/>
            <a:prstDash val="solid"/>
          </a:ln>
        </p:spPr>
      </p:sp>
      <p:sp>
        <p:nvSpPr>
          <p:cNvPr id="22" name="矩形 21">
            <a:extLst>
              <a:ext uri="{FF2B5EF4-FFF2-40B4-BE49-F238E27FC236}">
                <a16:creationId xmlns:a16="http://schemas.microsoft.com/office/drawing/2014/main" id="{DD179585-1123-4E1F-83FC-68028CAA2B86}"/>
              </a:ext>
            </a:extLst>
          </p:cNvPr>
          <p:cNvSpPr>
            <a:spLocks noGrp="1"/>
          </p:cNvSpPr>
          <p:nvPr/>
        </p:nvSpPr>
        <p:spPr>
          <a:xfrm>
            <a:off x="6924675" y="2264147"/>
            <a:ext cx="1133475" cy="419100"/>
          </a:xfrm>
          <a:prstGeom prst="rect">
            <a:avLst/>
          </a:prstGeom>
          <a:noFill/>
          <a:ln w="0">
            <a:noFill/>
            <a:prstDash val="solid"/>
          </a:ln>
        </p:spPr>
        <p:txBody>
          <a:bodyPr wrap="square" lIns="0" tIns="0" rIns="0" bIns="0" anchor="ctr">
            <a:noAutofit/>
          </a:bodyPr>
          <a:lstStyle/>
          <a:p>
            <a:pPr algn="ctr">
              <a:lnSpc>
                <a:spcPct val="92000"/>
              </a:lnSpc>
              <a:buNone/>
              <a:defRPr sz="1020" b="1">
                <a:solidFill>
                  <a:srgbClr val="101214"/>
                </a:solidFill>
                <a:latin typeface="Hiragino Sans GB"/>
                <a:ea typeface="Hiragino Sans GB"/>
                <a:cs typeface="Hiragino Sans GB"/>
              </a:defRPr>
            </a:pPr>
            <a:r>
              <a:rPr sz="1020" b="1">
                <a:solidFill>
                  <a:srgbClr val="101214"/>
                </a:solidFill>
                <a:latin typeface="Hiragino Sans GB"/>
                <a:ea typeface="Hiragino Sans GB"/>
                <a:cs typeface="Hiragino Sans GB"/>
              </a:rPr>
              <a:t>无法定位局部坍缩</a:t>
            </a:r>
          </a:p>
          <a:p>
            <a:pPr algn="ctr">
              <a:lnSpc>
                <a:spcPct val="92000"/>
              </a:lnSpc>
              <a:buNone/>
              <a:defRPr sz="1020" b="1">
                <a:solidFill>
                  <a:srgbClr val="101214"/>
                </a:solidFill>
                <a:latin typeface="Hiragino Sans GB"/>
                <a:ea typeface="Hiragino Sans GB"/>
                <a:cs typeface="Hiragino Sans GB"/>
              </a:defRPr>
            </a:pPr>
            <a:r>
              <a:rPr sz="1020" b="1">
                <a:solidFill>
                  <a:srgbClr val="101214"/>
                </a:solidFill>
                <a:latin typeface="Hiragino Sans GB"/>
                <a:ea typeface="Hiragino Sans GB"/>
                <a:cs typeface="Hiragino Sans GB"/>
              </a:rPr>
              <a:t>系数敏感</a:t>
            </a:r>
          </a:p>
        </p:txBody>
      </p:sp>
      <p:sp>
        <p:nvSpPr>
          <p:cNvPr id="23" name="矩形 22">
            <a:extLst>
              <a:ext uri="{FF2B5EF4-FFF2-40B4-BE49-F238E27FC236}">
                <a16:creationId xmlns:a16="http://schemas.microsoft.com/office/drawing/2014/main" id="{521E9759-070E-4AFD-B52E-C4570BB482E6}"/>
              </a:ext>
            </a:extLst>
          </p:cNvPr>
          <p:cNvSpPr>
            <a:spLocks noGrp="1"/>
          </p:cNvSpPr>
          <p:nvPr/>
        </p:nvSpPr>
        <p:spPr>
          <a:xfrm>
            <a:off x="419100" y="2749922"/>
            <a:ext cx="2381250" cy="552450"/>
          </a:xfrm>
          <a:prstGeom prst="rect">
            <a:avLst/>
          </a:prstGeom>
          <a:noFill/>
          <a:ln w="0">
            <a:noFill/>
            <a:prstDash val="solid"/>
          </a:ln>
        </p:spPr>
      </p:sp>
      <p:sp>
        <p:nvSpPr>
          <p:cNvPr id="24" name="矩形 23">
            <a:extLst>
              <a:ext uri="{FF2B5EF4-FFF2-40B4-BE49-F238E27FC236}">
                <a16:creationId xmlns:a16="http://schemas.microsoft.com/office/drawing/2014/main" id="{F00600BA-2E17-4A79-8B8C-33BD53830453}"/>
              </a:ext>
            </a:extLst>
          </p:cNvPr>
          <p:cNvSpPr>
            <a:spLocks noGrp="1"/>
          </p:cNvSpPr>
          <p:nvPr/>
        </p:nvSpPr>
        <p:spPr>
          <a:xfrm>
            <a:off x="495300" y="2816597"/>
            <a:ext cx="2228850" cy="419100"/>
          </a:xfrm>
          <a:prstGeom prst="rect">
            <a:avLst/>
          </a:prstGeom>
          <a:noFill/>
          <a:ln w="0">
            <a:noFill/>
            <a:prstDash val="solid"/>
          </a:ln>
        </p:spPr>
        <p:txBody>
          <a:bodyPr wrap="square" lIns="0" tIns="0" rIns="0" bIns="0" anchor="ctr">
            <a:noAutofit/>
          </a:bodyPr>
          <a:lstStyle/>
          <a:p>
            <a:pPr algn="l">
              <a:lnSpc>
                <a:spcPct val="92000"/>
              </a:lnSpc>
              <a:buNone/>
              <a:defRPr sz="1065" b="0">
                <a:solidFill>
                  <a:srgbClr val="101214"/>
                </a:solidFill>
                <a:latin typeface="Helvetica Neue"/>
                <a:ea typeface="Helvetica Neue"/>
                <a:cs typeface="Helvetica Neue"/>
              </a:defRPr>
            </a:pPr>
            <a:r>
              <a:rPr sz="1065" b="0">
                <a:solidFill>
                  <a:srgbClr val="101214"/>
                </a:solidFill>
                <a:latin typeface="Times New Roman"/>
                <a:ea typeface="Times New Roman"/>
                <a:cs typeface="Times New Roman"/>
              </a:rPr>
              <a:t>Clip-Higher</a:t>
            </a:r>
          </a:p>
          <a:p>
            <a:pPr algn="l">
              <a:lnSpc>
                <a:spcPct val="92000"/>
              </a:lnSpc>
              <a:buNone/>
              <a:defRPr sz="1065" b="0">
                <a:solidFill>
                  <a:srgbClr val="101214"/>
                </a:solidFill>
                <a:latin typeface="Helvetica Neue"/>
                <a:ea typeface="Helvetica Neue"/>
                <a:cs typeface="Helvetica Neue"/>
              </a:defRPr>
            </a:pPr>
            <a:r>
              <a:rPr sz="1065" b="0">
                <a:solidFill>
                  <a:srgbClr val="101214"/>
                </a:solidFill>
                <a:latin typeface="Times New Roman"/>
                <a:ea typeface="Times New Roman"/>
                <a:cs typeface="Times New Roman"/>
              </a:rPr>
              <a:t>DAPO / DCPO</a:t>
            </a:r>
          </a:p>
        </p:txBody>
      </p:sp>
      <p:sp>
        <p:nvSpPr>
          <p:cNvPr id="25" name="矩形 24">
            <a:extLst>
              <a:ext uri="{FF2B5EF4-FFF2-40B4-BE49-F238E27FC236}">
                <a16:creationId xmlns:a16="http://schemas.microsoft.com/office/drawing/2014/main" id="{7B90B445-7364-4875-AA32-CA4C6F17A730}"/>
              </a:ext>
            </a:extLst>
          </p:cNvPr>
          <p:cNvSpPr>
            <a:spLocks noGrp="1"/>
          </p:cNvSpPr>
          <p:nvPr/>
        </p:nvSpPr>
        <p:spPr>
          <a:xfrm>
            <a:off x="2800350" y="2749922"/>
            <a:ext cx="1714500" cy="552450"/>
          </a:xfrm>
          <a:prstGeom prst="rect">
            <a:avLst/>
          </a:prstGeom>
          <a:noFill/>
          <a:ln w="0">
            <a:noFill/>
            <a:prstDash val="solid"/>
          </a:ln>
        </p:spPr>
      </p:sp>
      <p:sp>
        <p:nvSpPr>
          <p:cNvPr id="26" name="矩形 25">
            <a:extLst>
              <a:ext uri="{FF2B5EF4-FFF2-40B4-BE49-F238E27FC236}">
                <a16:creationId xmlns:a16="http://schemas.microsoft.com/office/drawing/2014/main" id="{D96EE49C-83A0-44D0-BAD5-AF15ECFCC110}"/>
              </a:ext>
            </a:extLst>
          </p:cNvPr>
          <p:cNvSpPr>
            <a:spLocks noGrp="1"/>
          </p:cNvSpPr>
          <p:nvPr/>
        </p:nvSpPr>
        <p:spPr>
          <a:xfrm>
            <a:off x="2876550" y="2816597"/>
            <a:ext cx="1562100" cy="419100"/>
          </a:xfrm>
          <a:prstGeom prst="rect">
            <a:avLst/>
          </a:prstGeom>
          <a:noFill/>
          <a:ln w="0">
            <a:noFill/>
            <a:prstDash val="solid"/>
          </a:ln>
        </p:spPr>
        <p:txBody>
          <a:bodyPr wrap="square" lIns="0" tIns="0" rIns="0" bIns="0" anchor="ctr">
            <a:noAutofit/>
          </a:bodyPr>
          <a:lstStyle/>
          <a:p>
            <a:pPr algn="ctr">
              <a:lnSpc>
                <a:spcPct val="92000"/>
              </a:lnSpc>
              <a:buNone/>
              <a:defRPr sz="1065" b="1">
                <a:solidFill>
                  <a:srgbClr val="101214"/>
                </a:solidFill>
                <a:latin typeface="Hiragino Sans GB"/>
                <a:ea typeface="Hiragino Sans GB"/>
                <a:cs typeface="Hiragino Sans GB"/>
              </a:defRPr>
            </a:pPr>
            <a:r>
              <a:rPr sz="1065" b="1">
                <a:solidFill>
                  <a:srgbClr val="101214"/>
                </a:solidFill>
                <a:latin typeface="Hiragino Sans GB"/>
                <a:ea typeface="Hiragino Sans GB"/>
                <a:cs typeface="Hiragino Sans GB"/>
              </a:rPr>
              <a:t>放宽正优势 token</a:t>
            </a:r>
          </a:p>
          <a:p>
            <a:pPr algn="ctr">
              <a:lnSpc>
                <a:spcPct val="92000"/>
              </a:lnSpc>
              <a:buNone/>
              <a:defRPr sz="1065" b="1">
                <a:solidFill>
                  <a:srgbClr val="101214"/>
                </a:solidFill>
                <a:latin typeface="Hiragino Sans GB"/>
                <a:ea typeface="Hiragino Sans GB"/>
                <a:cs typeface="Hiragino Sans GB"/>
              </a:defRPr>
            </a:pPr>
            <a:r>
              <a:rPr sz="1065" b="1">
                <a:solidFill>
                  <a:srgbClr val="101214"/>
                </a:solidFill>
                <a:latin typeface="Hiragino Sans GB"/>
                <a:ea typeface="Hiragino Sans GB"/>
                <a:cs typeface="Hiragino Sans GB"/>
              </a:rPr>
              <a:t>的上裁剪界</a:t>
            </a:r>
          </a:p>
        </p:txBody>
      </p:sp>
      <p:sp>
        <p:nvSpPr>
          <p:cNvPr id="27" name="矩形 26">
            <a:extLst>
              <a:ext uri="{FF2B5EF4-FFF2-40B4-BE49-F238E27FC236}">
                <a16:creationId xmlns:a16="http://schemas.microsoft.com/office/drawing/2014/main" id="{D6C9A1B9-18FA-45FD-9BC8-9F4C00C2BCB7}"/>
              </a:ext>
            </a:extLst>
          </p:cNvPr>
          <p:cNvSpPr>
            <a:spLocks noGrp="1"/>
          </p:cNvSpPr>
          <p:nvPr/>
        </p:nvSpPr>
        <p:spPr>
          <a:xfrm>
            <a:off x="4514850" y="2749922"/>
            <a:ext cx="1095375" cy="552450"/>
          </a:xfrm>
          <a:prstGeom prst="rect">
            <a:avLst/>
          </a:prstGeom>
          <a:noFill/>
          <a:ln w="0">
            <a:noFill/>
            <a:prstDash val="solid"/>
          </a:ln>
        </p:spPr>
      </p:sp>
      <p:sp>
        <p:nvSpPr>
          <p:cNvPr id="28" name="矩形 27">
            <a:extLst>
              <a:ext uri="{FF2B5EF4-FFF2-40B4-BE49-F238E27FC236}">
                <a16:creationId xmlns:a16="http://schemas.microsoft.com/office/drawing/2014/main" id="{EEE3FFC5-D6BC-4259-822B-FE0EE009BA80}"/>
              </a:ext>
            </a:extLst>
          </p:cNvPr>
          <p:cNvSpPr>
            <a:spLocks noGrp="1"/>
          </p:cNvSpPr>
          <p:nvPr/>
        </p:nvSpPr>
        <p:spPr>
          <a:xfrm>
            <a:off x="4591050" y="2816597"/>
            <a:ext cx="942975" cy="419100"/>
          </a:xfrm>
          <a:prstGeom prst="rect">
            <a:avLst/>
          </a:prstGeom>
          <a:noFill/>
          <a:ln w="0">
            <a:noFill/>
            <a:prstDash val="solid"/>
          </a:ln>
        </p:spPr>
        <p:txBody>
          <a:bodyPr wrap="square" lIns="0" tIns="0" rIns="0" bIns="0" anchor="ctr">
            <a:noAutofit/>
          </a:bodyPr>
          <a:lstStyle/>
          <a:p>
            <a:pPr algn="ctr">
              <a:lnSpc>
                <a:spcPct val="92000"/>
              </a:lnSpc>
              <a:buNone/>
              <a:defRPr sz="1065" b="1">
                <a:solidFill>
                  <a:srgbClr val="101214"/>
                </a:solidFill>
                <a:latin typeface="Hiragino Sans GB"/>
                <a:ea typeface="Hiragino Sans GB"/>
                <a:cs typeface="Hiragino Sans GB"/>
              </a:defRPr>
            </a:pPr>
            <a:r>
              <a:rPr sz="1065" b="1">
                <a:solidFill>
                  <a:srgbClr val="101214"/>
                </a:solidFill>
                <a:latin typeface="Hiragino Sans GB"/>
                <a:ea typeface="Hiragino Sans GB"/>
                <a:cs typeface="Hiragino Sans GB"/>
              </a:rPr>
              <a:t>低概率</a:t>
            </a:r>
          </a:p>
          <a:p>
            <a:pPr algn="ctr">
              <a:lnSpc>
                <a:spcPct val="92000"/>
              </a:lnSpc>
              <a:buNone/>
              <a:defRPr sz="1065" b="1">
                <a:solidFill>
                  <a:srgbClr val="101214"/>
                </a:solidFill>
                <a:latin typeface="Hiragino Sans GB"/>
                <a:ea typeface="Hiragino Sans GB"/>
                <a:cs typeface="Hiragino Sans GB"/>
              </a:defRPr>
            </a:pPr>
            <a:r>
              <a:rPr sz="1065" b="1">
                <a:solidFill>
                  <a:srgbClr val="101214"/>
                </a:solidFill>
                <a:latin typeface="Hiragino Sans GB"/>
                <a:ea typeface="Hiragino Sans GB"/>
                <a:cs typeface="Hiragino Sans GB"/>
              </a:rPr>
              <a:t>正 token</a:t>
            </a:r>
          </a:p>
        </p:txBody>
      </p:sp>
      <p:sp>
        <p:nvSpPr>
          <p:cNvPr id="29" name="矩形 28">
            <a:extLst>
              <a:ext uri="{FF2B5EF4-FFF2-40B4-BE49-F238E27FC236}">
                <a16:creationId xmlns:a16="http://schemas.microsoft.com/office/drawing/2014/main" id="{001776C4-5282-47CC-A0EB-145D3596E839}"/>
              </a:ext>
            </a:extLst>
          </p:cNvPr>
          <p:cNvSpPr>
            <a:spLocks noGrp="1"/>
          </p:cNvSpPr>
          <p:nvPr/>
        </p:nvSpPr>
        <p:spPr>
          <a:xfrm>
            <a:off x="5610225" y="2749922"/>
            <a:ext cx="1238250" cy="552450"/>
          </a:xfrm>
          <a:prstGeom prst="rect">
            <a:avLst/>
          </a:prstGeom>
          <a:noFill/>
          <a:ln w="0">
            <a:noFill/>
            <a:prstDash val="solid"/>
          </a:ln>
        </p:spPr>
      </p:sp>
      <p:sp>
        <p:nvSpPr>
          <p:cNvPr id="30" name="矩形 29">
            <a:extLst>
              <a:ext uri="{FF2B5EF4-FFF2-40B4-BE49-F238E27FC236}">
                <a16:creationId xmlns:a16="http://schemas.microsoft.com/office/drawing/2014/main" id="{23C401B2-77CA-41B7-A632-D11A34CDE341}"/>
              </a:ext>
            </a:extLst>
          </p:cNvPr>
          <p:cNvSpPr>
            <a:spLocks noGrp="1"/>
          </p:cNvSpPr>
          <p:nvPr/>
        </p:nvSpPr>
        <p:spPr>
          <a:xfrm>
            <a:off x="5686425" y="2816597"/>
            <a:ext cx="1085850" cy="419100"/>
          </a:xfrm>
          <a:prstGeom prst="rect">
            <a:avLst/>
          </a:prstGeom>
          <a:noFill/>
          <a:ln w="0">
            <a:noFill/>
            <a:prstDash val="solid"/>
          </a:ln>
        </p:spPr>
        <p:txBody>
          <a:bodyPr wrap="square" lIns="0" tIns="0" rIns="0" bIns="0" anchor="ctr">
            <a:noAutofit/>
          </a:bodyPr>
          <a:lstStyle/>
          <a:p>
            <a:pPr algn="ctr">
              <a:lnSpc>
                <a:spcPct val="92000"/>
              </a:lnSpc>
              <a:buNone/>
              <a:defRPr sz="1065" b="1">
                <a:solidFill>
                  <a:srgbClr val="101214"/>
                </a:solidFill>
                <a:latin typeface="Hiragino Sans GB"/>
                <a:ea typeface="Hiragino Sans GB"/>
                <a:cs typeface="Hiragino Sans GB"/>
              </a:defRPr>
            </a:pPr>
            <a:r>
              <a:rPr sz="1065" b="1">
                <a:solidFill>
                  <a:srgbClr val="101214"/>
                </a:solidFill>
                <a:latin typeface="Hiragino Sans GB"/>
                <a:ea typeface="Hiragino Sans GB"/>
                <a:cs typeface="Hiragino Sans GB"/>
              </a:rPr>
              <a:t>保留探索 token</a:t>
            </a:r>
          </a:p>
          <a:p>
            <a:pPr algn="ctr">
              <a:lnSpc>
                <a:spcPct val="92000"/>
              </a:lnSpc>
              <a:buNone/>
              <a:defRPr sz="1065" b="1">
                <a:solidFill>
                  <a:srgbClr val="101214"/>
                </a:solidFill>
                <a:latin typeface="Hiragino Sans GB"/>
                <a:ea typeface="Hiragino Sans GB"/>
                <a:cs typeface="Hiragino Sans GB"/>
              </a:defRPr>
            </a:pPr>
            <a:r>
              <a:rPr sz="1065" b="1">
                <a:solidFill>
                  <a:srgbClr val="101214"/>
                </a:solidFill>
                <a:latin typeface="Hiragino Sans GB"/>
                <a:ea typeface="Hiragino Sans GB"/>
                <a:cs typeface="Hiragino Sans GB"/>
              </a:rPr>
              <a:t>改动小</a:t>
            </a:r>
          </a:p>
        </p:txBody>
      </p:sp>
      <p:sp>
        <p:nvSpPr>
          <p:cNvPr id="31" name="矩形 30">
            <a:extLst>
              <a:ext uri="{FF2B5EF4-FFF2-40B4-BE49-F238E27FC236}">
                <a16:creationId xmlns:a16="http://schemas.microsoft.com/office/drawing/2014/main" id="{1D22A401-14DA-44F6-BE42-76DD65BD17E2}"/>
              </a:ext>
            </a:extLst>
          </p:cNvPr>
          <p:cNvSpPr>
            <a:spLocks noGrp="1"/>
          </p:cNvSpPr>
          <p:nvPr/>
        </p:nvSpPr>
        <p:spPr>
          <a:xfrm>
            <a:off x="6848475" y="2749922"/>
            <a:ext cx="1285875" cy="552450"/>
          </a:xfrm>
          <a:prstGeom prst="rect">
            <a:avLst/>
          </a:prstGeom>
          <a:noFill/>
          <a:ln w="0">
            <a:noFill/>
            <a:prstDash val="solid"/>
          </a:ln>
        </p:spPr>
      </p:sp>
      <p:sp>
        <p:nvSpPr>
          <p:cNvPr id="32" name="矩形 31">
            <a:extLst>
              <a:ext uri="{FF2B5EF4-FFF2-40B4-BE49-F238E27FC236}">
                <a16:creationId xmlns:a16="http://schemas.microsoft.com/office/drawing/2014/main" id="{E03B3BA2-EA28-4CC8-85B9-CBEFB03B7997}"/>
              </a:ext>
            </a:extLst>
          </p:cNvPr>
          <p:cNvSpPr>
            <a:spLocks noGrp="1"/>
          </p:cNvSpPr>
          <p:nvPr/>
        </p:nvSpPr>
        <p:spPr>
          <a:xfrm>
            <a:off x="6924675" y="2816597"/>
            <a:ext cx="1133475" cy="419100"/>
          </a:xfrm>
          <a:prstGeom prst="rect">
            <a:avLst/>
          </a:prstGeom>
          <a:noFill/>
          <a:ln w="0">
            <a:noFill/>
            <a:prstDash val="solid"/>
          </a:ln>
        </p:spPr>
        <p:txBody>
          <a:bodyPr wrap="square" lIns="0" tIns="0" rIns="0" bIns="0" anchor="ctr">
            <a:noAutofit/>
          </a:bodyPr>
          <a:lstStyle/>
          <a:p>
            <a:pPr algn="ctr">
              <a:lnSpc>
                <a:spcPct val="92000"/>
              </a:lnSpc>
              <a:buNone/>
              <a:defRPr sz="1020" b="1">
                <a:solidFill>
                  <a:srgbClr val="101214"/>
                </a:solidFill>
                <a:latin typeface="Hiragino Sans GB"/>
                <a:ea typeface="Hiragino Sans GB"/>
                <a:cs typeface="Hiragino Sans GB"/>
              </a:defRPr>
            </a:pPr>
            <a:r>
              <a:rPr sz="1020" b="1">
                <a:solidFill>
                  <a:srgbClr val="101214"/>
                </a:solidFill>
                <a:latin typeface="Hiragino Sans GB"/>
                <a:ea typeface="Hiragino Sans GB"/>
                <a:cs typeface="Hiragino Sans GB"/>
              </a:rPr>
              <a:t>仅作用于</a:t>
            </a:r>
          </a:p>
          <a:p>
            <a:pPr algn="ctr">
              <a:lnSpc>
                <a:spcPct val="92000"/>
              </a:lnSpc>
              <a:buNone/>
              <a:defRPr sz="1020" b="1">
                <a:solidFill>
                  <a:srgbClr val="101214"/>
                </a:solidFill>
                <a:latin typeface="Hiragino Sans GB"/>
                <a:ea typeface="Hiragino Sans GB"/>
                <a:cs typeface="Hiragino Sans GB"/>
              </a:defRPr>
            </a:pPr>
            <a:r>
              <a:rPr sz="1020" b="1">
                <a:solidFill>
                  <a:srgbClr val="101214"/>
                </a:solidFill>
                <a:latin typeface="Hiragino Sans GB"/>
                <a:ea typeface="Hiragino Sans GB"/>
                <a:cs typeface="Hiragino Sans GB"/>
              </a:rPr>
              <a:t>被裁剪 token</a:t>
            </a:r>
          </a:p>
        </p:txBody>
      </p:sp>
      <p:sp>
        <p:nvSpPr>
          <p:cNvPr id="33" name="矩形 32">
            <a:extLst>
              <a:ext uri="{FF2B5EF4-FFF2-40B4-BE49-F238E27FC236}">
                <a16:creationId xmlns:a16="http://schemas.microsoft.com/office/drawing/2014/main" id="{469DD025-3757-4F50-92AA-0705942FDA8C}"/>
              </a:ext>
            </a:extLst>
          </p:cNvPr>
          <p:cNvSpPr>
            <a:spLocks noGrp="1"/>
          </p:cNvSpPr>
          <p:nvPr/>
        </p:nvSpPr>
        <p:spPr>
          <a:xfrm>
            <a:off x="419100" y="3302372"/>
            <a:ext cx="2381250" cy="552450"/>
          </a:xfrm>
          <a:prstGeom prst="rect">
            <a:avLst/>
          </a:prstGeom>
          <a:noFill/>
          <a:ln w="0">
            <a:noFill/>
            <a:prstDash val="solid"/>
          </a:ln>
        </p:spPr>
      </p:sp>
      <p:sp>
        <p:nvSpPr>
          <p:cNvPr id="34" name="矩形 33">
            <a:extLst>
              <a:ext uri="{FF2B5EF4-FFF2-40B4-BE49-F238E27FC236}">
                <a16:creationId xmlns:a16="http://schemas.microsoft.com/office/drawing/2014/main" id="{3AF85728-E922-4968-AEB6-C4F3343C7895}"/>
              </a:ext>
            </a:extLst>
          </p:cNvPr>
          <p:cNvSpPr>
            <a:spLocks noGrp="1"/>
          </p:cNvSpPr>
          <p:nvPr/>
        </p:nvSpPr>
        <p:spPr>
          <a:xfrm>
            <a:off x="495300" y="3369047"/>
            <a:ext cx="2228850" cy="419100"/>
          </a:xfrm>
          <a:prstGeom prst="rect">
            <a:avLst/>
          </a:prstGeom>
          <a:noFill/>
          <a:ln w="0">
            <a:noFill/>
            <a:prstDash val="solid"/>
          </a:ln>
        </p:spPr>
        <p:txBody>
          <a:bodyPr wrap="square" lIns="0" tIns="0" rIns="0" bIns="0" anchor="ctr">
            <a:noAutofit/>
          </a:bodyPr>
          <a:lstStyle/>
          <a:p>
            <a:pPr algn="l">
              <a:lnSpc>
                <a:spcPct val="92000"/>
              </a:lnSpc>
              <a:buNone/>
              <a:defRPr sz="1065" b="0">
                <a:solidFill>
                  <a:srgbClr val="101214"/>
                </a:solidFill>
                <a:latin typeface="Helvetica Neue"/>
                <a:ea typeface="Helvetica Neue"/>
                <a:cs typeface="Helvetica Neue"/>
              </a:defRPr>
            </a:pPr>
            <a:r>
              <a:rPr sz="1065" b="0">
                <a:solidFill>
                  <a:srgbClr val="101214"/>
                </a:solidFill>
                <a:latin typeface="Times New Roman"/>
                <a:ea typeface="Times New Roman"/>
                <a:cs typeface="Times New Roman"/>
              </a:rPr>
              <a:t>正样本重加权</a:t>
            </a:r>
          </a:p>
          <a:p>
            <a:pPr algn="l">
              <a:lnSpc>
                <a:spcPct val="92000"/>
              </a:lnSpc>
              <a:buNone/>
              <a:defRPr sz="1065" b="0">
                <a:solidFill>
                  <a:srgbClr val="101214"/>
                </a:solidFill>
                <a:latin typeface="Helvetica Neue"/>
                <a:ea typeface="Helvetica Neue"/>
                <a:cs typeface="Helvetica Neue"/>
              </a:defRPr>
            </a:pPr>
            <a:r>
              <a:rPr sz="1065" b="0">
                <a:solidFill>
                  <a:srgbClr val="101214"/>
                </a:solidFill>
                <a:latin typeface="Times New Roman"/>
                <a:ea typeface="Times New Roman"/>
                <a:cs typeface="Times New Roman"/>
              </a:rPr>
              <a:t>Unlikeliness / W-REINFORCE</a:t>
            </a:r>
          </a:p>
        </p:txBody>
      </p:sp>
      <p:sp>
        <p:nvSpPr>
          <p:cNvPr id="35" name="矩形 34">
            <a:extLst>
              <a:ext uri="{FF2B5EF4-FFF2-40B4-BE49-F238E27FC236}">
                <a16:creationId xmlns:a16="http://schemas.microsoft.com/office/drawing/2014/main" id="{609A9541-E99A-438D-8F26-D0C32B9DD1F3}"/>
              </a:ext>
            </a:extLst>
          </p:cNvPr>
          <p:cNvSpPr>
            <a:spLocks noGrp="1"/>
          </p:cNvSpPr>
          <p:nvPr/>
        </p:nvSpPr>
        <p:spPr>
          <a:xfrm>
            <a:off x="2800350" y="3302372"/>
            <a:ext cx="1714500" cy="552450"/>
          </a:xfrm>
          <a:prstGeom prst="rect">
            <a:avLst/>
          </a:prstGeom>
          <a:noFill/>
          <a:ln w="0">
            <a:noFill/>
            <a:prstDash val="solid"/>
          </a:ln>
        </p:spPr>
      </p:sp>
      <p:sp>
        <p:nvSpPr>
          <p:cNvPr id="36" name="矩形 35">
            <a:extLst>
              <a:ext uri="{FF2B5EF4-FFF2-40B4-BE49-F238E27FC236}">
                <a16:creationId xmlns:a16="http://schemas.microsoft.com/office/drawing/2014/main" id="{304D2FAF-E146-43D6-8023-B7A9DA7BB1F4}"/>
              </a:ext>
            </a:extLst>
          </p:cNvPr>
          <p:cNvSpPr>
            <a:spLocks noGrp="1"/>
          </p:cNvSpPr>
          <p:nvPr/>
        </p:nvSpPr>
        <p:spPr>
          <a:xfrm>
            <a:off x="2876550" y="3369047"/>
            <a:ext cx="1562100" cy="419100"/>
          </a:xfrm>
          <a:prstGeom prst="rect">
            <a:avLst/>
          </a:prstGeom>
          <a:noFill/>
          <a:ln w="0">
            <a:noFill/>
            <a:prstDash val="solid"/>
          </a:ln>
        </p:spPr>
        <p:txBody>
          <a:bodyPr wrap="square" lIns="0" tIns="0" rIns="0" bIns="0" anchor="ctr">
            <a:noAutofit/>
          </a:bodyPr>
          <a:lstStyle/>
          <a:p>
            <a:pPr algn="ctr">
              <a:lnSpc>
                <a:spcPct val="92000"/>
              </a:lnSpc>
              <a:buNone/>
              <a:defRPr sz="1065" b="1">
                <a:solidFill>
                  <a:srgbClr val="101214"/>
                </a:solidFill>
                <a:latin typeface="Hiragino Sans GB"/>
                <a:ea typeface="Hiragino Sans GB"/>
                <a:cs typeface="Hiragino Sans GB"/>
              </a:defRPr>
            </a:pPr>
            <a:r>
              <a:rPr sz="1065" b="1">
                <a:solidFill>
                  <a:srgbClr val="101214"/>
                </a:solidFill>
                <a:latin typeface="Hiragino Sans GB"/>
                <a:ea typeface="Hiragino Sans GB"/>
                <a:cs typeface="Hiragino Sans GB"/>
              </a:rPr>
              <a:t>削弱高概率</a:t>
            </a:r>
          </a:p>
          <a:p>
            <a:pPr algn="ctr">
              <a:lnSpc>
                <a:spcPct val="92000"/>
              </a:lnSpc>
              <a:buNone/>
              <a:defRPr sz="1065" b="1">
                <a:solidFill>
                  <a:srgbClr val="101214"/>
                </a:solidFill>
                <a:latin typeface="Hiragino Sans GB"/>
                <a:ea typeface="Hiragino Sans GB"/>
                <a:cs typeface="Hiragino Sans GB"/>
              </a:defRPr>
            </a:pPr>
            <a:r>
              <a:rPr sz="1065" b="1">
                <a:solidFill>
                  <a:srgbClr val="101214"/>
                </a:solidFill>
                <a:latin typeface="Hiragino Sans GB"/>
                <a:ea typeface="Hiragino Sans GB"/>
                <a:cs typeface="Hiragino Sans GB"/>
              </a:rPr>
              <a:t>正确样本权重</a:t>
            </a:r>
          </a:p>
        </p:txBody>
      </p:sp>
      <p:sp>
        <p:nvSpPr>
          <p:cNvPr id="37" name="矩形 36">
            <a:extLst>
              <a:ext uri="{FF2B5EF4-FFF2-40B4-BE49-F238E27FC236}">
                <a16:creationId xmlns:a16="http://schemas.microsoft.com/office/drawing/2014/main" id="{7DF4F519-F159-430F-9EF9-66FFB8E27E56}"/>
              </a:ext>
            </a:extLst>
          </p:cNvPr>
          <p:cNvSpPr>
            <a:spLocks noGrp="1"/>
          </p:cNvSpPr>
          <p:nvPr/>
        </p:nvSpPr>
        <p:spPr>
          <a:xfrm>
            <a:off x="4514850" y="3302372"/>
            <a:ext cx="1095375" cy="552450"/>
          </a:xfrm>
          <a:prstGeom prst="rect">
            <a:avLst/>
          </a:prstGeom>
          <a:noFill/>
          <a:ln w="0">
            <a:noFill/>
            <a:prstDash val="solid"/>
          </a:ln>
        </p:spPr>
      </p:sp>
      <p:sp>
        <p:nvSpPr>
          <p:cNvPr id="38" name="矩形 37">
            <a:extLst>
              <a:ext uri="{FF2B5EF4-FFF2-40B4-BE49-F238E27FC236}">
                <a16:creationId xmlns:a16="http://schemas.microsoft.com/office/drawing/2014/main" id="{CBFFD0DA-BFFC-43F8-908E-90FCCA2531D8}"/>
              </a:ext>
            </a:extLst>
          </p:cNvPr>
          <p:cNvSpPr>
            <a:spLocks noGrp="1"/>
          </p:cNvSpPr>
          <p:nvPr/>
        </p:nvSpPr>
        <p:spPr>
          <a:xfrm>
            <a:off x="4591050" y="3369047"/>
            <a:ext cx="942975" cy="419100"/>
          </a:xfrm>
          <a:prstGeom prst="rect">
            <a:avLst/>
          </a:prstGeom>
          <a:noFill/>
          <a:ln w="0">
            <a:noFill/>
            <a:prstDash val="solid"/>
          </a:ln>
        </p:spPr>
        <p:txBody>
          <a:bodyPr wrap="square" lIns="0" tIns="0" rIns="0" bIns="0" anchor="ctr">
            <a:noAutofit/>
          </a:bodyPr>
          <a:lstStyle/>
          <a:p>
            <a:pPr algn="ctr">
              <a:lnSpc>
                <a:spcPct val="92000"/>
              </a:lnSpc>
              <a:buNone/>
              <a:defRPr sz="1065" b="1">
                <a:solidFill>
                  <a:srgbClr val="101214"/>
                </a:solidFill>
                <a:latin typeface="Hiragino Sans GB"/>
                <a:ea typeface="Hiragino Sans GB"/>
                <a:cs typeface="Hiragino Sans GB"/>
              </a:defRPr>
            </a:pPr>
            <a:r>
              <a:rPr sz="1065" b="1">
                <a:solidFill>
                  <a:srgbClr val="101214"/>
                </a:solidFill>
                <a:latin typeface="Hiragino Sans GB"/>
                <a:ea typeface="Hiragino Sans GB"/>
                <a:cs typeface="Hiragino Sans GB"/>
              </a:rPr>
              <a:t>Positive</a:t>
            </a:r>
          </a:p>
          <a:p>
            <a:pPr algn="ctr">
              <a:lnSpc>
                <a:spcPct val="92000"/>
              </a:lnSpc>
              <a:buNone/>
              <a:defRPr sz="1065" b="1">
                <a:solidFill>
                  <a:srgbClr val="101214"/>
                </a:solidFill>
                <a:latin typeface="Hiragino Sans GB"/>
                <a:ea typeface="Hiragino Sans GB"/>
                <a:cs typeface="Hiragino Sans GB"/>
              </a:defRPr>
            </a:pPr>
            <a:r>
              <a:rPr sz="1065" b="1">
                <a:solidFill>
                  <a:srgbClr val="101214"/>
                </a:solidFill>
                <a:latin typeface="Hiragino Sans GB"/>
                <a:ea typeface="Hiragino Sans GB"/>
                <a:cs typeface="Hiragino Sans GB"/>
              </a:rPr>
              <a:t>rollouts</a:t>
            </a:r>
          </a:p>
        </p:txBody>
      </p:sp>
      <p:sp>
        <p:nvSpPr>
          <p:cNvPr id="39" name="矩形 38">
            <a:extLst>
              <a:ext uri="{FF2B5EF4-FFF2-40B4-BE49-F238E27FC236}">
                <a16:creationId xmlns:a16="http://schemas.microsoft.com/office/drawing/2014/main" id="{C544603E-4713-4815-A5AD-FDA006633ECD}"/>
              </a:ext>
            </a:extLst>
          </p:cNvPr>
          <p:cNvSpPr>
            <a:spLocks noGrp="1"/>
          </p:cNvSpPr>
          <p:nvPr/>
        </p:nvSpPr>
        <p:spPr>
          <a:xfrm>
            <a:off x="5610225" y="3302372"/>
            <a:ext cx="1238250" cy="552450"/>
          </a:xfrm>
          <a:prstGeom prst="rect">
            <a:avLst/>
          </a:prstGeom>
          <a:noFill/>
          <a:ln w="0">
            <a:noFill/>
            <a:prstDash val="solid"/>
          </a:ln>
        </p:spPr>
      </p:sp>
      <p:sp>
        <p:nvSpPr>
          <p:cNvPr id="40" name="矩形 39">
            <a:extLst>
              <a:ext uri="{FF2B5EF4-FFF2-40B4-BE49-F238E27FC236}">
                <a16:creationId xmlns:a16="http://schemas.microsoft.com/office/drawing/2014/main" id="{F31235A5-6D18-4422-AE95-752A806D302D}"/>
              </a:ext>
            </a:extLst>
          </p:cNvPr>
          <p:cNvSpPr>
            <a:spLocks noGrp="1"/>
          </p:cNvSpPr>
          <p:nvPr/>
        </p:nvSpPr>
        <p:spPr>
          <a:xfrm>
            <a:off x="5686425" y="3369047"/>
            <a:ext cx="1085850" cy="419100"/>
          </a:xfrm>
          <a:prstGeom prst="rect">
            <a:avLst/>
          </a:prstGeom>
          <a:noFill/>
          <a:ln w="0">
            <a:noFill/>
            <a:prstDash val="solid"/>
          </a:ln>
        </p:spPr>
        <p:txBody>
          <a:bodyPr wrap="square" lIns="0" tIns="0" rIns="0" bIns="0" anchor="ctr">
            <a:noAutofit/>
          </a:bodyPr>
          <a:lstStyle/>
          <a:p>
            <a:pPr algn="ctr">
              <a:lnSpc>
                <a:spcPct val="92000"/>
              </a:lnSpc>
              <a:buNone/>
              <a:defRPr sz="1065" b="1">
                <a:solidFill>
                  <a:srgbClr val="101214"/>
                </a:solidFill>
                <a:latin typeface="Hiragino Sans GB"/>
                <a:ea typeface="Hiragino Sans GB"/>
                <a:cs typeface="Hiragino Sans GB"/>
              </a:defRPr>
            </a:pPr>
            <a:r>
              <a:rPr sz="1065" b="1">
                <a:solidFill>
                  <a:srgbClr val="101214"/>
                </a:solidFill>
                <a:latin typeface="Hiragino Sans GB"/>
                <a:ea typeface="Hiragino Sans GB"/>
                <a:cs typeface="Hiragino Sans GB"/>
              </a:rPr>
              <a:t>减少热门路径</a:t>
            </a:r>
          </a:p>
          <a:p>
            <a:pPr algn="ctr">
              <a:lnSpc>
                <a:spcPct val="92000"/>
              </a:lnSpc>
              <a:buNone/>
              <a:defRPr sz="1065" b="1">
                <a:solidFill>
                  <a:srgbClr val="101214"/>
                </a:solidFill>
                <a:latin typeface="Hiragino Sans GB"/>
                <a:ea typeface="Hiragino Sans GB"/>
                <a:cs typeface="Hiragino Sans GB"/>
              </a:defRPr>
            </a:pPr>
            <a:r>
              <a:rPr sz="1065" b="1">
                <a:solidFill>
                  <a:srgbClr val="101214"/>
                </a:solidFill>
                <a:latin typeface="Hiragino Sans GB"/>
                <a:ea typeface="Hiragino Sans GB"/>
                <a:cs typeface="Hiragino Sans GB"/>
              </a:rPr>
              <a:t>垄断</a:t>
            </a:r>
          </a:p>
        </p:txBody>
      </p:sp>
      <p:sp>
        <p:nvSpPr>
          <p:cNvPr id="41" name="矩形 40">
            <a:extLst>
              <a:ext uri="{FF2B5EF4-FFF2-40B4-BE49-F238E27FC236}">
                <a16:creationId xmlns:a16="http://schemas.microsoft.com/office/drawing/2014/main" id="{7562462E-C0B2-4099-AEE1-574BBDF94B86}"/>
              </a:ext>
            </a:extLst>
          </p:cNvPr>
          <p:cNvSpPr>
            <a:spLocks noGrp="1"/>
          </p:cNvSpPr>
          <p:nvPr/>
        </p:nvSpPr>
        <p:spPr>
          <a:xfrm>
            <a:off x="6848475" y="3302372"/>
            <a:ext cx="1285875" cy="552450"/>
          </a:xfrm>
          <a:prstGeom prst="rect">
            <a:avLst/>
          </a:prstGeom>
          <a:noFill/>
          <a:ln w="0">
            <a:noFill/>
            <a:prstDash val="solid"/>
          </a:ln>
        </p:spPr>
      </p:sp>
      <p:sp>
        <p:nvSpPr>
          <p:cNvPr id="42" name="矩形 41">
            <a:extLst>
              <a:ext uri="{FF2B5EF4-FFF2-40B4-BE49-F238E27FC236}">
                <a16:creationId xmlns:a16="http://schemas.microsoft.com/office/drawing/2014/main" id="{1C3394B7-D52A-4216-A6B9-326A9D8601F1}"/>
              </a:ext>
            </a:extLst>
          </p:cNvPr>
          <p:cNvSpPr>
            <a:spLocks noGrp="1"/>
          </p:cNvSpPr>
          <p:nvPr/>
        </p:nvSpPr>
        <p:spPr>
          <a:xfrm>
            <a:off x="6924675" y="3369047"/>
            <a:ext cx="1133475" cy="419100"/>
          </a:xfrm>
          <a:prstGeom prst="rect">
            <a:avLst/>
          </a:prstGeom>
          <a:noFill/>
          <a:ln w="0">
            <a:noFill/>
            <a:prstDash val="solid"/>
          </a:ln>
        </p:spPr>
        <p:txBody>
          <a:bodyPr wrap="square" lIns="0" tIns="0" rIns="0" bIns="0" anchor="ctr">
            <a:noAutofit/>
          </a:bodyPr>
          <a:lstStyle/>
          <a:p>
            <a:pPr algn="ctr">
              <a:lnSpc>
                <a:spcPct val="92000"/>
              </a:lnSpc>
              <a:buNone/>
              <a:defRPr sz="1020" b="1">
                <a:solidFill>
                  <a:srgbClr val="101214"/>
                </a:solidFill>
                <a:latin typeface="Hiragino Sans GB"/>
                <a:ea typeface="Hiragino Sans GB"/>
                <a:cs typeface="Hiragino Sans GB"/>
              </a:defRPr>
            </a:pPr>
            <a:r>
              <a:rPr sz="1020" b="1">
                <a:solidFill>
                  <a:srgbClr val="101214"/>
                </a:solidFill>
                <a:latin typeface="Hiragino Sans GB"/>
                <a:ea typeface="Hiragino Sans GB"/>
                <a:cs typeface="Hiragino Sans GB"/>
              </a:rPr>
              <a:t>负样本及其他</a:t>
            </a:r>
          </a:p>
          <a:p>
            <a:pPr algn="ctr">
              <a:lnSpc>
                <a:spcPct val="92000"/>
              </a:lnSpc>
              <a:buNone/>
              <a:defRPr sz="1020" b="1">
                <a:solidFill>
                  <a:srgbClr val="101214"/>
                </a:solidFill>
                <a:latin typeface="Hiragino Sans GB"/>
                <a:ea typeface="Hiragino Sans GB"/>
                <a:cs typeface="Hiragino Sans GB"/>
              </a:defRPr>
            </a:pPr>
            <a:r>
              <a:rPr sz="1020" b="1">
                <a:solidFill>
                  <a:srgbClr val="101214"/>
                </a:solidFill>
                <a:latin typeface="Hiragino Sans GB"/>
                <a:ea typeface="Hiragino Sans GB"/>
                <a:cs typeface="Hiragino Sans GB"/>
              </a:rPr>
              <a:t>token 不受控</a:t>
            </a:r>
          </a:p>
        </p:txBody>
      </p:sp>
      <p:sp>
        <p:nvSpPr>
          <p:cNvPr id="43" name="矩形 42">
            <a:extLst>
              <a:ext uri="{FF2B5EF4-FFF2-40B4-BE49-F238E27FC236}">
                <a16:creationId xmlns:a16="http://schemas.microsoft.com/office/drawing/2014/main" id="{AEE49133-909C-4E12-B2F6-E39E1B596286}"/>
              </a:ext>
            </a:extLst>
          </p:cNvPr>
          <p:cNvSpPr>
            <a:spLocks noGrp="1"/>
          </p:cNvSpPr>
          <p:nvPr/>
        </p:nvSpPr>
        <p:spPr>
          <a:xfrm>
            <a:off x="419100" y="3854822"/>
            <a:ext cx="2381250" cy="552450"/>
          </a:xfrm>
          <a:prstGeom prst="rect">
            <a:avLst/>
          </a:prstGeom>
          <a:noFill/>
          <a:ln w="0">
            <a:noFill/>
            <a:prstDash val="solid"/>
          </a:ln>
        </p:spPr>
      </p:sp>
      <p:sp>
        <p:nvSpPr>
          <p:cNvPr id="44" name="矩形 43">
            <a:extLst>
              <a:ext uri="{FF2B5EF4-FFF2-40B4-BE49-F238E27FC236}">
                <a16:creationId xmlns:a16="http://schemas.microsoft.com/office/drawing/2014/main" id="{D3868F8C-134F-4710-9850-97068561F7A6}"/>
              </a:ext>
            </a:extLst>
          </p:cNvPr>
          <p:cNvSpPr>
            <a:spLocks noGrp="1"/>
          </p:cNvSpPr>
          <p:nvPr/>
        </p:nvSpPr>
        <p:spPr>
          <a:xfrm>
            <a:off x="495300" y="3921497"/>
            <a:ext cx="2228850" cy="419100"/>
          </a:xfrm>
          <a:prstGeom prst="rect">
            <a:avLst/>
          </a:prstGeom>
          <a:noFill/>
          <a:ln w="0">
            <a:noFill/>
            <a:prstDash val="solid"/>
          </a:ln>
        </p:spPr>
        <p:txBody>
          <a:bodyPr wrap="square" lIns="0" tIns="0" rIns="0" bIns="0" anchor="ctr">
            <a:noAutofit/>
          </a:bodyPr>
          <a:lstStyle/>
          <a:p>
            <a:pPr algn="l">
              <a:lnSpc>
                <a:spcPct val="92000"/>
              </a:lnSpc>
              <a:buNone/>
              <a:defRPr sz="990" b="0">
                <a:solidFill>
                  <a:srgbClr val="101214"/>
                </a:solidFill>
                <a:latin typeface="Helvetica Neue"/>
                <a:ea typeface="Helvetica Neue"/>
                <a:cs typeface="Helvetica Neue"/>
              </a:defRPr>
            </a:pPr>
            <a:r>
              <a:rPr sz="990" b="0">
                <a:solidFill>
                  <a:srgbClr val="101214"/>
                </a:solidFill>
                <a:latin typeface="Times New Roman"/>
                <a:ea typeface="Times New Roman"/>
                <a:cs typeface="Times New Roman"/>
              </a:rPr>
              <a:t>熵感知优势</a:t>
            </a:r>
          </a:p>
          <a:p>
            <a:pPr algn="l">
              <a:lnSpc>
                <a:spcPct val="92000"/>
              </a:lnSpc>
              <a:buNone/>
              <a:defRPr sz="990" b="0">
                <a:solidFill>
                  <a:srgbClr val="101214"/>
                </a:solidFill>
                <a:latin typeface="Helvetica Neue"/>
                <a:ea typeface="Helvetica Neue"/>
                <a:cs typeface="Helvetica Neue"/>
              </a:defRPr>
            </a:pPr>
            <a:r>
              <a:rPr sz="990" b="0">
                <a:solidFill>
                  <a:srgbClr val="101214"/>
                </a:solidFill>
                <a:latin typeface="Times New Roman"/>
                <a:ea typeface="Times New Roman"/>
                <a:cs typeface="Times New Roman"/>
              </a:rPr>
              <a:t>Entro.Adv / GTPO / EDGE-GRPO</a:t>
            </a:r>
          </a:p>
        </p:txBody>
      </p:sp>
      <p:sp>
        <p:nvSpPr>
          <p:cNvPr id="45" name="矩形 44">
            <a:extLst>
              <a:ext uri="{FF2B5EF4-FFF2-40B4-BE49-F238E27FC236}">
                <a16:creationId xmlns:a16="http://schemas.microsoft.com/office/drawing/2014/main" id="{8F688C5B-9B93-4FA0-965C-EA382C6FE507}"/>
              </a:ext>
            </a:extLst>
          </p:cNvPr>
          <p:cNvSpPr>
            <a:spLocks noGrp="1"/>
          </p:cNvSpPr>
          <p:nvPr/>
        </p:nvSpPr>
        <p:spPr>
          <a:xfrm>
            <a:off x="2800350" y="3854822"/>
            <a:ext cx="1714500" cy="552450"/>
          </a:xfrm>
          <a:prstGeom prst="rect">
            <a:avLst/>
          </a:prstGeom>
          <a:noFill/>
          <a:ln w="0">
            <a:noFill/>
            <a:prstDash val="solid"/>
          </a:ln>
        </p:spPr>
      </p:sp>
      <p:sp>
        <p:nvSpPr>
          <p:cNvPr id="46" name="矩形 45">
            <a:extLst>
              <a:ext uri="{FF2B5EF4-FFF2-40B4-BE49-F238E27FC236}">
                <a16:creationId xmlns:a16="http://schemas.microsoft.com/office/drawing/2014/main" id="{1D07AF40-4FB5-466E-823A-050C3840C35C}"/>
              </a:ext>
            </a:extLst>
          </p:cNvPr>
          <p:cNvSpPr>
            <a:spLocks noGrp="1"/>
          </p:cNvSpPr>
          <p:nvPr/>
        </p:nvSpPr>
        <p:spPr>
          <a:xfrm>
            <a:off x="2876550" y="3921497"/>
            <a:ext cx="1562100" cy="419100"/>
          </a:xfrm>
          <a:prstGeom prst="rect">
            <a:avLst/>
          </a:prstGeom>
          <a:noFill/>
          <a:ln w="0">
            <a:noFill/>
            <a:prstDash val="solid"/>
          </a:ln>
        </p:spPr>
        <p:txBody>
          <a:bodyPr wrap="square" lIns="0" tIns="0" rIns="0" bIns="0" anchor="ctr">
            <a:noAutofit/>
          </a:bodyPr>
          <a:lstStyle/>
          <a:p>
            <a:pPr algn="ctr">
              <a:lnSpc>
                <a:spcPct val="92000"/>
              </a:lnSpc>
              <a:buNone/>
              <a:defRPr sz="1065" b="1">
                <a:solidFill>
                  <a:srgbClr val="101214"/>
                </a:solidFill>
                <a:latin typeface="Hiragino Sans GB"/>
                <a:ea typeface="Hiragino Sans GB"/>
                <a:cs typeface="Hiragino Sans GB"/>
              </a:defRPr>
            </a:pPr>
            <a:r>
              <a:rPr sz="1065" b="1">
                <a:solidFill>
                  <a:srgbClr val="101214"/>
                </a:solidFill>
                <a:latin typeface="Hiragino Sans GB"/>
                <a:ea typeface="Hiragino Sans GB"/>
                <a:cs typeface="Hiragino Sans GB"/>
              </a:rPr>
              <a:t>高熵 token / group</a:t>
            </a:r>
          </a:p>
          <a:p>
            <a:pPr algn="ctr">
              <a:lnSpc>
                <a:spcPct val="92000"/>
              </a:lnSpc>
              <a:buNone/>
              <a:defRPr sz="1065" b="1">
                <a:solidFill>
                  <a:srgbClr val="101214"/>
                </a:solidFill>
                <a:latin typeface="Hiragino Sans GB"/>
                <a:ea typeface="Hiragino Sans GB"/>
                <a:cs typeface="Hiragino Sans GB"/>
              </a:defRPr>
            </a:pPr>
            <a:r>
              <a:rPr sz="1065" b="1">
                <a:solidFill>
                  <a:srgbClr val="101214"/>
                </a:solidFill>
                <a:latin typeface="Hiragino Sans GB"/>
                <a:ea typeface="Hiragino Sans GB"/>
                <a:cs typeface="Hiragino Sans GB"/>
              </a:rPr>
              <a:t>获得更大优势</a:t>
            </a:r>
          </a:p>
        </p:txBody>
      </p:sp>
      <p:sp>
        <p:nvSpPr>
          <p:cNvPr id="47" name="矩形 46">
            <a:extLst>
              <a:ext uri="{FF2B5EF4-FFF2-40B4-BE49-F238E27FC236}">
                <a16:creationId xmlns:a16="http://schemas.microsoft.com/office/drawing/2014/main" id="{D322FF6F-1270-45D8-B0E8-62EA450D225F}"/>
              </a:ext>
            </a:extLst>
          </p:cNvPr>
          <p:cNvSpPr>
            <a:spLocks noGrp="1"/>
          </p:cNvSpPr>
          <p:nvPr/>
        </p:nvSpPr>
        <p:spPr>
          <a:xfrm>
            <a:off x="4514850" y="3854822"/>
            <a:ext cx="1095375" cy="552450"/>
          </a:xfrm>
          <a:prstGeom prst="rect">
            <a:avLst/>
          </a:prstGeom>
          <a:noFill/>
          <a:ln w="0">
            <a:noFill/>
            <a:prstDash val="solid"/>
          </a:ln>
        </p:spPr>
      </p:sp>
      <p:sp>
        <p:nvSpPr>
          <p:cNvPr id="48" name="矩形 47">
            <a:extLst>
              <a:ext uri="{FF2B5EF4-FFF2-40B4-BE49-F238E27FC236}">
                <a16:creationId xmlns:a16="http://schemas.microsoft.com/office/drawing/2014/main" id="{EB9B4149-393D-4A6B-A08C-D153850B3B1F}"/>
              </a:ext>
            </a:extLst>
          </p:cNvPr>
          <p:cNvSpPr>
            <a:spLocks noGrp="1"/>
          </p:cNvSpPr>
          <p:nvPr/>
        </p:nvSpPr>
        <p:spPr>
          <a:xfrm>
            <a:off x="4591050" y="3921497"/>
            <a:ext cx="942975" cy="419100"/>
          </a:xfrm>
          <a:prstGeom prst="rect">
            <a:avLst/>
          </a:prstGeom>
          <a:noFill/>
          <a:ln w="0">
            <a:noFill/>
            <a:prstDash val="solid"/>
          </a:ln>
        </p:spPr>
        <p:txBody>
          <a:bodyPr wrap="square" lIns="0" tIns="0" rIns="0" bIns="0" anchor="ctr">
            <a:noAutofit/>
          </a:bodyPr>
          <a:lstStyle/>
          <a:p>
            <a:pPr algn="ctr">
              <a:lnSpc>
                <a:spcPct val="92000"/>
              </a:lnSpc>
              <a:buNone/>
              <a:defRPr sz="1065" b="1">
                <a:solidFill>
                  <a:srgbClr val="101214"/>
                </a:solidFill>
                <a:latin typeface="Hiragino Sans GB"/>
                <a:ea typeface="Hiragino Sans GB"/>
                <a:cs typeface="Hiragino Sans GB"/>
              </a:defRPr>
            </a:pPr>
            <a:r>
              <a:rPr sz="1065" b="1">
                <a:solidFill>
                  <a:srgbClr val="101214"/>
                </a:solidFill>
                <a:latin typeface="Hiragino Sans GB"/>
                <a:ea typeface="Hiragino Sans GB"/>
                <a:cs typeface="Hiragino Sans GB"/>
              </a:rPr>
              <a:t>Token /</a:t>
            </a:r>
          </a:p>
          <a:p>
            <a:pPr algn="ctr">
              <a:lnSpc>
                <a:spcPct val="92000"/>
              </a:lnSpc>
              <a:buNone/>
              <a:defRPr sz="1065" b="1">
                <a:solidFill>
                  <a:srgbClr val="101214"/>
                </a:solidFill>
                <a:latin typeface="Hiragino Sans GB"/>
                <a:ea typeface="Hiragino Sans GB"/>
                <a:cs typeface="Hiragino Sans GB"/>
              </a:defRPr>
            </a:pPr>
            <a:r>
              <a:rPr sz="1065" b="1">
                <a:solidFill>
                  <a:srgbClr val="101214"/>
                </a:solidFill>
                <a:latin typeface="Hiragino Sans GB"/>
                <a:ea typeface="Hiragino Sans GB"/>
                <a:cs typeface="Hiragino Sans GB"/>
              </a:rPr>
              <a:t>group</a:t>
            </a:r>
          </a:p>
        </p:txBody>
      </p:sp>
      <p:sp>
        <p:nvSpPr>
          <p:cNvPr id="49" name="矩形 48">
            <a:extLst>
              <a:ext uri="{FF2B5EF4-FFF2-40B4-BE49-F238E27FC236}">
                <a16:creationId xmlns:a16="http://schemas.microsoft.com/office/drawing/2014/main" id="{CBDCE37F-A79A-4DA9-9C21-B0E7874E24E3}"/>
              </a:ext>
            </a:extLst>
          </p:cNvPr>
          <p:cNvSpPr>
            <a:spLocks noGrp="1"/>
          </p:cNvSpPr>
          <p:nvPr/>
        </p:nvSpPr>
        <p:spPr>
          <a:xfrm>
            <a:off x="5610225" y="3854822"/>
            <a:ext cx="1238250" cy="552450"/>
          </a:xfrm>
          <a:prstGeom prst="rect">
            <a:avLst/>
          </a:prstGeom>
          <a:noFill/>
          <a:ln w="0">
            <a:noFill/>
            <a:prstDash val="solid"/>
          </a:ln>
        </p:spPr>
      </p:sp>
      <p:sp>
        <p:nvSpPr>
          <p:cNvPr id="50" name="矩形 49">
            <a:extLst>
              <a:ext uri="{FF2B5EF4-FFF2-40B4-BE49-F238E27FC236}">
                <a16:creationId xmlns:a16="http://schemas.microsoft.com/office/drawing/2014/main" id="{B9722085-A7D6-453F-96D1-A419824FA1CC}"/>
              </a:ext>
            </a:extLst>
          </p:cNvPr>
          <p:cNvSpPr>
            <a:spLocks noGrp="1"/>
          </p:cNvSpPr>
          <p:nvPr/>
        </p:nvSpPr>
        <p:spPr>
          <a:xfrm>
            <a:off x="5686425" y="3921497"/>
            <a:ext cx="1085850" cy="419100"/>
          </a:xfrm>
          <a:prstGeom prst="rect">
            <a:avLst/>
          </a:prstGeom>
          <a:noFill/>
          <a:ln w="0">
            <a:noFill/>
            <a:prstDash val="solid"/>
          </a:ln>
        </p:spPr>
        <p:txBody>
          <a:bodyPr wrap="square" lIns="0" tIns="0" rIns="0" bIns="0" anchor="ctr">
            <a:noAutofit/>
          </a:bodyPr>
          <a:lstStyle/>
          <a:p>
            <a:pPr algn="ctr">
              <a:lnSpc>
                <a:spcPct val="92000"/>
              </a:lnSpc>
              <a:buNone/>
              <a:defRPr sz="1065" b="1">
                <a:solidFill>
                  <a:srgbClr val="101214"/>
                </a:solidFill>
                <a:latin typeface="Hiragino Sans GB"/>
                <a:ea typeface="Hiragino Sans GB"/>
                <a:cs typeface="Hiragino Sans GB"/>
              </a:defRPr>
            </a:pPr>
            <a:r>
              <a:rPr sz="1065" b="1">
                <a:solidFill>
                  <a:srgbClr val="101214"/>
                </a:solidFill>
                <a:latin typeface="Hiragino Sans GB"/>
                <a:ea typeface="Hiragino Sans GB"/>
                <a:cs typeface="Hiragino Sans GB"/>
              </a:rPr>
              <a:t>直接鼓励</a:t>
            </a:r>
          </a:p>
          <a:p>
            <a:pPr algn="ctr">
              <a:lnSpc>
                <a:spcPct val="92000"/>
              </a:lnSpc>
              <a:buNone/>
              <a:defRPr sz="1065" b="1">
                <a:solidFill>
                  <a:srgbClr val="101214"/>
                </a:solidFill>
                <a:latin typeface="Hiragino Sans GB"/>
                <a:ea typeface="Hiragino Sans GB"/>
                <a:cs typeface="Hiragino Sans GB"/>
              </a:defRPr>
            </a:pPr>
            <a:r>
              <a:rPr sz="1065" b="1">
                <a:solidFill>
                  <a:srgbClr val="101214"/>
                </a:solidFill>
                <a:latin typeface="Hiragino Sans GB"/>
                <a:ea typeface="Hiragino Sans GB"/>
                <a:cs typeface="Hiragino Sans GB"/>
              </a:rPr>
              <a:t>探索</a:t>
            </a:r>
          </a:p>
        </p:txBody>
      </p:sp>
      <p:sp>
        <p:nvSpPr>
          <p:cNvPr id="51" name="矩形 50">
            <a:extLst>
              <a:ext uri="{FF2B5EF4-FFF2-40B4-BE49-F238E27FC236}">
                <a16:creationId xmlns:a16="http://schemas.microsoft.com/office/drawing/2014/main" id="{B288796F-056B-4977-866B-A7BF0E15AA8A}"/>
              </a:ext>
            </a:extLst>
          </p:cNvPr>
          <p:cNvSpPr>
            <a:spLocks noGrp="1"/>
          </p:cNvSpPr>
          <p:nvPr/>
        </p:nvSpPr>
        <p:spPr>
          <a:xfrm>
            <a:off x="6848475" y="3854822"/>
            <a:ext cx="1285875" cy="552450"/>
          </a:xfrm>
          <a:prstGeom prst="rect">
            <a:avLst/>
          </a:prstGeom>
          <a:noFill/>
          <a:ln w="0">
            <a:noFill/>
            <a:prstDash val="solid"/>
          </a:ln>
        </p:spPr>
      </p:sp>
      <p:sp>
        <p:nvSpPr>
          <p:cNvPr id="52" name="矩形 51">
            <a:extLst>
              <a:ext uri="{FF2B5EF4-FFF2-40B4-BE49-F238E27FC236}">
                <a16:creationId xmlns:a16="http://schemas.microsoft.com/office/drawing/2014/main" id="{B1E6DC27-FD04-4150-94C4-68D1468CABA9}"/>
              </a:ext>
            </a:extLst>
          </p:cNvPr>
          <p:cNvSpPr>
            <a:spLocks noGrp="1"/>
          </p:cNvSpPr>
          <p:nvPr/>
        </p:nvSpPr>
        <p:spPr>
          <a:xfrm>
            <a:off x="6924675" y="3921497"/>
            <a:ext cx="1133475" cy="419100"/>
          </a:xfrm>
          <a:prstGeom prst="rect">
            <a:avLst/>
          </a:prstGeom>
          <a:noFill/>
          <a:ln w="0">
            <a:noFill/>
            <a:prstDash val="solid"/>
          </a:ln>
        </p:spPr>
        <p:txBody>
          <a:bodyPr wrap="square" lIns="0" tIns="0" rIns="0" bIns="0" anchor="ctr">
            <a:noAutofit/>
          </a:bodyPr>
          <a:lstStyle/>
          <a:p>
            <a:pPr algn="ctr">
              <a:lnSpc>
                <a:spcPct val="92000"/>
              </a:lnSpc>
              <a:buNone/>
              <a:defRPr sz="1020" b="1">
                <a:solidFill>
                  <a:srgbClr val="101214"/>
                </a:solidFill>
                <a:latin typeface="Hiragino Sans GB"/>
                <a:ea typeface="Hiragino Sans GB"/>
                <a:cs typeface="Hiragino Sans GB"/>
              </a:defRPr>
            </a:pPr>
            <a:r>
              <a:rPr sz="1020" b="1">
                <a:solidFill>
                  <a:srgbClr val="101214"/>
                </a:solidFill>
                <a:latin typeface="Hiragino Sans GB"/>
                <a:ea typeface="Hiragino Sans GB"/>
                <a:cs typeface="Hiragino Sans GB"/>
              </a:rPr>
              <a:t>可能放大 |ΔH|；</a:t>
            </a:r>
          </a:p>
          <a:p>
            <a:pPr algn="ctr">
              <a:lnSpc>
                <a:spcPct val="92000"/>
              </a:lnSpc>
              <a:buNone/>
              <a:defRPr sz="1020" b="1">
                <a:solidFill>
                  <a:srgbClr val="101214"/>
                </a:solidFill>
                <a:latin typeface="Hiragino Sans GB"/>
                <a:ea typeface="Hiragino Sans GB"/>
                <a:cs typeface="Hiragino Sans GB"/>
              </a:defRPr>
            </a:pPr>
            <a:r>
              <a:rPr sz="1020" b="1">
                <a:solidFill>
                  <a:srgbClr val="101214"/>
                </a:solidFill>
                <a:latin typeface="Hiragino Sans GB"/>
                <a:ea typeface="Hiragino Sans GB"/>
                <a:cs typeface="Hiragino Sans GB"/>
              </a:rPr>
              <a:t>反而加速坍缩</a:t>
            </a:r>
          </a:p>
        </p:txBody>
      </p:sp>
      <p:sp>
        <p:nvSpPr>
          <p:cNvPr id="53" name="矩形 52">
            <a:extLst>
              <a:ext uri="{FF2B5EF4-FFF2-40B4-BE49-F238E27FC236}">
                <a16:creationId xmlns:a16="http://schemas.microsoft.com/office/drawing/2014/main" id="{ACC2FE2F-E00D-4065-8AE5-59A4BB974554}"/>
              </a:ext>
            </a:extLst>
          </p:cNvPr>
          <p:cNvSpPr>
            <a:spLocks noGrp="1"/>
          </p:cNvSpPr>
          <p:nvPr/>
        </p:nvSpPr>
        <p:spPr>
          <a:xfrm>
            <a:off x="419100" y="4407272"/>
            <a:ext cx="2381250" cy="552450"/>
          </a:xfrm>
          <a:prstGeom prst="rect">
            <a:avLst/>
          </a:prstGeom>
          <a:noFill/>
          <a:ln w="0">
            <a:noFill/>
            <a:prstDash val="solid"/>
          </a:ln>
        </p:spPr>
      </p:sp>
      <p:sp>
        <p:nvSpPr>
          <p:cNvPr id="54" name="矩形 53">
            <a:extLst>
              <a:ext uri="{FF2B5EF4-FFF2-40B4-BE49-F238E27FC236}">
                <a16:creationId xmlns:a16="http://schemas.microsoft.com/office/drawing/2014/main" id="{E3760962-D404-4FB3-8C24-4E59922827D1}"/>
              </a:ext>
            </a:extLst>
          </p:cNvPr>
          <p:cNvSpPr>
            <a:spLocks noGrp="1"/>
          </p:cNvSpPr>
          <p:nvPr/>
        </p:nvSpPr>
        <p:spPr>
          <a:xfrm>
            <a:off x="495300" y="4473947"/>
            <a:ext cx="2228850" cy="419100"/>
          </a:xfrm>
          <a:prstGeom prst="rect">
            <a:avLst/>
          </a:prstGeom>
          <a:noFill/>
          <a:ln w="0">
            <a:noFill/>
            <a:prstDash val="solid"/>
          </a:ln>
        </p:spPr>
        <p:txBody>
          <a:bodyPr wrap="square" lIns="0" tIns="0" rIns="0" bIns="0" anchor="ctr">
            <a:noAutofit/>
          </a:bodyPr>
          <a:lstStyle/>
          <a:p>
            <a:pPr algn="l">
              <a:lnSpc>
                <a:spcPct val="92000"/>
              </a:lnSpc>
              <a:buNone/>
              <a:defRPr sz="1065" b="1">
                <a:solidFill>
                  <a:srgbClr val="2787F5"/>
                </a:solidFill>
                <a:latin typeface="Helvetica Neue"/>
                <a:ea typeface="Helvetica Neue"/>
                <a:cs typeface="Helvetica Neue"/>
              </a:defRPr>
            </a:pPr>
            <a:r>
              <a:rPr sz="1065" b="1">
                <a:latin typeface="Helvetica Neue"/>
                <a:ea typeface="Helvetica Neue"/>
                <a:cs typeface="Helvetica Neue"/>
              </a:rPr>
              <a:t>变化感知重加权</a:t>
            </a:r>
          </a:p>
          <a:p>
            <a:pPr algn="l">
              <a:lnSpc>
                <a:spcPct val="92000"/>
              </a:lnSpc>
              <a:buNone/>
              <a:defRPr sz="1065" b="1">
                <a:solidFill>
                  <a:srgbClr val="2787F5"/>
                </a:solidFill>
                <a:latin typeface="Helvetica Neue"/>
                <a:ea typeface="Helvetica Neue"/>
                <a:cs typeface="Helvetica Neue"/>
              </a:defRPr>
            </a:pPr>
            <a:r>
              <a:rPr sz="1065" b="1">
                <a:latin typeface="Helvetica Neue"/>
                <a:ea typeface="Helvetica Neue"/>
                <a:cs typeface="Helvetica Neue"/>
              </a:rPr>
              <a:t>STEER</a:t>
            </a:r>
          </a:p>
        </p:txBody>
      </p:sp>
      <p:sp>
        <p:nvSpPr>
          <p:cNvPr id="55" name="矩形 54">
            <a:extLst>
              <a:ext uri="{FF2B5EF4-FFF2-40B4-BE49-F238E27FC236}">
                <a16:creationId xmlns:a16="http://schemas.microsoft.com/office/drawing/2014/main" id="{D2095E8C-9654-4B78-8594-A33D6214EF2D}"/>
              </a:ext>
            </a:extLst>
          </p:cNvPr>
          <p:cNvSpPr>
            <a:spLocks noGrp="1"/>
          </p:cNvSpPr>
          <p:nvPr/>
        </p:nvSpPr>
        <p:spPr>
          <a:xfrm>
            <a:off x="2800350" y="4407272"/>
            <a:ext cx="1714500" cy="552450"/>
          </a:xfrm>
          <a:prstGeom prst="rect">
            <a:avLst/>
          </a:prstGeom>
          <a:noFill/>
          <a:ln w="0">
            <a:noFill/>
            <a:prstDash val="solid"/>
          </a:ln>
        </p:spPr>
      </p:sp>
      <p:sp>
        <p:nvSpPr>
          <p:cNvPr id="56" name="矩形 55">
            <a:extLst>
              <a:ext uri="{FF2B5EF4-FFF2-40B4-BE49-F238E27FC236}">
                <a16:creationId xmlns:a16="http://schemas.microsoft.com/office/drawing/2014/main" id="{93A1A27E-FB6F-4F93-89E2-44242D1F50D3}"/>
              </a:ext>
            </a:extLst>
          </p:cNvPr>
          <p:cNvSpPr>
            <a:spLocks noGrp="1"/>
          </p:cNvSpPr>
          <p:nvPr/>
        </p:nvSpPr>
        <p:spPr>
          <a:xfrm>
            <a:off x="2876550" y="4473947"/>
            <a:ext cx="1562100" cy="419100"/>
          </a:xfrm>
          <a:prstGeom prst="rect">
            <a:avLst/>
          </a:prstGeom>
          <a:noFill/>
          <a:ln w="0">
            <a:noFill/>
            <a:prstDash val="solid"/>
          </a:ln>
        </p:spPr>
        <p:txBody>
          <a:bodyPr wrap="square" lIns="0" tIns="0" rIns="0" bIns="0" anchor="ctr">
            <a:noAutofit/>
          </a:bodyPr>
          <a:lstStyle/>
          <a:p>
            <a:pPr algn="ctr">
              <a:lnSpc>
                <a:spcPct val="92000"/>
              </a:lnSpc>
              <a:buNone/>
              <a:defRPr sz="1065" b="1">
                <a:solidFill>
                  <a:srgbClr val="2787F5"/>
                </a:solidFill>
                <a:latin typeface="Hiragino Sans GB"/>
                <a:ea typeface="Hiragino Sans GB"/>
                <a:cs typeface="Hiragino Sans GB"/>
              </a:defRPr>
            </a:pPr>
            <a:r>
              <a:rPr sz="1065" b="1">
                <a:solidFill>
                  <a:srgbClr val="2787F5"/>
                </a:solidFill>
                <a:latin typeface="Hiragino Sans GB"/>
                <a:ea typeface="Hiragino Sans GB"/>
                <a:cs typeface="Hiragino Sans GB"/>
              </a:rPr>
              <a:t>估计 token ΔH；</a:t>
            </a:r>
          </a:p>
          <a:p>
            <a:pPr algn="ctr">
              <a:lnSpc>
                <a:spcPct val="92000"/>
              </a:lnSpc>
              <a:buNone/>
              <a:defRPr sz="1065" b="1">
                <a:solidFill>
                  <a:srgbClr val="2787F5"/>
                </a:solidFill>
                <a:latin typeface="Hiragino Sans GB"/>
                <a:ea typeface="Hiragino Sans GB"/>
                <a:cs typeface="Hiragino Sans GB"/>
              </a:defRPr>
            </a:pPr>
            <a:r>
              <a:rPr sz="1065" b="1">
                <a:solidFill>
                  <a:srgbClr val="2787F5"/>
                </a:solidFill>
                <a:latin typeface="Hiragino Sans GB"/>
                <a:ea typeface="Hiragino Sans GB"/>
                <a:cs typeface="Hiragino Sans GB"/>
              </a:rPr>
              <a:t>抑制过大更新</a:t>
            </a:r>
          </a:p>
        </p:txBody>
      </p:sp>
      <p:sp>
        <p:nvSpPr>
          <p:cNvPr id="57" name="矩形 56">
            <a:extLst>
              <a:ext uri="{FF2B5EF4-FFF2-40B4-BE49-F238E27FC236}">
                <a16:creationId xmlns:a16="http://schemas.microsoft.com/office/drawing/2014/main" id="{4ACE8E0B-5A1F-415B-B28E-8EA7D8E9F99C}"/>
              </a:ext>
            </a:extLst>
          </p:cNvPr>
          <p:cNvSpPr>
            <a:spLocks noGrp="1"/>
          </p:cNvSpPr>
          <p:nvPr/>
        </p:nvSpPr>
        <p:spPr>
          <a:xfrm>
            <a:off x="4514850" y="4407272"/>
            <a:ext cx="1095375" cy="552450"/>
          </a:xfrm>
          <a:prstGeom prst="rect">
            <a:avLst/>
          </a:prstGeom>
          <a:noFill/>
          <a:ln w="0">
            <a:noFill/>
            <a:prstDash val="solid"/>
          </a:ln>
        </p:spPr>
      </p:sp>
      <p:sp>
        <p:nvSpPr>
          <p:cNvPr id="58" name="矩形 57">
            <a:extLst>
              <a:ext uri="{FF2B5EF4-FFF2-40B4-BE49-F238E27FC236}">
                <a16:creationId xmlns:a16="http://schemas.microsoft.com/office/drawing/2014/main" id="{88951DA3-C9B3-4423-8CD2-88C066EB6044}"/>
              </a:ext>
            </a:extLst>
          </p:cNvPr>
          <p:cNvSpPr>
            <a:spLocks noGrp="1"/>
          </p:cNvSpPr>
          <p:nvPr/>
        </p:nvSpPr>
        <p:spPr>
          <a:xfrm>
            <a:off x="4591050" y="4473947"/>
            <a:ext cx="942975" cy="419100"/>
          </a:xfrm>
          <a:prstGeom prst="rect">
            <a:avLst/>
          </a:prstGeom>
          <a:noFill/>
          <a:ln w="0">
            <a:noFill/>
            <a:prstDash val="solid"/>
          </a:ln>
        </p:spPr>
        <p:txBody>
          <a:bodyPr wrap="square" lIns="0" tIns="0" rIns="0" bIns="0" anchor="ctr">
            <a:noAutofit/>
          </a:bodyPr>
          <a:lstStyle/>
          <a:p>
            <a:pPr algn="ctr">
              <a:lnSpc>
                <a:spcPct val="92000"/>
              </a:lnSpc>
              <a:buNone/>
              <a:defRPr sz="1065" b="1">
                <a:solidFill>
                  <a:srgbClr val="2787F5"/>
                </a:solidFill>
                <a:latin typeface="Hiragino Sans GB"/>
                <a:ea typeface="Hiragino Sans GB"/>
                <a:cs typeface="Hiragino Sans GB"/>
              </a:defRPr>
            </a:pPr>
            <a:r>
              <a:rPr sz="1065" b="1">
                <a:solidFill>
                  <a:srgbClr val="2787F5"/>
                </a:solidFill>
                <a:latin typeface="Hiragino Sans GB"/>
                <a:ea typeface="Hiragino Sans GB"/>
                <a:cs typeface="Hiragino Sans GB"/>
              </a:rPr>
              <a:t>每个</a:t>
            </a:r>
          </a:p>
          <a:p>
            <a:pPr algn="ctr">
              <a:lnSpc>
                <a:spcPct val="92000"/>
              </a:lnSpc>
              <a:buNone/>
              <a:defRPr sz="1065" b="1">
                <a:solidFill>
                  <a:srgbClr val="2787F5"/>
                </a:solidFill>
                <a:latin typeface="Hiragino Sans GB"/>
                <a:ea typeface="Hiragino Sans GB"/>
                <a:cs typeface="Hiragino Sans GB"/>
              </a:defRPr>
            </a:pPr>
            <a:r>
              <a:rPr sz="1065" b="1">
                <a:solidFill>
                  <a:srgbClr val="2787F5"/>
                </a:solidFill>
                <a:latin typeface="Hiragino Sans GB"/>
                <a:ea typeface="Hiragino Sans GB"/>
                <a:cs typeface="Hiragino Sans GB"/>
              </a:rPr>
              <a:t>token</a:t>
            </a:r>
          </a:p>
        </p:txBody>
      </p:sp>
      <p:sp>
        <p:nvSpPr>
          <p:cNvPr id="59" name="矩形 58">
            <a:extLst>
              <a:ext uri="{FF2B5EF4-FFF2-40B4-BE49-F238E27FC236}">
                <a16:creationId xmlns:a16="http://schemas.microsoft.com/office/drawing/2014/main" id="{7D7D4436-C1D9-4D67-8F9C-B58DC47C78B4}"/>
              </a:ext>
            </a:extLst>
          </p:cNvPr>
          <p:cNvSpPr>
            <a:spLocks noGrp="1"/>
          </p:cNvSpPr>
          <p:nvPr/>
        </p:nvSpPr>
        <p:spPr>
          <a:xfrm>
            <a:off x="5610225" y="4407272"/>
            <a:ext cx="1238250" cy="552450"/>
          </a:xfrm>
          <a:prstGeom prst="rect">
            <a:avLst/>
          </a:prstGeom>
          <a:noFill/>
          <a:ln w="0">
            <a:noFill/>
            <a:prstDash val="solid"/>
          </a:ln>
        </p:spPr>
      </p:sp>
      <p:sp>
        <p:nvSpPr>
          <p:cNvPr id="60" name="矩形 59">
            <a:extLst>
              <a:ext uri="{FF2B5EF4-FFF2-40B4-BE49-F238E27FC236}">
                <a16:creationId xmlns:a16="http://schemas.microsoft.com/office/drawing/2014/main" id="{5848C489-0729-4667-99AB-77932895B792}"/>
              </a:ext>
            </a:extLst>
          </p:cNvPr>
          <p:cNvSpPr>
            <a:spLocks noGrp="1"/>
          </p:cNvSpPr>
          <p:nvPr/>
        </p:nvSpPr>
        <p:spPr>
          <a:xfrm>
            <a:off x="5686425" y="4473947"/>
            <a:ext cx="1085850" cy="419100"/>
          </a:xfrm>
          <a:prstGeom prst="rect">
            <a:avLst/>
          </a:prstGeom>
          <a:noFill/>
          <a:ln w="0">
            <a:noFill/>
            <a:prstDash val="solid"/>
          </a:ln>
        </p:spPr>
        <p:txBody>
          <a:bodyPr wrap="square" lIns="0" tIns="0" rIns="0" bIns="0" anchor="ctr">
            <a:noAutofit/>
          </a:bodyPr>
          <a:lstStyle/>
          <a:p>
            <a:pPr algn="ctr">
              <a:lnSpc>
                <a:spcPct val="92000"/>
              </a:lnSpc>
              <a:buNone/>
              <a:defRPr sz="1065" b="1">
                <a:solidFill>
                  <a:srgbClr val="2787F5"/>
                </a:solidFill>
                <a:latin typeface="Hiragino Sans GB"/>
                <a:ea typeface="Hiragino Sans GB"/>
                <a:cs typeface="Hiragino Sans GB"/>
              </a:defRPr>
            </a:pPr>
            <a:r>
              <a:rPr sz="1065" b="1">
                <a:solidFill>
                  <a:srgbClr val="2787F5"/>
                </a:solidFill>
                <a:latin typeface="Hiragino Sans GB"/>
                <a:ea typeface="Hiragino Sans GB"/>
                <a:cs typeface="Hiragino Sans GB"/>
              </a:rPr>
              <a:t>同时防止</a:t>
            </a:r>
          </a:p>
          <a:p>
            <a:pPr algn="ctr">
              <a:lnSpc>
                <a:spcPct val="92000"/>
              </a:lnSpc>
              <a:buNone/>
              <a:defRPr sz="1065" b="1">
                <a:solidFill>
                  <a:srgbClr val="2787F5"/>
                </a:solidFill>
                <a:latin typeface="Hiragino Sans GB"/>
                <a:ea typeface="Hiragino Sans GB"/>
                <a:cs typeface="Hiragino Sans GB"/>
              </a:defRPr>
            </a:pPr>
            <a:r>
              <a:rPr sz="1065" b="1">
                <a:solidFill>
                  <a:srgbClr val="2787F5"/>
                </a:solidFill>
                <a:latin typeface="Hiragino Sans GB"/>
                <a:ea typeface="Hiragino Sans GB"/>
                <a:cs typeface="Hiragino Sans GB"/>
              </a:rPr>
              <a:t>坍缩 / 爆熵</a:t>
            </a:r>
          </a:p>
        </p:txBody>
      </p:sp>
      <p:sp>
        <p:nvSpPr>
          <p:cNvPr id="61" name="矩形 60">
            <a:extLst>
              <a:ext uri="{FF2B5EF4-FFF2-40B4-BE49-F238E27FC236}">
                <a16:creationId xmlns:a16="http://schemas.microsoft.com/office/drawing/2014/main" id="{B1AB466F-CA84-4231-97D9-B924CDC991FC}"/>
              </a:ext>
            </a:extLst>
          </p:cNvPr>
          <p:cNvSpPr>
            <a:spLocks noGrp="1"/>
          </p:cNvSpPr>
          <p:nvPr/>
        </p:nvSpPr>
        <p:spPr>
          <a:xfrm>
            <a:off x="6848475" y="4407272"/>
            <a:ext cx="1285875" cy="552450"/>
          </a:xfrm>
          <a:prstGeom prst="rect">
            <a:avLst/>
          </a:prstGeom>
          <a:noFill/>
          <a:ln w="0">
            <a:noFill/>
            <a:prstDash val="solid"/>
          </a:ln>
        </p:spPr>
      </p:sp>
      <p:sp>
        <p:nvSpPr>
          <p:cNvPr id="62" name="矩形 61">
            <a:extLst>
              <a:ext uri="{FF2B5EF4-FFF2-40B4-BE49-F238E27FC236}">
                <a16:creationId xmlns:a16="http://schemas.microsoft.com/office/drawing/2014/main" id="{F4F8F30C-9A90-4229-862F-26B4A2F4F61D}"/>
              </a:ext>
            </a:extLst>
          </p:cNvPr>
          <p:cNvSpPr>
            <a:spLocks noGrp="1"/>
          </p:cNvSpPr>
          <p:nvPr/>
        </p:nvSpPr>
        <p:spPr>
          <a:xfrm>
            <a:off x="6924675" y="4473947"/>
            <a:ext cx="1133475" cy="419100"/>
          </a:xfrm>
          <a:prstGeom prst="rect">
            <a:avLst/>
          </a:prstGeom>
          <a:noFill/>
          <a:ln w="0">
            <a:noFill/>
            <a:prstDash val="solid"/>
          </a:ln>
        </p:spPr>
        <p:txBody>
          <a:bodyPr wrap="square" lIns="0" tIns="0" rIns="0" bIns="0" anchor="ctr">
            <a:noAutofit/>
          </a:bodyPr>
          <a:lstStyle/>
          <a:p>
            <a:pPr algn="ctr">
              <a:lnSpc>
                <a:spcPct val="92000"/>
              </a:lnSpc>
              <a:buNone/>
              <a:defRPr sz="1020" b="1">
                <a:solidFill>
                  <a:srgbClr val="2787F5"/>
                </a:solidFill>
                <a:latin typeface="Hiragino Sans GB"/>
                <a:ea typeface="Hiragino Sans GB"/>
                <a:cs typeface="Hiragino Sans GB"/>
              </a:defRPr>
            </a:pPr>
            <a:r>
              <a:rPr sz="1020" b="1" dirty="0" err="1">
                <a:solidFill>
                  <a:srgbClr val="2787F5"/>
                </a:solidFill>
                <a:latin typeface="Hiragino Sans GB"/>
                <a:ea typeface="Hiragino Sans GB"/>
                <a:cs typeface="Hiragino Sans GB"/>
              </a:rPr>
              <a:t>依赖</a:t>
            </a:r>
            <a:r>
              <a:rPr sz="1020" b="1" dirty="0">
                <a:solidFill>
                  <a:srgbClr val="2787F5"/>
                </a:solidFill>
                <a:latin typeface="Hiragino Sans GB"/>
                <a:ea typeface="Hiragino Sans GB"/>
                <a:cs typeface="Hiragino Sans GB"/>
              </a:rPr>
              <a:t> ΔH </a:t>
            </a:r>
            <a:r>
              <a:rPr sz="1020" b="1" dirty="0" err="1">
                <a:solidFill>
                  <a:srgbClr val="2787F5"/>
                </a:solidFill>
                <a:latin typeface="Hiragino Sans GB"/>
                <a:ea typeface="Hiragino Sans GB"/>
                <a:cs typeface="Hiragino Sans GB"/>
              </a:rPr>
              <a:t>估计</a:t>
            </a:r>
            <a:r>
              <a:rPr sz="1020" b="1" dirty="0">
                <a:solidFill>
                  <a:srgbClr val="2787F5"/>
                </a:solidFill>
                <a:latin typeface="Hiragino Sans GB"/>
                <a:ea typeface="Hiragino Sans GB"/>
                <a:cs typeface="Hiragino Sans GB"/>
              </a:rPr>
              <a:t>；</a:t>
            </a:r>
          </a:p>
          <a:p>
            <a:pPr algn="ctr">
              <a:lnSpc>
                <a:spcPct val="92000"/>
              </a:lnSpc>
              <a:buNone/>
              <a:defRPr sz="1020" b="1">
                <a:solidFill>
                  <a:srgbClr val="2787F5"/>
                </a:solidFill>
                <a:latin typeface="Hiragino Sans GB"/>
                <a:ea typeface="Hiragino Sans GB"/>
                <a:cs typeface="Hiragino Sans GB"/>
              </a:defRPr>
            </a:pPr>
            <a:r>
              <a:rPr sz="1020" b="1" dirty="0" err="1">
                <a:solidFill>
                  <a:srgbClr val="2787F5"/>
                </a:solidFill>
                <a:latin typeface="Hiragino Sans GB"/>
                <a:ea typeface="Hiragino Sans GB"/>
                <a:cs typeface="Hiragino Sans GB"/>
              </a:rPr>
              <a:t>计算更复杂</a:t>
            </a:r>
            <a:endParaRPr sz="1020" b="1" dirty="0">
              <a:solidFill>
                <a:srgbClr val="2787F5"/>
              </a:solidFill>
              <a:latin typeface="Hiragino Sans GB"/>
              <a:ea typeface="Hiragino Sans GB"/>
              <a:cs typeface="Hiragino Sans GB"/>
            </a:endParaRPr>
          </a:p>
        </p:txBody>
      </p:sp>
      <p:sp>
        <p:nvSpPr>
          <p:cNvPr id="71" name="矩形 70">
            <a:extLst>
              <a:ext uri="{FF2B5EF4-FFF2-40B4-BE49-F238E27FC236}">
                <a16:creationId xmlns:a16="http://schemas.microsoft.com/office/drawing/2014/main" id="{D9CF59F3-3D5B-4D93-89A7-443E5C4C795F}"/>
              </a:ext>
            </a:extLst>
          </p:cNvPr>
          <p:cNvSpPr>
            <a:spLocks noGrp="1"/>
          </p:cNvSpPr>
          <p:nvPr/>
        </p:nvSpPr>
        <p:spPr>
          <a:xfrm>
            <a:off x="11334750" y="6362700"/>
            <a:ext cx="438150" cy="219075"/>
          </a:xfrm>
          <a:prstGeom prst="rect">
            <a:avLst/>
          </a:prstGeom>
          <a:noFill/>
          <a:ln w="0">
            <a:noFill/>
            <a:prstDash val="solid"/>
          </a:ln>
        </p:spPr>
        <p:txBody>
          <a:bodyPr wrap="square" lIns="0" tIns="0" rIns="0" bIns="0" anchor="t">
            <a:noAutofit/>
          </a:bodyPr>
          <a:lstStyle/>
          <a:p>
            <a:pPr algn="r">
              <a:buNone/>
              <a:defRPr sz="825" b="0">
                <a:solidFill>
                  <a:srgbClr val="5E6470"/>
                </a:solidFill>
                <a:latin typeface="Helvetica Neue"/>
                <a:ea typeface="Helvetica Neue"/>
                <a:cs typeface="Helvetica Neue"/>
              </a:defRPr>
            </a:pPr>
            <a:r>
              <a:rPr sz="825" b="0">
                <a:solidFill>
                  <a:srgbClr val="5E6470"/>
                </a:solidFill>
                <a:latin typeface="Helvetica Neue"/>
                <a:ea typeface="Helvetica Neue"/>
                <a:cs typeface="Helvetica Neue"/>
              </a:rPr>
              <a:t>04</a:t>
            </a:r>
          </a:p>
        </p:txBody>
      </p:sp>
      <p:sp>
        <p:nvSpPr>
          <p:cNvPr id="73" name="table-top">
            <a:extLst>
              <a:ext uri="{FF2B5EF4-FFF2-40B4-BE49-F238E27FC236}">
                <a16:creationId xmlns:a16="http://schemas.microsoft.com/office/drawing/2014/main" id="{E8F83831-E0D6-4BF3-90D4-36DE64812ABE}"/>
              </a:ext>
            </a:extLst>
          </p:cNvPr>
          <p:cNvSpPr>
            <a:spLocks noGrp="1"/>
          </p:cNvSpPr>
          <p:nvPr/>
        </p:nvSpPr>
        <p:spPr>
          <a:xfrm>
            <a:off x="419100" y="1702172"/>
            <a:ext cx="11353800" cy="0"/>
          </a:xfrm>
          <a:prstGeom prst="line">
            <a:avLst/>
          </a:prstGeom>
          <a:noFill/>
          <a:ln w="14288">
            <a:solidFill>
              <a:srgbClr val="101214"/>
            </a:solidFill>
            <a:prstDash val="solid"/>
          </a:ln>
        </p:spPr>
      </p:sp>
      <p:sp>
        <p:nvSpPr>
          <p:cNvPr id="74" name="table-row-194">
            <a:extLst>
              <a:ext uri="{FF2B5EF4-FFF2-40B4-BE49-F238E27FC236}">
                <a16:creationId xmlns:a16="http://schemas.microsoft.com/office/drawing/2014/main" id="{C563F8D7-25E8-4A5C-AD55-4C1E22AC1FE7}"/>
              </a:ext>
            </a:extLst>
          </p:cNvPr>
          <p:cNvSpPr>
            <a:spLocks noGrp="1"/>
          </p:cNvSpPr>
          <p:nvPr/>
        </p:nvSpPr>
        <p:spPr>
          <a:xfrm>
            <a:off x="419100" y="2197472"/>
            <a:ext cx="11353800" cy="0"/>
          </a:xfrm>
          <a:prstGeom prst="line">
            <a:avLst/>
          </a:prstGeom>
          <a:noFill/>
          <a:ln w="9525">
            <a:solidFill>
              <a:srgbClr val="D8DEE6"/>
            </a:solidFill>
            <a:prstDash val="solid"/>
          </a:ln>
        </p:spPr>
      </p:sp>
      <p:sp>
        <p:nvSpPr>
          <p:cNvPr id="75" name="table-row-252">
            <a:extLst>
              <a:ext uri="{FF2B5EF4-FFF2-40B4-BE49-F238E27FC236}">
                <a16:creationId xmlns:a16="http://schemas.microsoft.com/office/drawing/2014/main" id="{4ABF06E7-7CB6-4CC9-AAB5-982812ED61D7}"/>
              </a:ext>
            </a:extLst>
          </p:cNvPr>
          <p:cNvSpPr>
            <a:spLocks noGrp="1"/>
          </p:cNvSpPr>
          <p:nvPr/>
        </p:nvSpPr>
        <p:spPr>
          <a:xfrm>
            <a:off x="419100" y="2749922"/>
            <a:ext cx="11353800" cy="0"/>
          </a:xfrm>
          <a:prstGeom prst="line">
            <a:avLst/>
          </a:prstGeom>
          <a:noFill/>
          <a:ln w="9525">
            <a:solidFill>
              <a:srgbClr val="D8DEE6"/>
            </a:solidFill>
            <a:prstDash val="solid"/>
          </a:ln>
        </p:spPr>
      </p:sp>
      <p:sp>
        <p:nvSpPr>
          <p:cNvPr id="76" name="table-row-310">
            <a:extLst>
              <a:ext uri="{FF2B5EF4-FFF2-40B4-BE49-F238E27FC236}">
                <a16:creationId xmlns:a16="http://schemas.microsoft.com/office/drawing/2014/main" id="{6A2EC2CE-332B-4DD2-9639-31D614639A17}"/>
              </a:ext>
            </a:extLst>
          </p:cNvPr>
          <p:cNvSpPr>
            <a:spLocks noGrp="1"/>
          </p:cNvSpPr>
          <p:nvPr/>
        </p:nvSpPr>
        <p:spPr>
          <a:xfrm>
            <a:off x="419100" y="3302372"/>
            <a:ext cx="11353800" cy="0"/>
          </a:xfrm>
          <a:prstGeom prst="line">
            <a:avLst/>
          </a:prstGeom>
          <a:noFill/>
          <a:ln w="9525">
            <a:solidFill>
              <a:srgbClr val="D8DEE6"/>
            </a:solidFill>
            <a:prstDash val="solid"/>
          </a:ln>
        </p:spPr>
      </p:sp>
      <p:sp>
        <p:nvSpPr>
          <p:cNvPr id="77" name="table-row-368">
            <a:extLst>
              <a:ext uri="{FF2B5EF4-FFF2-40B4-BE49-F238E27FC236}">
                <a16:creationId xmlns:a16="http://schemas.microsoft.com/office/drawing/2014/main" id="{111E938C-B716-476D-9703-CE67C6C8324E}"/>
              </a:ext>
            </a:extLst>
          </p:cNvPr>
          <p:cNvSpPr>
            <a:spLocks noGrp="1"/>
          </p:cNvSpPr>
          <p:nvPr/>
        </p:nvSpPr>
        <p:spPr>
          <a:xfrm>
            <a:off x="419100" y="3854822"/>
            <a:ext cx="11353800" cy="0"/>
          </a:xfrm>
          <a:prstGeom prst="line">
            <a:avLst/>
          </a:prstGeom>
          <a:noFill/>
          <a:ln w="9525">
            <a:solidFill>
              <a:srgbClr val="D8DEE6"/>
            </a:solidFill>
            <a:prstDash val="solid"/>
          </a:ln>
        </p:spPr>
      </p:sp>
      <p:sp>
        <p:nvSpPr>
          <p:cNvPr id="78" name="table-row-426">
            <a:extLst>
              <a:ext uri="{FF2B5EF4-FFF2-40B4-BE49-F238E27FC236}">
                <a16:creationId xmlns:a16="http://schemas.microsoft.com/office/drawing/2014/main" id="{A03ADB83-2FBA-4F3D-8A73-971871AEF86E}"/>
              </a:ext>
            </a:extLst>
          </p:cNvPr>
          <p:cNvSpPr>
            <a:spLocks noGrp="1"/>
          </p:cNvSpPr>
          <p:nvPr/>
        </p:nvSpPr>
        <p:spPr>
          <a:xfrm>
            <a:off x="419100" y="4407272"/>
            <a:ext cx="11353800" cy="0"/>
          </a:xfrm>
          <a:prstGeom prst="line">
            <a:avLst/>
          </a:prstGeom>
          <a:noFill/>
          <a:ln w="9525">
            <a:solidFill>
              <a:srgbClr val="D8DEE6"/>
            </a:solidFill>
            <a:prstDash val="solid"/>
          </a:ln>
        </p:spPr>
      </p:sp>
      <p:sp>
        <p:nvSpPr>
          <p:cNvPr id="79" name="table-row-484">
            <a:extLst>
              <a:ext uri="{FF2B5EF4-FFF2-40B4-BE49-F238E27FC236}">
                <a16:creationId xmlns:a16="http://schemas.microsoft.com/office/drawing/2014/main" id="{2140FBB1-BC4E-480C-8BED-03A1624DBF64}"/>
              </a:ext>
            </a:extLst>
          </p:cNvPr>
          <p:cNvSpPr>
            <a:spLocks noGrp="1"/>
          </p:cNvSpPr>
          <p:nvPr/>
        </p:nvSpPr>
        <p:spPr>
          <a:xfrm>
            <a:off x="419100" y="4959722"/>
            <a:ext cx="11353800" cy="0"/>
          </a:xfrm>
          <a:prstGeom prst="line">
            <a:avLst/>
          </a:prstGeom>
          <a:noFill/>
          <a:ln w="9525">
            <a:solidFill>
              <a:srgbClr val="D8DEE6"/>
            </a:solidFill>
            <a:prstDash val="solid"/>
          </a:ln>
        </p:spPr>
      </p:sp>
      <p:sp>
        <p:nvSpPr>
          <p:cNvPr id="80" name="table-col-294">
            <a:extLst>
              <a:ext uri="{FF2B5EF4-FFF2-40B4-BE49-F238E27FC236}">
                <a16:creationId xmlns:a16="http://schemas.microsoft.com/office/drawing/2014/main" id="{2FE1866B-7C38-4677-BC9A-C2C17F162BD5}"/>
              </a:ext>
            </a:extLst>
          </p:cNvPr>
          <p:cNvSpPr>
            <a:spLocks noGrp="1"/>
          </p:cNvSpPr>
          <p:nvPr/>
        </p:nvSpPr>
        <p:spPr>
          <a:xfrm>
            <a:off x="2800350" y="1702172"/>
            <a:ext cx="0" cy="3257550"/>
          </a:xfrm>
          <a:prstGeom prst="line">
            <a:avLst/>
          </a:prstGeom>
          <a:noFill/>
          <a:ln w="9525">
            <a:solidFill>
              <a:srgbClr val="D8DEE6"/>
            </a:solidFill>
            <a:prstDash val="solid"/>
          </a:ln>
        </p:spPr>
      </p:sp>
      <p:sp>
        <p:nvSpPr>
          <p:cNvPr id="81" name="table-col-474">
            <a:extLst>
              <a:ext uri="{FF2B5EF4-FFF2-40B4-BE49-F238E27FC236}">
                <a16:creationId xmlns:a16="http://schemas.microsoft.com/office/drawing/2014/main" id="{BF6ED5F0-5B88-4593-80E7-2D59AEA7A55B}"/>
              </a:ext>
            </a:extLst>
          </p:cNvPr>
          <p:cNvSpPr>
            <a:spLocks noGrp="1"/>
          </p:cNvSpPr>
          <p:nvPr/>
        </p:nvSpPr>
        <p:spPr>
          <a:xfrm>
            <a:off x="4514850" y="1702172"/>
            <a:ext cx="0" cy="3257550"/>
          </a:xfrm>
          <a:prstGeom prst="line">
            <a:avLst/>
          </a:prstGeom>
          <a:noFill/>
          <a:ln w="9525">
            <a:solidFill>
              <a:srgbClr val="D8DEE6"/>
            </a:solidFill>
            <a:prstDash val="solid"/>
          </a:ln>
        </p:spPr>
      </p:sp>
      <p:sp>
        <p:nvSpPr>
          <p:cNvPr id="82" name="table-col-589">
            <a:extLst>
              <a:ext uri="{FF2B5EF4-FFF2-40B4-BE49-F238E27FC236}">
                <a16:creationId xmlns:a16="http://schemas.microsoft.com/office/drawing/2014/main" id="{EEDD816F-080E-4B33-846F-FC2189EA94A5}"/>
              </a:ext>
            </a:extLst>
          </p:cNvPr>
          <p:cNvSpPr>
            <a:spLocks noGrp="1"/>
          </p:cNvSpPr>
          <p:nvPr/>
        </p:nvSpPr>
        <p:spPr>
          <a:xfrm>
            <a:off x="5610225" y="1702172"/>
            <a:ext cx="0" cy="3257550"/>
          </a:xfrm>
          <a:prstGeom prst="line">
            <a:avLst/>
          </a:prstGeom>
          <a:noFill/>
          <a:ln w="9525">
            <a:solidFill>
              <a:srgbClr val="D8DEE6"/>
            </a:solidFill>
            <a:prstDash val="solid"/>
          </a:ln>
        </p:spPr>
      </p:sp>
      <p:sp>
        <p:nvSpPr>
          <p:cNvPr id="83" name="table-col-719">
            <a:extLst>
              <a:ext uri="{FF2B5EF4-FFF2-40B4-BE49-F238E27FC236}">
                <a16:creationId xmlns:a16="http://schemas.microsoft.com/office/drawing/2014/main" id="{D9E1AA21-0324-442C-B041-EADE28F420E3}"/>
              </a:ext>
            </a:extLst>
          </p:cNvPr>
          <p:cNvSpPr>
            <a:spLocks noGrp="1"/>
          </p:cNvSpPr>
          <p:nvPr/>
        </p:nvSpPr>
        <p:spPr>
          <a:xfrm>
            <a:off x="6848475" y="1702172"/>
            <a:ext cx="0" cy="3257550"/>
          </a:xfrm>
          <a:prstGeom prst="line">
            <a:avLst/>
          </a:prstGeom>
          <a:noFill/>
          <a:ln w="9525">
            <a:solidFill>
              <a:srgbClr val="D8DEE6"/>
            </a:solidFill>
            <a:prstDash val="solid"/>
          </a:ln>
        </p:spPr>
      </p:sp>
      <p:sp>
        <p:nvSpPr>
          <p:cNvPr id="84" name="table-col-854">
            <a:extLst>
              <a:ext uri="{FF2B5EF4-FFF2-40B4-BE49-F238E27FC236}">
                <a16:creationId xmlns:a16="http://schemas.microsoft.com/office/drawing/2014/main" id="{B67DF095-2663-4B7F-B911-B240B837353D}"/>
              </a:ext>
            </a:extLst>
          </p:cNvPr>
          <p:cNvSpPr>
            <a:spLocks noGrp="1"/>
          </p:cNvSpPr>
          <p:nvPr/>
        </p:nvSpPr>
        <p:spPr>
          <a:xfrm>
            <a:off x="8134350" y="1702172"/>
            <a:ext cx="0" cy="3257550"/>
          </a:xfrm>
          <a:prstGeom prst="line">
            <a:avLst/>
          </a:prstGeom>
          <a:noFill/>
          <a:ln w="9525">
            <a:solidFill>
              <a:srgbClr val="D8DEE6"/>
            </a:solidFill>
            <a:prstDash val="solid"/>
          </a:ln>
        </p:spPr>
      </p:sp>
      <p:sp>
        <p:nvSpPr>
          <p:cNvPr id="85" name="table-col-1096">
            <a:extLst>
              <a:ext uri="{FF2B5EF4-FFF2-40B4-BE49-F238E27FC236}">
                <a16:creationId xmlns:a16="http://schemas.microsoft.com/office/drawing/2014/main" id="{E07368E9-D490-4A37-9243-9C26F98ACEA7}"/>
              </a:ext>
            </a:extLst>
          </p:cNvPr>
          <p:cNvSpPr>
            <a:spLocks noGrp="1"/>
          </p:cNvSpPr>
          <p:nvPr/>
        </p:nvSpPr>
        <p:spPr>
          <a:xfrm>
            <a:off x="10439400" y="1702172"/>
            <a:ext cx="0" cy="3257550"/>
          </a:xfrm>
          <a:prstGeom prst="line">
            <a:avLst/>
          </a:prstGeom>
          <a:noFill/>
          <a:ln w="9525">
            <a:solidFill>
              <a:srgbClr val="D8DEE6"/>
            </a:solidFill>
            <a:prstDash val="solid"/>
          </a:ln>
        </p:spPr>
      </p:sp>
      <p:sp>
        <p:nvSpPr>
          <p:cNvPr id="86" name="formula-header">
            <a:extLst>
              <a:ext uri="{FF2B5EF4-FFF2-40B4-BE49-F238E27FC236}">
                <a16:creationId xmlns:a16="http://schemas.microsoft.com/office/drawing/2014/main" id="{B4015FA7-7ABA-4509-A770-5D8FACDB29E4}"/>
              </a:ext>
            </a:extLst>
          </p:cNvPr>
          <p:cNvSpPr>
            <a:spLocks noGrp="1"/>
          </p:cNvSpPr>
          <p:nvPr/>
        </p:nvSpPr>
        <p:spPr>
          <a:xfrm>
            <a:off x="8210550" y="1816472"/>
            <a:ext cx="2152650" cy="247650"/>
          </a:xfrm>
          <a:prstGeom prst="rect">
            <a:avLst/>
          </a:prstGeom>
          <a:noFill/>
          <a:ln w="0">
            <a:noFill/>
            <a:prstDash val="solid"/>
          </a:ln>
        </p:spPr>
        <p:txBody>
          <a:bodyPr lIns="0" tIns="0" rIns="0" bIns="0" anchor="ctr"/>
          <a:lstStyle/>
          <a:p>
            <a:pPr algn="ctr">
              <a:buNone/>
              <a:defRPr sz="1065" b="1">
                <a:solidFill>
                  <a:srgbClr val="101214"/>
                </a:solidFill>
                <a:latin typeface="Hiragino Sans GB"/>
                <a:ea typeface="Hiragino Sans GB"/>
                <a:cs typeface="Hiragino Sans GB"/>
              </a:defRPr>
            </a:pPr>
            <a:r>
              <a:rPr sz="1065" b="1">
                <a:solidFill>
                  <a:srgbClr val="101214"/>
                </a:solidFill>
                <a:latin typeface="Hiragino Sans GB"/>
                <a:ea typeface="Hiragino Sans GB"/>
                <a:cs typeface="Hiragino Sans GB"/>
              </a:rPr>
              <a:t>公式</a:t>
            </a:r>
          </a:p>
        </p:txBody>
      </p:sp>
      <p:sp>
        <p:nvSpPr>
          <p:cNvPr id="87" name="paper-link-header">
            <a:extLst>
              <a:ext uri="{FF2B5EF4-FFF2-40B4-BE49-F238E27FC236}">
                <a16:creationId xmlns:a16="http://schemas.microsoft.com/office/drawing/2014/main" id="{6B8B3021-4068-44BE-8F40-7F1D831FD10F}"/>
              </a:ext>
            </a:extLst>
          </p:cNvPr>
          <p:cNvSpPr>
            <a:spLocks noGrp="1"/>
          </p:cNvSpPr>
          <p:nvPr/>
        </p:nvSpPr>
        <p:spPr>
          <a:xfrm>
            <a:off x="10515600" y="1816472"/>
            <a:ext cx="1181100" cy="247650"/>
          </a:xfrm>
          <a:prstGeom prst="rect">
            <a:avLst/>
          </a:prstGeom>
          <a:noFill/>
          <a:ln w="0">
            <a:noFill/>
            <a:prstDash val="solid"/>
          </a:ln>
        </p:spPr>
        <p:txBody>
          <a:bodyPr lIns="0" tIns="0" rIns="0" bIns="0" anchor="ctr"/>
          <a:lstStyle/>
          <a:p>
            <a:pPr algn="ctr">
              <a:buNone/>
              <a:defRPr sz="1065" b="1">
                <a:solidFill>
                  <a:srgbClr val="101214"/>
                </a:solidFill>
                <a:latin typeface="Helvetica Neue"/>
                <a:ea typeface="Helvetica Neue"/>
                <a:cs typeface="Helvetica Neue"/>
              </a:defRPr>
            </a:pPr>
            <a:r>
              <a:rPr sz="1065" b="1">
                <a:solidFill>
                  <a:srgbClr val="101214"/>
                </a:solidFill>
                <a:latin typeface="Helvetica Neue"/>
                <a:ea typeface="Helvetica Neue"/>
                <a:cs typeface="Helvetica Neue"/>
              </a:rPr>
              <a:t>Paper link</a:t>
            </a:r>
          </a:p>
        </p:txBody>
      </p:sp>
      <p:pic>
        <p:nvPicPr>
          <p:cNvPr id="186" name="图片 189"/>
          <p:cNvPicPr>
            <a:picLocks noChangeAspect="1"/>
          </p:cNvPicPr>
          <p:nvPr/>
        </p:nvPicPr>
        <p:blipFill>
          <a:blip r:embed="rId3"/>
          <a:srcRect t="15673"/>
          <a:stretch>
            <a:fillRect/>
          </a:stretch>
        </p:blipFill>
        <p:spPr>
          <a:xfrm>
            <a:off x="8191500" y="2909455"/>
            <a:ext cx="2190750" cy="286663"/>
          </a:xfrm>
          <a:prstGeom prst="rect">
            <a:avLst/>
          </a:prstGeom>
        </p:spPr>
      </p:pic>
      <p:pic>
        <p:nvPicPr>
          <p:cNvPr id="187" name="图片 190"/>
          <p:cNvPicPr>
            <a:picLocks noChangeAspect="1"/>
          </p:cNvPicPr>
          <p:nvPr/>
        </p:nvPicPr>
        <p:blipFill>
          <a:blip r:embed="rId4"/>
          <a:srcRect t="17712" b="19306"/>
          <a:stretch>
            <a:fillRect/>
          </a:stretch>
        </p:blipFill>
        <p:spPr>
          <a:xfrm>
            <a:off x="8191500" y="3489162"/>
            <a:ext cx="2190750" cy="174453"/>
          </a:xfrm>
          <a:prstGeom prst="rect">
            <a:avLst/>
          </a:prstGeom>
        </p:spPr>
      </p:pic>
      <p:pic>
        <p:nvPicPr>
          <p:cNvPr id="188" name="图片 191"/>
          <p:cNvPicPr>
            <a:picLocks noChangeAspect="1"/>
          </p:cNvPicPr>
          <p:nvPr/>
        </p:nvPicPr>
        <p:blipFill>
          <a:blip r:embed="rId5"/>
          <a:srcRect t="14001" b="15307"/>
          <a:stretch>
            <a:fillRect/>
          </a:stretch>
        </p:blipFill>
        <p:spPr>
          <a:xfrm>
            <a:off x="8191500" y="4013204"/>
            <a:ext cx="2190750" cy="231413"/>
          </a:xfrm>
          <a:prstGeom prst="rect">
            <a:avLst/>
          </a:prstGeom>
        </p:spPr>
      </p:pic>
      <p:pic>
        <p:nvPicPr>
          <p:cNvPr id="189" name="图片 192"/>
          <p:cNvPicPr>
            <a:picLocks noChangeAspect="1"/>
          </p:cNvPicPr>
          <p:nvPr/>
        </p:nvPicPr>
        <p:blipFill>
          <a:blip r:embed="rId6"/>
          <a:stretch/>
        </p:blipFill>
        <p:spPr>
          <a:xfrm>
            <a:off x="8324497" y="4473947"/>
            <a:ext cx="1924756" cy="419100"/>
          </a:xfrm>
          <a:prstGeom prst="rect">
            <a:avLst/>
          </a:prstGeom>
        </p:spPr>
      </p:pic>
      <p:sp>
        <p:nvSpPr>
          <p:cNvPr id="93" name="paper-link-1">
            <a:extLst>
              <a:ext uri="{FF2B5EF4-FFF2-40B4-BE49-F238E27FC236}">
                <a16:creationId xmlns:a16="http://schemas.microsoft.com/office/drawing/2014/main" id="{0AC89CDF-EA65-46DF-901D-26FF2845615B}"/>
              </a:ext>
            </a:extLst>
          </p:cNvPr>
          <p:cNvSpPr>
            <a:spLocks noGrp="1"/>
          </p:cNvSpPr>
          <p:nvPr/>
        </p:nvSpPr>
        <p:spPr>
          <a:xfrm>
            <a:off x="10477500" y="2264147"/>
            <a:ext cx="1257300" cy="419100"/>
          </a:xfrm>
          <a:prstGeom prst="rect">
            <a:avLst/>
          </a:prstGeom>
          <a:noFill/>
          <a:ln w="0">
            <a:noFill/>
            <a:prstDash val="solid"/>
          </a:ln>
        </p:spPr>
        <p:txBody>
          <a:bodyPr wrap="square" lIns="0" tIns="0" rIns="0" bIns="0" anchor="ctr">
            <a:noAutofit/>
          </a:bodyPr>
          <a:lstStyle/>
          <a:p>
            <a:pPr algn="ctr">
              <a:lnSpc>
                <a:spcPct val="90000"/>
              </a:lnSpc>
              <a:buNone/>
              <a:defRPr sz="765" b="0" u="sng">
                <a:solidFill>
                  <a:srgbClr val="2584FF"/>
                </a:solidFill>
                <a:latin typeface="Helvetica Neue"/>
                <a:ea typeface="Helvetica Neue"/>
                <a:cs typeface="Helvetica Neue"/>
              </a:defRPr>
            </a:pPr>
            <a:r>
              <a:rPr sz="765" b="0" u="sng">
                <a:solidFill>
                  <a:srgbClr val="2584FF"/>
                </a:solidFill>
                <a:latin typeface="Helvetica Neue"/>
                <a:ea typeface="Helvetica Neue"/>
                <a:cs typeface="Helvetica Neue"/>
                <a:hlinkClick r:id="rId7"/>
              </a:rPr>
              <a:t>GRPO 2402.03300</a:t>
            </a:r>
          </a:p>
          <a:p>
            <a:pPr algn="ctr">
              <a:lnSpc>
                <a:spcPct val="90000"/>
              </a:lnSpc>
              <a:buNone/>
              <a:defRPr sz="765" b="0" u="sng">
                <a:solidFill>
                  <a:srgbClr val="2584FF"/>
                </a:solidFill>
                <a:latin typeface="Helvetica Neue"/>
                <a:ea typeface="Helvetica Neue"/>
                <a:cs typeface="Helvetica Neue"/>
              </a:defRPr>
            </a:pPr>
            <a:r>
              <a:rPr sz="765" b="0" u="sng">
                <a:solidFill>
                  <a:srgbClr val="2584FF"/>
                </a:solidFill>
                <a:latin typeface="Helvetica Neue"/>
                <a:ea typeface="Helvetica Neue"/>
                <a:cs typeface="Helvetica Neue"/>
                <a:hlinkClick r:id="rId8"/>
              </a:rPr>
              <a:t>SOR1 2505.22312</a:t>
            </a:r>
          </a:p>
        </p:txBody>
      </p:sp>
      <p:sp>
        <p:nvSpPr>
          <p:cNvPr id="94" name="paper-link-2">
            <a:extLst>
              <a:ext uri="{FF2B5EF4-FFF2-40B4-BE49-F238E27FC236}">
                <a16:creationId xmlns:a16="http://schemas.microsoft.com/office/drawing/2014/main" id="{64DFE9F8-4E7A-40C8-9E3B-A5CE66C5FA31}"/>
              </a:ext>
            </a:extLst>
          </p:cNvPr>
          <p:cNvSpPr>
            <a:spLocks noGrp="1"/>
          </p:cNvSpPr>
          <p:nvPr/>
        </p:nvSpPr>
        <p:spPr>
          <a:xfrm>
            <a:off x="10477500" y="2816597"/>
            <a:ext cx="1257300" cy="419100"/>
          </a:xfrm>
          <a:prstGeom prst="rect">
            <a:avLst/>
          </a:prstGeom>
          <a:noFill/>
          <a:ln w="0">
            <a:noFill/>
            <a:prstDash val="solid"/>
          </a:ln>
        </p:spPr>
        <p:txBody>
          <a:bodyPr wrap="square" lIns="0" tIns="0" rIns="0" bIns="0" anchor="ctr">
            <a:noAutofit/>
          </a:bodyPr>
          <a:lstStyle/>
          <a:p>
            <a:pPr algn="ctr">
              <a:lnSpc>
                <a:spcPct val="90000"/>
              </a:lnSpc>
              <a:buNone/>
              <a:defRPr sz="765" b="0" u="sng">
                <a:solidFill>
                  <a:srgbClr val="2584FF"/>
                </a:solidFill>
                <a:latin typeface="Helvetica Neue"/>
                <a:ea typeface="Helvetica Neue"/>
                <a:cs typeface="Helvetica Neue"/>
              </a:defRPr>
            </a:pPr>
            <a:r>
              <a:rPr sz="765" b="0" u="sng">
                <a:solidFill>
                  <a:srgbClr val="2584FF"/>
                </a:solidFill>
                <a:latin typeface="Helvetica Neue"/>
                <a:ea typeface="Helvetica Neue"/>
                <a:cs typeface="Helvetica Neue"/>
                <a:hlinkClick r:id="rId9"/>
              </a:rPr>
              <a:t>DAPO 2503.14476</a:t>
            </a:r>
          </a:p>
          <a:p>
            <a:pPr algn="ctr">
              <a:lnSpc>
                <a:spcPct val="90000"/>
              </a:lnSpc>
              <a:buNone/>
              <a:defRPr sz="765" b="0" u="sng">
                <a:solidFill>
                  <a:srgbClr val="2584FF"/>
                </a:solidFill>
                <a:latin typeface="Helvetica Neue"/>
                <a:ea typeface="Helvetica Neue"/>
                <a:cs typeface="Helvetica Neue"/>
              </a:defRPr>
            </a:pPr>
            <a:r>
              <a:rPr sz="765" b="0" u="sng">
                <a:solidFill>
                  <a:srgbClr val="2584FF"/>
                </a:solidFill>
                <a:latin typeface="Helvetica Neue"/>
                <a:ea typeface="Helvetica Neue"/>
                <a:cs typeface="Helvetica Neue"/>
                <a:hlinkClick r:id="rId10"/>
              </a:rPr>
              <a:t>DCPO 2509.02333</a:t>
            </a:r>
          </a:p>
        </p:txBody>
      </p:sp>
      <p:sp>
        <p:nvSpPr>
          <p:cNvPr id="95" name="paper-link-3">
            <a:extLst>
              <a:ext uri="{FF2B5EF4-FFF2-40B4-BE49-F238E27FC236}">
                <a16:creationId xmlns:a16="http://schemas.microsoft.com/office/drawing/2014/main" id="{6F5DA3CD-BCBC-45DC-9199-A1755D2C0210}"/>
              </a:ext>
            </a:extLst>
          </p:cNvPr>
          <p:cNvSpPr>
            <a:spLocks noGrp="1"/>
          </p:cNvSpPr>
          <p:nvPr/>
        </p:nvSpPr>
        <p:spPr>
          <a:xfrm>
            <a:off x="10477500" y="3369047"/>
            <a:ext cx="1257300" cy="419100"/>
          </a:xfrm>
          <a:prstGeom prst="rect">
            <a:avLst/>
          </a:prstGeom>
          <a:noFill/>
          <a:ln w="0">
            <a:noFill/>
            <a:prstDash val="solid"/>
          </a:ln>
        </p:spPr>
        <p:txBody>
          <a:bodyPr wrap="square" lIns="0" tIns="0" rIns="0" bIns="0" anchor="ctr">
            <a:noAutofit/>
          </a:bodyPr>
          <a:lstStyle/>
          <a:p>
            <a:pPr algn="ctr">
              <a:lnSpc>
                <a:spcPct val="90000"/>
              </a:lnSpc>
              <a:buNone/>
              <a:defRPr sz="765" b="0" u="sng">
                <a:solidFill>
                  <a:srgbClr val="2584FF"/>
                </a:solidFill>
                <a:latin typeface="Helvetica Neue"/>
                <a:ea typeface="Helvetica Neue"/>
                <a:cs typeface="Helvetica Neue"/>
              </a:defRPr>
            </a:pPr>
            <a:r>
              <a:rPr sz="765" b="0" u="sng">
                <a:solidFill>
                  <a:srgbClr val="2584FF"/>
                </a:solidFill>
                <a:latin typeface="Helvetica Neue"/>
                <a:ea typeface="Helvetica Neue"/>
                <a:cs typeface="Helvetica Neue"/>
                <a:hlinkClick r:id="rId11"/>
              </a:rPr>
              <a:t>W-RF 2506.01347</a:t>
            </a:r>
          </a:p>
        </p:txBody>
      </p:sp>
      <p:sp>
        <p:nvSpPr>
          <p:cNvPr id="96" name="paper-link-4">
            <a:extLst>
              <a:ext uri="{FF2B5EF4-FFF2-40B4-BE49-F238E27FC236}">
                <a16:creationId xmlns:a16="http://schemas.microsoft.com/office/drawing/2014/main" id="{8FC48891-CC2D-459D-9787-C6F9BFCCB338}"/>
              </a:ext>
            </a:extLst>
          </p:cNvPr>
          <p:cNvSpPr>
            <a:spLocks noGrp="1"/>
          </p:cNvSpPr>
          <p:nvPr/>
        </p:nvSpPr>
        <p:spPr>
          <a:xfrm>
            <a:off x="10477500" y="3921497"/>
            <a:ext cx="1257300" cy="419100"/>
          </a:xfrm>
          <a:prstGeom prst="rect">
            <a:avLst/>
          </a:prstGeom>
          <a:noFill/>
          <a:ln w="0">
            <a:noFill/>
            <a:prstDash val="solid"/>
          </a:ln>
        </p:spPr>
        <p:txBody>
          <a:bodyPr wrap="square" lIns="0" tIns="0" rIns="0" bIns="0" anchor="ctr">
            <a:noAutofit/>
          </a:bodyPr>
          <a:lstStyle/>
          <a:p>
            <a:pPr algn="ctr">
              <a:lnSpc>
                <a:spcPct val="90000"/>
              </a:lnSpc>
              <a:buNone/>
              <a:defRPr sz="765" b="0" u="sng">
                <a:solidFill>
                  <a:srgbClr val="2584FF"/>
                </a:solidFill>
                <a:latin typeface="Helvetica Neue"/>
                <a:ea typeface="Helvetica Neue"/>
                <a:cs typeface="Helvetica Neue"/>
              </a:defRPr>
            </a:pPr>
            <a:r>
              <a:rPr sz="765" b="0" u="sng">
                <a:solidFill>
                  <a:srgbClr val="2584FF"/>
                </a:solidFill>
                <a:latin typeface="Helvetica Neue"/>
                <a:ea typeface="Helvetica Neue"/>
                <a:cs typeface="Helvetica Neue"/>
                <a:hlinkClick r:id="rId12"/>
              </a:rPr>
              <a:t>GTPO 2508.04349</a:t>
            </a:r>
          </a:p>
          <a:p>
            <a:pPr algn="ctr">
              <a:lnSpc>
                <a:spcPct val="90000"/>
              </a:lnSpc>
              <a:buNone/>
              <a:defRPr sz="765" b="0" u="sng">
                <a:solidFill>
                  <a:srgbClr val="2584FF"/>
                </a:solidFill>
                <a:latin typeface="Helvetica Neue"/>
                <a:ea typeface="Helvetica Neue"/>
                <a:cs typeface="Helvetica Neue"/>
              </a:defRPr>
            </a:pPr>
            <a:r>
              <a:rPr sz="765" b="0" u="sng">
                <a:solidFill>
                  <a:srgbClr val="2584FF"/>
                </a:solidFill>
                <a:latin typeface="Helvetica Neue"/>
                <a:ea typeface="Helvetica Neue"/>
                <a:cs typeface="Helvetica Neue"/>
                <a:hlinkClick r:id="rId13"/>
              </a:rPr>
              <a:t>EDGE 2507.21848</a:t>
            </a:r>
          </a:p>
        </p:txBody>
      </p:sp>
      <p:sp>
        <p:nvSpPr>
          <p:cNvPr id="97" name="paper-link-5">
            <a:extLst>
              <a:ext uri="{FF2B5EF4-FFF2-40B4-BE49-F238E27FC236}">
                <a16:creationId xmlns:a16="http://schemas.microsoft.com/office/drawing/2014/main" id="{EED5E232-4DAC-48A3-9736-DE8B06DCC191}"/>
              </a:ext>
            </a:extLst>
          </p:cNvPr>
          <p:cNvSpPr>
            <a:spLocks noGrp="1"/>
          </p:cNvSpPr>
          <p:nvPr/>
        </p:nvSpPr>
        <p:spPr>
          <a:xfrm>
            <a:off x="10477500" y="4473947"/>
            <a:ext cx="1257300" cy="419100"/>
          </a:xfrm>
          <a:prstGeom prst="rect">
            <a:avLst/>
          </a:prstGeom>
          <a:noFill/>
          <a:ln w="0">
            <a:noFill/>
            <a:prstDash val="solid"/>
          </a:ln>
        </p:spPr>
        <p:txBody>
          <a:bodyPr wrap="square" lIns="0" tIns="0" rIns="0" bIns="0" anchor="ctr">
            <a:noAutofit/>
          </a:bodyPr>
          <a:lstStyle/>
          <a:p>
            <a:pPr algn="ctr">
              <a:lnSpc>
                <a:spcPct val="90000"/>
              </a:lnSpc>
              <a:buNone/>
              <a:defRPr sz="765" b="1" u="sng">
                <a:solidFill>
                  <a:srgbClr val="2584FF"/>
                </a:solidFill>
                <a:latin typeface="Helvetica Neue"/>
                <a:ea typeface="Helvetica Neue"/>
                <a:cs typeface="Helvetica Neue"/>
              </a:defRPr>
            </a:pPr>
            <a:r>
              <a:rPr sz="765" b="1" u="sng">
                <a:solidFill>
                  <a:srgbClr val="2584FF"/>
                </a:solidFill>
                <a:latin typeface="Helvetica Neue"/>
                <a:ea typeface="Helvetica Neue"/>
                <a:cs typeface="Helvetica Neue"/>
                <a:hlinkClick r:id="rId14"/>
              </a:rPr>
              <a:t>STEER 2510.10150</a:t>
            </a:r>
          </a:p>
        </p:txBody>
      </p:sp>
      <p:sp>
        <p:nvSpPr>
          <p:cNvPr id="103" name="non-steer-motivation-summary">
            <a:extLst>
              <a:ext uri="{FF2B5EF4-FFF2-40B4-BE49-F238E27FC236}">
                <a16:creationId xmlns:a16="http://schemas.microsoft.com/office/drawing/2014/main" id="{B9E45D5B-BC52-4630-B222-CD1ABC3967AD}"/>
              </a:ext>
            </a:extLst>
          </p:cNvPr>
          <p:cNvSpPr>
            <a:spLocks noGrp="1"/>
          </p:cNvSpPr>
          <p:nvPr/>
        </p:nvSpPr>
        <p:spPr>
          <a:xfrm>
            <a:off x="609600" y="5289734"/>
            <a:ext cx="10972800" cy="641506"/>
          </a:xfrm>
          <a:prstGeom prst="rect">
            <a:avLst/>
          </a:prstGeom>
          <a:noFill/>
          <a:ln w="0">
            <a:noFill/>
            <a:prstDash val="solid"/>
          </a:ln>
        </p:spPr>
        <p:txBody>
          <a:bodyPr wrap="none" lIns="0" tIns="0" rIns="0" bIns="0" anchor="ctr">
            <a:noAutofit/>
          </a:bodyPr>
          <a:lstStyle/>
          <a:p>
            <a:pPr algn="ctr">
              <a:buNone/>
              <a:defRPr sz="1275" b="1">
                <a:solidFill>
                  <a:srgbClr val="2584FF"/>
                </a:solidFill>
                <a:latin typeface="Hiragino Sans GB"/>
                <a:ea typeface="Hiragino Sans GB"/>
                <a:cs typeface="Hiragino Sans GB"/>
              </a:defRPr>
            </a:pPr>
            <a:r>
              <a:rPr lang="zh-CN" altLang="en-US" sz="1275" b="1" dirty="0">
                <a:solidFill>
                  <a:srgbClr val="000000"/>
                </a:solidFill>
                <a:latin typeface="Hiragino Sans GB"/>
                <a:ea typeface="Hiragino Sans GB"/>
                <a:cs typeface="Hiragino Sans GB"/>
              </a:rPr>
              <a:t>共同的</a:t>
            </a:r>
            <a:r>
              <a:rPr lang="en-US" altLang="zh-CN" sz="1275" b="1" dirty="0">
                <a:solidFill>
                  <a:srgbClr val="000000"/>
                </a:solidFill>
                <a:latin typeface="Hiragino Sans GB"/>
                <a:ea typeface="Hiragino Sans GB"/>
                <a:cs typeface="Hiragino Sans GB"/>
              </a:rPr>
              <a:t>motivation</a:t>
            </a:r>
            <a:r>
              <a:rPr lang="zh-CN" altLang="en-US" sz="1275" b="1" dirty="0">
                <a:solidFill>
                  <a:srgbClr val="000000"/>
                </a:solidFill>
                <a:latin typeface="Hiragino Sans GB"/>
                <a:ea typeface="Hiragino Sans GB"/>
                <a:cs typeface="Hiragino Sans GB"/>
              </a:rPr>
              <a:t>：全局</a:t>
            </a:r>
            <a:r>
              <a:rPr lang="en-US" altLang="zh-CN" sz="1275" b="1" dirty="0">
                <a:solidFill>
                  <a:srgbClr val="000000"/>
                </a:solidFill>
                <a:latin typeface="Hiragino Sans GB"/>
                <a:ea typeface="Hiragino Sans GB"/>
                <a:cs typeface="Hiragino Sans GB"/>
              </a:rPr>
              <a:t>/</a:t>
            </a:r>
            <a:r>
              <a:rPr lang="zh-CN" altLang="en-US" sz="1275" b="1" dirty="0">
                <a:solidFill>
                  <a:srgbClr val="000000"/>
                </a:solidFill>
                <a:latin typeface="Hiragino Sans GB"/>
                <a:ea typeface="Hiragino Sans GB"/>
                <a:cs typeface="Hiragino Sans GB"/>
              </a:rPr>
              <a:t>局部 增熵</a:t>
            </a:r>
            <a:endParaRPr lang="en-US" altLang="zh-CN" sz="1275" b="1" dirty="0">
              <a:solidFill>
                <a:srgbClr val="000000"/>
              </a:solidFill>
              <a:latin typeface="Hiragino Sans GB"/>
              <a:ea typeface="Hiragino Sans GB"/>
              <a:cs typeface="Hiragino Sans GB"/>
            </a:endParaRPr>
          </a:p>
        </p:txBody>
      </p:sp>
      <p:sp>
        <p:nvSpPr>
          <p:cNvPr id="63" name="non-steer-motivation-summary">
            <a:extLst>
              <a:ext uri="{FF2B5EF4-FFF2-40B4-BE49-F238E27FC236}">
                <a16:creationId xmlns:a16="http://schemas.microsoft.com/office/drawing/2014/main" id="{D01BF0D9-8EBF-115D-CA3F-3BCDF6692BBA}"/>
              </a:ext>
            </a:extLst>
          </p:cNvPr>
          <p:cNvSpPr>
            <a:spLocks noGrp="1"/>
          </p:cNvSpPr>
          <p:nvPr/>
        </p:nvSpPr>
        <p:spPr>
          <a:xfrm>
            <a:off x="609600" y="6076950"/>
            <a:ext cx="10972800" cy="247650"/>
          </a:xfrm>
          <a:prstGeom prst="rect">
            <a:avLst/>
          </a:prstGeom>
          <a:noFill/>
          <a:ln w="0">
            <a:noFill/>
            <a:prstDash val="solid"/>
          </a:ln>
        </p:spPr>
        <p:txBody>
          <a:bodyPr wrap="none" lIns="0" tIns="0" rIns="0" bIns="0" anchor="ctr">
            <a:noAutofit/>
          </a:bodyPr>
          <a:lstStyle/>
          <a:p>
            <a:pPr algn="ctr">
              <a:buNone/>
              <a:defRPr sz="1275" b="1">
                <a:solidFill>
                  <a:srgbClr val="2584FF"/>
                </a:solidFill>
                <a:latin typeface="Hiragino Sans GB"/>
                <a:ea typeface="Hiragino Sans GB"/>
                <a:cs typeface="Hiragino Sans GB"/>
              </a:defRPr>
            </a:pPr>
            <a:r>
              <a:rPr lang="en-US" altLang="zh-CN" sz="1275" b="1" dirty="0">
                <a:solidFill>
                  <a:srgbClr val="000000"/>
                </a:solidFill>
                <a:latin typeface="Hiragino Sans GB"/>
                <a:ea typeface="Hiragino Sans GB"/>
                <a:cs typeface="Hiragino Sans GB"/>
              </a:rPr>
              <a:t>Pitfall</a:t>
            </a:r>
            <a:r>
              <a:rPr lang="zh-CN" altLang="en-US" sz="1275" b="1" dirty="0">
                <a:solidFill>
                  <a:srgbClr val="000000"/>
                </a:solidFill>
                <a:latin typeface="Hiragino Sans GB"/>
                <a:ea typeface="Hiragino Sans GB"/>
                <a:cs typeface="Hiragino Sans GB"/>
              </a:rPr>
              <a:t>：熵变化背后的机制仍不清楚，熵？</a:t>
            </a:r>
            <a:r>
              <a:rPr lang="en-US" altLang="zh-CN" sz="1275" b="1" dirty="0">
                <a:solidFill>
                  <a:srgbClr val="000000"/>
                </a:solidFill>
                <a:latin typeface="Hiragino Sans GB"/>
                <a:ea typeface="Hiragino Sans GB"/>
                <a:cs typeface="Hiragino Sans GB"/>
              </a:rPr>
              <a:t>=</a:t>
            </a:r>
            <a:r>
              <a:rPr lang="zh-CN" altLang="en-US" sz="1275" b="1" dirty="0">
                <a:solidFill>
                  <a:srgbClr val="000000"/>
                </a:solidFill>
                <a:latin typeface="Hiragino Sans GB"/>
                <a:ea typeface="Hiragino Sans GB"/>
                <a:cs typeface="Hiragino Sans GB"/>
              </a:rPr>
              <a:t>探索</a:t>
            </a:r>
            <a:r>
              <a:rPr lang="en-US" altLang="zh-CN" sz="1275" b="1" dirty="0">
                <a:solidFill>
                  <a:srgbClr val="000000"/>
                </a:solidFill>
                <a:latin typeface="Hiragino Sans GB"/>
                <a:ea typeface="Hiragino Sans GB"/>
                <a:cs typeface="Hiragino Sans GB"/>
              </a:rPr>
              <a:t>/</a:t>
            </a:r>
            <a:r>
              <a:rPr lang="zh-CN" altLang="en-US" sz="1275" b="1" dirty="0">
                <a:solidFill>
                  <a:srgbClr val="000000"/>
                </a:solidFill>
                <a:latin typeface="Hiragino Sans GB"/>
                <a:ea typeface="Hiragino Sans GB"/>
                <a:cs typeface="Hiragino Sans GB"/>
              </a:rPr>
              <a:t>性能提升</a:t>
            </a:r>
          </a:p>
        </p:txBody>
      </p:sp>
      <p:pic>
        <p:nvPicPr>
          <p:cNvPr id="64" name="图片 63">
            <a:extLst>
              <a:ext uri="{FF2B5EF4-FFF2-40B4-BE49-F238E27FC236}">
                <a16:creationId xmlns:a16="http://schemas.microsoft.com/office/drawing/2014/main" id="{CF5DBE3C-9437-F315-8052-0589D8E75DE0}"/>
              </a:ext>
            </a:extLst>
          </p:cNvPr>
          <p:cNvPicPr>
            <a:picLocks noChangeAspect="1"/>
          </p:cNvPicPr>
          <p:nvPr/>
        </p:nvPicPr>
        <p:blipFill>
          <a:blip r:embed="rId15"/>
          <a:stretch>
            <a:fillRect/>
          </a:stretch>
        </p:blipFill>
        <p:spPr>
          <a:xfrm>
            <a:off x="9010918" y="2277301"/>
            <a:ext cx="551912" cy="380629"/>
          </a:xfrm>
          <a:prstGeom prst="rect">
            <a:avLst/>
          </a:prstGeom>
        </p:spPr>
      </p:pic>
    </p:spTree>
    <p:extLst>
      <p:ext uri="{BB962C8B-B14F-4D97-AF65-F5344CB8AC3E}">
        <p14:creationId xmlns:p14="http://schemas.microsoft.com/office/powerpoint/2010/main" val="6068734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1"/>
          <p:cNvPicPr>
            <a:picLocks noChangeAspect="1"/>
          </p:cNvPicPr>
          <p:nvPr/>
        </p:nvPicPr>
        <p:blipFill rotWithShape="1">
          <a:blip r:embed="rId3"/>
          <a:srcRect b="1621"/>
          <a:stretch>
            <a:fillRect/>
          </a:stretch>
        </p:blipFill>
        <p:spPr>
          <a:xfrm>
            <a:off x="149193" y="679449"/>
            <a:ext cx="5616238" cy="5857102"/>
          </a:xfrm>
          <a:prstGeom prst="rect">
            <a:avLst/>
          </a:prstGeom>
        </p:spPr>
      </p:pic>
      <p:pic>
        <p:nvPicPr>
          <p:cNvPr id="9" name="图片 2"/>
          <p:cNvPicPr>
            <a:picLocks noChangeAspect="1"/>
          </p:cNvPicPr>
          <p:nvPr/>
        </p:nvPicPr>
        <p:blipFill>
          <a:blip r:embed="rId4"/>
          <a:stretch>
            <a:fillRect/>
          </a:stretch>
        </p:blipFill>
        <p:spPr>
          <a:xfrm>
            <a:off x="6204756" y="1067974"/>
            <a:ext cx="5666337" cy="4986837"/>
          </a:xfrm>
          <a:prstGeom prst="rect">
            <a:avLst/>
          </a:prstGeom>
        </p:spPr>
      </p:pic>
      <p:sp>
        <p:nvSpPr>
          <p:cNvPr id="5" name="直线连接符 4">
            <a:extLst>
              <a:ext uri="{FF2B5EF4-FFF2-40B4-BE49-F238E27FC236}">
                <a16:creationId xmlns:a16="http://schemas.microsoft.com/office/drawing/2014/main" id="{9E46701A-DAB2-4616-912C-F4BA8BEA206B}"/>
              </a:ext>
            </a:extLst>
          </p:cNvPr>
          <p:cNvSpPr>
            <a:spLocks noGrp="1"/>
          </p:cNvSpPr>
          <p:nvPr/>
        </p:nvSpPr>
        <p:spPr>
          <a:xfrm>
            <a:off x="5985093" y="679449"/>
            <a:ext cx="0" cy="5956130"/>
          </a:xfrm>
          <a:prstGeom prst="line">
            <a:avLst/>
          </a:prstGeom>
        </p:spPr>
        <p:style>
          <a:lnRef idx="1">
            <a:schemeClr val="accent1"/>
          </a:lnRef>
          <a:fillRef idx="0">
            <a:schemeClr val="accent1"/>
          </a:fillRef>
          <a:effectRef idx="0">
            <a:schemeClr val="accent1"/>
          </a:effectRef>
          <a:fontRef idx="minor">
            <a:schemeClr val="tx1"/>
          </a:fontRef>
        </p:style>
      </p:sp>
      <p:sp>
        <p:nvSpPr>
          <p:cNvPr id="2" name="non-steer-motivation-summary">
            <a:extLst>
              <a:ext uri="{FF2B5EF4-FFF2-40B4-BE49-F238E27FC236}">
                <a16:creationId xmlns:a16="http://schemas.microsoft.com/office/drawing/2014/main" id="{D4BA0B43-1383-C55D-12C0-DA87C35EC8A8}"/>
              </a:ext>
            </a:extLst>
          </p:cNvPr>
          <p:cNvSpPr>
            <a:spLocks noGrp="1"/>
          </p:cNvSpPr>
          <p:nvPr/>
        </p:nvSpPr>
        <p:spPr>
          <a:xfrm>
            <a:off x="189471" y="111210"/>
            <a:ext cx="10972800" cy="568239"/>
          </a:xfrm>
          <a:prstGeom prst="rect">
            <a:avLst/>
          </a:prstGeom>
          <a:noFill/>
          <a:ln w="0">
            <a:noFill/>
            <a:prstDash val="solid"/>
          </a:ln>
        </p:spPr>
        <p:txBody>
          <a:bodyPr wrap="none" lIns="0" tIns="0" rIns="0" bIns="0" anchor="ctr">
            <a:noAutofit/>
          </a:bodyPr>
          <a:lstStyle/>
          <a:p>
            <a:pPr>
              <a:buNone/>
              <a:defRPr sz="1275" b="1">
                <a:solidFill>
                  <a:srgbClr val="2584FF"/>
                </a:solidFill>
                <a:latin typeface="Hiragino Sans GB"/>
                <a:ea typeface="Hiragino Sans GB"/>
                <a:cs typeface="Hiragino Sans GB"/>
              </a:defRPr>
            </a:pPr>
            <a:r>
              <a:rPr lang="zh-CN" altLang="en-US" sz="2400" b="1" dirty="0">
                <a:solidFill>
                  <a:srgbClr val="000000"/>
                </a:solidFill>
                <a:latin typeface="Hiragino Sans GB"/>
                <a:ea typeface="Hiragino Sans GB"/>
                <a:cs typeface="Hiragino Sans GB"/>
              </a:rPr>
              <a:t>比起调控熵本身，检验熵的变化更能反映算法背后的动力学</a:t>
            </a:r>
          </a:p>
        </p:txBody>
      </p:sp>
      <p:sp>
        <p:nvSpPr>
          <p:cNvPr id="3" name="矩形 2">
            <a:extLst>
              <a:ext uri="{FF2B5EF4-FFF2-40B4-BE49-F238E27FC236}">
                <a16:creationId xmlns:a16="http://schemas.microsoft.com/office/drawing/2014/main" id="{21DF97AC-8F22-B3C7-AF27-FFA8F6CE4482}"/>
              </a:ext>
            </a:extLst>
          </p:cNvPr>
          <p:cNvSpPr/>
          <p:nvPr/>
        </p:nvSpPr>
        <p:spPr>
          <a:xfrm>
            <a:off x="6635580" y="2984157"/>
            <a:ext cx="605480" cy="636373"/>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non-steer-motivation-summary">
            <a:extLst>
              <a:ext uri="{FF2B5EF4-FFF2-40B4-BE49-F238E27FC236}">
                <a16:creationId xmlns:a16="http://schemas.microsoft.com/office/drawing/2014/main" id="{36A15381-76A4-156F-2237-B76AE123BEA2}"/>
              </a:ext>
            </a:extLst>
          </p:cNvPr>
          <p:cNvSpPr>
            <a:spLocks noGrp="1"/>
          </p:cNvSpPr>
          <p:nvPr/>
        </p:nvSpPr>
        <p:spPr>
          <a:xfrm>
            <a:off x="6358383" y="3656175"/>
            <a:ext cx="1196941" cy="352880"/>
          </a:xfrm>
          <a:prstGeom prst="rect">
            <a:avLst/>
          </a:prstGeom>
          <a:noFill/>
          <a:ln w="0">
            <a:noFill/>
            <a:prstDash val="solid"/>
          </a:ln>
        </p:spPr>
        <p:txBody>
          <a:bodyPr wrap="none" lIns="0" tIns="0" rIns="0" bIns="0" anchor="ctr">
            <a:noAutofit/>
          </a:bodyPr>
          <a:lstStyle/>
          <a:p>
            <a:pPr>
              <a:buNone/>
              <a:defRPr sz="1275" b="1">
                <a:solidFill>
                  <a:srgbClr val="2584FF"/>
                </a:solidFill>
                <a:latin typeface="Hiragino Sans GB"/>
                <a:ea typeface="Hiragino Sans GB"/>
                <a:cs typeface="Hiragino Sans GB"/>
              </a:defRPr>
            </a:pPr>
            <a:r>
              <a:rPr lang="en-US" altLang="zh-CN" sz="1600" b="1" dirty="0">
                <a:solidFill>
                  <a:srgbClr val="C00000"/>
                </a:solidFill>
                <a:latin typeface="Times New Roman" panose="02020603050405020304" pitchFamily="18" charset="0"/>
                <a:ea typeface="Hiragino Sans GB"/>
                <a:cs typeface="Times New Roman" panose="02020603050405020304" pitchFamily="18" charset="0"/>
              </a:rPr>
              <a:t>Entropy</a:t>
            </a:r>
            <a:r>
              <a:rPr lang="zh-CN" altLang="en-US" sz="1600" b="1" dirty="0">
                <a:solidFill>
                  <a:srgbClr val="C00000"/>
                </a:solidFill>
                <a:latin typeface="Times New Roman" panose="02020603050405020304" pitchFamily="18" charset="0"/>
                <a:ea typeface="Hiragino Sans GB"/>
                <a:cs typeface="Times New Roman" panose="02020603050405020304" pitchFamily="18" charset="0"/>
              </a:rPr>
              <a:t> </a:t>
            </a:r>
            <a:r>
              <a:rPr lang="en-US" altLang="zh-CN" sz="1600" b="1" dirty="0">
                <a:solidFill>
                  <a:srgbClr val="C00000"/>
                </a:solidFill>
                <a:latin typeface="Times New Roman" panose="02020603050405020304" pitchFamily="18" charset="0"/>
                <a:ea typeface="Hiragino Sans GB"/>
                <a:cs typeface="Times New Roman" panose="02020603050405020304" pitchFamily="18" charset="0"/>
              </a:rPr>
              <a:t>change</a:t>
            </a:r>
            <a:endParaRPr lang="zh-CN" altLang="en-US" sz="1600" b="1" dirty="0">
              <a:solidFill>
                <a:srgbClr val="C00000"/>
              </a:solidFill>
              <a:latin typeface="Times New Roman" panose="02020603050405020304" pitchFamily="18" charset="0"/>
              <a:ea typeface="Hiragino Sans GB"/>
              <a:cs typeface="Times New Roman" panose="02020603050405020304" pitchFamily="18" charset="0"/>
            </a:endParaRPr>
          </a:p>
        </p:txBody>
      </p:sp>
      <p:pic>
        <p:nvPicPr>
          <p:cNvPr id="6" name="图片 5">
            <a:extLst>
              <a:ext uri="{FF2B5EF4-FFF2-40B4-BE49-F238E27FC236}">
                <a16:creationId xmlns:a16="http://schemas.microsoft.com/office/drawing/2014/main" id="{DD0C47F8-746B-72D5-DBC8-2CE522979402}"/>
              </a:ext>
            </a:extLst>
          </p:cNvPr>
          <p:cNvPicPr>
            <a:picLocks noChangeAspect="1"/>
          </p:cNvPicPr>
          <p:nvPr/>
        </p:nvPicPr>
        <p:blipFill>
          <a:blip r:embed="rId5"/>
          <a:stretch>
            <a:fillRect/>
          </a:stretch>
        </p:blipFill>
        <p:spPr>
          <a:xfrm>
            <a:off x="6204756" y="641283"/>
            <a:ext cx="3221952" cy="426691"/>
          </a:xfrm>
          <a:prstGeom prst="rect">
            <a:avLst/>
          </a:prstGeom>
        </p:spPr>
      </p:pic>
      <p:cxnSp>
        <p:nvCxnSpPr>
          <p:cNvPr id="10" name="曲线连接符 9">
            <a:extLst>
              <a:ext uri="{FF2B5EF4-FFF2-40B4-BE49-F238E27FC236}">
                <a16:creationId xmlns:a16="http://schemas.microsoft.com/office/drawing/2014/main" id="{3C3D265B-2283-19A0-3FD2-F801B3D0C71D}"/>
              </a:ext>
            </a:extLst>
          </p:cNvPr>
          <p:cNvCxnSpPr>
            <a:cxnSpLocks/>
            <a:stCxn id="3" idx="1"/>
            <a:endCxn id="6" idx="1"/>
          </p:cNvCxnSpPr>
          <p:nvPr/>
        </p:nvCxnSpPr>
        <p:spPr>
          <a:xfrm rot="10800000">
            <a:off x="6204756" y="854630"/>
            <a:ext cx="430824" cy="2447715"/>
          </a:xfrm>
          <a:prstGeom prst="curvedConnector3">
            <a:avLst>
              <a:gd name="adj1" fmla="val 107170"/>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39913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31B3EB73-B8C0-2131-CA24-405FBE07CD13}"/>
              </a:ext>
            </a:extLst>
          </p:cNvPr>
          <p:cNvPicPr>
            <a:picLocks noChangeAspect="1"/>
          </p:cNvPicPr>
          <p:nvPr/>
        </p:nvPicPr>
        <p:blipFill rotWithShape="1">
          <a:blip r:embed="rId3"/>
          <a:srcRect l="1140" t="7011" r="302" b="12283"/>
          <a:stretch>
            <a:fillRect/>
          </a:stretch>
        </p:blipFill>
        <p:spPr>
          <a:xfrm>
            <a:off x="1629032" y="123567"/>
            <a:ext cx="8933935" cy="1659015"/>
          </a:xfrm>
          <a:prstGeom prst="rect">
            <a:avLst/>
          </a:prstGeom>
        </p:spPr>
      </p:pic>
      <p:pic>
        <p:nvPicPr>
          <p:cNvPr id="3" name="图片 2">
            <a:extLst>
              <a:ext uri="{FF2B5EF4-FFF2-40B4-BE49-F238E27FC236}">
                <a16:creationId xmlns:a16="http://schemas.microsoft.com/office/drawing/2014/main" id="{E39D19CA-5B52-0CD5-541E-BBB9128D9979}"/>
              </a:ext>
            </a:extLst>
          </p:cNvPr>
          <p:cNvPicPr>
            <a:picLocks noChangeAspect="1"/>
          </p:cNvPicPr>
          <p:nvPr/>
        </p:nvPicPr>
        <p:blipFill>
          <a:blip r:embed="rId4"/>
          <a:stretch>
            <a:fillRect/>
          </a:stretch>
        </p:blipFill>
        <p:spPr>
          <a:xfrm>
            <a:off x="1629032" y="1832010"/>
            <a:ext cx="8933935" cy="3706536"/>
          </a:xfrm>
          <a:prstGeom prst="rect">
            <a:avLst/>
          </a:prstGeom>
        </p:spPr>
      </p:pic>
      <p:pic>
        <p:nvPicPr>
          <p:cNvPr id="4" name="图片 3">
            <a:extLst>
              <a:ext uri="{FF2B5EF4-FFF2-40B4-BE49-F238E27FC236}">
                <a16:creationId xmlns:a16="http://schemas.microsoft.com/office/drawing/2014/main" id="{AC4F22D0-9237-CC6D-7ABD-C37972C5D99E}"/>
              </a:ext>
            </a:extLst>
          </p:cNvPr>
          <p:cNvPicPr>
            <a:picLocks noChangeAspect="1"/>
          </p:cNvPicPr>
          <p:nvPr/>
        </p:nvPicPr>
        <p:blipFill>
          <a:blip r:embed="rId5"/>
          <a:stretch>
            <a:fillRect/>
          </a:stretch>
        </p:blipFill>
        <p:spPr>
          <a:xfrm>
            <a:off x="1616116" y="5600329"/>
            <a:ext cx="8959765" cy="1257671"/>
          </a:xfrm>
          <a:prstGeom prst="rect">
            <a:avLst/>
          </a:prstGeom>
        </p:spPr>
      </p:pic>
      <p:cxnSp>
        <p:nvCxnSpPr>
          <p:cNvPr id="6" name="直线连接符 5">
            <a:extLst>
              <a:ext uri="{FF2B5EF4-FFF2-40B4-BE49-F238E27FC236}">
                <a16:creationId xmlns:a16="http://schemas.microsoft.com/office/drawing/2014/main" id="{4F9BEBC2-A17A-3725-BE4B-EE5822E701C9}"/>
              </a:ext>
            </a:extLst>
          </p:cNvPr>
          <p:cNvCxnSpPr>
            <a:cxnSpLocks/>
          </p:cNvCxnSpPr>
          <p:nvPr/>
        </p:nvCxnSpPr>
        <p:spPr>
          <a:xfrm>
            <a:off x="0" y="1819653"/>
            <a:ext cx="1219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线连接符 7">
            <a:extLst>
              <a:ext uri="{FF2B5EF4-FFF2-40B4-BE49-F238E27FC236}">
                <a16:creationId xmlns:a16="http://schemas.microsoft.com/office/drawing/2014/main" id="{DE7E9B28-FA1C-3825-814B-FDEA81373147}"/>
              </a:ext>
            </a:extLst>
          </p:cNvPr>
          <p:cNvCxnSpPr>
            <a:cxnSpLocks/>
          </p:cNvCxnSpPr>
          <p:nvPr/>
        </p:nvCxnSpPr>
        <p:spPr>
          <a:xfrm>
            <a:off x="0" y="5533517"/>
            <a:ext cx="121920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07899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矩形 21">
            <a:extLst>
              <a:ext uri="{FF2B5EF4-FFF2-40B4-BE49-F238E27FC236}">
                <a16:creationId xmlns:a16="http://schemas.microsoft.com/office/drawing/2014/main" id="{117E80EB-FA80-4B14-8674-044D221C4293}"/>
              </a:ext>
            </a:extLst>
          </p:cNvPr>
          <p:cNvSpPr>
            <a:spLocks noGrp="1"/>
          </p:cNvSpPr>
          <p:nvPr/>
        </p:nvSpPr>
        <p:spPr>
          <a:xfrm>
            <a:off x="419100" y="171450"/>
            <a:ext cx="2952750" cy="228600"/>
          </a:xfrm>
          <a:prstGeom prst="rect">
            <a:avLst/>
          </a:prstGeom>
          <a:noFill/>
          <a:ln w="0">
            <a:noFill/>
            <a:prstDash val="solid"/>
          </a:ln>
        </p:spPr>
        <p:txBody>
          <a:bodyPr wrap="square" lIns="0" tIns="0" rIns="0" bIns="0" anchor="t">
            <a:noAutofit/>
          </a:bodyPr>
          <a:lstStyle/>
          <a:p>
            <a:pPr algn="l">
              <a:buNone/>
              <a:defRPr sz="975" b="1">
                <a:solidFill>
                  <a:srgbClr val="5E6470"/>
                </a:solidFill>
                <a:latin typeface="Helvetica Neue"/>
                <a:ea typeface="Helvetica Neue"/>
                <a:cs typeface="Helvetica Neue"/>
              </a:defRPr>
            </a:pPr>
            <a:r>
              <a:rPr sz="975" b="1">
                <a:solidFill>
                  <a:srgbClr val="5E6470"/>
                </a:solidFill>
                <a:latin typeface="Helvetica Neue"/>
                <a:ea typeface="Helvetica Neue"/>
                <a:cs typeface="Helvetica Neue"/>
              </a:rPr>
              <a:t>I · ENTROPY MECHANISM</a:t>
            </a:r>
          </a:p>
        </p:txBody>
      </p:sp>
      <p:sp>
        <p:nvSpPr>
          <p:cNvPr id="2" name="矩形 1">
            <a:extLst>
              <a:ext uri="{FF2B5EF4-FFF2-40B4-BE49-F238E27FC236}">
                <a16:creationId xmlns:a16="http://schemas.microsoft.com/office/drawing/2014/main" id="{33CAC163-9BC6-42EE-953C-BC3C91E13CE2}"/>
              </a:ext>
            </a:extLst>
          </p:cNvPr>
          <p:cNvSpPr>
            <a:spLocks noGrp="1"/>
          </p:cNvSpPr>
          <p:nvPr/>
        </p:nvSpPr>
        <p:spPr>
          <a:xfrm>
            <a:off x="419100" y="409575"/>
            <a:ext cx="11353800" cy="514350"/>
          </a:xfrm>
          <a:prstGeom prst="rect">
            <a:avLst/>
          </a:prstGeom>
          <a:noFill/>
          <a:ln w="0">
            <a:noFill/>
            <a:prstDash val="solid"/>
          </a:ln>
        </p:spPr>
        <p:txBody>
          <a:bodyPr wrap="square" lIns="0" tIns="0" rIns="0" bIns="0" anchor="t">
            <a:noAutofit/>
          </a:bodyPr>
          <a:lstStyle/>
          <a:p>
            <a:pPr algn="l">
              <a:buNone/>
              <a:defRPr sz="2850" b="1">
                <a:solidFill>
                  <a:srgbClr val="101214"/>
                </a:solidFill>
                <a:latin typeface="Hiragino Sans GB"/>
                <a:ea typeface="Hiragino Sans GB"/>
                <a:cs typeface="Hiragino Sans GB"/>
              </a:defRPr>
            </a:pPr>
            <a:r>
              <a:rPr sz="2850" b="1">
                <a:solidFill>
                  <a:srgbClr val="101214"/>
                </a:solidFill>
                <a:latin typeface="Hiragino Sans GB"/>
                <a:ea typeface="Hiragino Sans GB"/>
                <a:cs typeface="Hiragino Sans GB"/>
              </a:rPr>
              <a:t>单步更新即可预测 ΔH</a:t>
            </a:r>
          </a:p>
        </p:txBody>
      </p:sp>
      <p:sp>
        <p:nvSpPr>
          <p:cNvPr id="3" name="圆角矩形 2">
            <a:extLst>
              <a:ext uri="{FF2B5EF4-FFF2-40B4-BE49-F238E27FC236}">
                <a16:creationId xmlns:a16="http://schemas.microsoft.com/office/drawing/2014/main" id="{0FED985D-DE86-4B0E-9CFA-D9967F9764DB}"/>
              </a:ext>
            </a:extLst>
          </p:cNvPr>
          <p:cNvSpPr>
            <a:spLocks noGrp="1"/>
          </p:cNvSpPr>
          <p:nvPr/>
        </p:nvSpPr>
        <p:spPr>
          <a:xfrm>
            <a:off x="419100" y="1219200"/>
            <a:ext cx="11353800" cy="1428750"/>
          </a:xfrm>
          <a:prstGeom prst="roundRect">
            <a:avLst>
              <a:gd name="adj" fmla="val 5333"/>
            </a:avLst>
          </a:prstGeom>
          <a:solidFill>
            <a:srgbClr val="EAF5FB"/>
          </a:solidFill>
          <a:ln w="0">
            <a:noFill/>
            <a:prstDash val="solid"/>
          </a:ln>
        </p:spPr>
      </p:sp>
      <p:sp>
        <p:nvSpPr>
          <p:cNvPr id="4" name="矩形 3">
            <a:extLst>
              <a:ext uri="{FF2B5EF4-FFF2-40B4-BE49-F238E27FC236}">
                <a16:creationId xmlns:a16="http://schemas.microsoft.com/office/drawing/2014/main" id="{509996B2-7041-4A08-A33D-B08B38CBDAE4}"/>
              </a:ext>
            </a:extLst>
          </p:cNvPr>
          <p:cNvSpPr>
            <a:spLocks noGrp="1"/>
          </p:cNvSpPr>
          <p:nvPr/>
        </p:nvSpPr>
        <p:spPr>
          <a:xfrm>
            <a:off x="742950" y="1524000"/>
            <a:ext cx="10668000" cy="438150"/>
          </a:xfrm>
          <a:prstGeom prst="rect">
            <a:avLst/>
          </a:prstGeom>
          <a:noFill/>
          <a:ln w="0">
            <a:noFill/>
            <a:prstDash val="solid"/>
          </a:ln>
        </p:spPr>
        <p:txBody>
          <a:bodyPr wrap="square" lIns="0" tIns="0" rIns="0" bIns="0" anchor="t">
            <a:noAutofit/>
          </a:bodyPr>
          <a:lstStyle/>
          <a:p>
            <a:pPr algn="ctr">
              <a:buNone/>
              <a:defRPr sz="2025" b="1">
                <a:solidFill>
                  <a:srgbClr val="101214"/>
                </a:solidFill>
                <a:latin typeface="Cambria Math"/>
                <a:ea typeface="Cambria Math"/>
                <a:cs typeface="Cambria Math"/>
              </a:defRPr>
            </a:pPr>
            <a:r>
              <a:rPr sz="2025" b="1">
                <a:solidFill>
                  <a:srgbClr val="101214"/>
                </a:solidFill>
                <a:latin typeface="Cambria Math"/>
                <a:ea typeface="Cambria Math"/>
                <a:cs typeface="Cambria Math"/>
              </a:rPr>
              <a:t>ΔH(s) ≈ Ω(s) = (η/L) · 𝔼[(Iclip · A / πold) · δ(πθ, H)]</a:t>
            </a:r>
          </a:p>
        </p:txBody>
      </p:sp>
      <p:sp>
        <p:nvSpPr>
          <p:cNvPr id="6" name="圆角矩形 5">
            <a:extLst>
              <a:ext uri="{FF2B5EF4-FFF2-40B4-BE49-F238E27FC236}">
                <a16:creationId xmlns:a16="http://schemas.microsoft.com/office/drawing/2014/main" id="{6EDBAA6B-274B-4288-A912-07693B916876}"/>
              </a:ext>
            </a:extLst>
          </p:cNvPr>
          <p:cNvSpPr>
            <a:spLocks noGrp="1"/>
          </p:cNvSpPr>
          <p:nvPr/>
        </p:nvSpPr>
        <p:spPr>
          <a:xfrm>
            <a:off x="419100" y="3143250"/>
            <a:ext cx="2571750" cy="1809750"/>
          </a:xfrm>
          <a:prstGeom prst="roundRect">
            <a:avLst>
              <a:gd name="adj" fmla="val 4211"/>
            </a:avLst>
          </a:prstGeom>
          <a:solidFill>
            <a:srgbClr val="F1F2F4"/>
          </a:solidFill>
          <a:ln w="0">
            <a:noFill/>
            <a:prstDash val="solid"/>
          </a:ln>
        </p:spPr>
      </p:sp>
      <p:sp>
        <p:nvSpPr>
          <p:cNvPr id="7" name="矩形 6">
            <a:extLst>
              <a:ext uri="{FF2B5EF4-FFF2-40B4-BE49-F238E27FC236}">
                <a16:creationId xmlns:a16="http://schemas.microsoft.com/office/drawing/2014/main" id="{850920EC-8A56-4AC4-B9C0-25AF42755C17}"/>
              </a:ext>
            </a:extLst>
          </p:cNvPr>
          <p:cNvSpPr>
            <a:spLocks noGrp="1"/>
          </p:cNvSpPr>
          <p:nvPr/>
        </p:nvSpPr>
        <p:spPr>
          <a:xfrm>
            <a:off x="590550" y="3352800"/>
            <a:ext cx="2228850" cy="342900"/>
          </a:xfrm>
          <a:prstGeom prst="rect">
            <a:avLst/>
          </a:prstGeom>
          <a:noFill/>
          <a:ln w="0">
            <a:noFill/>
            <a:prstDash val="solid"/>
          </a:ln>
        </p:spPr>
        <p:txBody>
          <a:bodyPr wrap="square" lIns="0" tIns="0" rIns="0" bIns="0" anchor="t">
            <a:noAutofit/>
          </a:bodyPr>
          <a:lstStyle/>
          <a:p>
            <a:pPr algn="l">
              <a:buNone/>
              <a:defRPr sz="1575" b="1">
                <a:solidFill>
                  <a:srgbClr val="101214"/>
                </a:solidFill>
                <a:latin typeface="Hiragino Sans GB"/>
                <a:ea typeface="Hiragino Sans GB"/>
                <a:cs typeface="Hiragino Sans GB"/>
              </a:defRPr>
            </a:pPr>
            <a:r>
              <a:rPr sz="1575" b="1">
                <a:solidFill>
                  <a:srgbClr val="101214"/>
                </a:solidFill>
                <a:latin typeface="Hiragino Sans GB"/>
                <a:ea typeface="Hiragino Sans GB"/>
                <a:cs typeface="Hiragino Sans GB"/>
              </a:rPr>
              <a:t>① Clipping</a:t>
            </a:r>
          </a:p>
        </p:txBody>
      </p:sp>
      <p:sp>
        <p:nvSpPr>
          <p:cNvPr id="8" name="矩形 7">
            <a:extLst>
              <a:ext uri="{FF2B5EF4-FFF2-40B4-BE49-F238E27FC236}">
                <a16:creationId xmlns:a16="http://schemas.microsoft.com/office/drawing/2014/main" id="{94FC0E85-4F47-425F-805E-4F4AEE919A6D}"/>
              </a:ext>
            </a:extLst>
          </p:cNvPr>
          <p:cNvSpPr>
            <a:spLocks noGrp="1"/>
          </p:cNvSpPr>
          <p:nvPr/>
        </p:nvSpPr>
        <p:spPr>
          <a:xfrm>
            <a:off x="590550" y="3933825"/>
            <a:ext cx="2228850" cy="723900"/>
          </a:xfrm>
          <a:prstGeom prst="rect">
            <a:avLst/>
          </a:prstGeom>
          <a:noFill/>
          <a:ln w="0">
            <a:noFill/>
            <a:prstDash val="solid"/>
          </a:ln>
        </p:spPr>
        <p:txBody>
          <a:bodyPr wrap="square" lIns="0" tIns="0" rIns="0" bIns="0" anchor="t">
            <a:noAutofit/>
          </a:bodyPr>
          <a:lstStyle/>
          <a:p>
            <a:pPr algn="l">
              <a:buNone/>
              <a:defRPr sz="1275" b="0">
                <a:solidFill>
                  <a:srgbClr val="5E6470"/>
                </a:solidFill>
                <a:latin typeface="Hiragino Sans GB"/>
                <a:ea typeface="Hiragino Sans GB"/>
                <a:cs typeface="Hiragino Sans GB"/>
              </a:defRPr>
            </a:pPr>
            <a:r>
              <a:rPr sz="1275" b="0">
                <a:solidFill>
                  <a:srgbClr val="5E6470"/>
                </a:solidFill>
                <a:latin typeface="Hiragino Sans GB"/>
                <a:ea typeface="Hiragino Sans GB"/>
                <a:cs typeface="Hiragino Sans GB"/>
              </a:rPr>
              <a:t>Iclip 决定哪些 token 根本不参与更新</a:t>
            </a:r>
          </a:p>
        </p:txBody>
      </p:sp>
      <p:sp>
        <p:nvSpPr>
          <p:cNvPr id="9" name="圆角矩形 8">
            <a:extLst>
              <a:ext uri="{FF2B5EF4-FFF2-40B4-BE49-F238E27FC236}">
                <a16:creationId xmlns:a16="http://schemas.microsoft.com/office/drawing/2014/main" id="{2D299BE1-88A4-44D7-B409-277D9F8C1C19}"/>
              </a:ext>
            </a:extLst>
          </p:cNvPr>
          <p:cNvSpPr>
            <a:spLocks noGrp="1"/>
          </p:cNvSpPr>
          <p:nvPr/>
        </p:nvSpPr>
        <p:spPr>
          <a:xfrm>
            <a:off x="3295650" y="3143250"/>
            <a:ext cx="2571750" cy="1809750"/>
          </a:xfrm>
          <a:prstGeom prst="roundRect">
            <a:avLst>
              <a:gd name="adj" fmla="val 4211"/>
            </a:avLst>
          </a:prstGeom>
          <a:solidFill>
            <a:srgbClr val="F1F2F4"/>
          </a:solidFill>
          <a:ln w="0">
            <a:noFill/>
            <a:prstDash val="solid"/>
          </a:ln>
        </p:spPr>
      </p:sp>
      <p:sp>
        <p:nvSpPr>
          <p:cNvPr id="10" name="矩形 9">
            <a:extLst>
              <a:ext uri="{FF2B5EF4-FFF2-40B4-BE49-F238E27FC236}">
                <a16:creationId xmlns:a16="http://schemas.microsoft.com/office/drawing/2014/main" id="{13000A26-FB82-4F86-BE7F-9C4D640FF2E3}"/>
              </a:ext>
            </a:extLst>
          </p:cNvPr>
          <p:cNvSpPr>
            <a:spLocks noGrp="1"/>
          </p:cNvSpPr>
          <p:nvPr/>
        </p:nvSpPr>
        <p:spPr>
          <a:xfrm>
            <a:off x="3467100" y="3352800"/>
            <a:ext cx="2228850" cy="342900"/>
          </a:xfrm>
          <a:prstGeom prst="rect">
            <a:avLst/>
          </a:prstGeom>
          <a:noFill/>
          <a:ln w="0">
            <a:noFill/>
            <a:prstDash val="solid"/>
          </a:ln>
        </p:spPr>
        <p:txBody>
          <a:bodyPr wrap="square" lIns="0" tIns="0" rIns="0" bIns="0" anchor="t">
            <a:noAutofit/>
          </a:bodyPr>
          <a:lstStyle/>
          <a:p>
            <a:pPr algn="l">
              <a:buNone/>
              <a:defRPr sz="1575" b="1">
                <a:solidFill>
                  <a:srgbClr val="101214"/>
                </a:solidFill>
                <a:latin typeface="Hiragino Sans GB"/>
                <a:ea typeface="Hiragino Sans GB"/>
                <a:cs typeface="Hiragino Sans GB"/>
              </a:defRPr>
            </a:pPr>
            <a:r>
              <a:rPr sz="1575" b="1">
                <a:solidFill>
                  <a:srgbClr val="101214"/>
                </a:solidFill>
                <a:latin typeface="Hiragino Sans GB"/>
                <a:ea typeface="Hiragino Sans GB"/>
                <a:cs typeface="Hiragino Sans GB"/>
              </a:rPr>
              <a:t>② Advantage</a:t>
            </a:r>
          </a:p>
        </p:txBody>
      </p:sp>
      <p:sp>
        <p:nvSpPr>
          <p:cNvPr id="11" name="矩形 10">
            <a:extLst>
              <a:ext uri="{FF2B5EF4-FFF2-40B4-BE49-F238E27FC236}">
                <a16:creationId xmlns:a16="http://schemas.microsoft.com/office/drawing/2014/main" id="{4908DDF7-FBA1-4E8C-AB64-E83205D62A61}"/>
              </a:ext>
            </a:extLst>
          </p:cNvPr>
          <p:cNvSpPr>
            <a:spLocks noGrp="1"/>
          </p:cNvSpPr>
          <p:nvPr/>
        </p:nvSpPr>
        <p:spPr>
          <a:xfrm>
            <a:off x="3467100" y="3933825"/>
            <a:ext cx="2228850" cy="723900"/>
          </a:xfrm>
          <a:prstGeom prst="rect">
            <a:avLst/>
          </a:prstGeom>
          <a:noFill/>
          <a:ln w="0">
            <a:noFill/>
            <a:prstDash val="solid"/>
          </a:ln>
        </p:spPr>
        <p:txBody>
          <a:bodyPr wrap="square" lIns="0" tIns="0" rIns="0" bIns="0" anchor="t">
            <a:noAutofit/>
          </a:bodyPr>
          <a:lstStyle/>
          <a:p>
            <a:pPr algn="l">
              <a:buNone/>
              <a:defRPr sz="1275" b="0">
                <a:solidFill>
                  <a:srgbClr val="5E6470"/>
                </a:solidFill>
                <a:latin typeface="Hiragino Sans GB"/>
                <a:ea typeface="Hiragino Sans GB"/>
                <a:cs typeface="Hiragino Sans GB"/>
              </a:defRPr>
            </a:pPr>
            <a:r>
              <a:rPr sz="1275" b="0">
                <a:solidFill>
                  <a:srgbClr val="5E6470"/>
                </a:solidFill>
                <a:latin typeface="Hiragino Sans GB"/>
                <a:ea typeface="Hiragino Sans GB"/>
                <a:cs typeface="Hiragino Sans GB"/>
              </a:rPr>
              <a:t>A / πold 决定更新权重</a:t>
            </a:r>
          </a:p>
        </p:txBody>
      </p:sp>
      <p:sp>
        <p:nvSpPr>
          <p:cNvPr id="12" name="圆角矩形 11">
            <a:extLst>
              <a:ext uri="{FF2B5EF4-FFF2-40B4-BE49-F238E27FC236}">
                <a16:creationId xmlns:a16="http://schemas.microsoft.com/office/drawing/2014/main" id="{D91D8885-AC38-4D05-8CD7-9499728FB17C}"/>
              </a:ext>
            </a:extLst>
          </p:cNvPr>
          <p:cNvSpPr>
            <a:spLocks noGrp="1"/>
          </p:cNvSpPr>
          <p:nvPr/>
        </p:nvSpPr>
        <p:spPr>
          <a:xfrm>
            <a:off x="6172200" y="3143250"/>
            <a:ext cx="2571750" cy="1809750"/>
          </a:xfrm>
          <a:prstGeom prst="roundRect">
            <a:avLst>
              <a:gd name="adj" fmla="val 4211"/>
            </a:avLst>
          </a:prstGeom>
          <a:solidFill>
            <a:srgbClr val="F1F2F4"/>
          </a:solidFill>
          <a:ln w="0">
            <a:noFill/>
            <a:prstDash val="solid"/>
          </a:ln>
        </p:spPr>
      </p:sp>
      <p:sp>
        <p:nvSpPr>
          <p:cNvPr id="13" name="矩形 12">
            <a:extLst>
              <a:ext uri="{FF2B5EF4-FFF2-40B4-BE49-F238E27FC236}">
                <a16:creationId xmlns:a16="http://schemas.microsoft.com/office/drawing/2014/main" id="{9C6AF877-082C-4C23-81E7-ABEFA19EB3D7}"/>
              </a:ext>
            </a:extLst>
          </p:cNvPr>
          <p:cNvSpPr>
            <a:spLocks noGrp="1"/>
          </p:cNvSpPr>
          <p:nvPr/>
        </p:nvSpPr>
        <p:spPr>
          <a:xfrm>
            <a:off x="6343650" y="3352800"/>
            <a:ext cx="2228850" cy="342900"/>
          </a:xfrm>
          <a:prstGeom prst="rect">
            <a:avLst/>
          </a:prstGeom>
          <a:noFill/>
          <a:ln w="0">
            <a:noFill/>
            <a:prstDash val="solid"/>
          </a:ln>
        </p:spPr>
        <p:txBody>
          <a:bodyPr wrap="square" lIns="0" tIns="0" rIns="0" bIns="0" anchor="t">
            <a:noAutofit/>
          </a:bodyPr>
          <a:lstStyle/>
          <a:p>
            <a:pPr algn="l">
              <a:buNone/>
              <a:defRPr sz="1575" b="1">
                <a:solidFill>
                  <a:srgbClr val="2787F5"/>
                </a:solidFill>
                <a:latin typeface="Hiragino Sans GB"/>
                <a:ea typeface="Hiragino Sans GB"/>
                <a:cs typeface="Hiragino Sans GB"/>
              </a:defRPr>
            </a:pPr>
            <a:r>
              <a:rPr sz="1575" b="1">
                <a:solidFill>
                  <a:srgbClr val="2787F5"/>
                </a:solidFill>
                <a:latin typeface="Hiragino Sans GB"/>
                <a:ea typeface="Hiragino Sans GB"/>
                <a:cs typeface="Hiragino Sans GB"/>
              </a:rPr>
              <a:t>③ Token probability</a:t>
            </a:r>
          </a:p>
        </p:txBody>
      </p:sp>
      <p:sp>
        <p:nvSpPr>
          <p:cNvPr id="15" name="圆角矩形 14">
            <a:extLst>
              <a:ext uri="{FF2B5EF4-FFF2-40B4-BE49-F238E27FC236}">
                <a16:creationId xmlns:a16="http://schemas.microsoft.com/office/drawing/2014/main" id="{BA79F2E0-D357-49B4-ABF1-ED81C00F00CE}"/>
              </a:ext>
            </a:extLst>
          </p:cNvPr>
          <p:cNvSpPr>
            <a:spLocks noGrp="1"/>
          </p:cNvSpPr>
          <p:nvPr/>
        </p:nvSpPr>
        <p:spPr>
          <a:xfrm>
            <a:off x="9048750" y="3143250"/>
            <a:ext cx="2571750" cy="1809750"/>
          </a:xfrm>
          <a:prstGeom prst="roundRect">
            <a:avLst>
              <a:gd name="adj" fmla="val 4211"/>
            </a:avLst>
          </a:prstGeom>
          <a:solidFill>
            <a:srgbClr val="F1F2F4"/>
          </a:solidFill>
          <a:ln w="0">
            <a:noFill/>
            <a:prstDash val="solid"/>
          </a:ln>
        </p:spPr>
      </p:sp>
      <p:sp>
        <p:nvSpPr>
          <p:cNvPr id="16" name="矩形 15">
            <a:extLst>
              <a:ext uri="{FF2B5EF4-FFF2-40B4-BE49-F238E27FC236}">
                <a16:creationId xmlns:a16="http://schemas.microsoft.com/office/drawing/2014/main" id="{C39E31C4-7F57-4AEA-B913-252FD9E073F2}"/>
              </a:ext>
            </a:extLst>
          </p:cNvPr>
          <p:cNvSpPr>
            <a:spLocks noGrp="1"/>
          </p:cNvSpPr>
          <p:nvPr/>
        </p:nvSpPr>
        <p:spPr>
          <a:xfrm>
            <a:off x="9220200" y="3352800"/>
            <a:ext cx="2228850" cy="342900"/>
          </a:xfrm>
          <a:prstGeom prst="rect">
            <a:avLst/>
          </a:prstGeom>
          <a:noFill/>
          <a:ln w="0">
            <a:noFill/>
            <a:prstDash val="solid"/>
          </a:ln>
        </p:spPr>
        <p:txBody>
          <a:bodyPr wrap="square" lIns="0" tIns="0" rIns="0" bIns="0" anchor="t">
            <a:noAutofit/>
          </a:bodyPr>
          <a:lstStyle/>
          <a:p>
            <a:pPr algn="l">
              <a:buNone/>
              <a:defRPr sz="1575" b="1">
                <a:solidFill>
                  <a:srgbClr val="101214"/>
                </a:solidFill>
                <a:latin typeface="Hiragino Sans GB"/>
                <a:ea typeface="Hiragino Sans GB"/>
                <a:cs typeface="Hiragino Sans GB"/>
              </a:defRPr>
            </a:pPr>
            <a:r>
              <a:rPr sz="1575" b="1">
                <a:solidFill>
                  <a:srgbClr val="101214"/>
                </a:solidFill>
                <a:latin typeface="Hiragino Sans GB"/>
                <a:ea typeface="Hiragino Sans GB"/>
                <a:cs typeface="Hiragino Sans GB"/>
              </a:rPr>
              <a:t>④ State entropy</a:t>
            </a:r>
          </a:p>
        </p:txBody>
      </p:sp>
      <p:sp>
        <p:nvSpPr>
          <p:cNvPr id="17" name="矩形 16">
            <a:extLst>
              <a:ext uri="{FF2B5EF4-FFF2-40B4-BE49-F238E27FC236}">
                <a16:creationId xmlns:a16="http://schemas.microsoft.com/office/drawing/2014/main" id="{0D424987-57B6-4C94-8931-910F3108B8A4}"/>
              </a:ext>
            </a:extLst>
          </p:cNvPr>
          <p:cNvSpPr>
            <a:spLocks noGrp="1"/>
          </p:cNvSpPr>
          <p:nvPr/>
        </p:nvSpPr>
        <p:spPr>
          <a:xfrm>
            <a:off x="9220200" y="3933825"/>
            <a:ext cx="2228850" cy="723900"/>
          </a:xfrm>
          <a:prstGeom prst="rect">
            <a:avLst/>
          </a:prstGeom>
          <a:noFill/>
          <a:ln w="0">
            <a:noFill/>
            <a:prstDash val="solid"/>
          </a:ln>
        </p:spPr>
        <p:txBody>
          <a:bodyPr wrap="square" lIns="0" tIns="0" rIns="0" bIns="0" anchor="t">
            <a:noAutofit/>
          </a:bodyPr>
          <a:lstStyle/>
          <a:p>
            <a:pPr algn="l">
              <a:buNone/>
              <a:defRPr sz="1275" b="0">
                <a:solidFill>
                  <a:srgbClr val="5E6470"/>
                </a:solidFill>
                <a:latin typeface="Hiragino Sans GB"/>
                <a:ea typeface="Hiragino Sans GB"/>
                <a:cs typeface="Hiragino Sans GB"/>
              </a:defRPr>
            </a:pPr>
            <a:r>
              <a:rPr sz="1275" b="0">
                <a:solidFill>
                  <a:srgbClr val="5E6470"/>
                </a:solidFill>
                <a:latin typeface="Hiragino Sans GB"/>
                <a:ea typeface="Hiragino Sans GB"/>
                <a:cs typeface="Hiragino Sans GB"/>
              </a:rPr>
              <a:t>H(s) 改变高/低概率的相对分界</a:t>
            </a:r>
          </a:p>
        </p:txBody>
      </p:sp>
      <p:sp>
        <p:nvSpPr>
          <p:cNvPr id="19" name="直线连接符 18">
            <a:extLst>
              <a:ext uri="{FF2B5EF4-FFF2-40B4-BE49-F238E27FC236}">
                <a16:creationId xmlns:a16="http://schemas.microsoft.com/office/drawing/2014/main" id="{584247A6-37AB-4E81-99BB-CCDDBAFC5828}"/>
              </a:ext>
            </a:extLst>
          </p:cNvPr>
          <p:cNvSpPr>
            <a:spLocks noGrp="1"/>
          </p:cNvSpPr>
          <p:nvPr/>
        </p:nvSpPr>
        <p:spPr>
          <a:xfrm>
            <a:off x="419100" y="6286500"/>
            <a:ext cx="11353800" cy="0"/>
          </a:xfrm>
          <a:prstGeom prst="line">
            <a:avLst/>
          </a:prstGeom>
          <a:noFill/>
          <a:ln w="9525">
            <a:solidFill>
              <a:srgbClr val="B8BCC4"/>
            </a:solidFill>
            <a:prstDash val="solid"/>
          </a:ln>
        </p:spPr>
      </p:sp>
      <p:sp>
        <p:nvSpPr>
          <p:cNvPr id="20" name="矩形 19">
            <a:extLst>
              <a:ext uri="{FF2B5EF4-FFF2-40B4-BE49-F238E27FC236}">
                <a16:creationId xmlns:a16="http://schemas.microsoft.com/office/drawing/2014/main" id="{E4F30BA3-05A2-42DF-9E44-9F944570A278}"/>
              </a:ext>
            </a:extLst>
          </p:cNvPr>
          <p:cNvSpPr>
            <a:spLocks noGrp="1"/>
          </p:cNvSpPr>
          <p:nvPr/>
        </p:nvSpPr>
        <p:spPr>
          <a:xfrm>
            <a:off x="419100" y="6362700"/>
            <a:ext cx="10763250" cy="219075"/>
          </a:xfrm>
          <a:prstGeom prst="rect">
            <a:avLst/>
          </a:prstGeom>
          <a:noFill/>
          <a:ln w="0">
            <a:noFill/>
            <a:prstDash val="solid"/>
          </a:ln>
        </p:spPr>
        <p:txBody>
          <a:bodyPr wrap="square" lIns="0" tIns="0" rIns="0" bIns="0" anchor="t">
            <a:noAutofit/>
          </a:bodyPr>
          <a:lstStyle/>
          <a:p>
            <a:pPr algn="l">
              <a:buNone/>
              <a:defRPr sz="788" b="0">
                <a:solidFill>
                  <a:srgbClr val="5E6470"/>
                </a:solidFill>
                <a:latin typeface="Helvetica Neue"/>
                <a:ea typeface="Helvetica Neue"/>
                <a:cs typeface="Helvetica Neue"/>
              </a:defRPr>
            </a:pPr>
            <a:r>
              <a:rPr sz="788" b="0">
                <a:solidFill>
                  <a:srgbClr val="5E6470"/>
                </a:solidFill>
                <a:latin typeface="Helvetica Neue"/>
                <a:ea typeface="Helvetica Neue"/>
                <a:cs typeface="Helvetica Neue"/>
              </a:rPr>
              <a:t>Hao et al. (2026), Theorem 1 / Eq. 7–8  ·  一阶近似；parameter-independent softmax 假设</a:t>
            </a:r>
          </a:p>
        </p:txBody>
      </p:sp>
      <p:sp>
        <p:nvSpPr>
          <p:cNvPr id="21" name="矩形 20">
            <a:extLst>
              <a:ext uri="{FF2B5EF4-FFF2-40B4-BE49-F238E27FC236}">
                <a16:creationId xmlns:a16="http://schemas.microsoft.com/office/drawing/2014/main" id="{1881E8C2-84EB-4263-B9DE-EE199BE7729B}"/>
              </a:ext>
            </a:extLst>
          </p:cNvPr>
          <p:cNvSpPr>
            <a:spLocks noGrp="1"/>
          </p:cNvSpPr>
          <p:nvPr/>
        </p:nvSpPr>
        <p:spPr>
          <a:xfrm>
            <a:off x="11334750" y="6362700"/>
            <a:ext cx="438150" cy="219075"/>
          </a:xfrm>
          <a:prstGeom prst="rect">
            <a:avLst/>
          </a:prstGeom>
          <a:noFill/>
          <a:ln w="0">
            <a:noFill/>
            <a:prstDash val="solid"/>
          </a:ln>
        </p:spPr>
        <p:txBody>
          <a:bodyPr wrap="square" lIns="0" tIns="0" rIns="0" bIns="0" anchor="t">
            <a:noAutofit/>
          </a:bodyPr>
          <a:lstStyle/>
          <a:p>
            <a:pPr algn="r">
              <a:buNone/>
              <a:defRPr sz="825" b="0">
                <a:solidFill>
                  <a:srgbClr val="5E6470"/>
                </a:solidFill>
                <a:latin typeface="Helvetica Neue"/>
                <a:ea typeface="Helvetica Neue"/>
                <a:cs typeface="Helvetica Neue"/>
              </a:defRPr>
            </a:pPr>
            <a:r>
              <a:rPr sz="825" b="0">
                <a:solidFill>
                  <a:srgbClr val="5E6470"/>
                </a:solidFill>
                <a:latin typeface="Helvetica Neue"/>
                <a:ea typeface="Helvetica Neue"/>
                <a:cs typeface="Helvetica Neue"/>
              </a:rPr>
              <a:t>07</a:t>
            </a:r>
          </a:p>
        </p:txBody>
      </p:sp>
      <p:pic>
        <p:nvPicPr>
          <p:cNvPr id="44" name="图片 43"/>
          <p:cNvPicPr>
            <a:picLocks noChangeAspect="1"/>
          </p:cNvPicPr>
          <p:nvPr/>
        </p:nvPicPr>
        <p:blipFill>
          <a:blip r:embed="rId3"/>
          <a:stretch/>
        </p:blipFill>
        <p:spPr>
          <a:xfrm>
            <a:off x="1219200" y="2105025"/>
            <a:ext cx="9753600" cy="304800"/>
          </a:xfrm>
          <a:prstGeom prst="rect">
            <a:avLst/>
          </a:prstGeom>
        </p:spPr>
      </p:pic>
      <p:pic>
        <p:nvPicPr>
          <p:cNvPr id="45" name="图片 44"/>
          <p:cNvPicPr>
            <a:picLocks noChangeAspect="1"/>
          </p:cNvPicPr>
          <p:nvPr/>
        </p:nvPicPr>
        <p:blipFill>
          <a:blip r:embed="rId4"/>
          <a:stretch/>
        </p:blipFill>
        <p:spPr>
          <a:xfrm>
            <a:off x="6343650" y="3933825"/>
            <a:ext cx="2228850" cy="723900"/>
          </a:xfrm>
          <a:prstGeom prst="rect">
            <a:avLst/>
          </a:prstGeom>
        </p:spPr>
      </p:pic>
      <p:pic>
        <p:nvPicPr>
          <p:cNvPr id="46" name="图片 45"/>
          <p:cNvPicPr>
            <a:picLocks noChangeAspect="1"/>
          </p:cNvPicPr>
          <p:nvPr/>
        </p:nvPicPr>
        <p:blipFill>
          <a:blip r:embed="rId5"/>
          <a:stretch/>
        </p:blipFill>
        <p:spPr>
          <a:xfrm>
            <a:off x="1428750" y="5143500"/>
            <a:ext cx="9334500" cy="1000125"/>
          </a:xfrm>
          <a:prstGeom prst="rect">
            <a:avLst/>
          </a:prstGeom>
        </p:spPr>
      </p:pic>
    </p:spTree>
    <p:extLst>
      <p:ext uri="{BB962C8B-B14F-4D97-AF65-F5344CB8AC3E}">
        <p14:creationId xmlns:p14="http://schemas.microsoft.com/office/powerpoint/2010/main" val="17548936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矩形 20">
            <a:extLst>
              <a:ext uri="{FF2B5EF4-FFF2-40B4-BE49-F238E27FC236}">
                <a16:creationId xmlns:a16="http://schemas.microsoft.com/office/drawing/2014/main" id="{5EDAABCC-3521-43CC-89FC-F1482E3FFDB6}"/>
              </a:ext>
            </a:extLst>
          </p:cNvPr>
          <p:cNvSpPr>
            <a:spLocks noGrp="1"/>
          </p:cNvSpPr>
          <p:nvPr/>
        </p:nvSpPr>
        <p:spPr>
          <a:xfrm>
            <a:off x="419100" y="171450"/>
            <a:ext cx="2952750" cy="228600"/>
          </a:xfrm>
          <a:prstGeom prst="rect">
            <a:avLst/>
          </a:prstGeom>
          <a:noFill/>
          <a:ln w="0">
            <a:noFill/>
            <a:prstDash val="solid"/>
          </a:ln>
        </p:spPr>
        <p:txBody>
          <a:bodyPr wrap="square" lIns="0" tIns="0" rIns="0" bIns="0" anchor="t">
            <a:noAutofit/>
          </a:bodyPr>
          <a:lstStyle/>
          <a:p>
            <a:pPr algn="l">
              <a:buNone/>
              <a:defRPr sz="975" b="1">
                <a:solidFill>
                  <a:srgbClr val="5E6470"/>
                </a:solidFill>
                <a:latin typeface="Helvetica Neue"/>
                <a:ea typeface="Helvetica Neue"/>
                <a:cs typeface="Helvetica Neue"/>
              </a:defRPr>
            </a:pPr>
            <a:r>
              <a:rPr sz="975" b="1">
                <a:solidFill>
                  <a:srgbClr val="5E6470"/>
                </a:solidFill>
                <a:latin typeface="Helvetica Neue"/>
                <a:ea typeface="Helvetica Neue"/>
                <a:cs typeface="Helvetica Neue"/>
              </a:rPr>
              <a:t>I · ENTROPY MECHANISM</a:t>
            </a:r>
          </a:p>
        </p:txBody>
      </p:sp>
      <p:sp>
        <p:nvSpPr>
          <p:cNvPr id="2" name="矩形 1">
            <a:extLst>
              <a:ext uri="{FF2B5EF4-FFF2-40B4-BE49-F238E27FC236}">
                <a16:creationId xmlns:a16="http://schemas.microsoft.com/office/drawing/2014/main" id="{18EF9D25-AF33-489B-A52B-4E56A34EE76D}"/>
              </a:ext>
            </a:extLst>
          </p:cNvPr>
          <p:cNvSpPr>
            <a:spLocks noGrp="1"/>
          </p:cNvSpPr>
          <p:nvPr/>
        </p:nvSpPr>
        <p:spPr>
          <a:xfrm>
            <a:off x="419100" y="409575"/>
            <a:ext cx="11353800" cy="514350"/>
          </a:xfrm>
          <a:prstGeom prst="rect">
            <a:avLst/>
          </a:prstGeom>
          <a:noFill/>
          <a:ln w="0">
            <a:noFill/>
            <a:prstDash val="solid"/>
          </a:ln>
        </p:spPr>
        <p:txBody>
          <a:bodyPr wrap="square" lIns="0" tIns="0" rIns="0" bIns="0" anchor="t">
            <a:noAutofit/>
          </a:bodyPr>
          <a:lstStyle/>
          <a:p>
            <a:pPr algn="l">
              <a:buNone/>
              <a:defRPr sz="2850" b="1">
                <a:solidFill>
                  <a:srgbClr val="101214"/>
                </a:solidFill>
                <a:latin typeface="Hiragino Sans GB"/>
                <a:ea typeface="Hiragino Sans GB"/>
                <a:cs typeface="Hiragino Sans GB"/>
              </a:defRPr>
            </a:pPr>
            <a:r>
              <a:rPr sz="2850" b="1">
                <a:solidFill>
                  <a:srgbClr val="101214"/>
                </a:solidFill>
                <a:latin typeface="Hiragino Sans GB"/>
                <a:ea typeface="Hiragino Sans GB"/>
                <a:cs typeface="Hiragino Sans GB"/>
              </a:rPr>
              <a:t>四个象限共同决定全局熵</a:t>
            </a:r>
          </a:p>
        </p:txBody>
      </p:sp>
      <p:sp>
        <p:nvSpPr>
          <p:cNvPr id="3" name="圆角矩形 2">
            <a:extLst>
              <a:ext uri="{FF2B5EF4-FFF2-40B4-BE49-F238E27FC236}">
                <a16:creationId xmlns:a16="http://schemas.microsoft.com/office/drawing/2014/main" id="{F9868467-006F-404E-AF2C-637539E62281}"/>
              </a:ext>
            </a:extLst>
          </p:cNvPr>
          <p:cNvSpPr>
            <a:spLocks noGrp="1"/>
          </p:cNvSpPr>
          <p:nvPr/>
        </p:nvSpPr>
        <p:spPr>
          <a:xfrm>
            <a:off x="419100" y="1190625"/>
            <a:ext cx="6667500" cy="4333875"/>
          </a:xfrm>
          <a:prstGeom prst="roundRect">
            <a:avLst>
              <a:gd name="adj" fmla="val 1758"/>
            </a:avLst>
          </a:prstGeom>
          <a:solidFill>
            <a:srgbClr val="F1F2F4"/>
          </a:solidFill>
          <a:ln w="9525">
            <a:solidFill>
              <a:srgbClr val="B8BCC4"/>
            </a:solidFill>
            <a:prstDash val="solid"/>
          </a:ln>
        </p:spPr>
      </p:sp>
      <p:pic>
        <p:nvPicPr>
          <p:cNvPr id="30" name="图片 23"/>
          <p:cNvPicPr>
            <a:picLocks noChangeAspect="1"/>
          </p:cNvPicPr>
          <p:nvPr/>
        </p:nvPicPr>
        <p:blipFill>
          <a:blip r:embed="rId3"/>
          <a:stretch/>
        </p:blipFill>
        <p:spPr>
          <a:xfrm>
            <a:off x="799127" y="1266825"/>
            <a:ext cx="5907446" cy="4181475"/>
          </a:xfrm>
          <a:prstGeom prst="roundRect">
            <a:avLst>
              <a:gd name="adj" fmla="val 1367"/>
            </a:avLst>
          </a:prstGeom>
        </p:spPr>
      </p:pic>
      <p:sp>
        <p:nvSpPr>
          <p:cNvPr id="5" name="圆角矩形 4">
            <a:extLst>
              <a:ext uri="{FF2B5EF4-FFF2-40B4-BE49-F238E27FC236}">
                <a16:creationId xmlns:a16="http://schemas.microsoft.com/office/drawing/2014/main" id="{7A3DB985-0027-4F43-BE67-25687358ED52}"/>
              </a:ext>
            </a:extLst>
          </p:cNvPr>
          <p:cNvSpPr>
            <a:spLocks noGrp="1"/>
          </p:cNvSpPr>
          <p:nvPr/>
        </p:nvSpPr>
        <p:spPr>
          <a:xfrm>
            <a:off x="7477125" y="1219200"/>
            <a:ext cx="4286250" cy="895350"/>
          </a:xfrm>
          <a:prstGeom prst="roundRect">
            <a:avLst>
              <a:gd name="adj" fmla="val 8511"/>
            </a:avLst>
          </a:prstGeom>
          <a:solidFill>
            <a:srgbClr val="FFF4DE"/>
          </a:solidFill>
          <a:ln w="0">
            <a:noFill/>
            <a:prstDash val="solid"/>
          </a:ln>
        </p:spPr>
      </p:sp>
      <p:sp>
        <p:nvSpPr>
          <p:cNvPr id="6" name="矩形 5">
            <a:extLst>
              <a:ext uri="{FF2B5EF4-FFF2-40B4-BE49-F238E27FC236}">
                <a16:creationId xmlns:a16="http://schemas.microsoft.com/office/drawing/2014/main" id="{24816DE7-DBFB-4299-AECA-07C951FE8AF5}"/>
              </a:ext>
            </a:extLst>
          </p:cNvPr>
          <p:cNvSpPr>
            <a:spLocks noGrp="1"/>
          </p:cNvSpPr>
          <p:nvPr/>
        </p:nvSpPr>
        <p:spPr>
          <a:xfrm>
            <a:off x="7629525" y="1333500"/>
            <a:ext cx="1619250" cy="228600"/>
          </a:xfrm>
          <a:prstGeom prst="rect">
            <a:avLst/>
          </a:prstGeom>
          <a:noFill/>
          <a:ln w="0">
            <a:noFill/>
            <a:prstDash val="solid"/>
          </a:ln>
        </p:spPr>
        <p:txBody>
          <a:bodyPr wrap="square" lIns="0" tIns="0" rIns="0" bIns="0" anchor="t">
            <a:noAutofit/>
          </a:bodyPr>
          <a:lstStyle/>
          <a:p>
            <a:pPr algn="l">
              <a:buNone/>
              <a:defRPr sz="1275" b="1">
                <a:solidFill>
                  <a:srgbClr val="F59E0B"/>
                </a:solidFill>
                <a:latin typeface="Helvetica Neue"/>
                <a:ea typeface="Helvetica Neue"/>
                <a:cs typeface="Helvetica Neue"/>
              </a:defRPr>
            </a:pPr>
            <a:r>
              <a:rPr sz="1275" b="1">
                <a:solidFill>
                  <a:srgbClr val="F59E0B"/>
                </a:solidFill>
                <a:latin typeface="Helvetica Neue"/>
                <a:ea typeface="Helvetica Neue"/>
                <a:cs typeface="Helvetica Neue"/>
              </a:rPr>
              <a:t>I  Exploitation</a:t>
            </a:r>
          </a:p>
        </p:txBody>
      </p:sp>
      <p:sp>
        <p:nvSpPr>
          <p:cNvPr id="8" name="圆角矩形 7">
            <a:extLst>
              <a:ext uri="{FF2B5EF4-FFF2-40B4-BE49-F238E27FC236}">
                <a16:creationId xmlns:a16="http://schemas.microsoft.com/office/drawing/2014/main" id="{B4D680B4-1980-498C-8396-84DAB5DA7F1D}"/>
              </a:ext>
            </a:extLst>
          </p:cNvPr>
          <p:cNvSpPr>
            <a:spLocks noGrp="1"/>
          </p:cNvSpPr>
          <p:nvPr/>
        </p:nvSpPr>
        <p:spPr>
          <a:xfrm>
            <a:off x="7477125" y="2295525"/>
            <a:ext cx="4286250" cy="895350"/>
          </a:xfrm>
          <a:prstGeom prst="roundRect">
            <a:avLst>
              <a:gd name="adj" fmla="val 8511"/>
            </a:avLst>
          </a:prstGeom>
          <a:solidFill>
            <a:srgbClr val="EAF5FB"/>
          </a:solidFill>
          <a:ln w="0">
            <a:noFill/>
            <a:prstDash val="solid"/>
          </a:ln>
        </p:spPr>
      </p:sp>
      <p:sp>
        <p:nvSpPr>
          <p:cNvPr id="9" name="矩形 8">
            <a:extLst>
              <a:ext uri="{FF2B5EF4-FFF2-40B4-BE49-F238E27FC236}">
                <a16:creationId xmlns:a16="http://schemas.microsoft.com/office/drawing/2014/main" id="{2A945675-83C7-428A-AAE6-19A9388B5403}"/>
              </a:ext>
            </a:extLst>
          </p:cNvPr>
          <p:cNvSpPr>
            <a:spLocks noGrp="1"/>
          </p:cNvSpPr>
          <p:nvPr/>
        </p:nvSpPr>
        <p:spPr>
          <a:xfrm>
            <a:off x="7629525" y="2409825"/>
            <a:ext cx="1619250" cy="228600"/>
          </a:xfrm>
          <a:prstGeom prst="rect">
            <a:avLst/>
          </a:prstGeom>
          <a:noFill/>
          <a:ln w="0">
            <a:noFill/>
            <a:prstDash val="solid"/>
          </a:ln>
        </p:spPr>
        <p:txBody>
          <a:bodyPr wrap="square" lIns="0" tIns="0" rIns="0" bIns="0" anchor="t">
            <a:noAutofit/>
          </a:bodyPr>
          <a:lstStyle/>
          <a:p>
            <a:pPr algn="l">
              <a:buNone/>
              <a:defRPr sz="1275" b="1">
                <a:solidFill>
                  <a:srgbClr val="2787F5"/>
                </a:solidFill>
                <a:latin typeface="Helvetica Neue"/>
                <a:ea typeface="Helvetica Neue"/>
                <a:cs typeface="Helvetica Neue"/>
              </a:defRPr>
            </a:pPr>
            <a:r>
              <a:rPr sz="1275" b="1">
                <a:solidFill>
                  <a:srgbClr val="2787F5"/>
                </a:solidFill>
                <a:latin typeface="Helvetica Neue"/>
                <a:ea typeface="Helvetica Neue"/>
                <a:cs typeface="Helvetica Neue"/>
              </a:rPr>
              <a:t>II Exploration</a:t>
            </a:r>
          </a:p>
        </p:txBody>
      </p:sp>
      <p:sp>
        <p:nvSpPr>
          <p:cNvPr id="11" name="圆角矩形 10">
            <a:extLst>
              <a:ext uri="{FF2B5EF4-FFF2-40B4-BE49-F238E27FC236}">
                <a16:creationId xmlns:a16="http://schemas.microsoft.com/office/drawing/2014/main" id="{624233AC-9ED2-4FDC-9FFD-EB214864B884}"/>
              </a:ext>
            </a:extLst>
          </p:cNvPr>
          <p:cNvSpPr>
            <a:spLocks noGrp="1"/>
          </p:cNvSpPr>
          <p:nvPr/>
        </p:nvSpPr>
        <p:spPr>
          <a:xfrm>
            <a:off x="7477125" y="3371850"/>
            <a:ext cx="4286250" cy="895350"/>
          </a:xfrm>
          <a:prstGeom prst="roundRect">
            <a:avLst>
              <a:gd name="adj" fmla="val 8511"/>
            </a:avLst>
          </a:prstGeom>
          <a:solidFill>
            <a:srgbClr val="FFF4DE"/>
          </a:solidFill>
          <a:ln w="0">
            <a:noFill/>
            <a:prstDash val="solid"/>
          </a:ln>
        </p:spPr>
      </p:sp>
      <p:sp>
        <p:nvSpPr>
          <p:cNvPr id="12" name="矩形 11">
            <a:extLst>
              <a:ext uri="{FF2B5EF4-FFF2-40B4-BE49-F238E27FC236}">
                <a16:creationId xmlns:a16="http://schemas.microsoft.com/office/drawing/2014/main" id="{A2A32440-AF69-4B79-AAD1-5E5E84AC3A69}"/>
              </a:ext>
            </a:extLst>
          </p:cNvPr>
          <p:cNvSpPr>
            <a:spLocks noGrp="1"/>
          </p:cNvSpPr>
          <p:nvPr/>
        </p:nvSpPr>
        <p:spPr>
          <a:xfrm>
            <a:off x="7629525" y="3486150"/>
            <a:ext cx="1619250" cy="228600"/>
          </a:xfrm>
          <a:prstGeom prst="rect">
            <a:avLst/>
          </a:prstGeom>
          <a:noFill/>
          <a:ln w="0">
            <a:noFill/>
            <a:prstDash val="solid"/>
          </a:ln>
        </p:spPr>
        <p:txBody>
          <a:bodyPr wrap="square" lIns="0" tIns="0" rIns="0" bIns="0" anchor="t">
            <a:noAutofit/>
          </a:bodyPr>
          <a:lstStyle/>
          <a:p>
            <a:pPr algn="l">
              <a:buNone/>
              <a:defRPr sz="1275" b="1">
                <a:solidFill>
                  <a:srgbClr val="F59E0B"/>
                </a:solidFill>
                <a:latin typeface="Helvetica Neue"/>
                <a:ea typeface="Helvetica Neue"/>
                <a:cs typeface="Helvetica Neue"/>
              </a:defRPr>
            </a:pPr>
            <a:r>
              <a:rPr sz="1275" b="1">
                <a:solidFill>
                  <a:srgbClr val="F59E0B"/>
                </a:solidFill>
                <a:latin typeface="Helvetica Neue"/>
                <a:ea typeface="Helvetica Neue"/>
                <a:cs typeface="Helvetica Neue"/>
              </a:rPr>
              <a:t>III Suppression</a:t>
            </a:r>
          </a:p>
        </p:txBody>
      </p:sp>
      <p:sp>
        <p:nvSpPr>
          <p:cNvPr id="14" name="圆角矩形 13">
            <a:extLst>
              <a:ext uri="{FF2B5EF4-FFF2-40B4-BE49-F238E27FC236}">
                <a16:creationId xmlns:a16="http://schemas.microsoft.com/office/drawing/2014/main" id="{3B7D1E22-3018-4560-A753-37D964747839}"/>
              </a:ext>
            </a:extLst>
          </p:cNvPr>
          <p:cNvSpPr>
            <a:spLocks noGrp="1"/>
          </p:cNvSpPr>
          <p:nvPr/>
        </p:nvSpPr>
        <p:spPr>
          <a:xfrm>
            <a:off x="7477125" y="4448175"/>
            <a:ext cx="4286250" cy="895350"/>
          </a:xfrm>
          <a:prstGeom prst="roundRect">
            <a:avLst>
              <a:gd name="adj" fmla="val 8511"/>
            </a:avLst>
          </a:prstGeom>
          <a:solidFill>
            <a:srgbClr val="EAF5FB"/>
          </a:solidFill>
          <a:ln w="0">
            <a:noFill/>
            <a:prstDash val="solid"/>
          </a:ln>
        </p:spPr>
      </p:sp>
      <p:sp>
        <p:nvSpPr>
          <p:cNvPr id="15" name="矩形 14">
            <a:extLst>
              <a:ext uri="{FF2B5EF4-FFF2-40B4-BE49-F238E27FC236}">
                <a16:creationId xmlns:a16="http://schemas.microsoft.com/office/drawing/2014/main" id="{DFF5088A-1181-4207-8EBC-C8BB7B7C9121}"/>
              </a:ext>
            </a:extLst>
          </p:cNvPr>
          <p:cNvSpPr>
            <a:spLocks noGrp="1"/>
          </p:cNvSpPr>
          <p:nvPr/>
        </p:nvSpPr>
        <p:spPr>
          <a:xfrm>
            <a:off x="7629525" y="4562475"/>
            <a:ext cx="1619250" cy="228600"/>
          </a:xfrm>
          <a:prstGeom prst="rect">
            <a:avLst/>
          </a:prstGeom>
          <a:noFill/>
          <a:ln w="0">
            <a:noFill/>
            <a:prstDash val="solid"/>
          </a:ln>
        </p:spPr>
        <p:txBody>
          <a:bodyPr wrap="square" lIns="0" tIns="0" rIns="0" bIns="0" anchor="t">
            <a:noAutofit/>
          </a:bodyPr>
          <a:lstStyle/>
          <a:p>
            <a:pPr algn="l">
              <a:buNone/>
              <a:defRPr sz="1275" b="1">
                <a:solidFill>
                  <a:srgbClr val="2787F5"/>
                </a:solidFill>
                <a:latin typeface="Helvetica Neue"/>
                <a:ea typeface="Helvetica Neue"/>
                <a:cs typeface="Helvetica Neue"/>
              </a:defRPr>
            </a:pPr>
            <a:r>
              <a:rPr sz="1275" b="1">
                <a:solidFill>
                  <a:srgbClr val="2787F5"/>
                </a:solidFill>
                <a:latin typeface="Helvetica Neue"/>
                <a:ea typeface="Helvetica Neue"/>
                <a:cs typeface="Helvetica Neue"/>
              </a:rPr>
              <a:t>IV Error correction</a:t>
            </a:r>
          </a:p>
        </p:txBody>
      </p:sp>
      <p:sp>
        <p:nvSpPr>
          <p:cNvPr id="17" name="矩形 16">
            <a:extLst>
              <a:ext uri="{FF2B5EF4-FFF2-40B4-BE49-F238E27FC236}">
                <a16:creationId xmlns:a16="http://schemas.microsoft.com/office/drawing/2014/main" id="{2067373A-4D42-4776-B96E-9E5C48BADBF9}"/>
              </a:ext>
            </a:extLst>
          </p:cNvPr>
          <p:cNvSpPr>
            <a:spLocks noGrp="1"/>
          </p:cNvSpPr>
          <p:nvPr/>
        </p:nvSpPr>
        <p:spPr>
          <a:xfrm>
            <a:off x="7477125" y="5619750"/>
            <a:ext cx="4286250" cy="361950"/>
          </a:xfrm>
          <a:prstGeom prst="rect">
            <a:avLst/>
          </a:prstGeom>
          <a:noFill/>
          <a:ln w="0">
            <a:noFill/>
            <a:prstDash val="solid"/>
          </a:ln>
        </p:spPr>
        <p:txBody>
          <a:bodyPr wrap="square" lIns="0" tIns="0" rIns="0" bIns="0" anchor="t">
            <a:noAutofit/>
          </a:bodyPr>
          <a:lstStyle/>
          <a:p>
            <a:pPr algn="l">
              <a:buNone/>
              <a:defRPr sz="1500" b="1">
                <a:solidFill>
                  <a:srgbClr val="D94C4C"/>
                </a:solidFill>
                <a:latin typeface="Hiragino Sans GB"/>
                <a:ea typeface="Hiragino Sans GB"/>
                <a:cs typeface="Hiragino Sans GB"/>
              </a:defRPr>
            </a:pPr>
            <a:r>
              <a:rPr sz="1500" b="1">
                <a:solidFill>
                  <a:srgbClr val="D94C4C"/>
                </a:solidFill>
                <a:latin typeface="Hiragino Sans GB"/>
                <a:ea typeface="Hiragino Sans GB"/>
                <a:cs typeface="Hiragino Sans GB"/>
              </a:rPr>
              <a:t>Entropy collapse = I 与 III 的降熵贡献长期压过 II 与 IV。</a:t>
            </a:r>
          </a:p>
        </p:txBody>
      </p:sp>
      <p:sp>
        <p:nvSpPr>
          <p:cNvPr id="18" name="直线连接符 17">
            <a:extLst>
              <a:ext uri="{FF2B5EF4-FFF2-40B4-BE49-F238E27FC236}">
                <a16:creationId xmlns:a16="http://schemas.microsoft.com/office/drawing/2014/main" id="{DF95E3A9-4DBB-445A-A4C0-6A08D6B82528}"/>
              </a:ext>
            </a:extLst>
          </p:cNvPr>
          <p:cNvSpPr>
            <a:spLocks noGrp="1"/>
          </p:cNvSpPr>
          <p:nvPr/>
        </p:nvSpPr>
        <p:spPr>
          <a:xfrm>
            <a:off x="419100" y="6286500"/>
            <a:ext cx="11353800" cy="0"/>
          </a:xfrm>
          <a:prstGeom prst="line">
            <a:avLst/>
          </a:prstGeom>
          <a:noFill/>
          <a:ln w="9525">
            <a:solidFill>
              <a:srgbClr val="B8BCC4"/>
            </a:solidFill>
            <a:prstDash val="solid"/>
          </a:ln>
        </p:spPr>
      </p:sp>
      <p:sp>
        <p:nvSpPr>
          <p:cNvPr id="19" name="矩形 18">
            <a:extLst>
              <a:ext uri="{FF2B5EF4-FFF2-40B4-BE49-F238E27FC236}">
                <a16:creationId xmlns:a16="http://schemas.microsoft.com/office/drawing/2014/main" id="{4D23BB13-2F92-4421-BEB0-EE43B38B163F}"/>
              </a:ext>
            </a:extLst>
          </p:cNvPr>
          <p:cNvSpPr>
            <a:spLocks noGrp="1"/>
          </p:cNvSpPr>
          <p:nvPr/>
        </p:nvSpPr>
        <p:spPr>
          <a:xfrm>
            <a:off x="419100" y="6362700"/>
            <a:ext cx="10763250" cy="219075"/>
          </a:xfrm>
          <a:prstGeom prst="rect">
            <a:avLst/>
          </a:prstGeom>
          <a:noFill/>
          <a:ln w="0">
            <a:noFill/>
            <a:prstDash val="solid"/>
          </a:ln>
        </p:spPr>
        <p:txBody>
          <a:bodyPr wrap="square" lIns="0" tIns="0" rIns="0" bIns="0" anchor="t">
            <a:noAutofit/>
          </a:bodyPr>
          <a:lstStyle/>
          <a:p>
            <a:pPr algn="l">
              <a:buNone/>
              <a:defRPr sz="788" b="0">
                <a:solidFill>
                  <a:srgbClr val="5E6470"/>
                </a:solidFill>
                <a:latin typeface="Helvetica Neue"/>
                <a:ea typeface="Helvetica Neue"/>
                <a:cs typeface="Helvetica Neue"/>
              </a:defRPr>
            </a:pPr>
            <a:r>
              <a:rPr sz="788" b="0">
                <a:solidFill>
                  <a:srgbClr val="5E6470"/>
                </a:solidFill>
                <a:latin typeface="Helvetica Neue"/>
                <a:ea typeface="Helvetica Neue"/>
                <a:cs typeface="Helvetica Neue"/>
              </a:rPr>
              <a:t>Hao et al. (2026), Figure 2</a:t>
            </a:r>
          </a:p>
        </p:txBody>
      </p:sp>
      <p:sp>
        <p:nvSpPr>
          <p:cNvPr id="20" name="矩形 19">
            <a:extLst>
              <a:ext uri="{FF2B5EF4-FFF2-40B4-BE49-F238E27FC236}">
                <a16:creationId xmlns:a16="http://schemas.microsoft.com/office/drawing/2014/main" id="{2E5A715E-891D-41D6-B6AC-6BDAE18CC50C}"/>
              </a:ext>
            </a:extLst>
          </p:cNvPr>
          <p:cNvSpPr>
            <a:spLocks noGrp="1"/>
          </p:cNvSpPr>
          <p:nvPr/>
        </p:nvSpPr>
        <p:spPr>
          <a:xfrm>
            <a:off x="11334750" y="6362700"/>
            <a:ext cx="438150" cy="219075"/>
          </a:xfrm>
          <a:prstGeom prst="rect">
            <a:avLst/>
          </a:prstGeom>
          <a:noFill/>
          <a:ln w="0">
            <a:noFill/>
            <a:prstDash val="solid"/>
          </a:ln>
        </p:spPr>
        <p:txBody>
          <a:bodyPr wrap="square" lIns="0" tIns="0" rIns="0" bIns="0" anchor="t">
            <a:noAutofit/>
          </a:bodyPr>
          <a:lstStyle/>
          <a:p>
            <a:pPr algn="r">
              <a:buNone/>
              <a:defRPr sz="825" b="0">
                <a:solidFill>
                  <a:srgbClr val="5E6470"/>
                </a:solidFill>
                <a:latin typeface="Helvetica Neue"/>
                <a:ea typeface="Helvetica Neue"/>
                <a:cs typeface="Helvetica Neue"/>
              </a:defRPr>
            </a:pPr>
            <a:r>
              <a:rPr sz="825" b="0">
                <a:solidFill>
                  <a:srgbClr val="5E6470"/>
                </a:solidFill>
                <a:latin typeface="Helvetica Neue"/>
                <a:ea typeface="Helvetica Neue"/>
                <a:cs typeface="Helvetica Neue"/>
              </a:rPr>
              <a:t>08</a:t>
            </a:r>
          </a:p>
        </p:txBody>
      </p:sp>
      <p:pic>
        <p:nvPicPr>
          <p:cNvPr id="43" name="图片 42"/>
          <p:cNvPicPr>
            <a:picLocks noChangeAspect="1"/>
          </p:cNvPicPr>
          <p:nvPr/>
        </p:nvPicPr>
        <p:blipFill>
          <a:blip r:embed="rId4"/>
          <a:stretch/>
        </p:blipFill>
        <p:spPr>
          <a:xfrm>
            <a:off x="9344025" y="1314450"/>
            <a:ext cx="2247900" cy="628650"/>
          </a:xfrm>
          <a:prstGeom prst="rect">
            <a:avLst/>
          </a:prstGeom>
        </p:spPr>
      </p:pic>
      <p:pic>
        <p:nvPicPr>
          <p:cNvPr id="44" name="图片 43"/>
          <p:cNvPicPr>
            <a:picLocks noChangeAspect="1"/>
          </p:cNvPicPr>
          <p:nvPr/>
        </p:nvPicPr>
        <p:blipFill>
          <a:blip r:embed="rId5"/>
          <a:stretch/>
        </p:blipFill>
        <p:spPr>
          <a:xfrm>
            <a:off x="9344025" y="2390775"/>
            <a:ext cx="2247900" cy="628650"/>
          </a:xfrm>
          <a:prstGeom prst="rect">
            <a:avLst/>
          </a:prstGeom>
        </p:spPr>
      </p:pic>
      <p:pic>
        <p:nvPicPr>
          <p:cNvPr id="45" name="图片 44"/>
          <p:cNvPicPr>
            <a:picLocks noChangeAspect="1"/>
          </p:cNvPicPr>
          <p:nvPr/>
        </p:nvPicPr>
        <p:blipFill>
          <a:blip r:embed="rId6"/>
          <a:stretch/>
        </p:blipFill>
        <p:spPr>
          <a:xfrm>
            <a:off x="9344025" y="3467100"/>
            <a:ext cx="2247900" cy="628650"/>
          </a:xfrm>
          <a:prstGeom prst="rect">
            <a:avLst/>
          </a:prstGeom>
        </p:spPr>
      </p:pic>
      <p:pic>
        <p:nvPicPr>
          <p:cNvPr id="46" name="图片 45"/>
          <p:cNvPicPr>
            <a:picLocks noChangeAspect="1"/>
          </p:cNvPicPr>
          <p:nvPr/>
        </p:nvPicPr>
        <p:blipFill>
          <a:blip r:embed="rId7"/>
          <a:stretch/>
        </p:blipFill>
        <p:spPr>
          <a:xfrm>
            <a:off x="9344025" y="4543425"/>
            <a:ext cx="2247900" cy="628650"/>
          </a:xfrm>
          <a:prstGeom prst="rect">
            <a:avLst/>
          </a:prstGeom>
        </p:spPr>
      </p:pic>
    </p:spTree>
    <p:extLst>
      <p:ext uri="{BB962C8B-B14F-4D97-AF65-F5344CB8AC3E}">
        <p14:creationId xmlns:p14="http://schemas.microsoft.com/office/powerpoint/2010/main" val="20957258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2" name="矩形 71">
            <a:extLst>
              <a:ext uri="{FF2B5EF4-FFF2-40B4-BE49-F238E27FC236}">
                <a16:creationId xmlns:a16="http://schemas.microsoft.com/office/drawing/2014/main" id="{5FF924B1-C146-4FFB-8D62-E6E2FC88DA0D}"/>
              </a:ext>
            </a:extLst>
          </p:cNvPr>
          <p:cNvSpPr>
            <a:spLocks noGrp="1"/>
          </p:cNvSpPr>
          <p:nvPr/>
        </p:nvSpPr>
        <p:spPr>
          <a:xfrm>
            <a:off x="419100" y="171450"/>
            <a:ext cx="2952750" cy="228600"/>
          </a:xfrm>
          <a:prstGeom prst="rect">
            <a:avLst/>
          </a:prstGeom>
          <a:noFill/>
          <a:ln w="0">
            <a:noFill/>
            <a:prstDash val="solid"/>
          </a:ln>
        </p:spPr>
        <p:txBody>
          <a:bodyPr wrap="square" lIns="0" tIns="0" rIns="0" bIns="0" anchor="t">
            <a:noAutofit/>
          </a:bodyPr>
          <a:lstStyle/>
          <a:p>
            <a:pPr algn="l">
              <a:buNone/>
              <a:defRPr sz="975" b="1">
                <a:solidFill>
                  <a:srgbClr val="5E6470"/>
                </a:solidFill>
                <a:latin typeface="Helvetica Neue"/>
                <a:ea typeface="Helvetica Neue"/>
                <a:cs typeface="Helvetica Neue"/>
              </a:defRPr>
            </a:pPr>
            <a:r>
              <a:rPr sz="975" b="1">
                <a:solidFill>
                  <a:srgbClr val="5E6470"/>
                </a:solidFill>
                <a:latin typeface="Helvetica Neue"/>
                <a:ea typeface="Helvetica Neue"/>
                <a:cs typeface="Helvetica Neue"/>
              </a:rPr>
              <a:t>I · ENTROPY MECHANISM</a:t>
            </a:r>
          </a:p>
        </p:txBody>
      </p:sp>
      <p:sp>
        <p:nvSpPr>
          <p:cNvPr id="2" name="矩形 1">
            <a:extLst>
              <a:ext uri="{FF2B5EF4-FFF2-40B4-BE49-F238E27FC236}">
                <a16:creationId xmlns:a16="http://schemas.microsoft.com/office/drawing/2014/main" id="{7D4F8289-0A1D-49A4-B3EE-20CC78862CB6}"/>
              </a:ext>
            </a:extLst>
          </p:cNvPr>
          <p:cNvSpPr>
            <a:spLocks noGrp="1"/>
          </p:cNvSpPr>
          <p:nvPr/>
        </p:nvSpPr>
        <p:spPr>
          <a:xfrm>
            <a:off x="419100" y="409575"/>
            <a:ext cx="11353800" cy="514350"/>
          </a:xfrm>
          <a:prstGeom prst="rect">
            <a:avLst/>
          </a:prstGeom>
          <a:noFill/>
          <a:ln w="0">
            <a:noFill/>
            <a:prstDash val="solid"/>
          </a:ln>
        </p:spPr>
        <p:txBody>
          <a:bodyPr wrap="square" lIns="0" tIns="0" rIns="0" bIns="0" anchor="t">
            <a:noAutofit/>
          </a:bodyPr>
          <a:lstStyle/>
          <a:p>
            <a:pPr algn="l">
              <a:buNone/>
              <a:defRPr sz="2850" b="1">
                <a:solidFill>
                  <a:srgbClr val="101214"/>
                </a:solidFill>
                <a:latin typeface="Hiragino Sans GB"/>
                <a:ea typeface="Hiragino Sans GB"/>
                <a:cs typeface="Hiragino Sans GB"/>
              </a:defRPr>
            </a:pPr>
            <a:r>
              <a:rPr sz="2850" b="1">
                <a:solidFill>
                  <a:srgbClr val="101214"/>
                </a:solidFill>
                <a:latin typeface="Hiragino Sans GB"/>
                <a:ea typeface="Hiragino Sans GB"/>
                <a:cs typeface="Hiragino Sans GB"/>
              </a:rPr>
              <a:t>现有方法只重排局部象限，无法联合控制</a:t>
            </a:r>
          </a:p>
        </p:txBody>
      </p:sp>
      <p:sp>
        <p:nvSpPr>
          <p:cNvPr id="69" name="直线连接符 68">
            <a:extLst>
              <a:ext uri="{FF2B5EF4-FFF2-40B4-BE49-F238E27FC236}">
                <a16:creationId xmlns:a16="http://schemas.microsoft.com/office/drawing/2014/main" id="{6B5C2223-AB03-47E5-BC66-69D4B214ECD0}"/>
              </a:ext>
            </a:extLst>
          </p:cNvPr>
          <p:cNvSpPr>
            <a:spLocks noGrp="1"/>
          </p:cNvSpPr>
          <p:nvPr/>
        </p:nvSpPr>
        <p:spPr>
          <a:xfrm>
            <a:off x="419100" y="6286500"/>
            <a:ext cx="11353800" cy="0"/>
          </a:xfrm>
          <a:prstGeom prst="line">
            <a:avLst/>
          </a:prstGeom>
          <a:noFill/>
          <a:ln w="9525">
            <a:solidFill>
              <a:srgbClr val="B8BCC4"/>
            </a:solidFill>
            <a:prstDash val="solid"/>
          </a:ln>
        </p:spPr>
      </p:sp>
      <p:sp>
        <p:nvSpPr>
          <p:cNvPr id="70" name="矩形 69">
            <a:extLst>
              <a:ext uri="{FF2B5EF4-FFF2-40B4-BE49-F238E27FC236}">
                <a16:creationId xmlns:a16="http://schemas.microsoft.com/office/drawing/2014/main" id="{1336AA01-1148-43CA-987D-5AF41334905E}"/>
              </a:ext>
            </a:extLst>
          </p:cNvPr>
          <p:cNvSpPr>
            <a:spLocks noGrp="1"/>
          </p:cNvSpPr>
          <p:nvPr/>
        </p:nvSpPr>
        <p:spPr>
          <a:xfrm>
            <a:off x="419100" y="6362700"/>
            <a:ext cx="10763250" cy="219075"/>
          </a:xfrm>
          <a:prstGeom prst="rect">
            <a:avLst/>
          </a:prstGeom>
          <a:noFill/>
          <a:ln w="0">
            <a:noFill/>
            <a:prstDash val="solid"/>
          </a:ln>
        </p:spPr>
        <p:txBody>
          <a:bodyPr wrap="square" lIns="0" tIns="0" rIns="0" bIns="0" anchor="t">
            <a:noAutofit/>
          </a:bodyPr>
          <a:lstStyle/>
          <a:p>
            <a:pPr algn="l">
              <a:buNone/>
              <a:defRPr sz="788" b="0">
                <a:solidFill>
                  <a:srgbClr val="5E6470"/>
                </a:solidFill>
                <a:latin typeface="Helvetica Neue"/>
                <a:ea typeface="Helvetica Neue"/>
                <a:cs typeface="Helvetica Neue"/>
              </a:defRPr>
            </a:pPr>
            <a:r>
              <a:rPr sz="788" b="0">
                <a:solidFill>
                  <a:srgbClr val="5E6470"/>
                </a:solidFill>
                <a:latin typeface="Helvetica Neue"/>
                <a:ea typeface="Helvetica Neue"/>
                <a:cs typeface="Helvetica Neue"/>
              </a:rPr>
              <a:t>Hao et al. (2026), Figures 2–5 &amp; Table 2  ·  ↑ / ↓ 表示强化 / 削弱象限贡献</a:t>
            </a:r>
          </a:p>
        </p:txBody>
      </p:sp>
      <p:sp>
        <p:nvSpPr>
          <p:cNvPr id="71" name="矩形 70">
            <a:extLst>
              <a:ext uri="{FF2B5EF4-FFF2-40B4-BE49-F238E27FC236}">
                <a16:creationId xmlns:a16="http://schemas.microsoft.com/office/drawing/2014/main" id="{D9CF59F3-3D5B-4D93-89A7-443E5C4C795F}"/>
              </a:ext>
            </a:extLst>
          </p:cNvPr>
          <p:cNvSpPr>
            <a:spLocks noGrp="1"/>
          </p:cNvSpPr>
          <p:nvPr/>
        </p:nvSpPr>
        <p:spPr>
          <a:xfrm>
            <a:off x="11334750" y="6362700"/>
            <a:ext cx="438150" cy="219075"/>
          </a:xfrm>
          <a:prstGeom prst="rect">
            <a:avLst/>
          </a:prstGeom>
          <a:noFill/>
          <a:ln w="0">
            <a:noFill/>
            <a:prstDash val="solid"/>
          </a:ln>
        </p:spPr>
        <p:txBody>
          <a:bodyPr wrap="square" lIns="0" tIns="0" rIns="0" bIns="0" anchor="t">
            <a:noAutofit/>
          </a:bodyPr>
          <a:lstStyle/>
          <a:p>
            <a:pPr algn="r">
              <a:buNone/>
              <a:defRPr sz="825" b="0">
                <a:solidFill>
                  <a:srgbClr val="5E6470"/>
                </a:solidFill>
                <a:latin typeface="Helvetica Neue"/>
                <a:ea typeface="Helvetica Neue"/>
                <a:cs typeface="Helvetica Neue"/>
              </a:defRPr>
            </a:pPr>
            <a:r>
              <a:rPr sz="825" b="0">
                <a:solidFill>
                  <a:srgbClr val="5E6470"/>
                </a:solidFill>
                <a:latin typeface="Helvetica Neue"/>
                <a:ea typeface="Helvetica Neue"/>
                <a:cs typeface="Helvetica Neue"/>
              </a:rPr>
              <a:t>09</a:t>
            </a:r>
          </a:p>
        </p:txBody>
      </p:sp>
      <p:graphicFrame>
        <p:nvGraphicFramePr>
          <p:cNvPr id="85" name="quadrant-method-mapping-table"/>
          <p:cNvGraphicFramePr/>
          <p:nvPr>
            <p:extLst>
              <p:ext uri="{D42A27DB-BD31-4B8C-83A1-F6EECF244321}">
                <p14:modId xmlns:p14="http://schemas.microsoft.com/office/powerpoint/2010/main" val="1550914372"/>
              </p:ext>
            </p:extLst>
          </p:nvPr>
        </p:nvGraphicFramePr>
        <p:xfrm>
          <a:off x="419100" y="1314452"/>
          <a:ext cx="11118301" cy="4238854"/>
        </p:xfrm>
        <a:graphic>
          <a:graphicData uri="http://schemas.openxmlformats.org/drawingml/2006/table">
            <a:tbl>
              <a:tblPr/>
              <a:tblGrid>
                <a:gridCol w="1714072">
                  <a:extLst>
                    <a:ext uri="{9D8B030D-6E8A-4147-A177-3AD203B41FA5}">
                      <a16:colId xmlns:a16="http://schemas.microsoft.com/office/drawing/2014/main" val="20000"/>
                    </a:ext>
                  </a:extLst>
                </a:gridCol>
                <a:gridCol w="1737235">
                  <a:extLst>
                    <a:ext uri="{9D8B030D-6E8A-4147-A177-3AD203B41FA5}">
                      <a16:colId xmlns:a16="http://schemas.microsoft.com/office/drawing/2014/main" val="20001"/>
                    </a:ext>
                  </a:extLst>
                </a:gridCol>
                <a:gridCol w="3011206">
                  <a:extLst>
                    <a:ext uri="{9D8B030D-6E8A-4147-A177-3AD203B41FA5}">
                      <a16:colId xmlns:a16="http://schemas.microsoft.com/office/drawing/2014/main" val="20002"/>
                    </a:ext>
                  </a:extLst>
                </a:gridCol>
                <a:gridCol w="2026774">
                  <a:extLst>
                    <a:ext uri="{9D8B030D-6E8A-4147-A177-3AD203B41FA5}">
                      <a16:colId xmlns:a16="http://schemas.microsoft.com/office/drawing/2014/main" val="20003"/>
                    </a:ext>
                  </a:extLst>
                </a:gridCol>
                <a:gridCol w="2629014">
                  <a:extLst>
                    <a:ext uri="{9D8B030D-6E8A-4147-A177-3AD203B41FA5}">
                      <a16:colId xmlns:a16="http://schemas.microsoft.com/office/drawing/2014/main" val="20004"/>
                    </a:ext>
                  </a:extLst>
                </a:gridCol>
              </a:tblGrid>
              <a:tr h="509590">
                <a:tc>
                  <a:txBody>
                    <a:bodyPr/>
                    <a:lstStyle/>
                    <a:p>
                      <a:pPr algn="l">
                        <a:buNone/>
                      </a:pPr>
                      <a:r>
                        <a:rPr sz="1300" b="1">
                          <a:solidFill>
                            <a:srgbClr val="FFFFFF"/>
                          </a:solidFill>
                          <a:latin typeface="Helvetica Neue"/>
                          <a:ea typeface="Helvetica Neue"/>
                          <a:cs typeface="Helvetica Neue"/>
                        </a:rPr>
                        <a:t>Method</a:t>
                      </a:r>
                    </a:p>
                  </a:txBody>
                  <a:tcPr marL="69489" marR="69489" marT="46326" marB="46326" anchor="ctr">
                    <a:solidFill>
                      <a:srgbClr val="101214"/>
                    </a:solidFill>
                  </a:tcPr>
                </a:tc>
                <a:tc>
                  <a:txBody>
                    <a:bodyPr/>
                    <a:lstStyle/>
                    <a:p>
                      <a:pPr algn="ctr">
                        <a:buNone/>
                      </a:pPr>
                      <a:r>
                        <a:rPr sz="1300" b="1">
                          <a:solidFill>
                            <a:srgbClr val="FFFFFF"/>
                          </a:solidFill>
                          <a:latin typeface="Helvetica Neue"/>
                          <a:ea typeface="Helvetica Neue"/>
                          <a:cs typeface="Helvetica Neue"/>
                        </a:rPr>
                        <a:t>四象限映射</a:t>
                      </a:r>
                    </a:p>
                  </a:txBody>
                  <a:tcPr marL="69489" marR="69489" marT="46326" marB="46326" anchor="ctr">
                    <a:solidFill>
                      <a:srgbClr val="101214"/>
                    </a:solidFill>
                  </a:tcPr>
                </a:tc>
                <a:tc>
                  <a:txBody>
                    <a:bodyPr/>
                    <a:lstStyle/>
                    <a:p>
                      <a:pPr algn="ctr">
                        <a:buNone/>
                      </a:pPr>
                      <a:r>
                        <a:rPr sz="1300" b="1">
                          <a:solidFill>
                            <a:srgbClr val="FFFFFF"/>
                          </a:solidFill>
                          <a:latin typeface="Helvetica Neue"/>
                          <a:ea typeface="Helvetica Neue"/>
                          <a:cs typeface="Helvetica Neue"/>
                        </a:rPr>
                        <a:t>具体动作</a:t>
                      </a:r>
                    </a:p>
                  </a:txBody>
                  <a:tcPr marL="69489" marR="69489" marT="46326" marB="46326" anchor="ctr">
                    <a:solidFill>
                      <a:srgbClr val="101214"/>
                    </a:solidFill>
                  </a:tcPr>
                </a:tc>
                <a:tc>
                  <a:txBody>
                    <a:bodyPr/>
                    <a:lstStyle/>
                    <a:p>
                      <a:pPr algn="ctr">
                        <a:buNone/>
                      </a:pPr>
                      <a:r>
                        <a:rPr sz="1300" b="1">
                          <a:solidFill>
                            <a:srgbClr val="FFFFFF"/>
                          </a:solidFill>
                          <a:latin typeface="Helvetica Neue"/>
                          <a:ea typeface="Helvetica Neue"/>
                          <a:cs typeface="Helvetica Neue"/>
                        </a:rPr>
                        <a:t>熵效应</a:t>
                      </a:r>
                    </a:p>
                  </a:txBody>
                  <a:tcPr marL="69489" marR="69489" marT="46326" marB="46326" anchor="ctr">
                    <a:solidFill>
                      <a:srgbClr val="101214"/>
                    </a:solidFill>
                  </a:tcPr>
                </a:tc>
                <a:tc>
                  <a:txBody>
                    <a:bodyPr/>
                    <a:lstStyle/>
                    <a:p>
                      <a:pPr algn="ctr">
                        <a:buNone/>
                      </a:pPr>
                      <a:r>
                        <a:rPr sz="1300" b="1">
                          <a:solidFill>
                            <a:srgbClr val="FFFFFF"/>
                          </a:solidFill>
                          <a:latin typeface="Helvetica Neue"/>
                          <a:ea typeface="Helvetica Neue"/>
                          <a:cs typeface="Helvetica Neue"/>
                        </a:rPr>
                        <a:t>论文指出的盲点</a:t>
                      </a:r>
                    </a:p>
                  </a:txBody>
                  <a:tcPr marL="69489" marR="69489" marT="46326" marB="46326" anchor="ctr">
                    <a:solidFill>
                      <a:srgbClr val="101214"/>
                    </a:solidFill>
                  </a:tcPr>
                </a:tc>
                <a:extLst>
                  <a:ext uri="{0D108BD9-81ED-4DB2-BD59-A6C34878D82A}">
                    <a16:rowId xmlns:a16="http://schemas.microsoft.com/office/drawing/2014/main" val="10000"/>
                  </a:ext>
                </a:extLst>
              </a:tr>
              <a:tr h="532752">
                <a:tc>
                  <a:txBody>
                    <a:bodyPr/>
                    <a:lstStyle/>
                    <a:p>
                      <a:pPr algn="l">
                        <a:buNone/>
                      </a:pPr>
                      <a:r>
                        <a:rPr sz="1200" b="1">
                          <a:solidFill>
                            <a:srgbClr val="2F3337"/>
                          </a:solidFill>
                          <a:latin typeface="Helvetica Neue"/>
                          <a:ea typeface="Helvetica Neue"/>
                          <a:cs typeface="Helvetica Neue"/>
                        </a:rPr>
                        <a:t>DAPO / clip-higher</a:t>
                      </a:r>
                    </a:p>
                  </a:txBody>
                  <a:tcPr marL="69489" marR="69489" marT="34745" marB="34745" anchor="ctr">
                    <a:solidFill>
                      <a:srgbClr val="F2F3F5"/>
                    </a:solidFill>
                  </a:tcPr>
                </a:tc>
                <a:tc>
                  <a:txBody>
                    <a:bodyPr/>
                    <a:lstStyle/>
                    <a:p>
                      <a:pPr algn="ctr">
                        <a:buNone/>
                      </a:pPr>
                      <a:r>
                        <a:rPr sz="1200" b="1">
                          <a:solidFill>
                            <a:srgbClr val="2F3337"/>
                          </a:solidFill>
                          <a:latin typeface="Hiragino Sans GB"/>
                          <a:ea typeface="Hiragino Sans GB"/>
                          <a:cs typeface="Hiragino Sans GB"/>
                        </a:rPr>
                        <a:t>II ↑</a:t>
                      </a:r>
                    </a:p>
                    <a:p>
                      <a:pPr algn="ctr">
                        <a:buNone/>
                      </a:pPr>
                      <a:r>
                        <a:rPr sz="1200" b="1">
                          <a:solidFill>
                            <a:srgbClr val="2F3337"/>
                          </a:solidFill>
                          <a:latin typeface="Hiragino Sans GB"/>
                          <a:ea typeface="Hiragino Sans GB"/>
                          <a:cs typeface="Hiragino Sans GB"/>
                        </a:rPr>
                        <a:t>εlow↑ → III ↑</a:t>
                      </a:r>
                    </a:p>
                  </a:txBody>
                  <a:tcPr marL="69489" marR="69489" marT="34745" marB="34745" anchor="ctr">
                    <a:solidFill>
                      <a:srgbClr val="F2F3F5"/>
                    </a:solidFill>
                  </a:tcPr>
                </a:tc>
                <a:tc>
                  <a:txBody>
                    <a:bodyPr/>
                    <a:lstStyle/>
                    <a:p>
                      <a:pPr algn="l">
                        <a:buNone/>
                      </a:pPr>
                      <a:r>
                        <a:rPr sz="1100">
                          <a:solidFill>
                            <a:srgbClr val="4E5969"/>
                          </a:solidFill>
                          <a:latin typeface="Hiragino Sans GB"/>
                          <a:ea typeface="Hiragino Sans GB"/>
                          <a:cs typeface="Hiragino Sans GB"/>
                        </a:rPr>
                        <a:t>放行低概率正样本；下界放宽也会放行低概率负样本</a:t>
                      </a:r>
                    </a:p>
                  </a:txBody>
                  <a:tcPr marL="69489" marR="69489" marT="34745" marB="34745" anchor="ctr">
                    <a:solidFill>
                      <a:srgbClr val="F2F3F5"/>
                    </a:solidFill>
                  </a:tcPr>
                </a:tc>
                <a:tc>
                  <a:txBody>
                    <a:bodyPr/>
                    <a:lstStyle/>
                    <a:p>
                      <a:pPr algn="l">
                        <a:buNone/>
                      </a:pPr>
                      <a:r>
                        <a:rPr sz="1100" b="0">
                          <a:solidFill>
                            <a:srgbClr val="4E5969"/>
                          </a:solidFill>
                          <a:latin typeface="Hiragino Sans GB"/>
                          <a:ea typeface="Hiragino Sans GB"/>
                          <a:cs typeface="Hiragino Sans GB"/>
                        </a:rPr>
                        <a:t>II↑：升熵</a:t>
                      </a:r>
                    </a:p>
                    <a:p>
                      <a:pPr algn="l">
                        <a:buNone/>
                      </a:pPr>
                      <a:r>
                        <a:rPr sz="1100" b="0">
                          <a:solidFill>
                            <a:srgbClr val="4E5969"/>
                          </a:solidFill>
                          <a:latin typeface="Hiragino Sans GB"/>
                          <a:ea typeface="Hiragino Sans GB"/>
                          <a:cs typeface="Hiragino Sans GB"/>
                        </a:rPr>
                        <a:t>III↑：降熵</a:t>
                      </a:r>
                    </a:p>
                  </a:txBody>
                  <a:tcPr marL="69489" marR="69489" marT="34745" marB="34745" anchor="ctr">
                    <a:solidFill>
                      <a:srgbClr val="F2F3F5"/>
                    </a:solidFill>
                  </a:tcPr>
                </a:tc>
                <a:tc>
                  <a:txBody>
                    <a:bodyPr/>
                    <a:lstStyle/>
                    <a:p>
                      <a:pPr algn="l">
                        <a:buNone/>
                      </a:pPr>
                      <a:r>
                        <a:rPr sz="1100">
                          <a:solidFill>
                            <a:srgbClr val="4E5969"/>
                          </a:solidFill>
                          <a:latin typeface="Hiragino Sans GB"/>
                          <a:ea typeface="Hiragino Sans GB"/>
                          <a:cs typeface="Hiragino Sans GB"/>
                        </a:rPr>
                        <a:t>只触达 clipping tokens；</a:t>
                      </a:r>
                    </a:p>
                    <a:p>
                      <a:pPr algn="l">
                        <a:buNone/>
                      </a:pPr>
                      <a:r>
                        <a:rPr sz="1100">
                          <a:solidFill>
                            <a:srgbClr val="4E5969"/>
                          </a:solidFill>
                          <a:latin typeface="Hiragino Sans GB"/>
                          <a:ea typeface="Hiragino Sans GB"/>
                          <a:cs typeface="Hiragino Sans GB"/>
                        </a:rPr>
                        <a:t>效果依赖阈值</a:t>
                      </a:r>
                    </a:p>
                  </a:txBody>
                  <a:tcPr marL="69489" marR="69489" marT="34745" marB="34745" anchor="ctr">
                    <a:solidFill>
                      <a:srgbClr val="F2F3F5"/>
                    </a:solidFill>
                  </a:tcPr>
                </a:tc>
                <a:extLst>
                  <a:ext uri="{0D108BD9-81ED-4DB2-BD59-A6C34878D82A}">
                    <a16:rowId xmlns:a16="http://schemas.microsoft.com/office/drawing/2014/main" val="10001"/>
                  </a:ext>
                </a:extLst>
              </a:tr>
              <a:tr h="532752">
                <a:tc>
                  <a:txBody>
                    <a:bodyPr/>
                    <a:lstStyle/>
                    <a:p>
                      <a:pPr algn="l">
                        <a:buNone/>
                      </a:pPr>
                      <a:r>
                        <a:rPr sz="1200" b="1">
                          <a:solidFill>
                            <a:srgbClr val="2F3337"/>
                          </a:solidFill>
                          <a:latin typeface="Helvetica Neue"/>
                          <a:ea typeface="Helvetica Neue"/>
                          <a:cs typeface="Helvetica Neue"/>
                        </a:rPr>
                        <a:t>Unlikeliness</a:t>
                      </a:r>
                    </a:p>
                  </a:txBody>
                  <a:tcPr marL="69489" marR="69489" marT="34745" marB="34745" anchor="ctr">
                    <a:solidFill>
                      <a:srgbClr val="FFFFFF"/>
                    </a:solidFill>
                  </a:tcPr>
                </a:tc>
                <a:tc>
                  <a:txBody>
                    <a:bodyPr/>
                    <a:lstStyle/>
                    <a:p>
                      <a:pPr algn="ctr">
                        <a:buNone/>
                      </a:pPr>
                      <a:r>
                        <a:rPr sz="1200" b="1">
                          <a:solidFill>
                            <a:srgbClr val="2F3337"/>
                          </a:solidFill>
                          <a:latin typeface="Hiragino Sans GB"/>
                          <a:ea typeface="Hiragino Sans GB"/>
                          <a:cs typeface="Hiragino Sans GB"/>
                        </a:rPr>
                        <a:t>II ↑ + I ↓</a:t>
                      </a:r>
                    </a:p>
                  </a:txBody>
                  <a:tcPr marL="69489" marR="69489" marT="34745" marB="34745" anchor="ctr">
                    <a:solidFill>
                      <a:srgbClr val="FFFFFF"/>
                    </a:solidFill>
                  </a:tcPr>
                </a:tc>
                <a:tc>
                  <a:txBody>
                    <a:bodyPr/>
                    <a:lstStyle/>
                    <a:p>
                      <a:pPr algn="l">
                        <a:buNone/>
                      </a:pPr>
                      <a:r>
                        <a:rPr sz="1100">
                          <a:solidFill>
                            <a:srgbClr val="4E5969"/>
                          </a:solidFill>
                          <a:latin typeface="Hiragino Sans GB"/>
                          <a:ea typeface="Hiragino Sans GB"/>
                          <a:cs typeface="Hiragino Sans GB"/>
                        </a:rPr>
                        <a:t>提高 rare-correct；</a:t>
                      </a:r>
                    </a:p>
                    <a:p>
                      <a:pPr algn="l">
                        <a:buNone/>
                      </a:pPr>
                      <a:r>
                        <a:rPr sz="1100">
                          <a:solidFill>
                            <a:srgbClr val="4E5969"/>
                          </a:solidFill>
                          <a:latin typeface="Hiragino Sans GB"/>
                          <a:ea typeface="Hiragino Sans GB"/>
                          <a:cs typeface="Hiragino Sans GB"/>
                        </a:rPr>
                        <a:t>压低 common-correct</a:t>
                      </a:r>
                    </a:p>
                  </a:txBody>
                  <a:tcPr marL="69489" marR="69489" marT="34745" marB="34745" anchor="ctr">
                    <a:solidFill>
                      <a:srgbClr val="FFFFFF"/>
                    </a:solidFill>
                  </a:tcPr>
                </a:tc>
                <a:tc>
                  <a:txBody>
                    <a:bodyPr/>
                    <a:lstStyle/>
                    <a:p>
                      <a:pPr algn="l">
                        <a:buNone/>
                      </a:pPr>
                      <a:r>
                        <a:rPr sz="1100" b="0">
                          <a:solidFill>
                            <a:srgbClr val="2787F5"/>
                          </a:solidFill>
                          <a:latin typeface="Hiragino Sans GB"/>
                          <a:ea typeface="Hiragino Sans GB"/>
                          <a:cs typeface="Hiragino Sans GB"/>
                        </a:rPr>
                        <a:t>两种动作都推高 H</a:t>
                      </a:r>
                    </a:p>
                  </a:txBody>
                  <a:tcPr marL="69489" marR="69489" marT="34745" marB="34745" anchor="ctr">
                    <a:solidFill>
                      <a:srgbClr val="FFFFFF"/>
                    </a:solidFill>
                  </a:tcPr>
                </a:tc>
                <a:tc>
                  <a:txBody>
                    <a:bodyPr/>
                    <a:lstStyle/>
                    <a:p>
                      <a:pPr algn="l">
                        <a:buNone/>
                      </a:pPr>
                      <a:r>
                        <a:rPr sz="1100">
                          <a:solidFill>
                            <a:srgbClr val="4E5969"/>
                          </a:solidFill>
                          <a:latin typeface="Hiragino Sans GB"/>
                          <a:ea typeface="Hiragino Sans GB"/>
                          <a:cs typeface="Hiragino Sans GB"/>
                        </a:rPr>
                        <a:t>只重加权 positive tokens</a:t>
                      </a:r>
                    </a:p>
                  </a:txBody>
                  <a:tcPr marL="69489" marR="69489" marT="34745" marB="34745" anchor="ctr">
                    <a:solidFill>
                      <a:srgbClr val="FFFFFF"/>
                    </a:solidFill>
                  </a:tcPr>
                </a:tc>
                <a:extLst>
                  <a:ext uri="{0D108BD9-81ED-4DB2-BD59-A6C34878D82A}">
                    <a16:rowId xmlns:a16="http://schemas.microsoft.com/office/drawing/2014/main" val="10002"/>
                  </a:ext>
                </a:extLst>
              </a:tr>
              <a:tr h="532752">
                <a:tc>
                  <a:txBody>
                    <a:bodyPr/>
                    <a:lstStyle/>
                    <a:p>
                      <a:pPr algn="l">
                        <a:buNone/>
                      </a:pPr>
                      <a:r>
                        <a:rPr sz="1200" b="1">
                          <a:solidFill>
                            <a:srgbClr val="2F3337"/>
                          </a:solidFill>
                          <a:latin typeface="Helvetica Neue"/>
                          <a:ea typeface="Helvetica Neue"/>
                          <a:cs typeface="Helvetica Neue"/>
                        </a:rPr>
                        <a:t>W-REINFORCE</a:t>
                      </a:r>
                    </a:p>
                  </a:txBody>
                  <a:tcPr marL="69489" marR="69489" marT="34745" marB="34745" anchor="ctr">
                    <a:solidFill>
                      <a:srgbClr val="F2F3F5"/>
                    </a:solidFill>
                  </a:tcPr>
                </a:tc>
                <a:tc>
                  <a:txBody>
                    <a:bodyPr/>
                    <a:lstStyle/>
                    <a:p>
                      <a:pPr algn="ctr">
                        <a:buNone/>
                      </a:pPr>
                      <a:r>
                        <a:rPr sz="1200" b="1">
                          <a:solidFill>
                            <a:srgbClr val="2F3337"/>
                          </a:solidFill>
                          <a:latin typeface="Hiragino Sans GB"/>
                          <a:ea typeface="Hiragino Sans GB"/>
                          <a:cs typeface="Hiragino Sans GB"/>
                        </a:rPr>
                        <a:t>I ↓（主）</a:t>
                      </a:r>
                    </a:p>
                    <a:p>
                      <a:pPr algn="ctr">
                        <a:buNone/>
                      </a:pPr>
                      <a:r>
                        <a:rPr sz="1200" b="1">
                          <a:solidFill>
                            <a:srgbClr val="2F3337"/>
                          </a:solidFill>
                          <a:latin typeface="Hiragino Sans GB"/>
                          <a:ea typeface="Hiragino Sans GB"/>
                          <a:cs typeface="Hiragino Sans GB"/>
                        </a:rPr>
                        <a:t>II ↓</a:t>
                      </a:r>
                    </a:p>
                  </a:txBody>
                  <a:tcPr marL="69489" marR="69489" marT="34745" marB="34745" anchor="ctr">
                    <a:solidFill>
                      <a:srgbClr val="F2F3F5"/>
                    </a:solidFill>
                  </a:tcPr>
                </a:tc>
                <a:tc>
                  <a:txBody>
                    <a:bodyPr/>
                    <a:lstStyle/>
                    <a:p>
                      <a:pPr algn="l">
                        <a:buNone/>
                      </a:pPr>
                      <a:r>
                        <a:rPr sz="1100">
                          <a:solidFill>
                            <a:srgbClr val="4E5969"/>
                          </a:solidFill>
                          <a:latin typeface="Hiragino Sans GB"/>
                          <a:ea typeface="Hiragino Sans GB"/>
                          <a:cs typeface="Hiragino Sans GB"/>
                        </a:rPr>
                        <a:t>全部正样本降权；</a:t>
                      </a:r>
                    </a:p>
                    <a:p>
                      <a:pPr algn="l">
                        <a:buNone/>
                      </a:pPr>
                      <a:r>
                        <a:rPr sz="1100">
                          <a:solidFill>
                            <a:srgbClr val="4E5969"/>
                          </a:solidFill>
                          <a:latin typeface="Hiragino Sans GB"/>
                          <a:ea typeface="Hiragino Sans GB"/>
                          <a:cs typeface="Hiragino Sans GB"/>
                        </a:rPr>
                        <a:t>高概率 token 主导采样</a:t>
                      </a:r>
                    </a:p>
                  </a:txBody>
                  <a:tcPr marL="69489" marR="69489" marT="34745" marB="34745" anchor="ctr">
                    <a:solidFill>
                      <a:srgbClr val="F2F3F5"/>
                    </a:solidFill>
                  </a:tcPr>
                </a:tc>
                <a:tc>
                  <a:txBody>
                    <a:bodyPr/>
                    <a:lstStyle/>
                    <a:p>
                      <a:pPr algn="l">
                        <a:buNone/>
                      </a:pPr>
                      <a:r>
                        <a:rPr sz="1100" b="0">
                          <a:solidFill>
                            <a:srgbClr val="2787F5"/>
                          </a:solidFill>
                          <a:latin typeface="Hiragino Sans GB"/>
                          <a:ea typeface="Hiragino Sans GB"/>
                          <a:cs typeface="Hiragino Sans GB"/>
                        </a:rPr>
                        <a:t>通常升熵：主要削弱 I</a:t>
                      </a:r>
                    </a:p>
                  </a:txBody>
                  <a:tcPr marL="69489" marR="69489" marT="34745" marB="34745" anchor="ctr">
                    <a:solidFill>
                      <a:srgbClr val="F2F3F5"/>
                    </a:solidFill>
                  </a:tcPr>
                </a:tc>
                <a:tc>
                  <a:txBody>
                    <a:bodyPr/>
                    <a:lstStyle/>
                    <a:p>
                      <a:pPr algn="l">
                        <a:buNone/>
                      </a:pPr>
                      <a:r>
                        <a:rPr sz="1100">
                          <a:solidFill>
                            <a:srgbClr val="4E5969"/>
                          </a:solidFill>
                          <a:latin typeface="Hiragino Sans GB"/>
                          <a:ea typeface="Hiragino Sans GB"/>
                          <a:cs typeface="Hiragino Sans GB"/>
                        </a:rPr>
                        <a:t>同时削弱 II 的探索</a:t>
                      </a:r>
                    </a:p>
                  </a:txBody>
                  <a:tcPr marL="69489" marR="69489" marT="34745" marB="34745" anchor="ctr">
                    <a:solidFill>
                      <a:srgbClr val="F2F3F5"/>
                    </a:solidFill>
                  </a:tcPr>
                </a:tc>
                <a:extLst>
                  <a:ext uri="{0D108BD9-81ED-4DB2-BD59-A6C34878D82A}">
                    <a16:rowId xmlns:a16="http://schemas.microsoft.com/office/drawing/2014/main" val="10003"/>
                  </a:ext>
                </a:extLst>
              </a:tr>
              <a:tr h="532752">
                <a:tc>
                  <a:txBody>
                    <a:bodyPr/>
                    <a:lstStyle/>
                    <a:p>
                      <a:pPr algn="l">
                        <a:buNone/>
                      </a:pPr>
                      <a:r>
                        <a:rPr sz="1200" b="1">
                          <a:solidFill>
                            <a:srgbClr val="2F3337"/>
                          </a:solidFill>
                          <a:latin typeface="Helvetica Neue"/>
                          <a:ea typeface="Helvetica Neue"/>
                          <a:cs typeface="Helvetica Neue"/>
                        </a:rPr>
                        <a:t>Entro.Adv. / GTPO</a:t>
                      </a:r>
                    </a:p>
                  </a:txBody>
                  <a:tcPr marL="69489" marR="69489" marT="34745" marB="34745" anchor="ctr">
                    <a:solidFill>
                      <a:srgbClr val="FFFFFF"/>
                    </a:solidFill>
                  </a:tcPr>
                </a:tc>
                <a:tc>
                  <a:txBody>
                    <a:bodyPr/>
                    <a:lstStyle/>
                    <a:p>
                      <a:pPr algn="ctr">
                        <a:buNone/>
                      </a:pPr>
                      <a:r>
                        <a:rPr sz="1200" b="1">
                          <a:solidFill>
                            <a:srgbClr val="F59E0B"/>
                          </a:solidFill>
                          <a:latin typeface="Hiragino Sans GB"/>
                          <a:ea typeface="Hiragino Sans GB"/>
                          <a:cs typeface="Hiragino Sans GB"/>
                        </a:rPr>
                        <a:t>I–IV：|ΔH| ↑</a:t>
                      </a:r>
                    </a:p>
                  </a:txBody>
                  <a:tcPr marL="69489" marR="69489" marT="34745" marB="34745" anchor="ctr">
                    <a:solidFill>
                      <a:srgbClr val="FFFFFF"/>
                    </a:solidFill>
                  </a:tcPr>
                </a:tc>
                <a:tc>
                  <a:txBody>
                    <a:bodyPr/>
                    <a:lstStyle/>
                    <a:p>
                      <a:pPr algn="l">
                        <a:buNone/>
                      </a:pPr>
                      <a:r>
                        <a:rPr sz="1100">
                          <a:solidFill>
                            <a:srgbClr val="4E5969"/>
                          </a:solidFill>
                          <a:latin typeface="Hiragino Sans GB"/>
                          <a:ea typeface="Hiragino Sans GB"/>
                          <a:cs typeface="Hiragino Sans GB"/>
                        </a:rPr>
                        <a:t>高 H token 获得更大 A</a:t>
                      </a:r>
                    </a:p>
                  </a:txBody>
                  <a:tcPr marL="69489" marR="69489" marT="34745" marB="34745" anchor="ctr">
                    <a:solidFill>
                      <a:srgbClr val="FFFFFF"/>
                    </a:solidFill>
                  </a:tcPr>
                </a:tc>
                <a:tc>
                  <a:txBody>
                    <a:bodyPr/>
                    <a:lstStyle/>
                    <a:p>
                      <a:pPr algn="l">
                        <a:buNone/>
                      </a:pPr>
                      <a:r>
                        <a:rPr sz="1100" b="0">
                          <a:solidFill>
                            <a:srgbClr val="F59E0B"/>
                          </a:solidFill>
                          <a:latin typeface="Hiragino Sans GB"/>
                          <a:ea typeface="Hiragino Sans GB"/>
                          <a:cs typeface="Hiragino Sans GB"/>
                        </a:rPr>
                        <a:t>方向不定；降熵期会加速坍缩</a:t>
                      </a:r>
                    </a:p>
                  </a:txBody>
                  <a:tcPr marL="69489" marR="69489" marT="34745" marB="34745" anchor="ctr">
                    <a:solidFill>
                      <a:srgbClr val="FFFFFF"/>
                    </a:solidFill>
                  </a:tcPr>
                </a:tc>
                <a:tc>
                  <a:txBody>
                    <a:bodyPr/>
                    <a:lstStyle/>
                    <a:p>
                      <a:pPr algn="l">
                        <a:buNone/>
                      </a:pPr>
                      <a:r>
                        <a:rPr sz="1100">
                          <a:solidFill>
                            <a:srgbClr val="4E5969"/>
                          </a:solidFill>
                          <a:latin typeface="Hiragino Sans GB"/>
                          <a:ea typeface="Hiragino Sans GB"/>
                          <a:cs typeface="Hiragino Sans GB"/>
                        </a:rPr>
                        <a:t>放大幅度，</a:t>
                      </a:r>
                    </a:p>
                    <a:p>
                      <a:pPr algn="l">
                        <a:buNone/>
                      </a:pPr>
                      <a:r>
                        <a:rPr sz="1100">
                          <a:solidFill>
                            <a:srgbClr val="4E5969"/>
                          </a:solidFill>
                          <a:latin typeface="Hiragino Sans GB"/>
                          <a:ea typeface="Hiragino Sans GB"/>
                          <a:cs typeface="Hiragino Sans GB"/>
                        </a:rPr>
                        <a:t>不控制 signed ΔH</a:t>
                      </a:r>
                    </a:p>
                  </a:txBody>
                  <a:tcPr marL="69489" marR="69489" marT="34745" marB="34745" anchor="ctr">
                    <a:solidFill>
                      <a:srgbClr val="FFFFFF"/>
                    </a:solidFill>
                  </a:tcPr>
                </a:tc>
                <a:extLst>
                  <a:ext uri="{0D108BD9-81ED-4DB2-BD59-A6C34878D82A}">
                    <a16:rowId xmlns:a16="http://schemas.microsoft.com/office/drawing/2014/main" val="10004"/>
                  </a:ext>
                </a:extLst>
              </a:tr>
              <a:tr h="532752">
                <a:tc>
                  <a:txBody>
                    <a:bodyPr/>
                    <a:lstStyle/>
                    <a:p>
                      <a:pPr algn="l">
                        <a:buNone/>
                      </a:pPr>
                      <a:r>
                        <a:rPr sz="1200" b="1">
                          <a:solidFill>
                            <a:srgbClr val="2F3337"/>
                          </a:solidFill>
                          <a:latin typeface="Helvetica Neue"/>
                          <a:ea typeface="Helvetica Neue"/>
                          <a:cs typeface="Helvetica Neue"/>
                        </a:rPr>
                        <a:t>Entropy Reg.</a:t>
                      </a:r>
                    </a:p>
                  </a:txBody>
                  <a:tcPr marL="69489" marR="69489" marT="34745" marB="34745" anchor="ctr">
                    <a:solidFill>
                      <a:srgbClr val="F2F3F5"/>
                    </a:solidFill>
                  </a:tcPr>
                </a:tc>
                <a:tc>
                  <a:txBody>
                    <a:bodyPr/>
                    <a:lstStyle/>
                    <a:p>
                      <a:pPr algn="ctr">
                        <a:buNone/>
                      </a:pPr>
                      <a:r>
                        <a:rPr sz="1200" b="1">
                          <a:solidFill>
                            <a:srgbClr val="2F3337"/>
                          </a:solidFill>
                          <a:latin typeface="Hiragino Sans GB"/>
                          <a:ea typeface="Hiragino Sans GB"/>
                          <a:cs typeface="Hiragino Sans GB"/>
                        </a:rPr>
                        <a:t>I–IV（全局）</a:t>
                      </a:r>
                    </a:p>
                  </a:txBody>
                  <a:tcPr marL="69489" marR="69489" marT="34745" marB="34745" anchor="ctr">
                    <a:solidFill>
                      <a:srgbClr val="F2F3F5"/>
                    </a:solidFill>
                  </a:tcPr>
                </a:tc>
                <a:tc>
                  <a:txBody>
                    <a:bodyPr/>
                    <a:lstStyle/>
                    <a:p>
                      <a:pPr algn="l">
                        <a:buNone/>
                      </a:pPr>
                      <a:r>
                        <a:rPr sz="1100">
                          <a:solidFill>
                            <a:srgbClr val="4E5969"/>
                          </a:solidFill>
                          <a:latin typeface="Hiragino Sans GB"/>
                          <a:ea typeface="Hiragino Sans GB"/>
                          <a:cs typeface="Hiragino Sans GB"/>
                        </a:rPr>
                        <a:t>loss 加全局 entropy bonus</a:t>
                      </a:r>
                    </a:p>
                  </a:txBody>
                  <a:tcPr marL="69489" marR="69489" marT="34745" marB="34745" anchor="ctr">
                    <a:solidFill>
                      <a:srgbClr val="F2F3F5"/>
                    </a:solidFill>
                  </a:tcPr>
                </a:tc>
                <a:tc>
                  <a:txBody>
                    <a:bodyPr/>
                    <a:lstStyle/>
                    <a:p>
                      <a:pPr algn="l">
                        <a:buNone/>
                      </a:pPr>
                      <a:r>
                        <a:rPr sz="1100" b="0">
                          <a:solidFill>
                            <a:srgbClr val="2787F5"/>
                          </a:solidFill>
                          <a:latin typeface="Hiragino Sans GB"/>
                          <a:ea typeface="Hiragino Sans GB"/>
                          <a:cs typeface="Hiragino Sans GB"/>
                        </a:rPr>
                        <a:t>整体升熵；可能爆熵</a:t>
                      </a:r>
                    </a:p>
                  </a:txBody>
                  <a:tcPr marL="69489" marR="69489" marT="34745" marB="34745" anchor="ctr">
                    <a:solidFill>
                      <a:srgbClr val="F2F3F5"/>
                    </a:solidFill>
                  </a:tcPr>
                </a:tc>
                <a:tc>
                  <a:txBody>
                    <a:bodyPr/>
                    <a:lstStyle/>
                    <a:p>
                      <a:pPr algn="l">
                        <a:buNone/>
                      </a:pPr>
                      <a:r>
                        <a:rPr sz="1100" dirty="0" err="1">
                          <a:solidFill>
                            <a:srgbClr val="4E5969"/>
                          </a:solidFill>
                          <a:latin typeface="Hiragino Sans GB"/>
                          <a:ea typeface="Hiragino Sans GB"/>
                          <a:cs typeface="Hiragino Sans GB"/>
                        </a:rPr>
                        <a:t>不区分</a:t>
                      </a:r>
                      <a:r>
                        <a:rPr sz="1100" dirty="0">
                          <a:solidFill>
                            <a:srgbClr val="4E5969"/>
                          </a:solidFill>
                          <a:latin typeface="Hiragino Sans GB"/>
                          <a:ea typeface="Hiragino Sans GB"/>
                          <a:cs typeface="Hiragino Sans GB"/>
                        </a:rPr>
                        <a:t> token / </a:t>
                      </a:r>
                      <a:r>
                        <a:rPr sz="1100" dirty="0" err="1">
                          <a:solidFill>
                            <a:srgbClr val="4E5969"/>
                          </a:solidFill>
                          <a:latin typeface="Hiragino Sans GB"/>
                          <a:ea typeface="Hiragino Sans GB"/>
                          <a:cs typeface="Hiragino Sans GB"/>
                        </a:rPr>
                        <a:t>象限</a:t>
                      </a:r>
                      <a:endParaRPr sz="1100" dirty="0">
                        <a:solidFill>
                          <a:srgbClr val="4E5969"/>
                        </a:solidFill>
                        <a:latin typeface="Hiragino Sans GB"/>
                        <a:ea typeface="Hiragino Sans GB"/>
                        <a:cs typeface="Hiragino Sans GB"/>
                      </a:endParaRPr>
                    </a:p>
                  </a:txBody>
                  <a:tcPr marL="69489" marR="69489" marT="34745" marB="34745" anchor="ctr">
                    <a:solidFill>
                      <a:srgbClr val="F2F3F5"/>
                    </a:solidFill>
                  </a:tcPr>
                </a:tc>
                <a:extLst>
                  <a:ext uri="{0D108BD9-81ED-4DB2-BD59-A6C34878D82A}">
                    <a16:rowId xmlns:a16="http://schemas.microsoft.com/office/drawing/2014/main" val="10005"/>
                  </a:ext>
                </a:extLst>
              </a:tr>
              <a:tr h="532752">
                <a:tc>
                  <a:txBody>
                    <a:bodyPr/>
                    <a:lstStyle/>
                    <a:p>
                      <a:pPr algn="l">
                        <a:buNone/>
                      </a:pPr>
                      <a:r>
                        <a:rPr sz="1200" b="1">
                          <a:solidFill>
                            <a:srgbClr val="2F3337"/>
                          </a:solidFill>
                          <a:latin typeface="Helvetica Neue"/>
                          <a:ea typeface="Helvetica Neue"/>
                          <a:cs typeface="Helvetica Neue"/>
                        </a:rPr>
                        <a:t>Clip-Cov</a:t>
                      </a:r>
                    </a:p>
                  </a:txBody>
                  <a:tcPr marL="69489" marR="69489" marT="34745" marB="34745" anchor="ctr">
                    <a:solidFill>
                      <a:srgbClr val="FFFFFF"/>
                    </a:solidFill>
                  </a:tcPr>
                </a:tc>
                <a:tc>
                  <a:txBody>
                    <a:bodyPr/>
                    <a:lstStyle/>
                    <a:p>
                      <a:pPr algn="ctr">
                        <a:buNone/>
                      </a:pPr>
                      <a:r>
                        <a:rPr sz="1200" b="1">
                          <a:solidFill>
                            <a:srgbClr val="2F3337"/>
                          </a:solidFill>
                          <a:latin typeface="Hiragino Sans GB"/>
                          <a:ea typeface="Hiragino Sans GB"/>
                          <a:cs typeface="Hiragino Sans GB"/>
                        </a:rPr>
                        <a:t>I ↓ + III ↓</a:t>
                      </a:r>
                    </a:p>
                  </a:txBody>
                  <a:tcPr marL="69489" marR="69489" marT="34745" marB="34745" anchor="ctr">
                    <a:solidFill>
                      <a:srgbClr val="FFFFFF"/>
                    </a:solidFill>
                  </a:tcPr>
                </a:tc>
                <a:tc>
                  <a:txBody>
                    <a:bodyPr/>
                    <a:lstStyle/>
                    <a:p>
                      <a:pPr algn="l">
                        <a:buNone/>
                      </a:pPr>
                      <a:r>
                        <a:rPr sz="1100">
                          <a:solidFill>
                            <a:srgbClr val="4E5969"/>
                          </a:solidFill>
                          <a:latin typeface="Hiragino Sans GB"/>
                          <a:ea typeface="Hiragino Sans GB"/>
                          <a:cs typeface="Hiragino Sans GB"/>
                        </a:rPr>
                        <a:t>约束估计为大幅降熵的</a:t>
                      </a:r>
                    </a:p>
                    <a:p>
                      <a:pPr algn="l">
                        <a:buNone/>
                      </a:pPr>
                      <a:r>
                        <a:rPr sz="1100">
                          <a:solidFill>
                            <a:srgbClr val="4E5969"/>
                          </a:solidFill>
                          <a:latin typeface="Hiragino Sans GB"/>
                          <a:ea typeface="Hiragino Sans GB"/>
                          <a:cs typeface="Hiragino Sans GB"/>
                        </a:rPr>
                        <a:t>少量 token</a:t>
                      </a:r>
                    </a:p>
                  </a:txBody>
                  <a:tcPr marL="69489" marR="69489" marT="34745" marB="34745" anchor="ctr">
                    <a:solidFill>
                      <a:srgbClr val="FFFFFF"/>
                    </a:solidFill>
                  </a:tcPr>
                </a:tc>
                <a:tc>
                  <a:txBody>
                    <a:bodyPr/>
                    <a:lstStyle/>
                    <a:p>
                      <a:pPr algn="l">
                        <a:buNone/>
                      </a:pPr>
                      <a:r>
                        <a:rPr sz="1100" b="0">
                          <a:solidFill>
                            <a:srgbClr val="2787F5"/>
                          </a:solidFill>
                          <a:latin typeface="Hiragino Sans GB"/>
                          <a:ea typeface="Hiragino Sans GB"/>
                          <a:cs typeface="Hiragino Sans GB"/>
                        </a:rPr>
                        <a:t>削弱两类降熵贡献</a:t>
                      </a:r>
                    </a:p>
                  </a:txBody>
                  <a:tcPr marL="69489" marR="69489" marT="34745" marB="34745" anchor="ctr">
                    <a:solidFill>
                      <a:srgbClr val="FFFFFF"/>
                    </a:solidFill>
                  </a:tcPr>
                </a:tc>
                <a:tc>
                  <a:txBody>
                    <a:bodyPr/>
                    <a:lstStyle/>
                    <a:p>
                      <a:pPr algn="l">
                        <a:buNone/>
                      </a:pPr>
                      <a:r>
                        <a:rPr sz="1100">
                          <a:solidFill>
                            <a:srgbClr val="4E5969"/>
                          </a:solidFill>
                          <a:latin typeface="Hiragino Sans GB"/>
                          <a:ea typeface="Hiragino Sans GB"/>
                          <a:cs typeface="Hiragino Sans GB"/>
                        </a:rPr>
                        <a:t>Cov 估计偏差；</a:t>
                      </a:r>
                    </a:p>
                    <a:p>
                      <a:pPr algn="l">
                        <a:buNone/>
                      </a:pPr>
                      <a:r>
                        <a:rPr sz="1100">
                          <a:solidFill>
                            <a:srgbClr val="4E5969"/>
                          </a:solidFill>
                          <a:latin typeface="Hiragino Sans GB"/>
                          <a:ea typeface="Hiragino Sans GB"/>
                          <a:cs typeface="Hiragino Sans GB"/>
                        </a:rPr>
                        <a:t>覆盖 token 极少</a:t>
                      </a:r>
                    </a:p>
                  </a:txBody>
                  <a:tcPr marL="69489" marR="69489" marT="34745" marB="34745" anchor="ctr">
                    <a:solidFill>
                      <a:srgbClr val="FFFFFF"/>
                    </a:solidFill>
                  </a:tcPr>
                </a:tc>
                <a:extLst>
                  <a:ext uri="{0D108BD9-81ED-4DB2-BD59-A6C34878D82A}">
                    <a16:rowId xmlns:a16="http://schemas.microsoft.com/office/drawing/2014/main" val="10006"/>
                  </a:ext>
                </a:extLst>
              </a:tr>
              <a:tr h="532752">
                <a:tc>
                  <a:txBody>
                    <a:bodyPr/>
                    <a:lstStyle/>
                    <a:p>
                      <a:pPr algn="l">
                        <a:buNone/>
                      </a:pPr>
                      <a:r>
                        <a:rPr sz="1200" b="1">
                          <a:solidFill>
                            <a:srgbClr val="2787F5"/>
                          </a:solidFill>
                          <a:latin typeface="Helvetica Neue"/>
                          <a:ea typeface="Helvetica Neue"/>
                          <a:cs typeface="Helvetica Neue"/>
                        </a:rPr>
                        <a:t>STEER</a:t>
                      </a:r>
                    </a:p>
                  </a:txBody>
                  <a:tcPr marL="69489" marR="69489" marT="34745" marB="34745" anchor="ctr">
                    <a:solidFill>
                      <a:srgbClr val="E8F4FB"/>
                    </a:solidFill>
                  </a:tcPr>
                </a:tc>
                <a:tc>
                  <a:txBody>
                    <a:bodyPr/>
                    <a:lstStyle/>
                    <a:p>
                      <a:pPr algn="ctr">
                        <a:buNone/>
                      </a:pPr>
                      <a:r>
                        <a:rPr sz="1200" b="1">
                          <a:solidFill>
                            <a:srgbClr val="2787F5"/>
                          </a:solidFill>
                          <a:latin typeface="Hiragino Sans GB"/>
                          <a:ea typeface="Hiragino Sans GB"/>
                          <a:cs typeface="Hiragino Sans GB"/>
                        </a:rPr>
                        <a:t>I–IV：大 |Ω| ↓</a:t>
                      </a:r>
                    </a:p>
                  </a:txBody>
                  <a:tcPr marL="69489" marR="69489" marT="34745" marB="34745" anchor="ctr">
                    <a:solidFill>
                      <a:srgbClr val="E8F4FB"/>
                    </a:solidFill>
                  </a:tcPr>
                </a:tc>
                <a:tc>
                  <a:txBody>
                    <a:bodyPr/>
                    <a:lstStyle/>
                    <a:p>
                      <a:pPr algn="l">
                        <a:buNone/>
                      </a:pPr>
                      <a:r>
                        <a:rPr sz="1100">
                          <a:solidFill>
                            <a:srgbClr val="4E5969"/>
                          </a:solidFill>
                          <a:latin typeface="Hiragino Sans GB"/>
                          <a:ea typeface="Hiragino Sans GB"/>
                          <a:cs typeface="Hiragino Sans GB"/>
                        </a:rPr>
                        <a:t>联合 Iclip、πθ、A、H(s)</a:t>
                      </a:r>
                    </a:p>
                    <a:p>
                      <a:pPr algn="l">
                        <a:buNone/>
                      </a:pPr>
                      <a:r>
                        <a:rPr sz="1100">
                          <a:solidFill>
                            <a:srgbClr val="4E5969"/>
                          </a:solidFill>
                          <a:latin typeface="Hiragino Sans GB"/>
                          <a:ea typeface="Hiragino Sans GB"/>
                          <a:cs typeface="Hiragino Sans GB"/>
                        </a:rPr>
                        <a:t>估计 ΔH 并衰减权重</a:t>
                      </a:r>
                    </a:p>
                  </a:txBody>
                  <a:tcPr marL="69489" marR="69489" marT="34745" marB="34745" anchor="ctr">
                    <a:solidFill>
                      <a:srgbClr val="E8F4FB"/>
                    </a:solidFill>
                  </a:tcPr>
                </a:tc>
                <a:tc>
                  <a:txBody>
                    <a:bodyPr/>
                    <a:lstStyle/>
                    <a:p>
                      <a:pPr algn="l">
                        <a:buNone/>
                      </a:pPr>
                      <a:r>
                        <a:rPr sz="1100" b="1">
                          <a:solidFill>
                            <a:srgbClr val="2787F5"/>
                          </a:solidFill>
                          <a:latin typeface="Hiragino Sans GB"/>
                          <a:ea typeface="Hiragino Sans GB"/>
                          <a:cs typeface="Hiragino Sans GB"/>
                        </a:rPr>
                        <a:t>同时防坍缩与爆熵</a:t>
                      </a:r>
                    </a:p>
                  </a:txBody>
                  <a:tcPr marL="69489" marR="69489" marT="34745" marB="34745" anchor="ctr">
                    <a:solidFill>
                      <a:srgbClr val="E8F4FB"/>
                    </a:solidFill>
                  </a:tcPr>
                </a:tc>
                <a:tc>
                  <a:txBody>
                    <a:bodyPr/>
                    <a:lstStyle/>
                    <a:p>
                      <a:pPr algn="l">
                        <a:buNone/>
                      </a:pPr>
                      <a:r>
                        <a:rPr sz="1100" dirty="0" err="1">
                          <a:solidFill>
                            <a:srgbClr val="4E5969"/>
                          </a:solidFill>
                          <a:latin typeface="Hiragino Sans GB"/>
                          <a:ea typeface="Hiragino Sans GB"/>
                          <a:cs typeface="Hiragino Sans GB"/>
                        </a:rPr>
                        <a:t>需估计</a:t>
                      </a:r>
                      <a:r>
                        <a:rPr sz="1100" dirty="0">
                          <a:solidFill>
                            <a:srgbClr val="4E5969"/>
                          </a:solidFill>
                          <a:latin typeface="Hiragino Sans GB"/>
                          <a:ea typeface="Hiragino Sans GB"/>
                          <a:cs typeface="Hiragino Sans GB"/>
                        </a:rPr>
                        <a:t> </a:t>
                      </a:r>
                      <a:r>
                        <a:rPr sz="1100" dirty="0" err="1">
                          <a:solidFill>
                            <a:srgbClr val="4E5969"/>
                          </a:solidFill>
                          <a:latin typeface="Hiragino Sans GB"/>
                          <a:ea typeface="Hiragino Sans GB"/>
                          <a:cs typeface="Hiragino Sans GB"/>
                        </a:rPr>
                        <a:t>Ω；计算略增</a:t>
                      </a:r>
                      <a:endParaRPr sz="1100" dirty="0">
                        <a:solidFill>
                          <a:srgbClr val="4E5969"/>
                        </a:solidFill>
                        <a:latin typeface="Hiragino Sans GB"/>
                        <a:ea typeface="Hiragino Sans GB"/>
                        <a:cs typeface="Hiragino Sans GB"/>
                      </a:endParaRPr>
                    </a:p>
                  </a:txBody>
                  <a:tcPr marL="69489" marR="69489" marT="34745" marB="34745" anchor="ctr">
                    <a:solidFill>
                      <a:srgbClr val="E8F4FB"/>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6068734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矩形 16">
            <a:extLst>
              <a:ext uri="{FF2B5EF4-FFF2-40B4-BE49-F238E27FC236}">
                <a16:creationId xmlns:a16="http://schemas.microsoft.com/office/drawing/2014/main" id="{C26CED50-1935-4B4A-9EAE-80620E294376}"/>
              </a:ext>
            </a:extLst>
          </p:cNvPr>
          <p:cNvSpPr>
            <a:spLocks noGrp="1"/>
          </p:cNvSpPr>
          <p:nvPr/>
        </p:nvSpPr>
        <p:spPr>
          <a:xfrm>
            <a:off x="419100" y="171450"/>
            <a:ext cx="2952750" cy="228600"/>
          </a:xfrm>
          <a:prstGeom prst="rect">
            <a:avLst/>
          </a:prstGeom>
          <a:noFill/>
          <a:ln w="0">
            <a:noFill/>
            <a:prstDash val="solid"/>
          </a:ln>
        </p:spPr>
        <p:txBody>
          <a:bodyPr wrap="square" lIns="0" tIns="0" rIns="0" bIns="0" anchor="t">
            <a:noAutofit/>
          </a:bodyPr>
          <a:lstStyle/>
          <a:p>
            <a:pPr algn="l">
              <a:buNone/>
              <a:defRPr sz="975" b="1">
                <a:solidFill>
                  <a:srgbClr val="5E6470"/>
                </a:solidFill>
                <a:latin typeface="Helvetica Neue"/>
                <a:ea typeface="Helvetica Neue"/>
                <a:cs typeface="Helvetica Neue"/>
              </a:defRPr>
            </a:pPr>
            <a:r>
              <a:rPr sz="975" b="1">
                <a:solidFill>
                  <a:srgbClr val="5E6470"/>
                </a:solidFill>
                <a:latin typeface="Helvetica Neue"/>
                <a:ea typeface="Helvetica Neue"/>
                <a:cs typeface="Helvetica Neue"/>
              </a:rPr>
              <a:t>I · ENTROPY MECHANISM</a:t>
            </a:r>
          </a:p>
        </p:txBody>
      </p:sp>
      <p:sp>
        <p:nvSpPr>
          <p:cNvPr id="2" name="矩形 1">
            <a:extLst>
              <a:ext uri="{FF2B5EF4-FFF2-40B4-BE49-F238E27FC236}">
                <a16:creationId xmlns:a16="http://schemas.microsoft.com/office/drawing/2014/main" id="{70B4C2F3-E0D0-4569-82AF-6CA8538B5A98}"/>
              </a:ext>
            </a:extLst>
          </p:cNvPr>
          <p:cNvSpPr>
            <a:spLocks noGrp="1"/>
          </p:cNvSpPr>
          <p:nvPr/>
        </p:nvSpPr>
        <p:spPr>
          <a:xfrm>
            <a:off x="419100" y="409575"/>
            <a:ext cx="11353800" cy="514350"/>
          </a:xfrm>
          <a:prstGeom prst="rect">
            <a:avLst/>
          </a:prstGeom>
          <a:noFill/>
          <a:ln w="0">
            <a:noFill/>
            <a:prstDash val="solid"/>
          </a:ln>
        </p:spPr>
        <p:txBody>
          <a:bodyPr wrap="square" lIns="0" tIns="0" rIns="0" bIns="0" anchor="t">
            <a:noAutofit/>
          </a:bodyPr>
          <a:lstStyle/>
          <a:p>
            <a:pPr algn="l">
              <a:buNone/>
              <a:defRPr sz="2850" b="1">
                <a:solidFill>
                  <a:srgbClr val="101214"/>
                </a:solidFill>
                <a:latin typeface="Hiragino Sans GB"/>
                <a:ea typeface="Hiragino Sans GB"/>
                <a:cs typeface="Hiragino Sans GB"/>
              </a:defRPr>
            </a:pPr>
            <a:r>
              <a:rPr sz="2850" b="1">
                <a:solidFill>
                  <a:srgbClr val="101214"/>
                </a:solidFill>
                <a:latin typeface="Hiragino Sans GB"/>
                <a:ea typeface="Hiragino Sans GB"/>
                <a:cs typeface="Hiragino Sans GB"/>
              </a:rPr>
              <a:t>三个反直觉现象共同验证四象限机制</a:t>
            </a:r>
          </a:p>
        </p:txBody>
      </p:sp>
      <p:sp>
        <p:nvSpPr>
          <p:cNvPr id="3" name="圆角矩形 2">
            <a:extLst>
              <a:ext uri="{FF2B5EF4-FFF2-40B4-BE49-F238E27FC236}">
                <a16:creationId xmlns:a16="http://schemas.microsoft.com/office/drawing/2014/main" id="{F484E623-8587-44D1-B962-803F887391F6}"/>
              </a:ext>
            </a:extLst>
          </p:cNvPr>
          <p:cNvSpPr>
            <a:spLocks noGrp="1"/>
          </p:cNvSpPr>
          <p:nvPr/>
        </p:nvSpPr>
        <p:spPr>
          <a:xfrm>
            <a:off x="419100" y="1257300"/>
            <a:ext cx="5391150" cy="3143250"/>
          </a:xfrm>
          <a:prstGeom prst="roundRect">
            <a:avLst>
              <a:gd name="adj" fmla="val 2424"/>
            </a:avLst>
          </a:prstGeom>
          <a:solidFill>
            <a:srgbClr val="F1F2F4"/>
          </a:solidFill>
          <a:ln w="9525">
            <a:solidFill>
              <a:srgbClr val="B8BCC4"/>
            </a:solidFill>
            <a:prstDash val="solid"/>
          </a:ln>
        </p:spPr>
      </p:sp>
      <p:sp>
        <p:nvSpPr>
          <p:cNvPr id="5" name="圆角矩形 4">
            <a:extLst>
              <a:ext uri="{FF2B5EF4-FFF2-40B4-BE49-F238E27FC236}">
                <a16:creationId xmlns:a16="http://schemas.microsoft.com/office/drawing/2014/main" id="{3477321F-A6CE-4F49-AAD9-2826D1184942}"/>
              </a:ext>
            </a:extLst>
          </p:cNvPr>
          <p:cNvSpPr>
            <a:spLocks noGrp="1"/>
          </p:cNvSpPr>
          <p:nvPr/>
        </p:nvSpPr>
        <p:spPr>
          <a:xfrm>
            <a:off x="6381750" y="1257300"/>
            <a:ext cx="5391150" cy="3143250"/>
          </a:xfrm>
          <a:prstGeom prst="roundRect">
            <a:avLst>
              <a:gd name="adj" fmla="val 2424"/>
            </a:avLst>
          </a:prstGeom>
          <a:solidFill>
            <a:srgbClr val="F1F2F4"/>
          </a:solidFill>
          <a:ln w="9525">
            <a:solidFill>
              <a:srgbClr val="B8BCC4"/>
            </a:solidFill>
            <a:prstDash val="solid"/>
          </a:ln>
        </p:spPr>
      </p:sp>
      <p:sp>
        <p:nvSpPr>
          <p:cNvPr id="7" name="圆角矩形 6">
            <a:extLst>
              <a:ext uri="{FF2B5EF4-FFF2-40B4-BE49-F238E27FC236}">
                <a16:creationId xmlns:a16="http://schemas.microsoft.com/office/drawing/2014/main" id="{6E6CCCAA-7CF1-48A0-949E-B71C320CB330}"/>
              </a:ext>
            </a:extLst>
          </p:cNvPr>
          <p:cNvSpPr>
            <a:spLocks noGrp="1"/>
          </p:cNvSpPr>
          <p:nvPr/>
        </p:nvSpPr>
        <p:spPr>
          <a:xfrm>
            <a:off x="571500" y="1428750"/>
            <a:ext cx="1143000" cy="285750"/>
          </a:xfrm>
          <a:prstGeom prst="roundRect">
            <a:avLst>
              <a:gd name="adj" fmla="val 50000"/>
            </a:avLst>
          </a:prstGeom>
          <a:solidFill>
            <a:srgbClr val="F1F2F4"/>
          </a:solidFill>
          <a:ln w="0">
            <a:noFill/>
            <a:prstDash val="solid"/>
          </a:ln>
        </p:spPr>
      </p:sp>
      <p:sp>
        <p:nvSpPr>
          <p:cNvPr id="8" name="矩形 7">
            <a:extLst>
              <a:ext uri="{FF2B5EF4-FFF2-40B4-BE49-F238E27FC236}">
                <a16:creationId xmlns:a16="http://schemas.microsoft.com/office/drawing/2014/main" id="{377DE1B8-20E0-4240-9E43-A965D682F153}"/>
              </a:ext>
            </a:extLst>
          </p:cNvPr>
          <p:cNvSpPr>
            <a:spLocks noGrp="1"/>
          </p:cNvSpPr>
          <p:nvPr/>
        </p:nvSpPr>
        <p:spPr>
          <a:xfrm>
            <a:off x="571500" y="1447800"/>
            <a:ext cx="1143000" cy="247650"/>
          </a:xfrm>
          <a:prstGeom prst="rect">
            <a:avLst/>
          </a:prstGeom>
          <a:noFill/>
          <a:ln w="0">
            <a:noFill/>
            <a:prstDash val="solid"/>
          </a:ln>
        </p:spPr>
        <p:txBody>
          <a:bodyPr wrap="square" lIns="0" tIns="0" rIns="0" bIns="0" anchor="ctr">
            <a:noAutofit/>
          </a:bodyPr>
          <a:lstStyle/>
          <a:p>
            <a:pPr algn="ctr">
              <a:buNone/>
              <a:defRPr sz="1050" b="1">
                <a:solidFill>
                  <a:srgbClr val="5E6470"/>
                </a:solidFill>
                <a:latin typeface="Hiragino Sans GB"/>
                <a:ea typeface="Hiragino Sans GB"/>
                <a:cs typeface="Hiragino Sans GB"/>
              </a:defRPr>
            </a:pPr>
            <a:r>
              <a:rPr sz="1050" b="1">
                <a:solidFill>
                  <a:srgbClr val="5E6470"/>
                </a:solidFill>
                <a:latin typeface="Hiragino Sans GB"/>
                <a:ea typeface="Hiragino Sans GB"/>
                <a:cs typeface="Hiragino Sans GB"/>
              </a:rPr>
              <a:t>Clip bounds</a:t>
            </a:r>
          </a:p>
        </p:txBody>
      </p:sp>
      <p:sp>
        <p:nvSpPr>
          <p:cNvPr id="9" name="圆角矩形 8">
            <a:extLst>
              <a:ext uri="{FF2B5EF4-FFF2-40B4-BE49-F238E27FC236}">
                <a16:creationId xmlns:a16="http://schemas.microsoft.com/office/drawing/2014/main" id="{E56526CD-2EB4-4ADB-A075-7FA32E8CFBF2}"/>
              </a:ext>
            </a:extLst>
          </p:cNvPr>
          <p:cNvSpPr>
            <a:spLocks noGrp="1"/>
          </p:cNvSpPr>
          <p:nvPr/>
        </p:nvSpPr>
        <p:spPr>
          <a:xfrm>
            <a:off x="6534150" y="1428750"/>
            <a:ext cx="876300" cy="285750"/>
          </a:xfrm>
          <a:prstGeom prst="roundRect">
            <a:avLst>
              <a:gd name="adj" fmla="val 50000"/>
            </a:avLst>
          </a:prstGeom>
          <a:solidFill>
            <a:srgbClr val="F1F2F4"/>
          </a:solidFill>
          <a:ln w="0">
            <a:noFill/>
            <a:prstDash val="solid"/>
          </a:ln>
        </p:spPr>
      </p:sp>
      <p:sp>
        <p:nvSpPr>
          <p:cNvPr id="10" name="矩形 9">
            <a:extLst>
              <a:ext uri="{FF2B5EF4-FFF2-40B4-BE49-F238E27FC236}">
                <a16:creationId xmlns:a16="http://schemas.microsoft.com/office/drawing/2014/main" id="{B52D9120-8DCD-4AA0-89E7-23F7F0B880CE}"/>
              </a:ext>
            </a:extLst>
          </p:cNvPr>
          <p:cNvSpPr>
            <a:spLocks noGrp="1"/>
          </p:cNvSpPr>
          <p:nvPr/>
        </p:nvSpPr>
        <p:spPr>
          <a:xfrm>
            <a:off x="6534150" y="1447800"/>
            <a:ext cx="876300" cy="247650"/>
          </a:xfrm>
          <a:prstGeom prst="rect">
            <a:avLst/>
          </a:prstGeom>
          <a:noFill/>
          <a:ln w="0">
            <a:noFill/>
            <a:prstDash val="solid"/>
          </a:ln>
        </p:spPr>
        <p:txBody>
          <a:bodyPr wrap="square" lIns="0" tIns="0" rIns="0" bIns="0" anchor="ctr">
            <a:noAutofit/>
          </a:bodyPr>
          <a:lstStyle/>
          <a:p>
            <a:pPr algn="ctr">
              <a:buNone/>
              <a:defRPr sz="1050" b="1">
                <a:solidFill>
                  <a:srgbClr val="5E6470"/>
                </a:solidFill>
                <a:latin typeface="Hiragino Sans GB"/>
                <a:ea typeface="Hiragino Sans GB"/>
                <a:cs typeface="Hiragino Sans GB"/>
              </a:defRPr>
            </a:pPr>
            <a:r>
              <a:rPr sz="1050" b="1">
                <a:solidFill>
                  <a:srgbClr val="5E6470"/>
                </a:solidFill>
                <a:latin typeface="Hiragino Sans GB"/>
                <a:ea typeface="Hiragino Sans GB"/>
                <a:cs typeface="Hiragino Sans GB"/>
              </a:rPr>
              <a:t>Samples+A</a:t>
            </a:r>
          </a:p>
        </p:txBody>
      </p:sp>
      <p:sp>
        <p:nvSpPr>
          <p:cNvPr id="11" name="圆角矩形 10">
            <a:extLst>
              <a:ext uri="{FF2B5EF4-FFF2-40B4-BE49-F238E27FC236}">
                <a16:creationId xmlns:a16="http://schemas.microsoft.com/office/drawing/2014/main" id="{C0F89618-8991-4118-9BF9-29DB0A41626E}"/>
              </a:ext>
            </a:extLst>
          </p:cNvPr>
          <p:cNvSpPr>
            <a:spLocks noGrp="1"/>
          </p:cNvSpPr>
          <p:nvPr/>
        </p:nvSpPr>
        <p:spPr>
          <a:xfrm>
            <a:off x="419100" y="4762499"/>
            <a:ext cx="11353800" cy="1188127"/>
          </a:xfrm>
          <a:prstGeom prst="roundRect">
            <a:avLst>
              <a:gd name="adj" fmla="val 7143"/>
            </a:avLst>
          </a:prstGeom>
          <a:solidFill>
            <a:srgbClr val="FDEBEC"/>
          </a:solidFill>
          <a:ln w="0">
            <a:noFill/>
            <a:prstDash val="solid"/>
          </a:ln>
        </p:spPr>
      </p:sp>
      <p:sp>
        <p:nvSpPr>
          <p:cNvPr id="12" name="矩形 11">
            <a:extLst>
              <a:ext uri="{FF2B5EF4-FFF2-40B4-BE49-F238E27FC236}">
                <a16:creationId xmlns:a16="http://schemas.microsoft.com/office/drawing/2014/main" id="{411B7AF1-0118-4B9C-8F26-864C3C833FD1}"/>
              </a:ext>
            </a:extLst>
          </p:cNvPr>
          <p:cNvSpPr>
            <a:spLocks noGrp="1"/>
          </p:cNvSpPr>
          <p:nvPr/>
        </p:nvSpPr>
        <p:spPr>
          <a:xfrm>
            <a:off x="685800" y="4838700"/>
            <a:ext cx="5467350" cy="857250"/>
          </a:xfrm>
          <a:prstGeom prst="rect">
            <a:avLst/>
          </a:prstGeom>
          <a:noFill/>
          <a:ln w="0">
            <a:noFill/>
            <a:prstDash val="solid"/>
          </a:ln>
        </p:spPr>
        <p:txBody>
          <a:bodyPr wrap="square" lIns="0" tIns="0" rIns="0" bIns="0" anchor="t">
            <a:noAutofit/>
          </a:bodyPr>
          <a:lstStyle/>
          <a:p>
            <a:pPr algn="l">
              <a:buNone/>
              <a:defRPr sz="1088" b="0">
                <a:solidFill>
                  <a:srgbClr val="D94C4C"/>
                </a:solidFill>
                <a:latin typeface="Hiragino Sans GB"/>
                <a:ea typeface="Hiragino Sans GB"/>
                <a:cs typeface="Hiragino Sans GB"/>
              </a:defRPr>
            </a:pPr>
            <a:r>
              <a:rPr sz="1400" b="0" dirty="0">
                <a:solidFill>
                  <a:srgbClr val="000000"/>
                </a:solidFill>
                <a:latin typeface="Hiragino Sans GB"/>
                <a:ea typeface="Hiragino Sans GB"/>
                <a:cs typeface="Hiragino Sans GB"/>
              </a:rPr>
              <a:t>① Clip bounds </a:t>
            </a:r>
            <a:r>
              <a:rPr sz="1400" b="0" dirty="0" err="1">
                <a:solidFill>
                  <a:srgbClr val="000000"/>
                </a:solidFill>
                <a:latin typeface="Hiragino Sans GB"/>
                <a:ea typeface="Hiragino Sans GB"/>
                <a:cs typeface="Hiragino Sans GB"/>
              </a:rPr>
              <a:t>不是“越宽越安全</a:t>
            </a:r>
            <a:r>
              <a:rPr sz="1400" b="0" dirty="0">
                <a:solidFill>
                  <a:srgbClr val="000000"/>
                </a:solidFill>
                <a:latin typeface="Hiragino Sans GB"/>
                <a:ea typeface="Hiragino Sans GB"/>
                <a:cs typeface="Hiragino Sans GB"/>
              </a:rPr>
              <a:t>”</a:t>
            </a:r>
          </a:p>
          <a:p>
            <a:pPr algn="l">
              <a:buNone/>
              <a:defRPr sz="1088" b="0">
                <a:solidFill>
                  <a:srgbClr val="D94C4C"/>
                </a:solidFill>
                <a:latin typeface="Hiragino Sans GB"/>
                <a:ea typeface="Hiragino Sans GB"/>
                <a:cs typeface="Hiragino Sans GB"/>
              </a:defRPr>
            </a:pPr>
            <a:r>
              <a:rPr sz="1400" b="0" dirty="0" err="1">
                <a:solidFill>
                  <a:srgbClr val="000000"/>
                </a:solidFill>
                <a:latin typeface="Hiragino Sans GB"/>
                <a:ea typeface="Hiragino Sans GB"/>
                <a:cs typeface="Hiragino Sans GB"/>
              </a:rPr>
              <a:t>εhigh</a:t>
            </a:r>
            <a:r>
              <a:rPr sz="1400" b="0" dirty="0">
                <a:solidFill>
                  <a:srgbClr val="000000"/>
                </a:solidFill>
                <a:latin typeface="Hiragino Sans GB"/>
                <a:ea typeface="Hiragino Sans GB"/>
                <a:cs typeface="Hiragino Sans GB"/>
              </a:rPr>
              <a:t>↑：QII </a:t>
            </a:r>
            <a:r>
              <a:rPr sz="1400" b="0" dirty="0" err="1">
                <a:solidFill>
                  <a:srgbClr val="000000"/>
                </a:solidFill>
                <a:latin typeface="Hiragino Sans GB"/>
                <a:ea typeface="Hiragino Sans GB"/>
                <a:cs typeface="Hiragino Sans GB"/>
              </a:rPr>
              <a:t>低概率正</a:t>
            </a:r>
            <a:r>
              <a:rPr sz="1400" b="0" dirty="0">
                <a:solidFill>
                  <a:srgbClr val="000000"/>
                </a:solidFill>
                <a:latin typeface="Hiragino Sans GB"/>
                <a:ea typeface="Hiragino Sans GB"/>
                <a:cs typeface="Hiragino Sans GB"/>
              </a:rPr>
              <a:t> token </a:t>
            </a:r>
            <a:r>
              <a:rPr sz="1400" b="0" dirty="0" err="1">
                <a:solidFill>
                  <a:srgbClr val="000000"/>
                </a:solidFill>
                <a:latin typeface="Hiragino Sans GB"/>
                <a:ea typeface="Hiragino Sans GB"/>
                <a:cs typeface="Hiragino Sans GB"/>
              </a:rPr>
              <a:t>更少被裁剪，保留罕见但正确路径的升熵贡献</a:t>
            </a:r>
            <a:r>
              <a:rPr sz="1400" b="0" dirty="0">
                <a:solidFill>
                  <a:srgbClr val="000000"/>
                </a:solidFill>
                <a:latin typeface="Hiragino Sans GB"/>
                <a:ea typeface="Hiragino Sans GB"/>
                <a:cs typeface="Hiragino Sans GB"/>
              </a:rPr>
              <a:t>。</a:t>
            </a:r>
          </a:p>
          <a:p>
            <a:pPr algn="l">
              <a:buNone/>
              <a:defRPr sz="1088" b="0">
                <a:solidFill>
                  <a:srgbClr val="D94C4C"/>
                </a:solidFill>
                <a:latin typeface="Hiragino Sans GB"/>
                <a:ea typeface="Hiragino Sans GB"/>
                <a:cs typeface="Hiragino Sans GB"/>
              </a:defRPr>
            </a:pPr>
            <a:r>
              <a:rPr sz="1400" b="0" dirty="0" err="1">
                <a:solidFill>
                  <a:srgbClr val="000000"/>
                </a:solidFill>
                <a:latin typeface="Hiragino Sans GB"/>
                <a:ea typeface="Hiragino Sans GB"/>
                <a:cs typeface="Hiragino Sans GB"/>
              </a:rPr>
              <a:t>εlow</a:t>
            </a:r>
            <a:r>
              <a:rPr sz="1400" b="0" dirty="0">
                <a:solidFill>
                  <a:srgbClr val="000000"/>
                </a:solidFill>
                <a:latin typeface="Hiragino Sans GB"/>
                <a:ea typeface="Hiragino Sans GB"/>
                <a:cs typeface="Hiragino Sans GB"/>
              </a:rPr>
              <a:t>↑：QIII </a:t>
            </a:r>
            <a:r>
              <a:rPr sz="1400" b="0" dirty="0" err="1">
                <a:solidFill>
                  <a:srgbClr val="000000"/>
                </a:solidFill>
                <a:latin typeface="Hiragino Sans GB"/>
                <a:ea typeface="Hiragino Sans GB"/>
                <a:cs typeface="Hiragino Sans GB"/>
              </a:rPr>
              <a:t>低概率负</a:t>
            </a:r>
            <a:r>
              <a:rPr sz="1400" b="0" dirty="0">
                <a:solidFill>
                  <a:srgbClr val="000000"/>
                </a:solidFill>
                <a:latin typeface="Hiragino Sans GB"/>
                <a:ea typeface="Hiragino Sans GB"/>
                <a:cs typeface="Hiragino Sans GB"/>
              </a:rPr>
              <a:t> token </a:t>
            </a:r>
            <a:r>
              <a:rPr sz="1400" b="0" dirty="0" err="1">
                <a:solidFill>
                  <a:srgbClr val="000000"/>
                </a:solidFill>
                <a:latin typeface="Hiragino Sans GB"/>
                <a:ea typeface="Hiragino Sans GB"/>
                <a:cs typeface="Hiragino Sans GB"/>
              </a:rPr>
              <a:t>更少被裁剪，降熵抑制反而被保留</a:t>
            </a:r>
            <a:r>
              <a:rPr sz="1400" b="0" dirty="0">
                <a:solidFill>
                  <a:srgbClr val="000000"/>
                </a:solidFill>
                <a:latin typeface="Hiragino Sans GB"/>
                <a:ea typeface="Hiragino Sans GB"/>
                <a:cs typeface="Hiragino Sans GB"/>
              </a:rPr>
              <a:t>。</a:t>
            </a:r>
          </a:p>
        </p:txBody>
      </p:sp>
      <p:sp>
        <p:nvSpPr>
          <p:cNvPr id="13" name="矩形 12">
            <a:extLst>
              <a:ext uri="{FF2B5EF4-FFF2-40B4-BE49-F238E27FC236}">
                <a16:creationId xmlns:a16="http://schemas.microsoft.com/office/drawing/2014/main" id="{7C025FCD-0140-4995-9F8C-5560E4C6E2C7}"/>
              </a:ext>
            </a:extLst>
          </p:cNvPr>
          <p:cNvSpPr>
            <a:spLocks noGrp="1"/>
          </p:cNvSpPr>
          <p:nvPr/>
        </p:nvSpPr>
        <p:spPr>
          <a:xfrm>
            <a:off x="6362700" y="4838700"/>
            <a:ext cx="5067300" cy="857250"/>
          </a:xfrm>
          <a:prstGeom prst="rect">
            <a:avLst/>
          </a:prstGeom>
          <a:noFill/>
          <a:ln w="0">
            <a:noFill/>
            <a:prstDash val="solid"/>
          </a:ln>
        </p:spPr>
        <p:txBody>
          <a:bodyPr wrap="square" lIns="0" tIns="0" rIns="0" bIns="0" anchor="t">
            <a:noAutofit/>
          </a:bodyPr>
          <a:lstStyle/>
          <a:p>
            <a:pPr algn="l">
              <a:buNone/>
              <a:defRPr sz="1088" b="0">
                <a:solidFill>
                  <a:srgbClr val="101214"/>
                </a:solidFill>
                <a:latin typeface="Hiragino Sans GB"/>
                <a:ea typeface="Hiragino Sans GB"/>
                <a:cs typeface="Hiragino Sans GB"/>
              </a:defRPr>
            </a:pPr>
            <a:r>
              <a:rPr sz="1400" b="0" dirty="0">
                <a:solidFill>
                  <a:srgbClr val="101214"/>
                </a:solidFill>
                <a:latin typeface="Hiragino Sans GB"/>
                <a:ea typeface="Hiragino Sans GB"/>
                <a:cs typeface="Hiragino Sans GB"/>
              </a:rPr>
              <a:t>② Positive-only </a:t>
            </a:r>
            <a:r>
              <a:rPr sz="1400" b="0" dirty="0" err="1">
                <a:solidFill>
                  <a:srgbClr val="101214"/>
                </a:solidFill>
                <a:latin typeface="Hiragino Sans GB"/>
                <a:ea typeface="Hiragino Sans GB"/>
                <a:cs typeface="Hiragino Sans GB"/>
              </a:rPr>
              <a:t>仍会坍缩：QI</a:t>
            </a:r>
            <a:r>
              <a:rPr sz="1400" b="0" dirty="0">
                <a:solidFill>
                  <a:srgbClr val="101214"/>
                </a:solidFill>
                <a:latin typeface="Hiragino Sans GB"/>
                <a:ea typeface="Hiragino Sans GB"/>
                <a:cs typeface="Hiragino Sans GB"/>
              </a:rPr>
              <a:t> </a:t>
            </a:r>
            <a:r>
              <a:rPr sz="1400" b="0" dirty="0" err="1">
                <a:solidFill>
                  <a:srgbClr val="101214"/>
                </a:solidFill>
                <a:latin typeface="Hiragino Sans GB"/>
                <a:ea typeface="Hiragino Sans GB"/>
                <a:cs typeface="Hiragino Sans GB"/>
              </a:rPr>
              <a:t>的高概率正确</a:t>
            </a:r>
            <a:r>
              <a:rPr sz="1400" b="0" dirty="0">
                <a:solidFill>
                  <a:srgbClr val="101214"/>
                </a:solidFill>
                <a:latin typeface="Hiragino Sans GB"/>
                <a:ea typeface="Hiragino Sans GB"/>
                <a:cs typeface="Hiragino Sans GB"/>
              </a:rPr>
              <a:t> token </a:t>
            </a:r>
            <a:r>
              <a:rPr sz="1400" b="0" dirty="0" err="1">
                <a:solidFill>
                  <a:srgbClr val="101214"/>
                </a:solidFill>
                <a:latin typeface="Hiragino Sans GB"/>
                <a:ea typeface="Hiragino Sans GB"/>
                <a:cs typeface="Hiragino Sans GB"/>
              </a:rPr>
              <a:t>最常被采样，正样本更新被“利用项”主导；Negative-only</a:t>
            </a:r>
            <a:r>
              <a:rPr sz="1400" b="0" dirty="0">
                <a:solidFill>
                  <a:srgbClr val="101214"/>
                </a:solidFill>
                <a:latin typeface="Hiragino Sans GB"/>
                <a:ea typeface="Hiragino Sans GB"/>
                <a:cs typeface="Hiragino Sans GB"/>
              </a:rPr>
              <a:t> </a:t>
            </a:r>
            <a:r>
              <a:rPr sz="1400" b="0" dirty="0" err="1">
                <a:solidFill>
                  <a:srgbClr val="101214"/>
                </a:solidFill>
                <a:latin typeface="Hiragino Sans GB"/>
                <a:ea typeface="Hiragino Sans GB"/>
                <a:cs typeface="Hiragino Sans GB"/>
              </a:rPr>
              <a:t>的净作用维持高熵</a:t>
            </a:r>
            <a:r>
              <a:rPr sz="1400" b="0" dirty="0">
                <a:solidFill>
                  <a:srgbClr val="101214"/>
                </a:solidFill>
                <a:latin typeface="Hiragino Sans GB"/>
                <a:ea typeface="Hiragino Sans GB"/>
                <a:cs typeface="Hiragino Sans GB"/>
              </a:rPr>
              <a:t>。</a:t>
            </a:r>
          </a:p>
          <a:p>
            <a:pPr algn="l">
              <a:buNone/>
              <a:defRPr sz="1088" b="0">
                <a:solidFill>
                  <a:srgbClr val="101214"/>
                </a:solidFill>
                <a:latin typeface="Hiragino Sans GB"/>
                <a:ea typeface="Hiragino Sans GB"/>
                <a:cs typeface="Hiragino Sans GB"/>
              </a:defRPr>
            </a:pPr>
            <a:r>
              <a:rPr sz="1400" b="0" dirty="0">
                <a:solidFill>
                  <a:srgbClr val="101214"/>
                </a:solidFill>
                <a:latin typeface="Hiragino Sans GB"/>
                <a:ea typeface="Hiragino Sans GB"/>
                <a:cs typeface="Hiragino Sans GB"/>
              </a:rPr>
              <a:t>③ </a:t>
            </a:r>
            <a:r>
              <a:rPr sz="1400" b="0" dirty="0" err="1">
                <a:solidFill>
                  <a:srgbClr val="101214"/>
                </a:solidFill>
                <a:latin typeface="Hiragino Sans GB"/>
                <a:ea typeface="Hiragino Sans GB"/>
                <a:cs typeface="Hiragino Sans GB"/>
              </a:rPr>
              <a:t>高熵加权只放大</a:t>
            </a:r>
            <a:r>
              <a:rPr sz="1400" b="0" dirty="0">
                <a:solidFill>
                  <a:srgbClr val="101214"/>
                </a:solidFill>
                <a:latin typeface="Hiragino Sans GB"/>
                <a:ea typeface="Hiragino Sans GB"/>
                <a:cs typeface="Hiragino Sans GB"/>
              </a:rPr>
              <a:t> |ΔH|：</a:t>
            </a:r>
            <a:r>
              <a:rPr sz="1400" b="0" dirty="0" err="1">
                <a:solidFill>
                  <a:srgbClr val="101214"/>
                </a:solidFill>
                <a:latin typeface="Hiragino Sans GB"/>
                <a:ea typeface="Hiragino Sans GB"/>
                <a:cs typeface="Hiragino Sans GB"/>
              </a:rPr>
              <a:t>当训练已进入</a:t>
            </a:r>
            <a:r>
              <a:rPr sz="1400" b="0" dirty="0">
                <a:solidFill>
                  <a:srgbClr val="101214"/>
                </a:solidFill>
                <a:latin typeface="Hiragino Sans GB"/>
                <a:ea typeface="Hiragino Sans GB"/>
                <a:cs typeface="Hiragino Sans GB"/>
              </a:rPr>
              <a:t> ΔH&lt;0 </a:t>
            </a:r>
            <a:r>
              <a:rPr sz="1400" b="0" dirty="0" err="1">
                <a:solidFill>
                  <a:srgbClr val="101214"/>
                </a:solidFill>
                <a:latin typeface="Hiragino Sans GB"/>
                <a:ea typeface="Hiragino Sans GB"/>
                <a:cs typeface="Hiragino Sans GB"/>
              </a:rPr>
              <a:t>阶段，Entro.Adv</a:t>
            </a:r>
            <a:r>
              <a:rPr sz="1400" b="0" dirty="0">
                <a:solidFill>
                  <a:srgbClr val="101214"/>
                </a:solidFill>
                <a:latin typeface="Hiragino Sans GB"/>
                <a:ea typeface="Hiragino Sans GB"/>
                <a:cs typeface="Hiragino Sans GB"/>
              </a:rPr>
              <a:t>./GTPO </a:t>
            </a:r>
            <a:r>
              <a:rPr sz="1400" b="0" dirty="0" err="1">
                <a:solidFill>
                  <a:srgbClr val="101214"/>
                </a:solidFill>
                <a:latin typeface="Hiragino Sans GB"/>
                <a:ea typeface="Hiragino Sans GB"/>
                <a:cs typeface="Hiragino Sans GB"/>
              </a:rPr>
              <a:t>会把降熵同步放大</a:t>
            </a:r>
            <a:r>
              <a:rPr sz="1400" b="0" dirty="0">
                <a:solidFill>
                  <a:srgbClr val="101214"/>
                </a:solidFill>
                <a:latin typeface="Hiragino Sans GB"/>
                <a:ea typeface="Hiragino Sans GB"/>
                <a:cs typeface="Hiragino Sans GB"/>
              </a:rPr>
              <a:t>。</a:t>
            </a:r>
          </a:p>
        </p:txBody>
      </p:sp>
      <p:sp>
        <p:nvSpPr>
          <p:cNvPr id="14" name="直线连接符 13">
            <a:extLst>
              <a:ext uri="{FF2B5EF4-FFF2-40B4-BE49-F238E27FC236}">
                <a16:creationId xmlns:a16="http://schemas.microsoft.com/office/drawing/2014/main" id="{43E2D12E-82CE-494C-8418-A52B32A97916}"/>
              </a:ext>
            </a:extLst>
          </p:cNvPr>
          <p:cNvSpPr>
            <a:spLocks noGrp="1"/>
          </p:cNvSpPr>
          <p:nvPr/>
        </p:nvSpPr>
        <p:spPr>
          <a:xfrm>
            <a:off x="419100" y="6286500"/>
            <a:ext cx="11353800" cy="0"/>
          </a:xfrm>
          <a:prstGeom prst="line">
            <a:avLst/>
          </a:prstGeom>
          <a:noFill/>
          <a:ln w="9525">
            <a:solidFill>
              <a:srgbClr val="B8BCC4"/>
            </a:solidFill>
            <a:prstDash val="solid"/>
          </a:ln>
        </p:spPr>
      </p:sp>
      <p:sp>
        <p:nvSpPr>
          <p:cNvPr id="15" name="矩形 14">
            <a:extLst>
              <a:ext uri="{FF2B5EF4-FFF2-40B4-BE49-F238E27FC236}">
                <a16:creationId xmlns:a16="http://schemas.microsoft.com/office/drawing/2014/main" id="{3218787C-0698-4376-879A-9DA057FCDB22}"/>
              </a:ext>
            </a:extLst>
          </p:cNvPr>
          <p:cNvSpPr>
            <a:spLocks noGrp="1"/>
          </p:cNvSpPr>
          <p:nvPr/>
        </p:nvSpPr>
        <p:spPr>
          <a:xfrm>
            <a:off x="419100" y="6362700"/>
            <a:ext cx="10763250" cy="219075"/>
          </a:xfrm>
          <a:prstGeom prst="rect">
            <a:avLst/>
          </a:prstGeom>
          <a:noFill/>
          <a:ln w="0">
            <a:noFill/>
            <a:prstDash val="solid"/>
          </a:ln>
        </p:spPr>
        <p:txBody>
          <a:bodyPr wrap="square" lIns="0" tIns="0" rIns="0" bIns="0" anchor="t">
            <a:noAutofit/>
          </a:bodyPr>
          <a:lstStyle/>
          <a:p>
            <a:pPr algn="l">
              <a:buNone/>
              <a:defRPr sz="788" b="0">
                <a:solidFill>
                  <a:srgbClr val="5E6470"/>
                </a:solidFill>
                <a:latin typeface="Helvetica Neue"/>
                <a:ea typeface="Helvetica Neue"/>
                <a:cs typeface="Helvetica Neue"/>
              </a:defRPr>
            </a:pPr>
            <a:r>
              <a:rPr sz="788" b="0">
                <a:solidFill>
                  <a:srgbClr val="5E6470"/>
                </a:solidFill>
                <a:latin typeface="Helvetica Neue"/>
                <a:ea typeface="Helvetica Neue"/>
                <a:cs typeface="Helvetica Neue"/>
              </a:rPr>
              <a:t>Hao et al. (2026), Figures 3–5</a:t>
            </a:r>
          </a:p>
        </p:txBody>
      </p:sp>
      <p:sp>
        <p:nvSpPr>
          <p:cNvPr id="16" name="矩形 15">
            <a:extLst>
              <a:ext uri="{FF2B5EF4-FFF2-40B4-BE49-F238E27FC236}">
                <a16:creationId xmlns:a16="http://schemas.microsoft.com/office/drawing/2014/main" id="{BA57E205-E4DB-4A97-A06F-691E63CBDDBC}"/>
              </a:ext>
            </a:extLst>
          </p:cNvPr>
          <p:cNvSpPr>
            <a:spLocks noGrp="1"/>
          </p:cNvSpPr>
          <p:nvPr/>
        </p:nvSpPr>
        <p:spPr>
          <a:xfrm>
            <a:off x="11334750" y="6362700"/>
            <a:ext cx="438150" cy="219075"/>
          </a:xfrm>
          <a:prstGeom prst="rect">
            <a:avLst/>
          </a:prstGeom>
          <a:noFill/>
          <a:ln w="0">
            <a:noFill/>
            <a:prstDash val="solid"/>
          </a:ln>
        </p:spPr>
        <p:txBody>
          <a:bodyPr wrap="square" lIns="0" tIns="0" rIns="0" bIns="0" anchor="t">
            <a:noAutofit/>
          </a:bodyPr>
          <a:lstStyle/>
          <a:p>
            <a:pPr algn="r">
              <a:buNone/>
              <a:defRPr sz="825" b="0">
                <a:solidFill>
                  <a:srgbClr val="5E6470"/>
                </a:solidFill>
                <a:latin typeface="Helvetica Neue"/>
                <a:ea typeface="Helvetica Neue"/>
                <a:cs typeface="Helvetica Neue"/>
              </a:defRPr>
            </a:pPr>
            <a:r>
              <a:rPr sz="825" b="0">
                <a:solidFill>
                  <a:srgbClr val="5E6470"/>
                </a:solidFill>
                <a:latin typeface="Helvetica Neue"/>
                <a:ea typeface="Helvetica Neue"/>
                <a:cs typeface="Helvetica Neue"/>
              </a:rPr>
              <a:t>10</a:t>
            </a:r>
          </a:p>
        </p:txBody>
      </p:sp>
      <p:pic>
        <p:nvPicPr>
          <p:cNvPr id="36" name="图片 35"/>
          <p:cNvPicPr>
            <a:picLocks noChangeAspect="1"/>
          </p:cNvPicPr>
          <p:nvPr/>
        </p:nvPicPr>
        <p:blipFill>
          <a:blip r:embed="rId3"/>
          <a:stretch/>
        </p:blipFill>
        <p:spPr>
          <a:xfrm>
            <a:off x="647700" y="1918777"/>
            <a:ext cx="2381250" cy="1658371"/>
          </a:xfrm>
          <a:prstGeom prst="rect">
            <a:avLst/>
          </a:prstGeom>
        </p:spPr>
      </p:pic>
      <p:pic>
        <p:nvPicPr>
          <p:cNvPr id="37" name="图片 36"/>
          <p:cNvPicPr>
            <a:picLocks noChangeAspect="1"/>
          </p:cNvPicPr>
          <p:nvPr/>
        </p:nvPicPr>
        <p:blipFill>
          <a:blip r:embed="rId4"/>
          <a:stretch/>
        </p:blipFill>
        <p:spPr>
          <a:xfrm>
            <a:off x="3143250" y="1918777"/>
            <a:ext cx="2381250" cy="1658371"/>
          </a:xfrm>
          <a:prstGeom prst="rect">
            <a:avLst/>
          </a:prstGeom>
        </p:spPr>
      </p:pic>
      <p:pic>
        <p:nvPicPr>
          <p:cNvPr id="38" name="图片 37"/>
          <p:cNvPicPr>
            <a:picLocks noChangeAspect="1"/>
          </p:cNvPicPr>
          <p:nvPr/>
        </p:nvPicPr>
        <p:blipFill>
          <a:blip r:embed="rId5"/>
          <a:stretch/>
        </p:blipFill>
        <p:spPr>
          <a:xfrm>
            <a:off x="6610350" y="1933324"/>
            <a:ext cx="2381250" cy="1629276"/>
          </a:xfrm>
          <a:prstGeom prst="rect">
            <a:avLst/>
          </a:prstGeom>
        </p:spPr>
      </p:pic>
      <p:pic>
        <p:nvPicPr>
          <p:cNvPr id="39" name="图片 38"/>
          <p:cNvPicPr>
            <a:picLocks noChangeAspect="1"/>
          </p:cNvPicPr>
          <p:nvPr/>
        </p:nvPicPr>
        <p:blipFill>
          <a:blip r:embed="rId6"/>
          <a:stretch/>
        </p:blipFill>
        <p:spPr>
          <a:xfrm>
            <a:off x="9105900" y="2117372"/>
            <a:ext cx="2381250" cy="1261181"/>
          </a:xfrm>
          <a:prstGeom prst="rect">
            <a:avLst/>
          </a:prstGeom>
        </p:spPr>
      </p:pic>
    </p:spTree>
    <p:extLst>
      <p:ext uri="{BB962C8B-B14F-4D97-AF65-F5344CB8AC3E}">
        <p14:creationId xmlns:p14="http://schemas.microsoft.com/office/powerpoint/2010/main" val="21435659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矩形 28">
            <a:extLst>
              <a:ext uri="{FF2B5EF4-FFF2-40B4-BE49-F238E27FC236}">
                <a16:creationId xmlns:a16="http://schemas.microsoft.com/office/drawing/2014/main" id="{E06DC980-A185-47CF-A562-C651AF5AB3FF}"/>
              </a:ext>
            </a:extLst>
          </p:cNvPr>
          <p:cNvSpPr>
            <a:spLocks noGrp="1"/>
          </p:cNvSpPr>
          <p:nvPr/>
        </p:nvSpPr>
        <p:spPr>
          <a:xfrm>
            <a:off x="419100" y="171450"/>
            <a:ext cx="2952750" cy="228600"/>
          </a:xfrm>
          <a:prstGeom prst="rect">
            <a:avLst/>
          </a:prstGeom>
          <a:noFill/>
          <a:ln w="0">
            <a:noFill/>
            <a:prstDash val="solid"/>
          </a:ln>
        </p:spPr>
        <p:txBody>
          <a:bodyPr wrap="square" lIns="0" tIns="0" rIns="0" bIns="0" anchor="t">
            <a:noAutofit/>
          </a:bodyPr>
          <a:lstStyle/>
          <a:p>
            <a:pPr algn="l">
              <a:buNone/>
              <a:defRPr sz="975" b="1">
                <a:solidFill>
                  <a:srgbClr val="5E6470"/>
                </a:solidFill>
                <a:latin typeface="Helvetica Neue"/>
                <a:ea typeface="Helvetica Neue"/>
                <a:cs typeface="Helvetica Neue"/>
              </a:defRPr>
            </a:pPr>
            <a:r>
              <a:rPr sz="975" b="1">
                <a:solidFill>
                  <a:srgbClr val="5E6470"/>
                </a:solidFill>
                <a:latin typeface="Helvetica Neue"/>
                <a:ea typeface="Helvetica Neue"/>
                <a:cs typeface="Helvetica Neue"/>
              </a:rPr>
              <a:t>I · ENTROPY MECHANISM</a:t>
            </a:r>
          </a:p>
        </p:txBody>
      </p:sp>
      <p:sp>
        <p:nvSpPr>
          <p:cNvPr id="2" name="矩形 1">
            <a:extLst>
              <a:ext uri="{FF2B5EF4-FFF2-40B4-BE49-F238E27FC236}">
                <a16:creationId xmlns:a16="http://schemas.microsoft.com/office/drawing/2014/main" id="{C63551DF-BF60-4FA1-8188-3DED08A560DA}"/>
              </a:ext>
            </a:extLst>
          </p:cNvPr>
          <p:cNvSpPr>
            <a:spLocks noGrp="1"/>
          </p:cNvSpPr>
          <p:nvPr/>
        </p:nvSpPr>
        <p:spPr>
          <a:xfrm>
            <a:off x="419100" y="533399"/>
            <a:ext cx="11353800" cy="514350"/>
          </a:xfrm>
          <a:prstGeom prst="rect">
            <a:avLst/>
          </a:prstGeom>
          <a:noFill/>
          <a:ln w="0">
            <a:noFill/>
            <a:prstDash val="solid"/>
          </a:ln>
        </p:spPr>
        <p:txBody>
          <a:bodyPr wrap="square" lIns="0" tIns="0" rIns="0" bIns="0" anchor="t">
            <a:noAutofit/>
          </a:bodyPr>
          <a:lstStyle/>
          <a:p>
            <a:pPr algn="l">
              <a:buNone/>
              <a:defRPr sz="2850" b="1">
                <a:solidFill>
                  <a:srgbClr val="101214"/>
                </a:solidFill>
                <a:latin typeface="Hiragino Sans GB"/>
                <a:ea typeface="Hiragino Sans GB"/>
                <a:cs typeface="Hiragino Sans GB"/>
              </a:defRPr>
            </a:pPr>
            <a:r>
              <a:rPr sz="2850" b="1">
                <a:solidFill>
                  <a:srgbClr val="101214"/>
                </a:solidFill>
                <a:latin typeface="Hiragino Sans GB"/>
                <a:ea typeface="Hiragino Sans GB"/>
                <a:cs typeface="Hiragino Sans GB"/>
              </a:rPr>
              <a:t>STEER：把 |ΔH| 映射为 token-level trust weight</a:t>
            </a:r>
          </a:p>
        </p:txBody>
      </p:sp>
      <p:sp>
        <p:nvSpPr>
          <p:cNvPr id="3" name="圆角矩形 2">
            <a:extLst>
              <a:ext uri="{FF2B5EF4-FFF2-40B4-BE49-F238E27FC236}">
                <a16:creationId xmlns:a16="http://schemas.microsoft.com/office/drawing/2014/main" id="{D0D99683-453E-49B4-96D4-B8F0265CB56E}"/>
              </a:ext>
            </a:extLst>
          </p:cNvPr>
          <p:cNvSpPr>
            <a:spLocks noGrp="1"/>
          </p:cNvSpPr>
          <p:nvPr/>
        </p:nvSpPr>
        <p:spPr>
          <a:xfrm>
            <a:off x="361950" y="1662112"/>
            <a:ext cx="5334000" cy="1524000"/>
          </a:xfrm>
          <a:prstGeom prst="roundRect">
            <a:avLst>
              <a:gd name="adj" fmla="val 5000"/>
            </a:avLst>
          </a:prstGeom>
          <a:solidFill>
            <a:srgbClr val="EAF5FB"/>
          </a:solidFill>
          <a:ln w="0">
            <a:noFill/>
            <a:prstDash val="solid"/>
          </a:ln>
        </p:spPr>
      </p:sp>
      <p:sp>
        <p:nvSpPr>
          <p:cNvPr id="4" name="矩形 3">
            <a:extLst>
              <a:ext uri="{FF2B5EF4-FFF2-40B4-BE49-F238E27FC236}">
                <a16:creationId xmlns:a16="http://schemas.microsoft.com/office/drawing/2014/main" id="{FFF09F37-351E-4AEB-943F-0CC2C14B2D55}"/>
              </a:ext>
            </a:extLst>
          </p:cNvPr>
          <p:cNvSpPr>
            <a:spLocks noGrp="1"/>
          </p:cNvSpPr>
          <p:nvPr/>
        </p:nvSpPr>
        <p:spPr>
          <a:xfrm>
            <a:off x="628650" y="2024062"/>
            <a:ext cx="4762500" cy="457200"/>
          </a:xfrm>
          <a:prstGeom prst="rect">
            <a:avLst/>
          </a:prstGeom>
          <a:noFill/>
          <a:ln w="0">
            <a:noFill/>
            <a:prstDash val="solid"/>
          </a:ln>
        </p:spPr>
        <p:txBody>
          <a:bodyPr wrap="square" lIns="0" tIns="0" rIns="0" bIns="0" anchor="t">
            <a:noAutofit/>
          </a:bodyPr>
          <a:lstStyle/>
          <a:p>
            <a:pPr algn="ctr">
              <a:buNone/>
              <a:defRPr sz="2100" b="1">
                <a:solidFill>
                  <a:srgbClr val="2787F5"/>
                </a:solidFill>
                <a:latin typeface="Cambria Math"/>
                <a:ea typeface="Cambria Math"/>
                <a:cs typeface="Cambria Math"/>
              </a:defRPr>
            </a:pPr>
            <a:r>
              <a:rPr sz="2100" b="1">
                <a:solidFill>
                  <a:srgbClr val="2787F5"/>
                </a:solidFill>
                <a:latin typeface="Cambria Math"/>
                <a:ea typeface="Cambria Math"/>
                <a:cs typeface="Cambria Math"/>
              </a:rPr>
              <a:t>λ(s) = exp[−α · |Ω(s)| / maxB |Ω|]</a:t>
            </a:r>
          </a:p>
        </p:txBody>
      </p:sp>
      <p:sp>
        <p:nvSpPr>
          <p:cNvPr id="5" name="矩形 4">
            <a:extLst>
              <a:ext uri="{FF2B5EF4-FFF2-40B4-BE49-F238E27FC236}">
                <a16:creationId xmlns:a16="http://schemas.microsoft.com/office/drawing/2014/main" id="{11F02711-D12D-4AAD-9431-5B5922AFBC8B}"/>
              </a:ext>
            </a:extLst>
          </p:cNvPr>
          <p:cNvSpPr>
            <a:spLocks noGrp="1"/>
          </p:cNvSpPr>
          <p:nvPr/>
        </p:nvSpPr>
        <p:spPr>
          <a:xfrm>
            <a:off x="723900" y="2557462"/>
            <a:ext cx="4667250" cy="514350"/>
          </a:xfrm>
          <a:prstGeom prst="rect">
            <a:avLst/>
          </a:prstGeom>
          <a:noFill/>
          <a:ln w="0">
            <a:noFill/>
            <a:prstDash val="solid"/>
          </a:ln>
        </p:spPr>
        <p:txBody>
          <a:bodyPr wrap="square" lIns="0" tIns="0" rIns="0" bIns="0" anchor="t">
            <a:noAutofit/>
          </a:bodyPr>
          <a:lstStyle/>
          <a:p>
            <a:pPr algn="l">
              <a:buNone/>
              <a:defRPr sz="1088" b="0">
                <a:solidFill>
                  <a:srgbClr val="5E6470"/>
                </a:solidFill>
                <a:latin typeface="Hiragino Sans GB"/>
                <a:ea typeface="Hiragino Sans GB"/>
                <a:cs typeface="Hiragino Sans GB"/>
              </a:defRPr>
            </a:pPr>
            <a:r>
              <a:rPr sz="1100" b="0" dirty="0" err="1">
                <a:solidFill>
                  <a:srgbClr val="5E6470"/>
                </a:solidFill>
                <a:latin typeface="Hiragino Sans GB"/>
                <a:ea typeface="Hiragino Sans GB"/>
                <a:cs typeface="Hiragino Sans GB"/>
              </a:rPr>
              <a:t>Ω</a:t>
            </a:r>
            <a:r>
              <a:rPr sz="1100" b="0" dirty="0">
                <a:solidFill>
                  <a:srgbClr val="5E6470"/>
                </a:solidFill>
                <a:latin typeface="Hiragino Sans GB"/>
                <a:ea typeface="Hiragino Sans GB"/>
                <a:cs typeface="Hiragino Sans GB"/>
              </a:rPr>
              <a:t>(s)：</a:t>
            </a:r>
            <a:r>
              <a:rPr sz="1100" b="0" dirty="0" err="1">
                <a:solidFill>
                  <a:srgbClr val="5E6470"/>
                </a:solidFill>
                <a:latin typeface="Hiragino Sans GB"/>
                <a:ea typeface="Hiragino Sans GB"/>
                <a:cs typeface="Hiragino Sans GB"/>
              </a:rPr>
              <a:t>由</a:t>
            </a:r>
            <a:r>
              <a:rPr sz="1100" b="0" dirty="0">
                <a:solidFill>
                  <a:srgbClr val="5E6470"/>
                </a:solidFill>
                <a:latin typeface="Hiragino Sans GB"/>
                <a:ea typeface="Hiragino Sans GB"/>
                <a:cs typeface="Hiragino Sans GB"/>
              </a:rPr>
              <a:t> </a:t>
            </a:r>
            <a:r>
              <a:rPr sz="1100" b="0" dirty="0" err="1">
                <a:solidFill>
                  <a:srgbClr val="5E6470"/>
                </a:solidFill>
                <a:latin typeface="Hiragino Sans GB"/>
                <a:ea typeface="Hiragino Sans GB"/>
                <a:cs typeface="Hiragino Sans GB"/>
              </a:rPr>
              <a:t>Iclip、A</a:t>
            </a:r>
            <a:r>
              <a:rPr sz="1100" b="0" dirty="0">
                <a:solidFill>
                  <a:srgbClr val="5E6470"/>
                </a:solidFill>
                <a:latin typeface="Hiragino Sans GB"/>
                <a:ea typeface="Hiragino Sans GB"/>
                <a:cs typeface="Hiragino Sans GB"/>
              </a:rPr>
              <a:t>、πold、π</a:t>
            </a:r>
            <a:r>
              <a:rPr sz="1100" b="0" dirty="0" err="1">
                <a:solidFill>
                  <a:srgbClr val="5E6470"/>
                </a:solidFill>
                <a:latin typeface="Hiragino Sans GB"/>
                <a:ea typeface="Hiragino Sans GB"/>
                <a:cs typeface="Hiragino Sans GB"/>
              </a:rPr>
              <a:t>θ</a:t>
            </a:r>
            <a:r>
              <a:rPr sz="1100" b="0" dirty="0">
                <a:solidFill>
                  <a:srgbClr val="5E6470"/>
                </a:solidFill>
                <a:latin typeface="Hiragino Sans GB"/>
                <a:ea typeface="Hiragino Sans GB"/>
                <a:cs typeface="Hiragino Sans GB"/>
              </a:rPr>
              <a:t> </a:t>
            </a:r>
            <a:r>
              <a:rPr sz="1100" b="0" dirty="0" err="1">
                <a:solidFill>
                  <a:srgbClr val="5E6470"/>
                </a:solidFill>
                <a:latin typeface="Hiragino Sans GB"/>
                <a:ea typeface="Hiragino Sans GB"/>
                <a:cs typeface="Hiragino Sans GB"/>
              </a:rPr>
              <a:t>与</a:t>
            </a:r>
            <a:r>
              <a:rPr sz="1100" b="0" dirty="0">
                <a:solidFill>
                  <a:srgbClr val="5E6470"/>
                </a:solidFill>
                <a:latin typeface="Hiragino Sans GB"/>
                <a:ea typeface="Hiragino Sans GB"/>
                <a:cs typeface="Hiragino Sans GB"/>
              </a:rPr>
              <a:t> H(s) </a:t>
            </a:r>
            <a:r>
              <a:rPr sz="1100" b="0" dirty="0" err="1">
                <a:solidFill>
                  <a:srgbClr val="5E6470"/>
                </a:solidFill>
                <a:latin typeface="Hiragino Sans GB"/>
                <a:ea typeface="Hiragino Sans GB"/>
                <a:cs typeface="Hiragino Sans GB"/>
              </a:rPr>
              <a:t>得到的单</a:t>
            </a:r>
            <a:r>
              <a:rPr sz="1100" b="0" dirty="0">
                <a:solidFill>
                  <a:srgbClr val="5E6470"/>
                </a:solidFill>
                <a:latin typeface="Hiragino Sans GB"/>
                <a:ea typeface="Hiragino Sans GB"/>
                <a:cs typeface="Hiragino Sans GB"/>
              </a:rPr>
              <a:t> token </a:t>
            </a:r>
            <a:r>
              <a:rPr sz="1100" b="0" dirty="0" err="1">
                <a:solidFill>
                  <a:srgbClr val="5E6470"/>
                </a:solidFill>
                <a:latin typeface="Hiragino Sans GB"/>
                <a:ea typeface="Hiragino Sans GB"/>
                <a:cs typeface="Hiragino Sans GB"/>
              </a:rPr>
              <a:t>熵变化近似</a:t>
            </a:r>
            <a:r>
              <a:rPr sz="1100" b="0" dirty="0">
                <a:solidFill>
                  <a:srgbClr val="5E6470"/>
                </a:solidFill>
                <a:latin typeface="Hiragino Sans GB"/>
                <a:ea typeface="Hiragino Sans GB"/>
                <a:cs typeface="Hiragino Sans GB"/>
              </a:rPr>
              <a:t>。</a:t>
            </a:r>
          </a:p>
          <a:p>
            <a:pPr algn="l">
              <a:buNone/>
              <a:defRPr sz="1088" b="0">
                <a:solidFill>
                  <a:srgbClr val="5E6470"/>
                </a:solidFill>
                <a:latin typeface="Hiragino Sans GB"/>
                <a:ea typeface="Hiragino Sans GB"/>
                <a:cs typeface="Hiragino Sans GB"/>
              </a:defRPr>
            </a:pPr>
            <a:r>
              <a:rPr sz="1100" b="0" dirty="0" err="1">
                <a:solidFill>
                  <a:srgbClr val="5E6470"/>
                </a:solidFill>
                <a:latin typeface="Hiragino Sans GB"/>
                <a:ea typeface="Hiragino Sans GB"/>
                <a:cs typeface="Hiragino Sans GB"/>
              </a:rPr>
              <a:t>取</a:t>
            </a:r>
            <a:r>
              <a:rPr sz="1100" b="0" dirty="0">
                <a:solidFill>
                  <a:srgbClr val="5E6470"/>
                </a:solidFill>
                <a:latin typeface="Hiragino Sans GB"/>
                <a:ea typeface="Hiragino Sans GB"/>
                <a:cs typeface="Hiragino Sans GB"/>
              </a:rPr>
              <a:t> |</a:t>
            </a:r>
            <a:r>
              <a:rPr sz="1100" b="0" dirty="0" err="1">
                <a:solidFill>
                  <a:srgbClr val="5E6470"/>
                </a:solidFill>
                <a:latin typeface="Hiragino Sans GB"/>
                <a:ea typeface="Hiragino Sans GB"/>
                <a:cs typeface="Hiragino Sans GB"/>
              </a:rPr>
              <a:t>Ω</a:t>
            </a:r>
            <a:r>
              <a:rPr sz="1100" b="0" dirty="0">
                <a:solidFill>
                  <a:srgbClr val="5E6470"/>
                </a:solidFill>
                <a:latin typeface="Hiragino Sans GB"/>
                <a:ea typeface="Hiragino Sans GB"/>
                <a:cs typeface="Hiragino Sans GB"/>
              </a:rPr>
              <a:t>|：爆熵与坍缩都属于“</a:t>
            </a:r>
            <a:r>
              <a:rPr sz="1100" b="0" dirty="0" err="1">
                <a:solidFill>
                  <a:srgbClr val="5E6470"/>
                </a:solidFill>
                <a:latin typeface="Hiragino Sans GB"/>
                <a:ea typeface="Hiragino Sans GB"/>
                <a:cs typeface="Hiragino Sans GB"/>
              </a:rPr>
              <a:t>变化过大</a:t>
            </a:r>
            <a:r>
              <a:rPr sz="1100" b="0" dirty="0">
                <a:solidFill>
                  <a:srgbClr val="5E6470"/>
                </a:solidFill>
                <a:latin typeface="Hiragino Sans GB"/>
                <a:ea typeface="Hiragino Sans GB"/>
                <a:cs typeface="Hiragino Sans GB"/>
              </a:rPr>
              <a:t>”，</a:t>
            </a:r>
            <a:r>
              <a:rPr sz="1100" b="0" dirty="0" err="1">
                <a:solidFill>
                  <a:srgbClr val="5E6470"/>
                </a:solidFill>
                <a:latin typeface="Hiragino Sans GB"/>
                <a:ea typeface="Hiragino Sans GB"/>
                <a:cs typeface="Hiragino Sans GB"/>
              </a:rPr>
              <a:t>都应被抑制</a:t>
            </a:r>
            <a:r>
              <a:rPr sz="1100" b="0" dirty="0">
                <a:solidFill>
                  <a:srgbClr val="5E6470"/>
                </a:solidFill>
                <a:latin typeface="Hiragino Sans GB"/>
                <a:ea typeface="Hiragino Sans GB"/>
                <a:cs typeface="Hiragino Sans GB"/>
              </a:rPr>
              <a:t>。</a:t>
            </a:r>
          </a:p>
        </p:txBody>
      </p:sp>
      <p:sp>
        <p:nvSpPr>
          <p:cNvPr id="6" name="圆角矩形 5">
            <a:extLst>
              <a:ext uri="{FF2B5EF4-FFF2-40B4-BE49-F238E27FC236}">
                <a16:creationId xmlns:a16="http://schemas.microsoft.com/office/drawing/2014/main" id="{69FFC317-20BC-4CC8-991A-AC7744CDF33E}"/>
              </a:ext>
            </a:extLst>
          </p:cNvPr>
          <p:cNvSpPr>
            <a:spLocks noGrp="1"/>
          </p:cNvSpPr>
          <p:nvPr/>
        </p:nvSpPr>
        <p:spPr>
          <a:xfrm>
            <a:off x="6134100" y="1852612"/>
            <a:ext cx="1524000" cy="1066800"/>
          </a:xfrm>
          <a:prstGeom prst="roundRect">
            <a:avLst>
              <a:gd name="adj" fmla="val 7143"/>
            </a:avLst>
          </a:prstGeom>
          <a:solidFill>
            <a:srgbClr val="F1F2F4"/>
          </a:solidFill>
          <a:ln w="0">
            <a:noFill/>
            <a:prstDash val="solid"/>
          </a:ln>
        </p:spPr>
      </p:sp>
      <p:sp>
        <p:nvSpPr>
          <p:cNvPr id="7" name="矩形 6">
            <a:extLst>
              <a:ext uri="{FF2B5EF4-FFF2-40B4-BE49-F238E27FC236}">
                <a16:creationId xmlns:a16="http://schemas.microsoft.com/office/drawing/2014/main" id="{336E9108-F327-4314-9901-ABB915490C87}"/>
              </a:ext>
            </a:extLst>
          </p:cNvPr>
          <p:cNvSpPr>
            <a:spLocks noGrp="1"/>
          </p:cNvSpPr>
          <p:nvPr/>
        </p:nvSpPr>
        <p:spPr>
          <a:xfrm>
            <a:off x="6267450" y="1947862"/>
            <a:ext cx="1257300" cy="304800"/>
          </a:xfrm>
          <a:prstGeom prst="rect">
            <a:avLst/>
          </a:prstGeom>
          <a:noFill/>
          <a:ln w="0">
            <a:noFill/>
            <a:prstDash val="solid"/>
          </a:ln>
        </p:spPr>
        <p:txBody>
          <a:bodyPr wrap="square" lIns="0" tIns="0" rIns="0" bIns="0" anchor="t">
            <a:noAutofit/>
          </a:bodyPr>
          <a:lstStyle/>
          <a:p>
            <a:pPr algn="l">
              <a:buNone/>
              <a:defRPr sz="1388" b="1">
                <a:solidFill>
                  <a:srgbClr val="101214"/>
                </a:solidFill>
                <a:latin typeface="Hiragino Sans GB"/>
                <a:ea typeface="Hiragino Sans GB"/>
                <a:cs typeface="Hiragino Sans GB"/>
              </a:defRPr>
            </a:pPr>
            <a:r>
              <a:rPr sz="1388" b="1">
                <a:solidFill>
                  <a:srgbClr val="101214"/>
                </a:solidFill>
                <a:latin typeface="Hiragino Sans GB"/>
                <a:ea typeface="Hiragino Sans GB"/>
                <a:cs typeface="Hiragino Sans GB"/>
              </a:rPr>
              <a:t>估计</a:t>
            </a:r>
          </a:p>
        </p:txBody>
      </p:sp>
      <p:sp>
        <p:nvSpPr>
          <p:cNvPr id="8" name="矩形 7">
            <a:extLst>
              <a:ext uri="{FF2B5EF4-FFF2-40B4-BE49-F238E27FC236}">
                <a16:creationId xmlns:a16="http://schemas.microsoft.com/office/drawing/2014/main" id="{BCDA0864-E645-4948-BB61-33EE88BCB975}"/>
              </a:ext>
            </a:extLst>
          </p:cNvPr>
          <p:cNvSpPr>
            <a:spLocks noGrp="1"/>
          </p:cNvSpPr>
          <p:nvPr/>
        </p:nvSpPr>
        <p:spPr>
          <a:xfrm>
            <a:off x="6267450" y="2309812"/>
            <a:ext cx="1257300" cy="533400"/>
          </a:xfrm>
          <a:prstGeom prst="rect">
            <a:avLst/>
          </a:prstGeom>
          <a:noFill/>
          <a:ln w="0">
            <a:noFill/>
            <a:prstDash val="solid"/>
          </a:ln>
        </p:spPr>
        <p:txBody>
          <a:bodyPr wrap="square" lIns="0" tIns="0" rIns="0" bIns="0" anchor="t">
            <a:noAutofit/>
          </a:bodyPr>
          <a:lstStyle/>
          <a:p>
            <a:pPr algn="l">
              <a:buNone/>
              <a:defRPr sz="938" b="0">
                <a:solidFill>
                  <a:srgbClr val="5E6470"/>
                </a:solidFill>
                <a:latin typeface="Hiragino Sans GB"/>
                <a:ea typeface="Hiragino Sans GB"/>
                <a:cs typeface="Hiragino Sans GB"/>
              </a:defRPr>
            </a:pPr>
            <a:r>
              <a:rPr sz="938" b="0">
                <a:solidFill>
                  <a:srgbClr val="5E6470"/>
                </a:solidFill>
                <a:latin typeface="Hiragino Sans GB"/>
                <a:ea typeface="Hiragino Sans GB"/>
                <a:cs typeface="Hiragino Sans GB"/>
              </a:rPr>
              <a:t>由 Iclip、A、πold、πθ、H(s) 计算 token-level Ω(s)。</a:t>
            </a:r>
          </a:p>
        </p:txBody>
      </p:sp>
      <p:sp>
        <p:nvSpPr>
          <p:cNvPr id="9" name="矩形 8">
            <a:extLst>
              <a:ext uri="{FF2B5EF4-FFF2-40B4-BE49-F238E27FC236}">
                <a16:creationId xmlns:a16="http://schemas.microsoft.com/office/drawing/2014/main" id="{8F9E7DD1-1F07-46EE-9D1E-0F31C2519339}"/>
              </a:ext>
            </a:extLst>
          </p:cNvPr>
          <p:cNvSpPr>
            <a:spLocks noGrp="1"/>
          </p:cNvSpPr>
          <p:nvPr/>
        </p:nvSpPr>
        <p:spPr>
          <a:xfrm>
            <a:off x="7696200" y="2166937"/>
            <a:ext cx="323850" cy="381000"/>
          </a:xfrm>
          <a:prstGeom prst="rect">
            <a:avLst/>
          </a:prstGeom>
          <a:noFill/>
          <a:ln w="0">
            <a:noFill/>
            <a:prstDash val="solid"/>
          </a:ln>
        </p:spPr>
        <p:txBody>
          <a:bodyPr wrap="square" lIns="0" tIns="0" rIns="0" bIns="0" anchor="ctr">
            <a:noAutofit/>
          </a:bodyPr>
          <a:lstStyle/>
          <a:p>
            <a:pPr algn="ctr">
              <a:buNone/>
              <a:defRPr sz="2250" b="0">
                <a:solidFill>
                  <a:srgbClr val="5E6470"/>
                </a:solidFill>
                <a:latin typeface="Helvetica Neue"/>
                <a:ea typeface="Helvetica Neue"/>
                <a:cs typeface="Helvetica Neue"/>
              </a:defRPr>
            </a:pPr>
            <a:r>
              <a:rPr sz="2250" b="0">
                <a:solidFill>
                  <a:srgbClr val="5E6470"/>
                </a:solidFill>
                <a:latin typeface="Helvetica Neue"/>
                <a:ea typeface="Helvetica Neue"/>
                <a:cs typeface="Helvetica Neue"/>
              </a:rPr>
              <a:t>→</a:t>
            </a:r>
          </a:p>
        </p:txBody>
      </p:sp>
      <p:sp>
        <p:nvSpPr>
          <p:cNvPr id="10" name="圆角矩形 9">
            <a:extLst>
              <a:ext uri="{FF2B5EF4-FFF2-40B4-BE49-F238E27FC236}">
                <a16:creationId xmlns:a16="http://schemas.microsoft.com/office/drawing/2014/main" id="{29171762-F82F-4F96-8CFE-1C8700EA1480}"/>
              </a:ext>
            </a:extLst>
          </p:cNvPr>
          <p:cNvSpPr>
            <a:spLocks noGrp="1"/>
          </p:cNvSpPr>
          <p:nvPr/>
        </p:nvSpPr>
        <p:spPr>
          <a:xfrm>
            <a:off x="8039100" y="1852612"/>
            <a:ext cx="1524000" cy="1066800"/>
          </a:xfrm>
          <a:prstGeom prst="roundRect">
            <a:avLst>
              <a:gd name="adj" fmla="val 7143"/>
            </a:avLst>
          </a:prstGeom>
          <a:solidFill>
            <a:srgbClr val="F1F2F4"/>
          </a:solidFill>
          <a:ln w="0">
            <a:noFill/>
            <a:prstDash val="solid"/>
          </a:ln>
        </p:spPr>
      </p:sp>
      <p:sp>
        <p:nvSpPr>
          <p:cNvPr id="11" name="矩形 10">
            <a:extLst>
              <a:ext uri="{FF2B5EF4-FFF2-40B4-BE49-F238E27FC236}">
                <a16:creationId xmlns:a16="http://schemas.microsoft.com/office/drawing/2014/main" id="{8E4680AD-C3EB-424E-9423-5176FB958FC9}"/>
              </a:ext>
            </a:extLst>
          </p:cNvPr>
          <p:cNvSpPr>
            <a:spLocks noGrp="1"/>
          </p:cNvSpPr>
          <p:nvPr/>
        </p:nvSpPr>
        <p:spPr>
          <a:xfrm>
            <a:off x="8172450" y="1947862"/>
            <a:ext cx="1257300" cy="304800"/>
          </a:xfrm>
          <a:prstGeom prst="rect">
            <a:avLst/>
          </a:prstGeom>
          <a:noFill/>
          <a:ln w="0">
            <a:noFill/>
            <a:prstDash val="solid"/>
          </a:ln>
        </p:spPr>
        <p:txBody>
          <a:bodyPr wrap="square" lIns="0" tIns="0" rIns="0" bIns="0" anchor="t">
            <a:noAutofit/>
          </a:bodyPr>
          <a:lstStyle/>
          <a:p>
            <a:pPr algn="l">
              <a:buNone/>
              <a:defRPr sz="1388" b="1">
                <a:solidFill>
                  <a:srgbClr val="101214"/>
                </a:solidFill>
                <a:latin typeface="Hiragino Sans GB"/>
                <a:ea typeface="Hiragino Sans GB"/>
                <a:cs typeface="Hiragino Sans GB"/>
              </a:defRPr>
            </a:pPr>
            <a:r>
              <a:rPr sz="1388" b="1">
                <a:solidFill>
                  <a:srgbClr val="101214"/>
                </a:solidFill>
                <a:latin typeface="Hiragino Sans GB"/>
                <a:ea typeface="Hiragino Sans GB"/>
                <a:cs typeface="Hiragino Sans GB"/>
              </a:rPr>
              <a:t>映射</a:t>
            </a:r>
          </a:p>
        </p:txBody>
      </p:sp>
      <p:sp>
        <p:nvSpPr>
          <p:cNvPr id="12" name="矩形 11">
            <a:extLst>
              <a:ext uri="{FF2B5EF4-FFF2-40B4-BE49-F238E27FC236}">
                <a16:creationId xmlns:a16="http://schemas.microsoft.com/office/drawing/2014/main" id="{B84D2BED-9FE6-426E-8DF8-0822EB849888}"/>
              </a:ext>
            </a:extLst>
          </p:cNvPr>
          <p:cNvSpPr>
            <a:spLocks noGrp="1"/>
          </p:cNvSpPr>
          <p:nvPr/>
        </p:nvSpPr>
        <p:spPr>
          <a:xfrm>
            <a:off x="8172450" y="2309812"/>
            <a:ext cx="1257300" cy="533400"/>
          </a:xfrm>
          <a:prstGeom prst="rect">
            <a:avLst/>
          </a:prstGeom>
          <a:noFill/>
          <a:ln w="0">
            <a:noFill/>
            <a:prstDash val="solid"/>
          </a:ln>
        </p:spPr>
        <p:txBody>
          <a:bodyPr wrap="square" lIns="0" tIns="0" rIns="0" bIns="0" anchor="t">
            <a:noAutofit/>
          </a:bodyPr>
          <a:lstStyle/>
          <a:p>
            <a:pPr algn="l">
              <a:buNone/>
              <a:defRPr sz="938" b="0">
                <a:solidFill>
                  <a:srgbClr val="5E6470"/>
                </a:solidFill>
                <a:latin typeface="Hiragino Sans GB"/>
                <a:ea typeface="Hiragino Sans GB"/>
                <a:cs typeface="Hiragino Sans GB"/>
              </a:defRPr>
            </a:pPr>
            <a:r>
              <a:rPr sz="938" b="0">
                <a:solidFill>
                  <a:srgbClr val="5E6470"/>
                </a:solidFill>
                <a:latin typeface="Hiragino Sans GB"/>
                <a:ea typeface="Hiragino Sans GB"/>
                <a:cs typeface="Hiragino Sans GB"/>
              </a:rPr>
              <a:t>按 batch max |Ω| 归一化；指数映射到 [λmin,1]。</a:t>
            </a:r>
          </a:p>
        </p:txBody>
      </p:sp>
      <p:sp>
        <p:nvSpPr>
          <p:cNvPr id="13" name="矩形 12">
            <a:extLst>
              <a:ext uri="{FF2B5EF4-FFF2-40B4-BE49-F238E27FC236}">
                <a16:creationId xmlns:a16="http://schemas.microsoft.com/office/drawing/2014/main" id="{25F2C5CE-8F23-41F0-9992-B281E9F033FD}"/>
              </a:ext>
            </a:extLst>
          </p:cNvPr>
          <p:cNvSpPr>
            <a:spLocks noGrp="1"/>
          </p:cNvSpPr>
          <p:nvPr/>
        </p:nvSpPr>
        <p:spPr>
          <a:xfrm>
            <a:off x="9601200" y="2166937"/>
            <a:ext cx="323850" cy="381000"/>
          </a:xfrm>
          <a:prstGeom prst="rect">
            <a:avLst/>
          </a:prstGeom>
          <a:noFill/>
          <a:ln w="0">
            <a:noFill/>
            <a:prstDash val="solid"/>
          </a:ln>
        </p:spPr>
        <p:txBody>
          <a:bodyPr wrap="square" lIns="0" tIns="0" rIns="0" bIns="0" anchor="ctr">
            <a:noAutofit/>
          </a:bodyPr>
          <a:lstStyle/>
          <a:p>
            <a:pPr algn="ctr">
              <a:buNone/>
              <a:defRPr sz="2250" b="0">
                <a:solidFill>
                  <a:srgbClr val="5E6470"/>
                </a:solidFill>
                <a:latin typeface="Helvetica Neue"/>
                <a:ea typeface="Helvetica Neue"/>
                <a:cs typeface="Helvetica Neue"/>
              </a:defRPr>
            </a:pPr>
            <a:r>
              <a:rPr sz="2250" b="0">
                <a:solidFill>
                  <a:srgbClr val="5E6470"/>
                </a:solidFill>
                <a:latin typeface="Helvetica Neue"/>
                <a:ea typeface="Helvetica Neue"/>
                <a:cs typeface="Helvetica Neue"/>
              </a:rPr>
              <a:t>→</a:t>
            </a:r>
          </a:p>
        </p:txBody>
      </p:sp>
      <p:sp>
        <p:nvSpPr>
          <p:cNvPr id="14" name="圆角矩形 13">
            <a:extLst>
              <a:ext uri="{FF2B5EF4-FFF2-40B4-BE49-F238E27FC236}">
                <a16:creationId xmlns:a16="http://schemas.microsoft.com/office/drawing/2014/main" id="{64A1A9DD-9FE7-4D68-8053-C9D3DB65E532}"/>
              </a:ext>
            </a:extLst>
          </p:cNvPr>
          <p:cNvSpPr>
            <a:spLocks noGrp="1"/>
          </p:cNvSpPr>
          <p:nvPr/>
        </p:nvSpPr>
        <p:spPr>
          <a:xfrm>
            <a:off x="9944100" y="1852612"/>
            <a:ext cx="1524000" cy="1066800"/>
          </a:xfrm>
          <a:prstGeom prst="roundRect">
            <a:avLst>
              <a:gd name="adj" fmla="val 7143"/>
            </a:avLst>
          </a:prstGeom>
          <a:solidFill>
            <a:srgbClr val="EAF5FB"/>
          </a:solidFill>
          <a:ln w="0">
            <a:noFill/>
            <a:prstDash val="solid"/>
          </a:ln>
        </p:spPr>
      </p:sp>
      <p:sp>
        <p:nvSpPr>
          <p:cNvPr id="15" name="矩形 14">
            <a:extLst>
              <a:ext uri="{FF2B5EF4-FFF2-40B4-BE49-F238E27FC236}">
                <a16:creationId xmlns:a16="http://schemas.microsoft.com/office/drawing/2014/main" id="{725D3F5C-D8FE-41E9-8DC3-798B8F4D4AF8}"/>
              </a:ext>
            </a:extLst>
          </p:cNvPr>
          <p:cNvSpPr>
            <a:spLocks noGrp="1"/>
          </p:cNvSpPr>
          <p:nvPr/>
        </p:nvSpPr>
        <p:spPr>
          <a:xfrm>
            <a:off x="10077450" y="1947862"/>
            <a:ext cx="1257300" cy="304800"/>
          </a:xfrm>
          <a:prstGeom prst="rect">
            <a:avLst/>
          </a:prstGeom>
          <a:noFill/>
          <a:ln w="0">
            <a:noFill/>
            <a:prstDash val="solid"/>
          </a:ln>
        </p:spPr>
        <p:txBody>
          <a:bodyPr wrap="square" lIns="0" tIns="0" rIns="0" bIns="0" anchor="t">
            <a:noAutofit/>
          </a:bodyPr>
          <a:lstStyle/>
          <a:p>
            <a:pPr algn="l">
              <a:buNone/>
              <a:defRPr sz="1388" b="1">
                <a:solidFill>
                  <a:srgbClr val="2787F5"/>
                </a:solidFill>
                <a:latin typeface="Hiragino Sans GB"/>
                <a:ea typeface="Hiragino Sans GB"/>
                <a:cs typeface="Hiragino Sans GB"/>
              </a:defRPr>
            </a:pPr>
            <a:r>
              <a:rPr sz="1388" b="1">
                <a:solidFill>
                  <a:srgbClr val="2787F5"/>
                </a:solidFill>
                <a:latin typeface="Hiragino Sans GB"/>
                <a:ea typeface="Hiragino Sans GB"/>
                <a:cs typeface="Hiragino Sans GB"/>
              </a:rPr>
              <a:t>重加权</a:t>
            </a:r>
          </a:p>
        </p:txBody>
      </p:sp>
      <p:sp>
        <p:nvSpPr>
          <p:cNvPr id="16" name="矩形 15">
            <a:extLst>
              <a:ext uri="{FF2B5EF4-FFF2-40B4-BE49-F238E27FC236}">
                <a16:creationId xmlns:a16="http://schemas.microsoft.com/office/drawing/2014/main" id="{11B47345-4FA8-4413-8192-9E58C1137A9B}"/>
              </a:ext>
            </a:extLst>
          </p:cNvPr>
          <p:cNvSpPr>
            <a:spLocks noGrp="1"/>
          </p:cNvSpPr>
          <p:nvPr/>
        </p:nvSpPr>
        <p:spPr>
          <a:xfrm>
            <a:off x="10077450" y="2309812"/>
            <a:ext cx="1257300" cy="533400"/>
          </a:xfrm>
          <a:prstGeom prst="rect">
            <a:avLst/>
          </a:prstGeom>
          <a:noFill/>
          <a:ln w="0">
            <a:noFill/>
            <a:prstDash val="solid"/>
          </a:ln>
        </p:spPr>
        <p:txBody>
          <a:bodyPr wrap="square" lIns="0" tIns="0" rIns="0" bIns="0" anchor="t">
            <a:noAutofit/>
          </a:bodyPr>
          <a:lstStyle/>
          <a:p>
            <a:pPr algn="l">
              <a:buNone/>
              <a:defRPr sz="938" b="0">
                <a:solidFill>
                  <a:srgbClr val="5E6470"/>
                </a:solidFill>
                <a:latin typeface="Hiragino Sans GB"/>
                <a:ea typeface="Hiragino Sans GB"/>
                <a:cs typeface="Hiragino Sans GB"/>
              </a:defRPr>
            </a:pPr>
            <a:r>
              <a:rPr sz="938" b="0">
                <a:solidFill>
                  <a:srgbClr val="5E6470"/>
                </a:solidFill>
                <a:latin typeface="Hiragino Sans GB"/>
                <a:ea typeface="Hiragino Sans GB"/>
                <a:cs typeface="Hiragino Sans GB"/>
              </a:rPr>
              <a:t>policy gradient 乘 λ；大变化强降权，小变化 λ≈1。</a:t>
            </a:r>
          </a:p>
        </p:txBody>
      </p:sp>
      <p:sp>
        <p:nvSpPr>
          <p:cNvPr id="17" name="圆角矩形 16">
            <a:extLst>
              <a:ext uri="{FF2B5EF4-FFF2-40B4-BE49-F238E27FC236}">
                <a16:creationId xmlns:a16="http://schemas.microsoft.com/office/drawing/2014/main" id="{D738B496-89C4-4A2F-A81B-89633FE2019F}"/>
              </a:ext>
            </a:extLst>
          </p:cNvPr>
          <p:cNvSpPr>
            <a:spLocks noGrp="1"/>
          </p:cNvSpPr>
          <p:nvPr/>
        </p:nvSpPr>
        <p:spPr>
          <a:xfrm>
            <a:off x="419100" y="3924300"/>
            <a:ext cx="11353800" cy="1809750"/>
          </a:xfrm>
          <a:prstGeom prst="roundRect">
            <a:avLst>
              <a:gd name="adj" fmla="val 4211"/>
            </a:avLst>
          </a:prstGeom>
          <a:solidFill>
            <a:srgbClr val="F1F2F4"/>
          </a:solidFill>
          <a:ln w="0">
            <a:noFill/>
            <a:prstDash val="solid"/>
          </a:ln>
        </p:spPr>
      </p:sp>
      <p:sp>
        <p:nvSpPr>
          <p:cNvPr id="18" name="矩形 17">
            <a:extLst>
              <a:ext uri="{FF2B5EF4-FFF2-40B4-BE49-F238E27FC236}">
                <a16:creationId xmlns:a16="http://schemas.microsoft.com/office/drawing/2014/main" id="{E77C4AFA-9242-4139-B7F6-F5BD22216D96}"/>
              </a:ext>
            </a:extLst>
          </p:cNvPr>
          <p:cNvSpPr>
            <a:spLocks noGrp="1"/>
          </p:cNvSpPr>
          <p:nvPr/>
        </p:nvSpPr>
        <p:spPr>
          <a:xfrm>
            <a:off x="742950" y="4229100"/>
            <a:ext cx="5467350" cy="400050"/>
          </a:xfrm>
          <a:prstGeom prst="rect">
            <a:avLst/>
          </a:prstGeom>
          <a:noFill/>
          <a:ln w="0">
            <a:noFill/>
            <a:prstDash val="solid"/>
          </a:ln>
        </p:spPr>
        <p:txBody>
          <a:bodyPr wrap="square" lIns="0" tIns="0" rIns="0" bIns="0" anchor="t">
            <a:noAutofit/>
          </a:bodyPr>
          <a:lstStyle/>
          <a:p>
            <a:pPr algn="l">
              <a:buNone/>
              <a:defRPr sz="2250" b="1">
                <a:solidFill>
                  <a:srgbClr val="101214"/>
                </a:solidFill>
                <a:latin typeface="Hiragino Sans GB"/>
                <a:ea typeface="Hiragino Sans GB"/>
                <a:cs typeface="Hiragino Sans GB"/>
              </a:defRPr>
            </a:pPr>
            <a:r>
              <a:rPr sz="2250" b="1">
                <a:solidFill>
                  <a:srgbClr val="101214"/>
                </a:solidFill>
                <a:latin typeface="Hiragino Sans GB"/>
                <a:ea typeface="Hiragino Sans GB"/>
                <a:cs typeface="Hiragino Sans GB"/>
              </a:rPr>
              <a:t>控制的不是熵水平，而是每步熵变化幅度</a:t>
            </a:r>
          </a:p>
        </p:txBody>
      </p:sp>
      <p:sp>
        <p:nvSpPr>
          <p:cNvPr id="19" name="矩形 18">
            <a:extLst>
              <a:ext uri="{FF2B5EF4-FFF2-40B4-BE49-F238E27FC236}">
                <a16:creationId xmlns:a16="http://schemas.microsoft.com/office/drawing/2014/main" id="{93C95244-DC2A-4181-9D74-A5AD4A6AB83A}"/>
              </a:ext>
            </a:extLst>
          </p:cNvPr>
          <p:cNvSpPr>
            <a:spLocks noGrp="1"/>
          </p:cNvSpPr>
          <p:nvPr/>
        </p:nvSpPr>
        <p:spPr>
          <a:xfrm>
            <a:off x="742950" y="4686300"/>
            <a:ext cx="5219700" cy="781050"/>
          </a:xfrm>
          <a:prstGeom prst="rect">
            <a:avLst/>
          </a:prstGeom>
          <a:noFill/>
          <a:ln w="0">
            <a:noFill/>
            <a:prstDash val="solid"/>
          </a:ln>
        </p:spPr>
        <p:txBody>
          <a:bodyPr wrap="square" lIns="0" tIns="0" rIns="0" bIns="0" anchor="t">
            <a:noAutofit/>
          </a:bodyPr>
          <a:lstStyle/>
          <a:p>
            <a:pPr algn="l">
              <a:buNone/>
              <a:defRPr sz="1088" b="0">
                <a:solidFill>
                  <a:srgbClr val="5E6470"/>
                </a:solidFill>
                <a:latin typeface="Hiragino Sans GB"/>
                <a:ea typeface="Hiragino Sans GB"/>
                <a:cs typeface="Hiragino Sans GB"/>
              </a:defRPr>
            </a:pPr>
            <a:r>
              <a:rPr sz="1088" b="0">
                <a:solidFill>
                  <a:srgbClr val="5E6470"/>
                </a:solidFill>
                <a:latin typeface="Hiragino Sans GB"/>
                <a:ea typeface="Hiragino Sans GB"/>
                <a:cs typeface="Hiragino Sans GB"/>
              </a:rPr>
              <a:t>方向不改：λ&gt;0，因此 Ω 的正负不变，只把变化缩成 λΩ。</a:t>
            </a:r>
          </a:p>
          <a:p>
            <a:pPr algn="l">
              <a:buNone/>
              <a:defRPr sz="1088" b="0">
                <a:solidFill>
                  <a:srgbClr val="5E6470"/>
                </a:solidFill>
                <a:latin typeface="Hiragino Sans GB"/>
                <a:ea typeface="Hiragino Sans GB"/>
                <a:cs typeface="Hiragino Sans GB"/>
              </a:defRPr>
            </a:pPr>
            <a:r>
              <a:rPr sz="1088" b="0">
                <a:solidFill>
                  <a:srgbClr val="5E6470"/>
                </a:solidFill>
                <a:latin typeface="Hiragino Sans GB"/>
                <a:ea typeface="Hiragino Sans GB"/>
                <a:cs typeface="Hiragino Sans GB"/>
              </a:rPr>
              <a:t>范围双向：Ω&gt;0 与 Ω&lt;0 都按 |Ω| 衰减，既防爆熵也防坍缩。</a:t>
            </a:r>
          </a:p>
          <a:p>
            <a:pPr algn="l">
              <a:buNone/>
              <a:defRPr sz="1088" b="0">
                <a:solidFill>
                  <a:srgbClr val="5E6470"/>
                </a:solidFill>
                <a:latin typeface="Hiragino Sans GB"/>
                <a:ea typeface="Hiragino Sans GB"/>
                <a:cs typeface="Hiragino Sans GB"/>
              </a:defRPr>
            </a:pPr>
            <a:r>
              <a:rPr sz="1088" b="0">
                <a:solidFill>
                  <a:srgbClr val="5E6470"/>
                </a:solidFill>
                <a:latin typeface="Hiragino Sans GB"/>
                <a:ea typeface="Hiragino Sans GB"/>
                <a:cs typeface="Hiragino Sans GB"/>
              </a:rPr>
              <a:t>实现轻量：无需额外 rollout / value model；主实验固定 λmin=0.7。</a:t>
            </a:r>
          </a:p>
        </p:txBody>
      </p:sp>
      <p:sp>
        <p:nvSpPr>
          <p:cNvPr id="20" name="圆角矩形 19">
            <a:extLst>
              <a:ext uri="{FF2B5EF4-FFF2-40B4-BE49-F238E27FC236}">
                <a16:creationId xmlns:a16="http://schemas.microsoft.com/office/drawing/2014/main" id="{072F5CDA-3B17-4001-B061-25CDD519C285}"/>
              </a:ext>
            </a:extLst>
          </p:cNvPr>
          <p:cNvSpPr>
            <a:spLocks noGrp="1"/>
          </p:cNvSpPr>
          <p:nvPr/>
        </p:nvSpPr>
        <p:spPr>
          <a:xfrm>
            <a:off x="6381750" y="4257675"/>
            <a:ext cx="2190750" cy="1123950"/>
          </a:xfrm>
          <a:prstGeom prst="roundRect">
            <a:avLst>
              <a:gd name="adj" fmla="val 6780"/>
            </a:avLst>
          </a:prstGeom>
          <a:solidFill>
            <a:srgbClr val="E8F6F0"/>
          </a:solidFill>
          <a:ln w="0">
            <a:noFill/>
            <a:prstDash val="solid"/>
          </a:ln>
        </p:spPr>
      </p:sp>
      <p:sp>
        <p:nvSpPr>
          <p:cNvPr id="21" name="矩形 20">
            <a:extLst>
              <a:ext uri="{FF2B5EF4-FFF2-40B4-BE49-F238E27FC236}">
                <a16:creationId xmlns:a16="http://schemas.microsoft.com/office/drawing/2014/main" id="{40B11BEF-D9D3-4BE0-91ED-9438FC0A5032}"/>
              </a:ext>
            </a:extLst>
          </p:cNvPr>
          <p:cNvSpPr>
            <a:spLocks noGrp="1"/>
          </p:cNvSpPr>
          <p:nvPr/>
        </p:nvSpPr>
        <p:spPr>
          <a:xfrm>
            <a:off x="6553200" y="4381500"/>
            <a:ext cx="1847850" cy="400050"/>
          </a:xfrm>
          <a:prstGeom prst="rect">
            <a:avLst/>
          </a:prstGeom>
          <a:noFill/>
          <a:ln w="0">
            <a:noFill/>
            <a:prstDash val="solid"/>
          </a:ln>
        </p:spPr>
        <p:txBody>
          <a:bodyPr wrap="square" lIns="0" tIns="0" rIns="0" bIns="0" anchor="t">
            <a:noAutofit/>
          </a:bodyPr>
          <a:lstStyle/>
          <a:p>
            <a:pPr algn="l">
              <a:buNone/>
              <a:defRPr sz="2025" b="1">
                <a:solidFill>
                  <a:srgbClr val="1B9E77"/>
                </a:solidFill>
                <a:latin typeface="Hiragino Sans GB"/>
                <a:ea typeface="Hiragino Sans GB"/>
                <a:cs typeface="Hiragino Sans GB"/>
              </a:defRPr>
            </a:pPr>
            <a:r>
              <a:rPr sz="2025" b="1">
                <a:solidFill>
                  <a:srgbClr val="1B9E77"/>
                </a:solidFill>
                <a:latin typeface="Hiragino Sans GB"/>
                <a:ea typeface="Hiragino Sans GB"/>
                <a:cs typeface="Hiragino Sans GB"/>
              </a:rPr>
              <a:t>双向约束</a:t>
            </a:r>
          </a:p>
        </p:txBody>
      </p:sp>
      <p:sp>
        <p:nvSpPr>
          <p:cNvPr id="22" name="矩形 21">
            <a:extLst>
              <a:ext uri="{FF2B5EF4-FFF2-40B4-BE49-F238E27FC236}">
                <a16:creationId xmlns:a16="http://schemas.microsoft.com/office/drawing/2014/main" id="{995C8C1A-0DC8-4D91-B5CC-D2C686AC7D74}"/>
              </a:ext>
            </a:extLst>
          </p:cNvPr>
          <p:cNvSpPr>
            <a:spLocks noGrp="1"/>
          </p:cNvSpPr>
          <p:nvPr/>
        </p:nvSpPr>
        <p:spPr>
          <a:xfrm>
            <a:off x="6553200" y="4800600"/>
            <a:ext cx="1847850" cy="514350"/>
          </a:xfrm>
          <a:prstGeom prst="rect">
            <a:avLst/>
          </a:prstGeom>
          <a:noFill/>
          <a:ln w="0">
            <a:noFill/>
            <a:prstDash val="solid"/>
          </a:ln>
        </p:spPr>
        <p:txBody>
          <a:bodyPr wrap="square" lIns="0" tIns="0" rIns="0" bIns="0" anchor="t">
            <a:noAutofit/>
          </a:bodyPr>
          <a:lstStyle/>
          <a:p>
            <a:pPr algn="l">
              <a:buNone/>
              <a:defRPr sz="1013" b="0">
                <a:solidFill>
                  <a:srgbClr val="5E6470"/>
                </a:solidFill>
                <a:latin typeface="Hiragino Sans GB"/>
                <a:ea typeface="Hiragino Sans GB"/>
                <a:cs typeface="Hiragino Sans GB"/>
              </a:defRPr>
            </a:pPr>
            <a:r>
              <a:rPr sz="1013" b="0">
                <a:solidFill>
                  <a:srgbClr val="5E6470"/>
                </a:solidFill>
                <a:latin typeface="Hiragino Sans GB"/>
                <a:ea typeface="Hiragino Sans GB"/>
                <a:cs typeface="Hiragino Sans GB"/>
              </a:rPr>
              <a:t>不设目标熵；只限制单步 change magnitude，不把 H 强行推高。</a:t>
            </a:r>
          </a:p>
        </p:txBody>
      </p:sp>
      <p:sp>
        <p:nvSpPr>
          <p:cNvPr id="23" name="圆角矩形 22">
            <a:extLst>
              <a:ext uri="{FF2B5EF4-FFF2-40B4-BE49-F238E27FC236}">
                <a16:creationId xmlns:a16="http://schemas.microsoft.com/office/drawing/2014/main" id="{E5C5EC85-C291-41F4-BDB5-44C954401183}"/>
              </a:ext>
            </a:extLst>
          </p:cNvPr>
          <p:cNvSpPr>
            <a:spLocks noGrp="1"/>
          </p:cNvSpPr>
          <p:nvPr/>
        </p:nvSpPr>
        <p:spPr>
          <a:xfrm>
            <a:off x="8858250" y="4257675"/>
            <a:ext cx="2190750" cy="1123950"/>
          </a:xfrm>
          <a:prstGeom prst="roundRect">
            <a:avLst>
              <a:gd name="adj" fmla="val 6780"/>
            </a:avLst>
          </a:prstGeom>
          <a:solidFill>
            <a:srgbClr val="EAF5FB"/>
          </a:solidFill>
          <a:ln w="0">
            <a:noFill/>
            <a:prstDash val="solid"/>
          </a:ln>
        </p:spPr>
      </p:sp>
      <p:sp>
        <p:nvSpPr>
          <p:cNvPr id="24" name="矩形 23">
            <a:extLst>
              <a:ext uri="{FF2B5EF4-FFF2-40B4-BE49-F238E27FC236}">
                <a16:creationId xmlns:a16="http://schemas.microsoft.com/office/drawing/2014/main" id="{89D20FED-C9E3-4E6B-8590-97AD73D5C15B}"/>
              </a:ext>
            </a:extLst>
          </p:cNvPr>
          <p:cNvSpPr>
            <a:spLocks noGrp="1"/>
          </p:cNvSpPr>
          <p:nvPr/>
        </p:nvSpPr>
        <p:spPr>
          <a:xfrm>
            <a:off x="9029700" y="4381500"/>
            <a:ext cx="1847850" cy="400050"/>
          </a:xfrm>
          <a:prstGeom prst="rect">
            <a:avLst/>
          </a:prstGeom>
          <a:noFill/>
          <a:ln w="0">
            <a:noFill/>
            <a:prstDash val="solid"/>
          </a:ln>
        </p:spPr>
        <p:txBody>
          <a:bodyPr wrap="square" lIns="0" tIns="0" rIns="0" bIns="0" anchor="t">
            <a:noAutofit/>
          </a:bodyPr>
          <a:lstStyle/>
          <a:p>
            <a:pPr algn="l">
              <a:buNone/>
              <a:defRPr sz="2025" b="1">
                <a:solidFill>
                  <a:srgbClr val="2F80ED"/>
                </a:solidFill>
                <a:latin typeface="Hiragino Sans GB"/>
                <a:ea typeface="Hiragino Sans GB"/>
                <a:cs typeface="Hiragino Sans GB"/>
              </a:defRPr>
            </a:pPr>
            <a:r>
              <a:rPr sz="2025" b="1">
                <a:solidFill>
                  <a:srgbClr val="2F80ED"/>
                </a:solidFill>
                <a:latin typeface="Hiragino Sans GB"/>
                <a:ea typeface="Hiragino Sans GB"/>
                <a:cs typeface="Hiragino Sans GB"/>
              </a:rPr>
              <a:t>选择性更新</a:t>
            </a:r>
          </a:p>
        </p:txBody>
      </p:sp>
      <p:sp>
        <p:nvSpPr>
          <p:cNvPr id="25" name="矩形 24">
            <a:extLst>
              <a:ext uri="{FF2B5EF4-FFF2-40B4-BE49-F238E27FC236}">
                <a16:creationId xmlns:a16="http://schemas.microsoft.com/office/drawing/2014/main" id="{815B029E-D1D6-4312-99B4-631C1EF23EE4}"/>
              </a:ext>
            </a:extLst>
          </p:cNvPr>
          <p:cNvSpPr>
            <a:spLocks noGrp="1"/>
          </p:cNvSpPr>
          <p:nvPr/>
        </p:nvSpPr>
        <p:spPr>
          <a:xfrm>
            <a:off x="9029700" y="4800600"/>
            <a:ext cx="1847850" cy="514350"/>
          </a:xfrm>
          <a:prstGeom prst="rect">
            <a:avLst/>
          </a:prstGeom>
          <a:noFill/>
          <a:ln w="0">
            <a:noFill/>
            <a:prstDash val="solid"/>
          </a:ln>
        </p:spPr>
        <p:txBody>
          <a:bodyPr wrap="square" lIns="0" tIns="0" rIns="0" bIns="0" anchor="t">
            <a:noAutofit/>
          </a:bodyPr>
          <a:lstStyle/>
          <a:p>
            <a:pPr algn="l">
              <a:buNone/>
              <a:defRPr sz="1013" b="0">
                <a:solidFill>
                  <a:srgbClr val="5E6470"/>
                </a:solidFill>
                <a:latin typeface="Hiragino Sans GB"/>
                <a:ea typeface="Hiragino Sans GB"/>
                <a:cs typeface="Hiragino Sans GB"/>
              </a:defRPr>
            </a:pPr>
            <a:r>
              <a:rPr sz="1013" b="0">
                <a:solidFill>
                  <a:srgbClr val="5E6470"/>
                </a:solidFill>
                <a:latin typeface="Hiragino Sans GB"/>
                <a:ea typeface="Hiragino Sans GB"/>
                <a:cs typeface="Hiragino Sans GB"/>
              </a:rPr>
              <a:t>|Ω| 小 → λ≈1；只对剧烈变化 token 显著降权。</a:t>
            </a:r>
          </a:p>
        </p:txBody>
      </p:sp>
      <p:sp>
        <p:nvSpPr>
          <p:cNvPr id="26" name="直线连接符 25">
            <a:extLst>
              <a:ext uri="{FF2B5EF4-FFF2-40B4-BE49-F238E27FC236}">
                <a16:creationId xmlns:a16="http://schemas.microsoft.com/office/drawing/2014/main" id="{8118ADBF-DD24-4D85-A355-2E27C473FF34}"/>
              </a:ext>
            </a:extLst>
          </p:cNvPr>
          <p:cNvSpPr>
            <a:spLocks noGrp="1"/>
          </p:cNvSpPr>
          <p:nvPr/>
        </p:nvSpPr>
        <p:spPr>
          <a:xfrm>
            <a:off x="419100" y="6286500"/>
            <a:ext cx="11353800" cy="0"/>
          </a:xfrm>
          <a:prstGeom prst="line">
            <a:avLst/>
          </a:prstGeom>
          <a:noFill/>
          <a:ln w="9525">
            <a:solidFill>
              <a:srgbClr val="B8BCC4"/>
            </a:solidFill>
            <a:prstDash val="solid"/>
          </a:ln>
        </p:spPr>
      </p:sp>
      <p:sp>
        <p:nvSpPr>
          <p:cNvPr id="27" name="矩形 26">
            <a:extLst>
              <a:ext uri="{FF2B5EF4-FFF2-40B4-BE49-F238E27FC236}">
                <a16:creationId xmlns:a16="http://schemas.microsoft.com/office/drawing/2014/main" id="{4F037823-3FC8-44D1-995E-4010EC00AB5A}"/>
              </a:ext>
            </a:extLst>
          </p:cNvPr>
          <p:cNvSpPr>
            <a:spLocks noGrp="1"/>
          </p:cNvSpPr>
          <p:nvPr/>
        </p:nvSpPr>
        <p:spPr>
          <a:xfrm>
            <a:off x="419100" y="6362700"/>
            <a:ext cx="10763250" cy="219075"/>
          </a:xfrm>
          <a:prstGeom prst="rect">
            <a:avLst/>
          </a:prstGeom>
          <a:noFill/>
          <a:ln w="0">
            <a:noFill/>
            <a:prstDash val="solid"/>
          </a:ln>
        </p:spPr>
        <p:txBody>
          <a:bodyPr wrap="square" lIns="0" tIns="0" rIns="0" bIns="0" anchor="t">
            <a:noAutofit/>
          </a:bodyPr>
          <a:lstStyle/>
          <a:p>
            <a:pPr algn="l">
              <a:buNone/>
              <a:defRPr sz="788" b="0">
                <a:solidFill>
                  <a:srgbClr val="5E6470"/>
                </a:solidFill>
                <a:latin typeface="Helvetica Neue"/>
                <a:ea typeface="Helvetica Neue"/>
                <a:cs typeface="Helvetica Neue"/>
              </a:defRPr>
            </a:pPr>
            <a:r>
              <a:rPr sz="788" b="0">
                <a:solidFill>
                  <a:srgbClr val="5E6470"/>
                </a:solidFill>
                <a:latin typeface="Helvetica Neue"/>
                <a:ea typeface="Helvetica Neue"/>
                <a:cs typeface="Helvetica Neue"/>
              </a:rPr>
              <a:t>Hao et al. (2026), Eq. 9  ·  可类比为 token-level entropy-change trust region</a:t>
            </a:r>
          </a:p>
        </p:txBody>
      </p:sp>
      <p:sp>
        <p:nvSpPr>
          <p:cNvPr id="28" name="矩形 27">
            <a:extLst>
              <a:ext uri="{FF2B5EF4-FFF2-40B4-BE49-F238E27FC236}">
                <a16:creationId xmlns:a16="http://schemas.microsoft.com/office/drawing/2014/main" id="{2648409C-8009-4394-AFA0-6A9344D9BEC6}"/>
              </a:ext>
            </a:extLst>
          </p:cNvPr>
          <p:cNvSpPr>
            <a:spLocks noGrp="1"/>
          </p:cNvSpPr>
          <p:nvPr/>
        </p:nvSpPr>
        <p:spPr>
          <a:xfrm>
            <a:off x="11334750" y="6362700"/>
            <a:ext cx="438150" cy="219075"/>
          </a:xfrm>
          <a:prstGeom prst="rect">
            <a:avLst/>
          </a:prstGeom>
          <a:noFill/>
          <a:ln w="0">
            <a:noFill/>
            <a:prstDash val="solid"/>
          </a:ln>
        </p:spPr>
        <p:txBody>
          <a:bodyPr wrap="square" lIns="0" tIns="0" rIns="0" bIns="0" anchor="t">
            <a:noAutofit/>
          </a:bodyPr>
          <a:lstStyle/>
          <a:p>
            <a:pPr algn="r">
              <a:buNone/>
              <a:defRPr sz="825" b="0">
                <a:solidFill>
                  <a:srgbClr val="5E6470"/>
                </a:solidFill>
                <a:latin typeface="Helvetica Neue"/>
                <a:ea typeface="Helvetica Neue"/>
                <a:cs typeface="Helvetica Neue"/>
              </a:defRPr>
            </a:pPr>
            <a:r>
              <a:rPr sz="825" b="0">
                <a:solidFill>
                  <a:srgbClr val="5E6470"/>
                </a:solidFill>
                <a:latin typeface="Helvetica Neue"/>
                <a:ea typeface="Helvetica Neue"/>
                <a:cs typeface="Helvetica Neue"/>
              </a:rPr>
              <a:t>11</a:t>
            </a:r>
          </a:p>
        </p:txBody>
      </p:sp>
    </p:spTree>
    <p:extLst>
      <p:ext uri="{BB962C8B-B14F-4D97-AF65-F5344CB8AC3E}">
        <p14:creationId xmlns:p14="http://schemas.microsoft.com/office/powerpoint/2010/main" val="786574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矩形 16">
            <a:extLst>
              <a:ext uri="{FF2B5EF4-FFF2-40B4-BE49-F238E27FC236}">
                <a16:creationId xmlns:a16="http://schemas.microsoft.com/office/drawing/2014/main" id="{C26CED50-1935-4B4A-9EAE-80620E294376}"/>
              </a:ext>
            </a:extLst>
          </p:cNvPr>
          <p:cNvSpPr>
            <a:spLocks noGrp="1"/>
          </p:cNvSpPr>
          <p:nvPr/>
        </p:nvSpPr>
        <p:spPr>
          <a:xfrm>
            <a:off x="419100" y="171450"/>
            <a:ext cx="2952750" cy="228600"/>
          </a:xfrm>
          <a:prstGeom prst="rect">
            <a:avLst/>
          </a:prstGeom>
          <a:noFill/>
          <a:ln w="0">
            <a:noFill/>
            <a:prstDash val="solid"/>
          </a:ln>
        </p:spPr>
        <p:txBody>
          <a:bodyPr wrap="square" lIns="0" tIns="0" rIns="0" bIns="0" anchor="t">
            <a:noAutofit/>
          </a:bodyPr>
          <a:lstStyle/>
          <a:p>
            <a:pPr algn="l">
              <a:buNone/>
              <a:defRPr sz="975" b="1">
                <a:solidFill>
                  <a:srgbClr val="5E6470"/>
                </a:solidFill>
                <a:latin typeface="Helvetica Neue"/>
                <a:ea typeface="Helvetica Neue"/>
                <a:cs typeface="Helvetica Neue"/>
              </a:defRPr>
            </a:pPr>
            <a:r>
              <a:rPr sz="975" b="1">
                <a:solidFill>
                  <a:srgbClr val="5E6470"/>
                </a:solidFill>
                <a:latin typeface="Helvetica Neue"/>
                <a:ea typeface="Helvetica Neue"/>
                <a:cs typeface="Helvetica Neue"/>
              </a:rPr>
              <a:t>I · RETHINKING ENTROPY</a:t>
            </a:r>
          </a:p>
        </p:txBody>
      </p:sp>
      <p:sp>
        <p:nvSpPr>
          <p:cNvPr id="2" name="矩形 1">
            <a:extLst>
              <a:ext uri="{FF2B5EF4-FFF2-40B4-BE49-F238E27FC236}">
                <a16:creationId xmlns:a16="http://schemas.microsoft.com/office/drawing/2014/main" id="{70B4C2F3-E0D0-4569-82AF-6CA8538B5A98}"/>
              </a:ext>
            </a:extLst>
          </p:cNvPr>
          <p:cNvSpPr>
            <a:spLocks noGrp="1"/>
          </p:cNvSpPr>
          <p:nvPr/>
        </p:nvSpPr>
        <p:spPr>
          <a:xfrm>
            <a:off x="419100" y="409575"/>
            <a:ext cx="11353800" cy="514350"/>
          </a:xfrm>
          <a:prstGeom prst="rect">
            <a:avLst/>
          </a:prstGeom>
          <a:noFill/>
          <a:ln w="0">
            <a:noFill/>
            <a:prstDash val="solid"/>
          </a:ln>
        </p:spPr>
        <p:txBody>
          <a:bodyPr wrap="square" lIns="0" tIns="0" rIns="0" bIns="0" anchor="t">
            <a:noAutofit/>
          </a:bodyPr>
          <a:lstStyle/>
          <a:p>
            <a:pPr algn="l">
              <a:buNone/>
              <a:defRPr sz="2850" b="1">
                <a:solidFill>
                  <a:srgbClr val="101214"/>
                </a:solidFill>
                <a:latin typeface="Hiragino Sans GB"/>
                <a:ea typeface="Hiragino Sans GB"/>
                <a:cs typeface="Hiragino Sans GB"/>
              </a:defRPr>
            </a:pPr>
            <a:r>
              <a:rPr sz="2850" b="1">
                <a:solidFill>
                  <a:srgbClr val="101214"/>
                </a:solidFill>
                <a:latin typeface="Hiragino Sans GB"/>
                <a:ea typeface="Hiragino Sans GB"/>
                <a:cs typeface="Hiragino Sans GB"/>
              </a:rPr>
              <a:t>实验结果：增熵不等于稳定，关键是约束 |ΔH|</a:t>
            </a:r>
          </a:p>
        </p:txBody>
      </p:sp>
      <p:sp>
        <p:nvSpPr>
          <p:cNvPr id="7" name="圆角矩形 6">
            <a:extLst>
              <a:ext uri="{FF2B5EF4-FFF2-40B4-BE49-F238E27FC236}">
                <a16:creationId xmlns:a16="http://schemas.microsoft.com/office/drawing/2014/main" id="{6E6CCCAA-7CF1-48A0-949E-B71C320CB330}"/>
              </a:ext>
            </a:extLst>
          </p:cNvPr>
          <p:cNvSpPr>
            <a:spLocks noGrp="1"/>
          </p:cNvSpPr>
          <p:nvPr/>
        </p:nvSpPr>
        <p:spPr>
          <a:xfrm>
            <a:off x="143261" y="1293870"/>
            <a:ext cx="1510144" cy="377536"/>
          </a:xfrm>
          <a:prstGeom prst="roundRect">
            <a:avLst>
              <a:gd name="adj" fmla="val 50000"/>
            </a:avLst>
          </a:prstGeom>
          <a:solidFill>
            <a:srgbClr val="F1F2F4"/>
          </a:solidFill>
          <a:ln w="0">
            <a:noFill/>
            <a:prstDash val="solid"/>
          </a:ln>
        </p:spPr>
      </p:sp>
      <p:sp>
        <p:nvSpPr>
          <p:cNvPr id="8" name="矩形 7">
            <a:extLst>
              <a:ext uri="{FF2B5EF4-FFF2-40B4-BE49-F238E27FC236}">
                <a16:creationId xmlns:a16="http://schemas.microsoft.com/office/drawing/2014/main" id="{377DE1B8-20E0-4240-9E43-A965D682F153}"/>
              </a:ext>
            </a:extLst>
          </p:cNvPr>
          <p:cNvSpPr>
            <a:spLocks noGrp="1"/>
          </p:cNvSpPr>
          <p:nvPr/>
        </p:nvSpPr>
        <p:spPr>
          <a:xfrm>
            <a:off x="143260" y="1312920"/>
            <a:ext cx="1510145" cy="327198"/>
          </a:xfrm>
          <a:prstGeom prst="rect">
            <a:avLst/>
          </a:prstGeom>
          <a:noFill/>
          <a:ln w="0">
            <a:noFill/>
            <a:prstDash val="solid"/>
          </a:ln>
        </p:spPr>
        <p:txBody>
          <a:bodyPr wrap="square" lIns="0" tIns="0" rIns="0" bIns="0" anchor="ctr">
            <a:noAutofit/>
          </a:bodyPr>
          <a:lstStyle/>
          <a:p>
            <a:pPr algn="ctr">
              <a:buNone/>
              <a:defRPr sz="1050" b="1">
                <a:solidFill>
                  <a:srgbClr val="5E6470"/>
                </a:solidFill>
                <a:latin typeface="Hiragino Sans GB"/>
                <a:ea typeface="Hiragino Sans GB"/>
                <a:cs typeface="Hiragino Sans GB"/>
              </a:defRPr>
            </a:pPr>
            <a:r>
              <a:rPr sz="1050" b="1">
                <a:solidFill>
                  <a:srgbClr val="5E6470"/>
                </a:solidFill>
                <a:latin typeface="Hiragino Sans GB"/>
                <a:ea typeface="Hiragino Sans GB"/>
                <a:cs typeface="Hiragino Sans GB"/>
              </a:rPr>
              <a:t>Entropy trace</a:t>
            </a:r>
          </a:p>
        </p:txBody>
      </p:sp>
      <p:sp>
        <p:nvSpPr>
          <p:cNvPr id="9" name="圆角矩形 8">
            <a:extLst>
              <a:ext uri="{FF2B5EF4-FFF2-40B4-BE49-F238E27FC236}">
                <a16:creationId xmlns:a16="http://schemas.microsoft.com/office/drawing/2014/main" id="{E56526CD-2EB4-4ADB-A075-7FA32E8CFBF2}"/>
              </a:ext>
            </a:extLst>
          </p:cNvPr>
          <p:cNvSpPr>
            <a:spLocks noGrp="1"/>
          </p:cNvSpPr>
          <p:nvPr/>
        </p:nvSpPr>
        <p:spPr>
          <a:xfrm>
            <a:off x="6433495" y="1293870"/>
            <a:ext cx="1028890" cy="335508"/>
          </a:xfrm>
          <a:prstGeom prst="roundRect">
            <a:avLst>
              <a:gd name="adj" fmla="val 50000"/>
            </a:avLst>
          </a:prstGeom>
          <a:solidFill>
            <a:srgbClr val="F1F2F4"/>
          </a:solidFill>
          <a:ln w="0">
            <a:noFill/>
            <a:prstDash val="solid"/>
          </a:ln>
        </p:spPr>
      </p:sp>
      <p:sp>
        <p:nvSpPr>
          <p:cNvPr id="10" name="矩形 9">
            <a:extLst>
              <a:ext uri="{FF2B5EF4-FFF2-40B4-BE49-F238E27FC236}">
                <a16:creationId xmlns:a16="http://schemas.microsoft.com/office/drawing/2014/main" id="{B52D9120-8DCD-4AA0-89E7-23F7F0B880CE}"/>
              </a:ext>
            </a:extLst>
          </p:cNvPr>
          <p:cNvSpPr>
            <a:spLocks noGrp="1"/>
          </p:cNvSpPr>
          <p:nvPr/>
        </p:nvSpPr>
        <p:spPr>
          <a:xfrm>
            <a:off x="6433495" y="1312919"/>
            <a:ext cx="1028890" cy="290773"/>
          </a:xfrm>
          <a:prstGeom prst="rect">
            <a:avLst/>
          </a:prstGeom>
          <a:noFill/>
          <a:ln w="0">
            <a:noFill/>
            <a:prstDash val="solid"/>
          </a:ln>
        </p:spPr>
        <p:txBody>
          <a:bodyPr wrap="square" lIns="0" tIns="0" rIns="0" bIns="0" anchor="ctr">
            <a:noAutofit/>
          </a:bodyPr>
          <a:lstStyle/>
          <a:p>
            <a:pPr algn="ctr">
              <a:buNone/>
              <a:defRPr sz="1050" b="1">
                <a:solidFill>
                  <a:srgbClr val="5E6470"/>
                </a:solidFill>
                <a:latin typeface="Hiragino Sans GB"/>
                <a:ea typeface="Hiragino Sans GB"/>
                <a:cs typeface="Hiragino Sans GB"/>
              </a:defRPr>
            </a:pPr>
            <a:r>
              <a:rPr sz="1050" b="1">
                <a:solidFill>
                  <a:srgbClr val="5E6470"/>
                </a:solidFill>
                <a:latin typeface="Hiragino Sans GB"/>
                <a:ea typeface="Hiragino Sans GB"/>
                <a:cs typeface="Hiragino Sans GB"/>
              </a:rPr>
              <a:t>Table 3</a:t>
            </a:r>
          </a:p>
        </p:txBody>
      </p:sp>
      <p:sp>
        <p:nvSpPr>
          <p:cNvPr id="14" name="直线连接符 13">
            <a:extLst>
              <a:ext uri="{FF2B5EF4-FFF2-40B4-BE49-F238E27FC236}">
                <a16:creationId xmlns:a16="http://schemas.microsoft.com/office/drawing/2014/main" id="{43E2D12E-82CE-494C-8418-A52B32A97916}"/>
              </a:ext>
            </a:extLst>
          </p:cNvPr>
          <p:cNvSpPr>
            <a:spLocks noGrp="1"/>
          </p:cNvSpPr>
          <p:nvPr/>
        </p:nvSpPr>
        <p:spPr>
          <a:xfrm>
            <a:off x="419100" y="6286500"/>
            <a:ext cx="11353800" cy="0"/>
          </a:xfrm>
          <a:prstGeom prst="line">
            <a:avLst/>
          </a:prstGeom>
          <a:noFill/>
          <a:ln w="9525">
            <a:solidFill>
              <a:srgbClr val="B8BCC4"/>
            </a:solidFill>
            <a:prstDash val="solid"/>
          </a:ln>
        </p:spPr>
      </p:sp>
      <p:sp>
        <p:nvSpPr>
          <p:cNvPr id="15" name="矩形 14">
            <a:extLst>
              <a:ext uri="{FF2B5EF4-FFF2-40B4-BE49-F238E27FC236}">
                <a16:creationId xmlns:a16="http://schemas.microsoft.com/office/drawing/2014/main" id="{3218787C-0698-4376-879A-9DA057FCDB22}"/>
              </a:ext>
            </a:extLst>
          </p:cNvPr>
          <p:cNvSpPr>
            <a:spLocks noGrp="1"/>
          </p:cNvSpPr>
          <p:nvPr/>
        </p:nvSpPr>
        <p:spPr>
          <a:xfrm>
            <a:off x="419100" y="6362700"/>
            <a:ext cx="10763250" cy="219075"/>
          </a:xfrm>
          <a:prstGeom prst="rect">
            <a:avLst/>
          </a:prstGeom>
          <a:noFill/>
          <a:ln w="0">
            <a:noFill/>
            <a:prstDash val="solid"/>
          </a:ln>
        </p:spPr>
        <p:txBody>
          <a:bodyPr wrap="square" lIns="0" tIns="0" rIns="0" bIns="0" anchor="t">
            <a:noAutofit/>
          </a:bodyPr>
          <a:lstStyle/>
          <a:p>
            <a:pPr algn="l">
              <a:buNone/>
              <a:defRPr sz="788" b="0">
                <a:solidFill>
                  <a:srgbClr val="5E6470"/>
                </a:solidFill>
                <a:latin typeface="Helvetica Neue"/>
                <a:ea typeface="Helvetica Neue"/>
                <a:cs typeface="Helvetica Neue"/>
              </a:defRPr>
            </a:pPr>
            <a:r>
              <a:rPr sz="788" b="0">
                <a:solidFill>
                  <a:srgbClr val="5E6470"/>
                </a:solidFill>
                <a:latin typeface="Helvetica Neue"/>
                <a:ea typeface="Helvetica Neue"/>
                <a:cs typeface="Helvetica Neue"/>
              </a:rPr>
              <a:t>Hao et al. (2026), Table 3 / Figure 8 / §6.4</a:t>
            </a:r>
          </a:p>
        </p:txBody>
      </p:sp>
      <p:sp>
        <p:nvSpPr>
          <p:cNvPr id="16" name="矩形 15">
            <a:extLst>
              <a:ext uri="{FF2B5EF4-FFF2-40B4-BE49-F238E27FC236}">
                <a16:creationId xmlns:a16="http://schemas.microsoft.com/office/drawing/2014/main" id="{BA57E205-E4DB-4A97-A06F-691E63CBDDBC}"/>
              </a:ext>
            </a:extLst>
          </p:cNvPr>
          <p:cNvSpPr>
            <a:spLocks noGrp="1"/>
          </p:cNvSpPr>
          <p:nvPr/>
        </p:nvSpPr>
        <p:spPr>
          <a:xfrm>
            <a:off x="11334750" y="6362700"/>
            <a:ext cx="438150" cy="219075"/>
          </a:xfrm>
          <a:prstGeom prst="rect">
            <a:avLst/>
          </a:prstGeom>
          <a:noFill/>
          <a:ln w="0">
            <a:noFill/>
            <a:prstDash val="solid"/>
          </a:ln>
        </p:spPr>
        <p:txBody>
          <a:bodyPr wrap="square" lIns="0" tIns="0" rIns="0" bIns="0" anchor="t">
            <a:noAutofit/>
          </a:bodyPr>
          <a:lstStyle/>
          <a:p>
            <a:pPr algn="r">
              <a:buNone/>
              <a:defRPr sz="825" b="0">
                <a:solidFill>
                  <a:srgbClr val="5E6470"/>
                </a:solidFill>
                <a:latin typeface="Helvetica Neue"/>
                <a:ea typeface="Helvetica Neue"/>
                <a:cs typeface="Helvetica Neue"/>
              </a:defRPr>
            </a:pPr>
            <a:r>
              <a:rPr sz="825" b="0">
                <a:solidFill>
                  <a:srgbClr val="5E6470"/>
                </a:solidFill>
                <a:latin typeface="Helvetica Neue"/>
                <a:ea typeface="Helvetica Neue"/>
                <a:cs typeface="Helvetica Neue"/>
              </a:rPr>
              <a:t>12</a:t>
            </a:r>
          </a:p>
        </p:txBody>
      </p:sp>
      <p:pic>
        <p:nvPicPr>
          <p:cNvPr id="35" name="图片 36"/>
          <p:cNvPicPr>
            <a:picLocks noChangeAspect="1"/>
          </p:cNvPicPr>
          <p:nvPr/>
        </p:nvPicPr>
        <p:blipFill>
          <a:blip r:embed="rId3"/>
          <a:stretch/>
        </p:blipFill>
        <p:spPr>
          <a:xfrm>
            <a:off x="5553640" y="2168621"/>
            <a:ext cx="6638360" cy="2925379"/>
          </a:xfrm>
          <a:prstGeom prst="roundRect">
            <a:avLst/>
          </a:prstGeom>
        </p:spPr>
      </p:pic>
      <p:pic>
        <p:nvPicPr>
          <p:cNvPr id="34" name="图片 35"/>
          <p:cNvPicPr>
            <a:picLocks noChangeAspect="1"/>
          </p:cNvPicPr>
          <p:nvPr/>
        </p:nvPicPr>
        <p:blipFill>
          <a:blip r:embed="rId4"/>
          <a:stretch/>
        </p:blipFill>
        <p:spPr>
          <a:xfrm>
            <a:off x="-84311" y="2210649"/>
            <a:ext cx="5842817" cy="3271978"/>
          </a:xfrm>
          <a:prstGeom prst="roundRect">
            <a:avLst/>
          </a:prstGeom>
        </p:spPr>
      </p:pic>
    </p:spTree>
    <p:extLst>
      <p:ext uri="{BB962C8B-B14F-4D97-AF65-F5344CB8AC3E}">
        <p14:creationId xmlns:p14="http://schemas.microsoft.com/office/powerpoint/2010/main" val="21435659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09B04460-BEC2-F791-E8B5-1A56DD0E4DF0}"/>
              </a:ext>
            </a:extLst>
          </p:cNvPr>
          <p:cNvSpPr>
            <a:spLocks noGrp="1"/>
          </p:cNvSpPr>
          <p:nvPr/>
        </p:nvSpPr>
        <p:spPr>
          <a:xfrm>
            <a:off x="419100" y="1846305"/>
            <a:ext cx="10726695" cy="1809750"/>
          </a:xfrm>
          <a:prstGeom prst="rect">
            <a:avLst/>
          </a:prstGeom>
          <a:noFill/>
          <a:ln w="0">
            <a:noFill/>
            <a:prstDash val="solid"/>
          </a:ln>
        </p:spPr>
        <p:txBody>
          <a:bodyPr wrap="square" lIns="0" tIns="0" rIns="0" bIns="0" anchor="b">
            <a:noAutofit/>
          </a:bodyPr>
          <a:lstStyle/>
          <a:p>
            <a:pPr algn="l">
              <a:buNone/>
              <a:defRPr sz="4350" b="1">
                <a:solidFill>
                  <a:srgbClr val="101214"/>
                </a:solidFill>
                <a:latin typeface="Hiragino Sans GB"/>
                <a:ea typeface="Hiragino Sans GB"/>
                <a:cs typeface="Hiragino Sans GB"/>
              </a:defRPr>
            </a:pPr>
            <a:endParaRPr/>
          </a:p>
        </p:txBody>
      </p:sp>
      <p:sp>
        <p:nvSpPr>
          <p:cNvPr id="5" name="文本框 4">
            <a:extLst>
              <a:ext uri="{FF2B5EF4-FFF2-40B4-BE49-F238E27FC236}">
                <a16:creationId xmlns:a16="http://schemas.microsoft.com/office/drawing/2014/main" id="{3E5F628E-39A2-06E0-3976-84725ED03AD1}"/>
              </a:ext>
            </a:extLst>
          </p:cNvPr>
          <p:cNvSpPr>
            <a:spLocks noGrp="1"/>
          </p:cNvSpPr>
          <p:nvPr/>
        </p:nvSpPr>
        <p:spPr>
          <a:xfrm>
            <a:off x="128337" y="2371908"/>
            <a:ext cx="11935326" cy="1446550"/>
          </a:xfrm>
          <a:prstGeom prst="rect">
            <a:avLst/>
          </a:prstGeom>
          <a:noFill/>
        </p:spPr>
        <p:txBody>
          <a:bodyPr wrap="square">
            <a:spAutoFit/>
          </a:bodyPr>
          <a:lstStyle/>
          <a:p>
            <a:pPr algn="ctr">
              <a:buNone/>
            </a:pPr>
            <a:r>
              <a:rPr sz="4400" b="1">
                <a:latin typeface="Times New Roman"/>
                <a:ea typeface="Times New Roman"/>
                <a:cs typeface="Times New Roman"/>
              </a:rPr>
              <a:t>RAGEN-2:</a:t>
            </a:r>
          </a:p>
          <a:p>
            <a:pPr algn="ctr">
              <a:buNone/>
            </a:pPr>
            <a:r>
              <a:rPr sz="4400" b="1">
                <a:latin typeface="Times New Roman"/>
                <a:ea typeface="Times New Roman"/>
                <a:cs typeface="Times New Roman"/>
              </a:rPr>
              <a:t>Reasoning Collapse in Agentic RL</a:t>
            </a:r>
          </a:p>
        </p:txBody>
      </p:sp>
      <p:sp>
        <p:nvSpPr>
          <p:cNvPr id="6" name="矩形 5">
            <a:extLst>
              <a:ext uri="{FF2B5EF4-FFF2-40B4-BE49-F238E27FC236}">
                <a16:creationId xmlns:a16="http://schemas.microsoft.com/office/drawing/2014/main" id="{3DE99FA2-1243-D7C5-618A-2218CD935318}"/>
              </a:ext>
            </a:extLst>
          </p:cNvPr>
          <p:cNvSpPr>
            <a:spLocks noGrp="1"/>
          </p:cNvSpPr>
          <p:nvPr/>
        </p:nvSpPr>
        <p:spPr>
          <a:xfrm>
            <a:off x="1428750" y="4010208"/>
            <a:ext cx="9334500" cy="342900"/>
          </a:xfrm>
          <a:prstGeom prst="rect">
            <a:avLst/>
          </a:prstGeom>
          <a:noFill/>
          <a:ln w="0">
            <a:noFill/>
            <a:prstDash val="solid"/>
          </a:ln>
        </p:spPr>
        <p:txBody>
          <a:bodyPr wrap="square" lIns="0" tIns="0" rIns="0" bIns="0" anchor="t">
            <a:noAutofit/>
          </a:bodyPr>
          <a:lstStyle/>
          <a:p>
            <a:pPr algn="ctr">
              <a:buNone/>
              <a:defRPr sz="1350" b="0">
                <a:solidFill>
                  <a:srgbClr val="5E6470"/>
                </a:solidFill>
                <a:latin typeface="Helvetica Neue"/>
                <a:ea typeface="Helvetica Neue"/>
                <a:cs typeface="Helvetica Neue"/>
              </a:defRPr>
            </a:pPr>
            <a:r>
              <a:rPr sz="1350">
                <a:solidFill>
                  <a:srgbClr val="5E6470"/>
                </a:solidFill>
                <a:latin typeface="Helvetica Neue"/>
                <a:ea typeface="Helvetica Neue"/>
                <a:cs typeface="Helvetica Neue"/>
              </a:rPr>
              <a:t>ICML’26 oral</a:t>
            </a:r>
          </a:p>
        </p:txBody>
      </p:sp>
    </p:spTree>
    <p:extLst>
      <p:ext uri="{BB962C8B-B14F-4D97-AF65-F5344CB8AC3E}">
        <p14:creationId xmlns:p14="http://schemas.microsoft.com/office/powerpoint/2010/main" val="15230968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矩形 16">
            <a:extLst>
              <a:ext uri="{FF2B5EF4-FFF2-40B4-BE49-F238E27FC236}">
                <a16:creationId xmlns:a16="http://schemas.microsoft.com/office/drawing/2014/main" id="{E618D621-08B3-40C9-A230-93E1C4CE3481}"/>
              </a:ext>
            </a:extLst>
          </p:cNvPr>
          <p:cNvSpPr>
            <a:spLocks noGrp="1"/>
          </p:cNvSpPr>
          <p:nvPr/>
        </p:nvSpPr>
        <p:spPr>
          <a:xfrm>
            <a:off x="419100" y="171450"/>
            <a:ext cx="2952750" cy="228600"/>
          </a:xfrm>
          <a:prstGeom prst="rect">
            <a:avLst/>
          </a:prstGeom>
          <a:noFill/>
          <a:ln w="0">
            <a:noFill/>
            <a:prstDash val="solid"/>
          </a:ln>
        </p:spPr>
        <p:txBody>
          <a:bodyPr wrap="square" lIns="0" tIns="0" rIns="0" bIns="0" anchor="t">
            <a:noAutofit/>
          </a:bodyPr>
          <a:lstStyle/>
          <a:p>
            <a:pPr algn="l">
              <a:buNone/>
              <a:defRPr sz="975" b="1">
                <a:solidFill>
                  <a:srgbClr val="5E6470"/>
                </a:solidFill>
                <a:latin typeface="Helvetica Neue"/>
                <a:ea typeface="Helvetica Neue"/>
                <a:cs typeface="Helvetica Neue"/>
              </a:defRPr>
            </a:pPr>
            <a:r>
              <a:rPr sz="975" b="1">
                <a:solidFill>
                  <a:srgbClr val="5E6470"/>
                </a:solidFill>
                <a:latin typeface="Helvetica Neue"/>
                <a:ea typeface="Helvetica Neue"/>
                <a:cs typeface="Helvetica Neue"/>
              </a:rPr>
              <a:t>II · RAGEN-2</a:t>
            </a:r>
          </a:p>
        </p:txBody>
      </p:sp>
      <p:sp>
        <p:nvSpPr>
          <p:cNvPr id="2" name="矩形 1">
            <a:extLst>
              <a:ext uri="{FF2B5EF4-FFF2-40B4-BE49-F238E27FC236}">
                <a16:creationId xmlns:a16="http://schemas.microsoft.com/office/drawing/2014/main" id="{7B9D7BBD-681A-46B3-9C92-B405AFB007EC}"/>
              </a:ext>
            </a:extLst>
          </p:cNvPr>
          <p:cNvSpPr>
            <a:spLocks noGrp="1"/>
          </p:cNvSpPr>
          <p:nvPr/>
        </p:nvSpPr>
        <p:spPr>
          <a:xfrm>
            <a:off x="419100" y="409575"/>
            <a:ext cx="11353800" cy="514350"/>
          </a:xfrm>
          <a:prstGeom prst="rect">
            <a:avLst/>
          </a:prstGeom>
          <a:noFill/>
          <a:ln w="0">
            <a:noFill/>
            <a:prstDash val="solid"/>
          </a:ln>
        </p:spPr>
        <p:txBody>
          <a:bodyPr wrap="square" lIns="0" tIns="0" rIns="0" bIns="0" anchor="t">
            <a:noAutofit/>
          </a:bodyPr>
          <a:lstStyle/>
          <a:p>
            <a:pPr algn="l">
              <a:buNone/>
              <a:defRPr sz="2850" b="1">
                <a:solidFill>
                  <a:srgbClr val="101214"/>
                </a:solidFill>
                <a:latin typeface="Hiragino Sans GB"/>
                <a:ea typeface="Hiragino Sans GB"/>
                <a:cs typeface="Hiragino Sans GB"/>
              </a:defRPr>
            </a:pPr>
            <a:r>
              <a:rPr sz="2850" b="1">
                <a:solidFill>
                  <a:srgbClr val="101214"/>
                </a:solidFill>
                <a:latin typeface="Hiragino Sans GB"/>
                <a:ea typeface="Hiragino Sans GB"/>
                <a:cs typeface="Hiragino Sans GB"/>
              </a:rPr>
              <a:t>Failure mode：推理仍流畅，但逐渐与输入脱钩</a:t>
            </a:r>
          </a:p>
        </p:txBody>
      </p:sp>
      <p:sp>
        <p:nvSpPr>
          <p:cNvPr id="3" name="圆角矩形 2">
            <a:extLst>
              <a:ext uri="{FF2B5EF4-FFF2-40B4-BE49-F238E27FC236}">
                <a16:creationId xmlns:a16="http://schemas.microsoft.com/office/drawing/2014/main" id="{CD51BCDE-CAF5-4925-846E-27ABE29E4AD2}"/>
              </a:ext>
            </a:extLst>
          </p:cNvPr>
          <p:cNvSpPr>
            <a:spLocks noGrp="1"/>
          </p:cNvSpPr>
          <p:nvPr/>
        </p:nvSpPr>
        <p:spPr>
          <a:xfrm>
            <a:off x="419100" y="1257300"/>
            <a:ext cx="11353800" cy="1123950"/>
          </a:xfrm>
          <a:prstGeom prst="roundRect">
            <a:avLst>
              <a:gd name="adj" fmla="val 6780"/>
            </a:avLst>
          </a:prstGeom>
          <a:solidFill>
            <a:srgbClr val="F1F2F4"/>
          </a:solidFill>
          <a:ln w="0">
            <a:noFill/>
            <a:prstDash val="solid"/>
          </a:ln>
        </p:spPr>
      </p:sp>
      <p:sp>
        <p:nvSpPr>
          <p:cNvPr id="4" name="矩形 3">
            <a:extLst>
              <a:ext uri="{FF2B5EF4-FFF2-40B4-BE49-F238E27FC236}">
                <a16:creationId xmlns:a16="http://schemas.microsoft.com/office/drawing/2014/main" id="{789FB66F-CEB2-412A-A89A-8D7BF774246D}"/>
              </a:ext>
            </a:extLst>
          </p:cNvPr>
          <p:cNvSpPr>
            <a:spLocks noGrp="1"/>
          </p:cNvSpPr>
          <p:nvPr/>
        </p:nvSpPr>
        <p:spPr>
          <a:xfrm>
            <a:off x="1047750" y="1524000"/>
            <a:ext cx="10096500" cy="552450"/>
          </a:xfrm>
          <a:prstGeom prst="rect">
            <a:avLst/>
          </a:prstGeom>
          <a:noFill/>
          <a:ln w="0">
            <a:noFill/>
            <a:prstDash val="solid"/>
          </a:ln>
        </p:spPr>
        <p:txBody>
          <a:bodyPr wrap="square" lIns="0" tIns="0" rIns="0" bIns="0" anchor="t">
            <a:noAutofit/>
          </a:bodyPr>
          <a:lstStyle/>
          <a:p>
            <a:pPr algn="ctr">
              <a:buNone/>
              <a:defRPr sz="3000" b="1">
                <a:solidFill>
                  <a:srgbClr val="101214"/>
                </a:solidFill>
                <a:latin typeface="Cambria Math"/>
                <a:ea typeface="Cambria Math"/>
                <a:cs typeface="Cambria Math"/>
              </a:defRPr>
            </a:pPr>
            <a:r>
              <a:rPr sz="3000" b="1">
                <a:solidFill>
                  <a:srgbClr val="101214"/>
                </a:solidFill>
                <a:latin typeface="Times New Roman"/>
                <a:ea typeface="Times New Roman"/>
                <a:cs typeface="Times New Roman"/>
              </a:rPr>
              <a:t>“fluent but input-agnostic”</a:t>
            </a:r>
          </a:p>
        </p:txBody>
      </p:sp>
      <p:sp>
        <p:nvSpPr>
          <p:cNvPr id="5" name="圆角矩形 4">
            <a:extLst>
              <a:ext uri="{FF2B5EF4-FFF2-40B4-BE49-F238E27FC236}">
                <a16:creationId xmlns:a16="http://schemas.microsoft.com/office/drawing/2014/main" id="{6AFD7094-8DD3-46C6-B808-45770EDEF54B}"/>
              </a:ext>
            </a:extLst>
          </p:cNvPr>
          <p:cNvSpPr>
            <a:spLocks noGrp="1"/>
          </p:cNvSpPr>
          <p:nvPr/>
        </p:nvSpPr>
        <p:spPr>
          <a:xfrm>
            <a:off x="419100" y="2876550"/>
            <a:ext cx="5334000" cy="2095500"/>
          </a:xfrm>
          <a:prstGeom prst="roundRect">
            <a:avLst>
              <a:gd name="adj" fmla="val 3636"/>
            </a:avLst>
          </a:prstGeom>
          <a:solidFill>
            <a:srgbClr val="EAF5FB"/>
          </a:solidFill>
          <a:ln w="0">
            <a:noFill/>
            <a:prstDash val="solid"/>
          </a:ln>
        </p:spPr>
      </p:sp>
      <p:sp>
        <p:nvSpPr>
          <p:cNvPr id="6" name="矩形 5">
            <a:extLst>
              <a:ext uri="{FF2B5EF4-FFF2-40B4-BE49-F238E27FC236}">
                <a16:creationId xmlns:a16="http://schemas.microsoft.com/office/drawing/2014/main" id="{F96D0E16-2511-4E80-8B54-CCD68D287A5D}"/>
              </a:ext>
            </a:extLst>
          </p:cNvPr>
          <p:cNvSpPr>
            <a:spLocks noGrp="1"/>
          </p:cNvSpPr>
          <p:nvPr/>
        </p:nvSpPr>
        <p:spPr>
          <a:xfrm>
            <a:off x="685800" y="3162300"/>
            <a:ext cx="2190750" cy="419100"/>
          </a:xfrm>
          <a:prstGeom prst="rect">
            <a:avLst/>
          </a:prstGeom>
          <a:noFill/>
          <a:ln w="0">
            <a:noFill/>
            <a:prstDash val="solid"/>
          </a:ln>
        </p:spPr>
        <p:txBody>
          <a:bodyPr wrap="square" lIns="0" tIns="0" rIns="0" bIns="0" anchor="t">
            <a:noAutofit/>
          </a:bodyPr>
          <a:lstStyle/>
          <a:p>
            <a:pPr algn="l">
              <a:buNone/>
              <a:defRPr sz="2400" b="1">
                <a:solidFill>
                  <a:srgbClr val="2787F5"/>
                </a:solidFill>
                <a:latin typeface="Cambria Math"/>
                <a:ea typeface="Cambria Math"/>
                <a:cs typeface="Cambria Math"/>
              </a:defRPr>
            </a:pPr>
            <a:r>
              <a:rPr sz="2400" b="1">
                <a:solidFill>
                  <a:srgbClr val="2787F5"/>
                </a:solidFill>
                <a:latin typeface="Cambria Math"/>
                <a:ea typeface="Cambria Math"/>
                <a:cs typeface="Cambria Math"/>
              </a:rPr>
              <a:t>H(Z | X) 仍高</a:t>
            </a:r>
          </a:p>
        </p:txBody>
      </p:sp>
      <p:sp>
        <p:nvSpPr>
          <p:cNvPr id="7" name="矩形 6">
            <a:extLst>
              <a:ext uri="{FF2B5EF4-FFF2-40B4-BE49-F238E27FC236}">
                <a16:creationId xmlns:a16="http://schemas.microsoft.com/office/drawing/2014/main" id="{3C2C4023-00EE-4800-87D5-FD7E38AF8226}"/>
              </a:ext>
            </a:extLst>
          </p:cNvPr>
          <p:cNvSpPr>
            <a:spLocks noGrp="1"/>
          </p:cNvSpPr>
          <p:nvPr/>
        </p:nvSpPr>
        <p:spPr>
          <a:xfrm>
            <a:off x="685800" y="3676650"/>
            <a:ext cx="4191000" cy="266700"/>
          </a:xfrm>
          <a:prstGeom prst="rect">
            <a:avLst/>
          </a:prstGeom>
          <a:noFill/>
          <a:ln w="0">
            <a:noFill/>
            <a:prstDash val="solid"/>
          </a:ln>
        </p:spPr>
        <p:txBody>
          <a:bodyPr wrap="square" lIns="0" tIns="0" rIns="0" bIns="0" anchor="t">
            <a:noAutofit/>
          </a:bodyPr>
          <a:lstStyle/>
          <a:p>
            <a:pPr algn="l">
              <a:buNone/>
              <a:defRPr sz="1425" b="1">
                <a:solidFill>
                  <a:srgbClr val="101214"/>
                </a:solidFill>
                <a:latin typeface="Helvetica Neue"/>
                <a:ea typeface="Helvetica Neue"/>
                <a:cs typeface="Helvetica Neue"/>
              </a:defRPr>
            </a:pPr>
            <a:r>
              <a:rPr sz="1425" b="1">
                <a:solidFill>
                  <a:srgbClr val="101214"/>
                </a:solidFill>
                <a:latin typeface="Helvetica Neue"/>
                <a:ea typeface="Helvetica Neue"/>
                <a:cs typeface="Helvetica Neue"/>
              </a:rPr>
              <a:t>表面：输出仍然“像在推理”</a:t>
            </a:r>
          </a:p>
        </p:txBody>
      </p:sp>
      <p:sp>
        <p:nvSpPr>
          <p:cNvPr id="8" name="矩形 7">
            <a:extLst>
              <a:ext uri="{FF2B5EF4-FFF2-40B4-BE49-F238E27FC236}">
                <a16:creationId xmlns:a16="http://schemas.microsoft.com/office/drawing/2014/main" id="{E91EE9FE-93D9-4A81-A3F1-F55042B03B1F}"/>
              </a:ext>
            </a:extLst>
          </p:cNvPr>
          <p:cNvSpPr>
            <a:spLocks noGrp="1"/>
          </p:cNvSpPr>
          <p:nvPr/>
        </p:nvSpPr>
        <p:spPr>
          <a:xfrm>
            <a:off x="685800" y="4143375"/>
            <a:ext cx="4667250" cy="571500"/>
          </a:xfrm>
          <a:prstGeom prst="rect">
            <a:avLst/>
          </a:prstGeom>
          <a:noFill/>
          <a:ln w="0">
            <a:noFill/>
            <a:prstDash val="solid"/>
          </a:ln>
        </p:spPr>
        <p:txBody>
          <a:bodyPr wrap="square" lIns="0" tIns="0" rIns="0" bIns="0" anchor="t">
            <a:noAutofit/>
          </a:bodyPr>
          <a:lstStyle/>
          <a:p>
            <a:pPr algn="l">
              <a:buNone/>
              <a:defRPr sz="1350" b="0">
                <a:solidFill>
                  <a:srgbClr val="5E6470"/>
                </a:solidFill>
                <a:latin typeface="Hiragino Sans GB"/>
                <a:ea typeface="Hiragino Sans GB"/>
                <a:cs typeface="Hiragino Sans GB"/>
              </a:defRPr>
            </a:pPr>
            <a:r>
              <a:rPr sz="1350" b="0">
                <a:solidFill>
                  <a:srgbClr val="5E6470"/>
                </a:solidFill>
                <a:latin typeface="Hiragino Sans GB"/>
                <a:ea typeface="Hiragino Sans GB"/>
                <a:cs typeface="Hiragino Sans GB"/>
              </a:rPr>
              <a:t>同一输入下仍有随机性与语言流畅度；常规 entropy monitor 看不出异常。</a:t>
            </a:r>
          </a:p>
        </p:txBody>
      </p:sp>
      <p:sp>
        <p:nvSpPr>
          <p:cNvPr id="9" name="圆角矩形 8">
            <a:extLst>
              <a:ext uri="{FF2B5EF4-FFF2-40B4-BE49-F238E27FC236}">
                <a16:creationId xmlns:a16="http://schemas.microsoft.com/office/drawing/2014/main" id="{501F2AD4-5843-495C-87BE-D8A2AB85A2A8}"/>
              </a:ext>
            </a:extLst>
          </p:cNvPr>
          <p:cNvSpPr>
            <a:spLocks noGrp="1"/>
          </p:cNvSpPr>
          <p:nvPr/>
        </p:nvSpPr>
        <p:spPr>
          <a:xfrm>
            <a:off x="6438900" y="2876550"/>
            <a:ext cx="5334000" cy="2095500"/>
          </a:xfrm>
          <a:prstGeom prst="roundRect">
            <a:avLst>
              <a:gd name="adj" fmla="val 3636"/>
            </a:avLst>
          </a:prstGeom>
          <a:solidFill>
            <a:srgbClr val="E8F6F0"/>
          </a:solidFill>
          <a:ln w="0">
            <a:noFill/>
            <a:prstDash val="solid"/>
          </a:ln>
        </p:spPr>
      </p:sp>
      <p:sp>
        <p:nvSpPr>
          <p:cNvPr id="10" name="矩形 9">
            <a:extLst>
              <a:ext uri="{FF2B5EF4-FFF2-40B4-BE49-F238E27FC236}">
                <a16:creationId xmlns:a16="http://schemas.microsoft.com/office/drawing/2014/main" id="{553FDE0C-826D-4F9C-A0E7-91B481DCE2EF}"/>
              </a:ext>
            </a:extLst>
          </p:cNvPr>
          <p:cNvSpPr>
            <a:spLocks noGrp="1"/>
          </p:cNvSpPr>
          <p:nvPr/>
        </p:nvSpPr>
        <p:spPr>
          <a:xfrm>
            <a:off x="6705600" y="3162300"/>
            <a:ext cx="2190750" cy="419100"/>
          </a:xfrm>
          <a:prstGeom prst="rect">
            <a:avLst/>
          </a:prstGeom>
          <a:noFill/>
          <a:ln w="0">
            <a:noFill/>
            <a:prstDash val="solid"/>
          </a:ln>
        </p:spPr>
        <p:txBody>
          <a:bodyPr wrap="square" lIns="0" tIns="0" rIns="0" bIns="0" anchor="t">
            <a:noAutofit/>
          </a:bodyPr>
          <a:lstStyle/>
          <a:p>
            <a:pPr algn="l">
              <a:buNone/>
              <a:defRPr sz="2400" b="1">
                <a:solidFill>
                  <a:srgbClr val="1F9D70"/>
                </a:solidFill>
                <a:latin typeface="Cambria Math"/>
                <a:ea typeface="Cambria Math"/>
                <a:cs typeface="Cambria Math"/>
              </a:defRPr>
            </a:pPr>
            <a:r>
              <a:rPr sz="2400" b="1">
                <a:solidFill>
                  <a:srgbClr val="1F9D70"/>
                </a:solidFill>
                <a:latin typeface="Cambria Math"/>
                <a:ea typeface="Cambria Math"/>
                <a:cs typeface="Cambria Math"/>
              </a:rPr>
              <a:t>I(X; Z) 下降</a:t>
            </a:r>
          </a:p>
        </p:txBody>
      </p:sp>
      <p:sp>
        <p:nvSpPr>
          <p:cNvPr id="11" name="矩形 10">
            <a:extLst>
              <a:ext uri="{FF2B5EF4-FFF2-40B4-BE49-F238E27FC236}">
                <a16:creationId xmlns:a16="http://schemas.microsoft.com/office/drawing/2014/main" id="{FC0EA97E-67DB-4D83-9B61-B98FDBD4C496}"/>
              </a:ext>
            </a:extLst>
          </p:cNvPr>
          <p:cNvSpPr>
            <a:spLocks noGrp="1"/>
          </p:cNvSpPr>
          <p:nvPr/>
        </p:nvSpPr>
        <p:spPr>
          <a:xfrm>
            <a:off x="6705600" y="3676650"/>
            <a:ext cx="4381500" cy="266700"/>
          </a:xfrm>
          <a:prstGeom prst="rect">
            <a:avLst/>
          </a:prstGeom>
          <a:noFill/>
          <a:ln w="0">
            <a:noFill/>
            <a:prstDash val="solid"/>
          </a:ln>
        </p:spPr>
        <p:txBody>
          <a:bodyPr wrap="square" lIns="0" tIns="0" rIns="0" bIns="0" anchor="t">
            <a:noAutofit/>
          </a:bodyPr>
          <a:lstStyle/>
          <a:p>
            <a:pPr algn="l">
              <a:buNone/>
              <a:defRPr sz="1425" b="1">
                <a:solidFill>
                  <a:srgbClr val="101214"/>
                </a:solidFill>
                <a:latin typeface="Helvetica Neue"/>
                <a:ea typeface="Helvetica Neue"/>
                <a:cs typeface="Helvetica Neue"/>
              </a:defRPr>
            </a:pPr>
            <a:r>
              <a:rPr sz="1425" b="1">
                <a:solidFill>
                  <a:srgbClr val="101214"/>
                </a:solidFill>
                <a:latin typeface="Helvetica Neue"/>
                <a:ea typeface="Helvetica Neue"/>
                <a:cs typeface="Helvetica Neue"/>
              </a:rPr>
              <a:t>实质：输入辨识度持续丢失</a:t>
            </a:r>
          </a:p>
        </p:txBody>
      </p:sp>
      <p:sp>
        <p:nvSpPr>
          <p:cNvPr id="12" name="矩形 11">
            <a:extLst>
              <a:ext uri="{FF2B5EF4-FFF2-40B4-BE49-F238E27FC236}">
                <a16:creationId xmlns:a16="http://schemas.microsoft.com/office/drawing/2014/main" id="{0AADB469-8855-4D76-9DB5-79B7A340CC2E}"/>
              </a:ext>
            </a:extLst>
          </p:cNvPr>
          <p:cNvSpPr>
            <a:spLocks noGrp="1"/>
          </p:cNvSpPr>
          <p:nvPr/>
        </p:nvSpPr>
        <p:spPr>
          <a:xfrm>
            <a:off x="6705600" y="4143375"/>
            <a:ext cx="4667250" cy="571500"/>
          </a:xfrm>
          <a:prstGeom prst="rect">
            <a:avLst/>
          </a:prstGeom>
          <a:noFill/>
          <a:ln w="0">
            <a:noFill/>
            <a:prstDash val="solid"/>
          </a:ln>
        </p:spPr>
        <p:txBody>
          <a:bodyPr wrap="square" lIns="0" tIns="0" rIns="0" bIns="0" anchor="t">
            <a:noAutofit/>
          </a:bodyPr>
          <a:lstStyle/>
          <a:p>
            <a:pPr algn="l">
              <a:buNone/>
              <a:defRPr sz="1350" b="0">
                <a:solidFill>
                  <a:srgbClr val="5E6470"/>
                </a:solidFill>
                <a:latin typeface="Hiragino Sans GB"/>
                <a:ea typeface="Hiragino Sans GB"/>
                <a:cs typeface="Hiragino Sans GB"/>
              </a:defRPr>
            </a:pPr>
            <a:r>
              <a:rPr sz="1350" b="0">
                <a:solidFill>
                  <a:srgbClr val="5E6470"/>
                </a:solidFill>
                <a:latin typeface="Hiragino Sans GB"/>
                <a:ea typeface="Hiragino Sans GB"/>
                <a:cs typeface="Hiragino Sans GB"/>
              </a:rPr>
              <a:t>不同输入逐渐触发相似 reasoning template；模型忽略具体状态，复用通用推理框架。</a:t>
            </a:r>
          </a:p>
        </p:txBody>
      </p:sp>
      <p:sp>
        <p:nvSpPr>
          <p:cNvPr id="13" name="矩形 12">
            <a:extLst>
              <a:ext uri="{FF2B5EF4-FFF2-40B4-BE49-F238E27FC236}">
                <a16:creationId xmlns:a16="http://schemas.microsoft.com/office/drawing/2014/main" id="{9B4ED8F3-7121-4913-997A-FF7879212236}"/>
              </a:ext>
            </a:extLst>
          </p:cNvPr>
          <p:cNvSpPr>
            <a:spLocks noGrp="1"/>
          </p:cNvSpPr>
          <p:nvPr/>
        </p:nvSpPr>
        <p:spPr>
          <a:xfrm>
            <a:off x="419100" y="5429250"/>
            <a:ext cx="11353800" cy="342900"/>
          </a:xfrm>
          <a:prstGeom prst="rect">
            <a:avLst/>
          </a:prstGeom>
          <a:noFill/>
          <a:ln w="0">
            <a:noFill/>
            <a:prstDash val="solid"/>
          </a:ln>
        </p:spPr>
        <p:txBody>
          <a:bodyPr wrap="square" lIns="0" tIns="0" rIns="0" bIns="0" anchor="t">
            <a:noAutofit/>
          </a:bodyPr>
          <a:lstStyle/>
          <a:p>
            <a:pPr algn="ctr">
              <a:buNone/>
              <a:defRPr sz="1950" b="1">
                <a:solidFill>
                  <a:srgbClr val="D94C4C"/>
                </a:solidFill>
                <a:latin typeface="Hiragino Sans GB"/>
                <a:ea typeface="Hiragino Sans GB"/>
                <a:cs typeface="Hiragino Sans GB"/>
              </a:defRPr>
            </a:pPr>
            <a:r>
              <a:rPr sz="1950" b="1">
                <a:solidFill>
                  <a:srgbClr val="D94C4C"/>
                </a:solidFill>
                <a:latin typeface="Hiragino Sans GB"/>
                <a:ea typeface="Hiragino Sans GB"/>
                <a:cs typeface="Hiragino Sans GB"/>
              </a:rPr>
              <a:t>Template collapse：不是“不会生成”，而是“生成不再依赖输入”。</a:t>
            </a:r>
          </a:p>
        </p:txBody>
      </p:sp>
      <p:sp>
        <p:nvSpPr>
          <p:cNvPr id="14" name="直线连接符 13">
            <a:extLst>
              <a:ext uri="{FF2B5EF4-FFF2-40B4-BE49-F238E27FC236}">
                <a16:creationId xmlns:a16="http://schemas.microsoft.com/office/drawing/2014/main" id="{AC78EFC0-E544-4D73-A04D-A2D93D5AC5FD}"/>
              </a:ext>
            </a:extLst>
          </p:cNvPr>
          <p:cNvSpPr>
            <a:spLocks noGrp="1"/>
          </p:cNvSpPr>
          <p:nvPr/>
        </p:nvSpPr>
        <p:spPr>
          <a:xfrm>
            <a:off x="419100" y="6286500"/>
            <a:ext cx="11353800" cy="0"/>
          </a:xfrm>
          <a:prstGeom prst="line">
            <a:avLst/>
          </a:prstGeom>
          <a:noFill/>
          <a:ln w="9525">
            <a:solidFill>
              <a:srgbClr val="B8BCC4"/>
            </a:solidFill>
            <a:prstDash val="solid"/>
          </a:ln>
        </p:spPr>
      </p:sp>
      <p:sp>
        <p:nvSpPr>
          <p:cNvPr id="15" name="矩形 14">
            <a:extLst>
              <a:ext uri="{FF2B5EF4-FFF2-40B4-BE49-F238E27FC236}">
                <a16:creationId xmlns:a16="http://schemas.microsoft.com/office/drawing/2014/main" id="{2A08052A-578E-48EE-94E2-8E7D5D52E26A}"/>
              </a:ext>
            </a:extLst>
          </p:cNvPr>
          <p:cNvSpPr>
            <a:spLocks noGrp="1"/>
          </p:cNvSpPr>
          <p:nvPr/>
        </p:nvSpPr>
        <p:spPr>
          <a:xfrm>
            <a:off x="419100" y="6362700"/>
            <a:ext cx="10763250" cy="219075"/>
          </a:xfrm>
          <a:prstGeom prst="rect">
            <a:avLst/>
          </a:prstGeom>
          <a:noFill/>
          <a:ln w="0">
            <a:noFill/>
            <a:prstDash val="solid"/>
          </a:ln>
        </p:spPr>
        <p:txBody>
          <a:bodyPr wrap="square" lIns="0" tIns="0" rIns="0" bIns="0" anchor="t">
            <a:noAutofit/>
          </a:bodyPr>
          <a:lstStyle/>
          <a:p>
            <a:pPr algn="l">
              <a:buNone/>
              <a:defRPr sz="788" b="0">
                <a:solidFill>
                  <a:srgbClr val="5E6470"/>
                </a:solidFill>
                <a:latin typeface="Helvetica Neue"/>
                <a:ea typeface="Helvetica Neue"/>
                <a:cs typeface="Helvetica Neue"/>
              </a:defRPr>
            </a:pPr>
            <a:r>
              <a:rPr sz="788" b="0">
                <a:solidFill>
                  <a:srgbClr val="5E6470"/>
                </a:solidFill>
                <a:latin typeface="Helvetica Neue"/>
                <a:ea typeface="Helvetica Neue"/>
                <a:cs typeface="Helvetica Neue"/>
              </a:rPr>
              <a:t>Wang et al., RAGEN-2 (2026), Section 4.2  ·  direct failure-mode description</a:t>
            </a:r>
          </a:p>
        </p:txBody>
      </p:sp>
      <p:sp>
        <p:nvSpPr>
          <p:cNvPr id="16" name="矩形 15">
            <a:extLst>
              <a:ext uri="{FF2B5EF4-FFF2-40B4-BE49-F238E27FC236}">
                <a16:creationId xmlns:a16="http://schemas.microsoft.com/office/drawing/2014/main" id="{F018E260-255E-4B99-9640-0DAD2C2D7D58}"/>
              </a:ext>
            </a:extLst>
          </p:cNvPr>
          <p:cNvSpPr>
            <a:spLocks noGrp="1"/>
          </p:cNvSpPr>
          <p:nvPr/>
        </p:nvSpPr>
        <p:spPr>
          <a:xfrm>
            <a:off x="11334750" y="6362700"/>
            <a:ext cx="438150" cy="219075"/>
          </a:xfrm>
          <a:prstGeom prst="rect">
            <a:avLst/>
          </a:prstGeom>
          <a:noFill/>
          <a:ln w="0">
            <a:noFill/>
            <a:prstDash val="solid"/>
          </a:ln>
        </p:spPr>
        <p:txBody>
          <a:bodyPr wrap="square" lIns="0" tIns="0" rIns="0" bIns="0" anchor="t">
            <a:noAutofit/>
          </a:bodyPr>
          <a:lstStyle/>
          <a:p>
            <a:pPr algn="r">
              <a:buNone/>
              <a:defRPr sz="825" b="0">
                <a:solidFill>
                  <a:srgbClr val="5E6470"/>
                </a:solidFill>
                <a:latin typeface="Helvetica Neue"/>
                <a:ea typeface="Helvetica Neue"/>
                <a:cs typeface="Helvetica Neue"/>
              </a:defRPr>
            </a:pPr>
            <a:r>
              <a:rPr sz="825" b="0">
                <a:solidFill>
                  <a:srgbClr val="5E6470"/>
                </a:solidFill>
                <a:latin typeface="Helvetica Neue"/>
                <a:ea typeface="Helvetica Neue"/>
                <a:cs typeface="Helvetica Neue"/>
              </a:rPr>
              <a:t>14</a:t>
            </a:r>
          </a:p>
        </p:txBody>
      </p:sp>
    </p:spTree>
    <p:extLst>
      <p:ext uri="{BB962C8B-B14F-4D97-AF65-F5344CB8AC3E}">
        <p14:creationId xmlns:p14="http://schemas.microsoft.com/office/powerpoint/2010/main" val="6307323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矩形 16">
            <a:extLst>
              <a:ext uri="{FF2B5EF4-FFF2-40B4-BE49-F238E27FC236}">
                <a16:creationId xmlns:a16="http://schemas.microsoft.com/office/drawing/2014/main" id="{E618D621-08B3-40C9-A230-93E1C4CE3481}"/>
              </a:ext>
            </a:extLst>
          </p:cNvPr>
          <p:cNvSpPr>
            <a:spLocks noGrp="1"/>
          </p:cNvSpPr>
          <p:nvPr/>
        </p:nvSpPr>
        <p:spPr>
          <a:xfrm>
            <a:off x="419100" y="171450"/>
            <a:ext cx="2952750" cy="228600"/>
          </a:xfrm>
          <a:prstGeom prst="rect">
            <a:avLst/>
          </a:prstGeom>
          <a:noFill/>
          <a:ln w="0">
            <a:noFill/>
            <a:prstDash val="solid"/>
          </a:ln>
        </p:spPr>
        <p:txBody>
          <a:bodyPr wrap="square" lIns="0" tIns="0" rIns="0" bIns="0" anchor="t">
            <a:noAutofit/>
          </a:bodyPr>
          <a:lstStyle/>
          <a:p>
            <a:pPr algn="l">
              <a:buNone/>
              <a:defRPr sz="975" b="1">
                <a:solidFill>
                  <a:srgbClr val="5E6470"/>
                </a:solidFill>
                <a:latin typeface="Helvetica Neue"/>
                <a:ea typeface="Helvetica Neue"/>
                <a:cs typeface="Helvetica Neue"/>
              </a:defRPr>
            </a:pPr>
            <a:r>
              <a:rPr sz="975" b="1">
                <a:solidFill>
                  <a:srgbClr val="5E6470"/>
                </a:solidFill>
                <a:latin typeface="Helvetica Neue"/>
                <a:ea typeface="Helvetica Neue"/>
                <a:cs typeface="Helvetica Neue"/>
              </a:rPr>
              <a:t>I · ENTROPY MECHANISM</a:t>
            </a:r>
          </a:p>
        </p:txBody>
      </p:sp>
      <p:sp>
        <p:nvSpPr>
          <p:cNvPr id="2" name="矩形 1">
            <a:extLst>
              <a:ext uri="{FF2B5EF4-FFF2-40B4-BE49-F238E27FC236}">
                <a16:creationId xmlns:a16="http://schemas.microsoft.com/office/drawing/2014/main" id="{7B9D7BBD-681A-46B3-9C92-B405AFB007EC}"/>
              </a:ext>
            </a:extLst>
          </p:cNvPr>
          <p:cNvSpPr>
            <a:spLocks noGrp="1"/>
          </p:cNvSpPr>
          <p:nvPr/>
        </p:nvSpPr>
        <p:spPr>
          <a:xfrm>
            <a:off x="419100" y="409575"/>
            <a:ext cx="11353800" cy="514350"/>
          </a:xfrm>
          <a:prstGeom prst="rect">
            <a:avLst/>
          </a:prstGeom>
          <a:noFill/>
          <a:ln w="0">
            <a:noFill/>
            <a:prstDash val="solid"/>
          </a:ln>
        </p:spPr>
        <p:txBody>
          <a:bodyPr wrap="square" lIns="0" tIns="0" rIns="0" bIns="0" anchor="t">
            <a:noAutofit/>
          </a:bodyPr>
          <a:lstStyle/>
          <a:p>
            <a:pPr algn="l">
              <a:buNone/>
              <a:defRPr sz="2850" b="1">
                <a:solidFill>
                  <a:srgbClr val="101214"/>
                </a:solidFill>
                <a:latin typeface="Hiragino Sans GB"/>
                <a:ea typeface="Hiragino Sans GB"/>
                <a:cs typeface="Hiragino Sans GB"/>
              </a:defRPr>
            </a:pPr>
            <a:r>
              <a:rPr sz="2850" b="1">
                <a:solidFill>
                  <a:srgbClr val="101214"/>
                </a:solidFill>
                <a:latin typeface="Hiragino Sans GB"/>
                <a:ea typeface="Hiragino Sans GB"/>
                <a:cs typeface="Hiragino Sans GB"/>
              </a:rPr>
              <a:t>熵只描述推理质量的一条轴</a:t>
            </a:r>
          </a:p>
        </p:txBody>
      </p:sp>
      <p:sp>
        <p:nvSpPr>
          <p:cNvPr id="3" name="圆角矩形 2">
            <a:extLst>
              <a:ext uri="{FF2B5EF4-FFF2-40B4-BE49-F238E27FC236}">
                <a16:creationId xmlns:a16="http://schemas.microsoft.com/office/drawing/2014/main" id="{CD51BCDE-CAF5-4925-846E-27ABE29E4AD2}"/>
              </a:ext>
            </a:extLst>
          </p:cNvPr>
          <p:cNvSpPr>
            <a:spLocks noGrp="1"/>
          </p:cNvSpPr>
          <p:nvPr/>
        </p:nvSpPr>
        <p:spPr>
          <a:xfrm>
            <a:off x="419100" y="1257300"/>
            <a:ext cx="11353800" cy="1123950"/>
          </a:xfrm>
          <a:prstGeom prst="roundRect">
            <a:avLst>
              <a:gd name="adj" fmla="val 6780"/>
            </a:avLst>
          </a:prstGeom>
          <a:solidFill>
            <a:srgbClr val="F1F2F4"/>
          </a:solidFill>
          <a:ln w="0">
            <a:noFill/>
            <a:prstDash val="solid"/>
          </a:ln>
        </p:spPr>
      </p:sp>
      <p:sp>
        <p:nvSpPr>
          <p:cNvPr id="4" name="矩形 3">
            <a:extLst>
              <a:ext uri="{FF2B5EF4-FFF2-40B4-BE49-F238E27FC236}">
                <a16:creationId xmlns:a16="http://schemas.microsoft.com/office/drawing/2014/main" id="{789FB66F-CEB2-412A-A89A-8D7BF774246D}"/>
              </a:ext>
            </a:extLst>
          </p:cNvPr>
          <p:cNvSpPr>
            <a:spLocks noGrp="1"/>
          </p:cNvSpPr>
          <p:nvPr/>
        </p:nvSpPr>
        <p:spPr>
          <a:xfrm>
            <a:off x="1047750" y="1524000"/>
            <a:ext cx="10096500" cy="552450"/>
          </a:xfrm>
          <a:prstGeom prst="rect">
            <a:avLst/>
          </a:prstGeom>
          <a:noFill/>
          <a:ln w="0">
            <a:noFill/>
            <a:prstDash val="solid"/>
          </a:ln>
        </p:spPr>
        <p:txBody>
          <a:bodyPr wrap="square" lIns="0" tIns="0" rIns="0" bIns="0" anchor="t">
            <a:noAutofit/>
          </a:bodyPr>
          <a:lstStyle/>
          <a:p>
            <a:pPr algn="ctr">
              <a:buNone/>
              <a:defRPr sz="3000" b="1">
                <a:solidFill>
                  <a:srgbClr val="101214"/>
                </a:solidFill>
                <a:latin typeface="Cambria Math"/>
                <a:ea typeface="Cambria Math"/>
                <a:cs typeface="Cambria Math"/>
              </a:defRPr>
            </a:pPr>
            <a:r>
              <a:rPr sz="3000" b="1">
                <a:solidFill>
                  <a:srgbClr val="101214"/>
                </a:solidFill>
                <a:latin typeface="Times New Roman"/>
                <a:ea typeface="Times New Roman"/>
                <a:cs typeface="Times New Roman"/>
              </a:rPr>
              <a:t>H(Z) = I(X; Z) + H(Z | X)</a:t>
            </a:r>
          </a:p>
        </p:txBody>
      </p:sp>
      <p:sp>
        <p:nvSpPr>
          <p:cNvPr id="5" name="圆角矩形 4">
            <a:extLst>
              <a:ext uri="{FF2B5EF4-FFF2-40B4-BE49-F238E27FC236}">
                <a16:creationId xmlns:a16="http://schemas.microsoft.com/office/drawing/2014/main" id="{6AFD7094-8DD3-46C6-B808-45770EDEF54B}"/>
              </a:ext>
            </a:extLst>
          </p:cNvPr>
          <p:cNvSpPr>
            <a:spLocks noGrp="1"/>
          </p:cNvSpPr>
          <p:nvPr/>
        </p:nvSpPr>
        <p:spPr>
          <a:xfrm>
            <a:off x="419100" y="2876550"/>
            <a:ext cx="5334000" cy="2095500"/>
          </a:xfrm>
          <a:prstGeom prst="roundRect">
            <a:avLst>
              <a:gd name="adj" fmla="val 3636"/>
            </a:avLst>
          </a:prstGeom>
          <a:solidFill>
            <a:srgbClr val="EAF5FB"/>
          </a:solidFill>
          <a:ln w="0">
            <a:noFill/>
            <a:prstDash val="solid"/>
          </a:ln>
        </p:spPr>
      </p:sp>
      <p:sp>
        <p:nvSpPr>
          <p:cNvPr id="6" name="矩形 5">
            <a:extLst>
              <a:ext uri="{FF2B5EF4-FFF2-40B4-BE49-F238E27FC236}">
                <a16:creationId xmlns:a16="http://schemas.microsoft.com/office/drawing/2014/main" id="{F96D0E16-2511-4E80-8B54-CCD68D287A5D}"/>
              </a:ext>
            </a:extLst>
          </p:cNvPr>
          <p:cNvSpPr>
            <a:spLocks noGrp="1"/>
          </p:cNvSpPr>
          <p:nvPr/>
        </p:nvSpPr>
        <p:spPr>
          <a:xfrm>
            <a:off x="685800" y="3162300"/>
            <a:ext cx="2190750" cy="419100"/>
          </a:xfrm>
          <a:prstGeom prst="rect">
            <a:avLst/>
          </a:prstGeom>
          <a:noFill/>
          <a:ln w="0">
            <a:noFill/>
            <a:prstDash val="solid"/>
          </a:ln>
        </p:spPr>
        <p:txBody>
          <a:bodyPr wrap="square" lIns="0" tIns="0" rIns="0" bIns="0" anchor="t">
            <a:noAutofit/>
          </a:bodyPr>
          <a:lstStyle/>
          <a:p>
            <a:pPr algn="l">
              <a:buNone/>
              <a:defRPr sz="2400" b="1">
                <a:solidFill>
                  <a:srgbClr val="2787F5"/>
                </a:solidFill>
                <a:latin typeface="Cambria Math"/>
                <a:ea typeface="Cambria Math"/>
                <a:cs typeface="Cambria Math"/>
              </a:defRPr>
            </a:pPr>
            <a:r>
              <a:rPr sz="2400" b="1">
                <a:solidFill>
                  <a:srgbClr val="2787F5"/>
                </a:solidFill>
                <a:latin typeface="Cambria Math"/>
                <a:ea typeface="Cambria Math"/>
                <a:cs typeface="Cambria Math"/>
              </a:rPr>
              <a:t>H(Z | X)</a:t>
            </a:r>
          </a:p>
        </p:txBody>
      </p:sp>
      <p:sp>
        <p:nvSpPr>
          <p:cNvPr id="7" name="矩形 6">
            <a:extLst>
              <a:ext uri="{FF2B5EF4-FFF2-40B4-BE49-F238E27FC236}">
                <a16:creationId xmlns:a16="http://schemas.microsoft.com/office/drawing/2014/main" id="{3C2C4023-00EE-4800-87D5-FD7E38AF8226}"/>
              </a:ext>
            </a:extLst>
          </p:cNvPr>
          <p:cNvSpPr>
            <a:spLocks noGrp="1"/>
          </p:cNvSpPr>
          <p:nvPr/>
        </p:nvSpPr>
        <p:spPr>
          <a:xfrm>
            <a:off x="685800" y="3676650"/>
            <a:ext cx="4191000" cy="266700"/>
          </a:xfrm>
          <a:prstGeom prst="rect">
            <a:avLst/>
          </a:prstGeom>
          <a:noFill/>
          <a:ln w="0">
            <a:noFill/>
            <a:prstDash val="solid"/>
          </a:ln>
        </p:spPr>
        <p:txBody>
          <a:bodyPr wrap="square" lIns="0" tIns="0" rIns="0" bIns="0" anchor="t">
            <a:noAutofit/>
          </a:bodyPr>
          <a:lstStyle/>
          <a:p>
            <a:pPr algn="l">
              <a:buNone/>
              <a:defRPr sz="1425" b="1">
                <a:solidFill>
                  <a:srgbClr val="101214"/>
                </a:solidFill>
                <a:latin typeface="Helvetica Neue"/>
                <a:ea typeface="Helvetica Neue"/>
                <a:cs typeface="Helvetica Neue"/>
              </a:defRPr>
            </a:pPr>
            <a:r>
              <a:rPr sz="1425" b="1">
                <a:solidFill>
                  <a:srgbClr val="101214"/>
                </a:solidFill>
                <a:latin typeface="Helvetica Neue"/>
                <a:ea typeface="Helvetica Neue"/>
                <a:cs typeface="Helvetica Neue"/>
              </a:rPr>
              <a:t>Within-input diversity</a:t>
            </a:r>
          </a:p>
        </p:txBody>
      </p:sp>
      <p:sp>
        <p:nvSpPr>
          <p:cNvPr id="8" name="矩形 7">
            <a:extLst>
              <a:ext uri="{FF2B5EF4-FFF2-40B4-BE49-F238E27FC236}">
                <a16:creationId xmlns:a16="http://schemas.microsoft.com/office/drawing/2014/main" id="{E91EE9FE-93D9-4A81-A3F1-F55042B03B1F}"/>
              </a:ext>
            </a:extLst>
          </p:cNvPr>
          <p:cNvSpPr>
            <a:spLocks noGrp="1"/>
          </p:cNvSpPr>
          <p:nvPr/>
        </p:nvSpPr>
        <p:spPr>
          <a:xfrm>
            <a:off x="685800" y="4143375"/>
            <a:ext cx="4667250" cy="571500"/>
          </a:xfrm>
          <a:prstGeom prst="rect">
            <a:avLst/>
          </a:prstGeom>
          <a:noFill/>
          <a:ln w="0">
            <a:noFill/>
            <a:prstDash val="solid"/>
          </a:ln>
        </p:spPr>
        <p:txBody>
          <a:bodyPr wrap="square" lIns="0" tIns="0" rIns="0" bIns="0" anchor="t">
            <a:noAutofit/>
          </a:bodyPr>
          <a:lstStyle/>
          <a:p>
            <a:pPr algn="l">
              <a:buNone/>
              <a:defRPr sz="1350" b="0">
                <a:solidFill>
                  <a:srgbClr val="5E6470"/>
                </a:solidFill>
                <a:latin typeface="Hiragino Sans GB"/>
                <a:ea typeface="Hiragino Sans GB"/>
                <a:cs typeface="Hiragino Sans GB"/>
              </a:defRPr>
            </a:pPr>
            <a:r>
              <a:rPr sz="1350" b="0">
                <a:solidFill>
                  <a:srgbClr val="5E6470"/>
                </a:solidFill>
                <a:latin typeface="Hiragino Sans GB"/>
                <a:ea typeface="Hiragino Sans GB"/>
                <a:cs typeface="Hiragino Sans GB"/>
              </a:rPr>
              <a:t>同一个输入下，reasoning 有多随机、多样。常见 entropy monitor 主要覆盖这一轴。</a:t>
            </a:r>
          </a:p>
        </p:txBody>
      </p:sp>
      <p:sp>
        <p:nvSpPr>
          <p:cNvPr id="9" name="圆角矩形 8">
            <a:extLst>
              <a:ext uri="{FF2B5EF4-FFF2-40B4-BE49-F238E27FC236}">
                <a16:creationId xmlns:a16="http://schemas.microsoft.com/office/drawing/2014/main" id="{501F2AD4-5843-495C-87BE-D8A2AB85A2A8}"/>
              </a:ext>
            </a:extLst>
          </p:cNvPr>
          <p:cNvSpPr>
            <a:spLocks noGrp="1"/>
          </p:cNvSpPr>
          <p:nvPr/>
        </p:nvSpPr>
        <p:spPr>
          <a:xfrm>
            <a:off x="6438900" y="2876550"/>
            <a:ext cx="5334000" cy="2095500"/>
          </a:xfrm>
          <a:prstGeom prst="roundRect">
            <a:avLst>
              <a:gd name="adj" fmla="val 3636"/>
            </a:avLst>
          </a:prstGeom>
          <a:solidFill>
            <a:srgbClr val="E8F6F0"/>
          </a:solidFill>
          <a:ln w="0">
            <a:noFill/>
            <a:prstDash val="solid"/>
          </a:ln>
        </p:spPr>
      </p:sp>
      <p:sp>
        <p:nvSpPr>
          <p:cNvPr id="10" name="矩形 9">
            <a:extLst>
              <a:ext uri="{FF2B5EF4-FFF2-40B4-BE49-F238E27FC236}">
                <a16:creationId xmlns:a16="http://schemas.microsoft.com/office/drawing/2014/main" id="{553FDE0C-826D-4F9C-A0E7-91B481DCE2EF}"/>
              </a:ext>
            </a:extLst>
          </p:cNvPr>
          <p:cNvSpPr>
            <a:spLocks noGrp="1"/>
          </p:cNvSpPr>
          <p:nvPr/>
        </p:nvSpPr>
        <p:spPr>
          <a:xfrm>
            <a:off x="6705600" y="3162300"/>
            <a:ext cx="2190750" cy="419100"/>
          </a:xfrm>
          <a:prstGeom prst="rect">
            <a:avLst/>
          </a:prstGeom>
          <a:noFill/>
          <a:ln w="0">
            <a:noFill/>
            <a:prstDash val="solid"/>
          </a:ln>
        </p:spPr>
        <p:txBody>
          <a:bodyPr wrap="square" lIns="0" tIns="0" rIns="0" bIns="0" anchor="t">
            <a:noAutofit/>
          </a:bodyPr>
          <a:lstStyle/>
          <a:p>
            <a:pPr algn="l">
              <a:buNone/>
              <a:defRPr sz="2400" b="1">
                <a:solidFill>
                  <a:srgbClr val="1F9D70"/>
                </a:solidFill>
                <a:latin typeface="Cambria Math"/>
                <a:ea typeface="Cambria Math"/>
                <a:cs typeface="Cambria Math"/>
              </a:defRPr>
            </a:pPr>
            <a:r>
              <a:rPr sz="2400" b="1">
                <a:solidFill>
                  <a:srgbClr val="1F9D70"/>
                </a:solidFill>
                <a:latin typeface="Cambria Math"/>
                <a:ea typeface="Cambria Math"/>
                <a:cs typeface="Cambria Math"/>
              </a:rPr>
              <a:t>I(X; Z)</a:t>
            </a:r>
          </a:p>
        </p:txBody>
      </p:sp>
      <p:sp>
        <p:nvSpPr>
          <p:cNvPr id="11" name="矩形 10">
            <a:extLst>
              <a:ext uri="{FF2B5EF4-FFF2-40B4-BE49-F238E27FC236}">
                <a16:creationId xmlns:a16="http://schemas.microsoft.com/office/drawing/2014/main" id="{FC0EA97E-67DB-4D83-9B61-B98FDBD4C496}"/>
              </a:ext>
            </a:extLst>
          </p:cNvPr>
          <p:cNvSpPr>
            <a:spLocks noGrp="1"/>
          </p:cNvSpPr>
          <p:nvPr/>
        </p:nvSpPr>
        <p:spPr>
          <a:xfrm>
            <a:off x="6705600" y="3676650"/>
            <a:ext cx="4381500" cy="266700"/>
          </a:xfrm>
          <a:prstGeom prst="rect">
            <a:avLst/>
          </a:prstGeom>
          <a:noFill/>
          <a:ln w="0">
            <a:noFill/>
            <a:prstDash val="solid"/>
          </a:ln>
        </p:spPr>
        <p:txBody>
          <a:bodyPr wrap="square" lIns="0" tIns="0" rIns="0" bIns="0" anchor="t">
            <a:noAutofit/>
          </a:bodyPr>
          <a:lstStyle/>
          <a:p>
            <a:pPr algn="l">
              <a:buNone/>
              <a:defRPr sz="1425" b="1">
                <a:solidFill>
                  <a:srgbClr val="101214"/>
                </a:solidFill>
                <a:latin typeface="Helvetica Neue"/>
                <a:ea typeface="Helvetica Neue"/>
                <a:cs typeface="Helvetica Neue"/>
              </a:defRPr>
            </a:pPr>
            <a:r>
              <a:rPr sz="1425" b="1">
                <a:solidFill>
                  <a:srgbClr val="101214"/>
                </a:solidFill>
                <a:latin typeface="Helvetica Neue"/>
                <a:ea typeface="Helvetica Neue"/>
                <a:cs typeface="Helvetica Neue"/>
              </a:rPr>
              <a:t>Cross-input distinguishability</a:t>
            </a:r>
          </a:p>
        </p:txBody>
      </p:sp>
      <p:sp>
        <p:nvSpPr>
          <p:cNvPr id="12" name="矩形 11">
            <a:extLst>
              <a:ext uri="{FF2B5EF4-FFF2-40B4-BE49-F238E27FC236}">
                <a16:creationId xmlns:a16="http://schemas.microsoft.com/office/drawing/2014/main" id="{0AADB469-8855-4D76-9DB5-79B7A340CC2E}"/>
              </a:ext>
            </a:extLst>
          </p:cNvPr>
          <p:cNvSpPr>
            <a:spLocks noGrp="1"/>
          </p:cNvSpPr>
          <p:nvPr/>
        </p:nvSpPr>
        <p:spPr>
          <a:xfrm>
            <a:off x="6705600" y="4143375"/>
            <a:ext cx="4667250" cy="571500"/>
          </a:xfrm>
          <a:prstGeom prst="rect">
            <a:avLst/>
          </a:prstGeom>
          <a:noFill/>
          <a:ln w="0">
            <a:noFill/>
            <a:prstDash val="solid"/>
          </a:ln>
        </p:spPr>
        <p:txBody>
          <a:bodyPr wrap="square" lIns="0" tIns="0" rIns="0" bIns="0" anchor="t">
            <a:noAutofit/>
          </a:bodyPr>
          <a:lstStyle/>
          <a:p>
            <a:pPr algn="l">
              <a:buNone/>
              <a:defRPr sz="1350" b="0">
                <a:solidFill>
                  <a:srgbClr val="5E6470"/>
                </a:solidFill>
                <a:latin typeface="Hiragino Sans GB"/>
                <a:ea typeface="Hiragino Sans GB"/>
                <a:cs typeface="Hiragino Sans GB"/>
              </a:defRPr>
            </a:pPr>
            <a:r>
              <a:rPr sz="1350" b="0">
                <a:solidFill>
                  <a:srgbClr val="5E6470"/>
                </a:solidFill>
                <a:latin typeface="Hiragino Sans GB"/>
                <a:ea typeface="Hiragino Sans GB"/>
                <a:cs typeface="Hiragino Sans GB"/>
              </a:rPr>
              <a:t>换一个输入 / 环境状态，reasoning 是否真的随之改变。</a:t>
            </a:r>
          </a:p>
        </p:txBody>
      </p:sp>
      <p:sp>
        <p:nvSpPr>
          <p:cNvPr id="13" name="矩形 12">
            <a:extLst>
              <a:ext uri="{FF2B5EF4-FFF2-40B4-BE49-F238E27FC236}">
                <a16:creationId xmlns:a16="http://schemas.microsoft.com/office/drawing/2014/main" id="{9B4ED8F3-7121-4913-997A-FF7879212236}"/>
              </a:ext>
            </a:extLst>
          </p:cNvPr>
          <p:cNvSpPr>
            <a:spLocks noGrp="1"/>
          </p:cNvSpPr>
          <p:nvPr/>
        </p:nvSpPr>
        <p:spPr>
          <a:xfrm>
            <a:off x="419100" y="5429250"/>
            <a:ext cx="11353800" cy="342900"/>
          </a:xfrm>
          <a:prstGeom prst="rect">
            <a:avLst/>
          </a:prstGeom>
          <a:noFill/>
          <a:ln w="0">
            <a:noFill/>
            <a:prstDash val="solid"/>
          </a:ln>
        </p:spPr>
        <p:txBody>
          <a:bodyPr wrap="square" lIns="0" tIns="0" rIns="0" bIns="0" anchor="t">
            <a:noAutofit/>
          </a:bodyPr>
          <a:lstStyle/>
          <a:p>
            <a:pPr algn="ctr">
              <a:buNone/>
              <a:defRPr sz="1950" b="1">
                <a:solidFill>
                  <a:srgbClr val="D94C4C"/>
                </a:solidFill>
                <a:latin typeface="Hiragino Sans GB"/>
                <a:ea typeface="Hiragino Sans GB"/>
                <a:cs typeface="Hiragino Sans GB"/>
              </a:defRPr>
            </a:pPr>
            <a:r>
              <a:rPr sz="1950" b="1">
                <a:solidFill>
                  <a:srgbClr val="D94C4C"/>
                </a:solidFill>
                <a:latin typeface="Hiragino Sans GB"/>
                <a:ea typeface="Hiragino Sans GB"/>
                <a:cs typeface="Hiragino Sans GB"/>
              </a:rPr>
              <a:t>高 H(Z|X) 并不能排除 I(X;Z) → 0，即这篇文章提出的failure mode：template collapse</a:t>
            </a:r>
          </a:p>
        </p:txBody>
      </p:sp>
      <p:sp>
        <p:nvSpPr>
          <p:cNvPr id="14" name="直线连接符 13">
            <a:extLst>
              <a:ext uri="{FF2B5EF4-FFF2-40B4-BE49-F238E27FC236}">
                <a16:creationId xmlns:a16="http://schemas.microsoft.com/office/drawing/2014/main" id="{AC78EFC0-E544-4D73-A04D-A2D93D5AC5FD}"/>
              </a:ext>
            </a:extLst>
          </p:cNvPr>
          <p:cNvSpPr>
            <a:spLocks noGrp="1"/>
          </p:cNvSpPr>
          <p:nvPr/>
        </p:nvSpPr>
        <p:spPr>
          <a:xfrm>
            <a:off x="419100" y="6286500"/>
            <a:ext cx="11353800" cy="0"/>
          </a:xfrm>
          <a:prstGeom prst="line">
            <a:avLst/>
          </a:prstGeom>
          <a:noFill/>
          <a:ln w="9525">
            <a:solidFill>
              <a:srgbClr val="B8BCC4"/>
            </a:solidFill>
            <a:prstDash val="solid"/>
          </a:ln>
        </p:spPr>
      </p:sp>
      <p:sp>
        <p:nvSpPr>
          <p:cNvPr id="15" name="矩形 14">
            <a:extLst>
              <a:ext uri="{FF2B5EF4-FFF2-40B4-BE49-F238E27FC236}">
                <a16:creationId xmlns:a16="http://schemas.microsoft.com/office/drawing/2014/main" id="{2A08052A-578E-48EE-94E2-8E7D5D52E26A}"/>
              </a:ext>
            </a:extLst>
          </p:cNvPr>
          <p:cNvSpPr>
            <a:spLocks noGrp="1"/>
          </p:cNvSpPr>
          <p:nvPr/>
        </p:nvSpPr>
        <p:spPr>
          <a:xfrm>
            <a:off x="419100" y="6362700"/>
            <a:ext cx="10763250" cy="219075"/>
          </a:xfrm>
          <a:prstGeom prst="rect">
            <a:avLst/>
          </a:prstGeom>
          <a:noFill/>
          <a:ln w="0">
            <a:noFill/>
            <a:prstDash val="solid"/>
          </a:ln>
        </p:spPr>
        <p:txBody>
          <a:bodyPr wrap="square" lIns="0" tIns="0" rIns="0" bIns="0" anchor="t">
            <a:noAutofit/>
          </a:bodyPr>
          <a:lstStyle/>
          <a:p>
            <a:pPr algn="l">
              <a:buNone/>
              <a:defRPr sz="788" b="0">
                <a:solidFill>
                  <a:srgbClr val="5E6470"/>
                </a:solidFill>
                <a:latin typeface="Helvetica Neue"/>
                <a:ea typeface="Helvetica Neue"/>
                <a:cs typeface="Helvetica Neue"/>
              </a:defRPr>
            </a:pPr>
            <a:r>
              <a:rPr sz="788" b="0">
                <a:solidFill>
                  <a:srgbClr val="5E6470"/>
                </a:solidFill>
                <a:latin typeface="Helvetica Neue"/>
                <a:ea typeface="Helvetica Neue"/>
                <a:cs typeface="Helvetica Neue"/>
              </a:rPr>
              <a:t>Wang et al., RAGEN-2 (2026), Section 2.2  ·  论文实验使用 scorer-defined proxies</a:t>
            </a:r>
          </a:p>
        </p:txBody>
      </p:sp>
      <p:sp>
        <p:nvSpPr>
          <p:cNvPr id="16" name="矩形 15">
            <a:extLst>
              <a:ext uri="{FF2B5EF4-FFF2-40B4-BE49-F238E27FC236}">
                <a16:creationId xmlns:a16="http://schemas.microsoft.com/office/drawing/2014/main" id="{F018E260-255E-4B99-9640-0DAD2C2D7D58}"/>
              </a:ext>
            </a:extLst>
          </p:cNvPr>
          <p:cNvSpPr>
            <a:spLocks noGrp="1"/>
          </p:cNvSpPr>
          <p:nvPr/>
        </p:nvSpPr>
        <p:spPr>
          <a:xfrm>
            <a:off x="11334750" y="6362700"/>
            <a:ext cx="438150" cy="219075"/>
          </a:xfrm>
          <a:prstGeom prst="rect">
            <a:avLst/>
          </a:prstGeom>
          <a:noFill/>
          <a:ln w="0">
            <a:noFill/>
            <a:prstDash val="solid"/>
          </a:ln>
        </p:spPr>
        <p:txBody>
          <a:bodyPr wrap="square" lIns="0" tIns="0" rIns="0" bIns="0" anchor="t">
            <a:noAutofit/>
          </a:bodyPr>
          <a:lstStyle/>
          <a:p>
            <a:pPr algn="r">
              <a:buNone/>
              <a:defRPr sz="825" b="0">
                <a:solidFill>
                  <a:srgbClr val="5E6470"/>
                </a:solidFill>
                <a:latin typeface="Helvetica Neue"/>
                <a:ea typeface="Helvetica Neue"/>
                <a:cs typeface="Helvetica Neue"/>
              </a:defRPr>
            </a:pPr>
            <a:r>
              <a:rPr sz="825" b="0">
                <a:solidFill>
                  <a:srgbClr val="5E6470"/>
                </a:solidFill>
                <a:latin typeface="Helvetica Neue"/>
                <a:ea typeface="Helvetica Neue"/>
                <a:cs typeface="Helvetica Neue"/>
              </a:rPr>
              <a:t>15</a:t>
            </a:r>
          </a:p>
        </p:txBody>
      </p:sp>
    </p:spTree>
    <p:extLst>
      <p:ext uri="{BB962C8B-B14F-4D97-AF65-F5344CB8AC3E}">
        <p14:creationId xmlns:p14="http://schemas.microsoft.com/office/powerpoint/2010/main" val="6307323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1EB068A-FC69-4BC3-A804-3D743DC4BC2C}"/>
              </a:ext>
            </a:extLst>
          </p:cNvPr>
          <p:cNvSpPr>
            <a:spLocks noGrp="1"/>
          </p:cNvSpPr>
          <p:nvPr/>
        </p:nvSpPr>
        <p:spPr>
          <a:xfrm>
            <a:off x="419100" y="171450"/>
            <a:ext cx="2952750" cy="228600"/>
          </a:xfrm>
          <a:prstGeom prst="rect">
            <a:avLst/>
          </a:prstGeom>
          <a:noFill/>
          <a:ln w="0">
            <a:noFill/>
            <a:prstDash val="solid"/>
          </a:ln>
        </p:spPr>
        <p:txBody>
          <a:bodyPr wrap="square" lIns="0" tIns="0" rIns="0" bIns="0" anchor="t">
            <a:noAutofit/>
          </a:bodyPr>
          <a:lstStyle/>
          <a:p>
            <a:pPr algn="l">
              <a:buNone/>
              <a:defRPr sz="975" b="1">
                <a:solidFill>
                  <a:srgbClr val="5E6470"/>
                </a:solidFill>
                <a:latin typeface="Helvetica Neue"/>
                <a:ea typeface="Helvetica Neue"/>
                <a:cs typeface="Helvetica Neue"/>
              </a:defRPr>
            </a:pPr>
            <a:r>
              <a:rPr sz="975" b="1">
                <a:solidFill>
                  <a:srgbClr val="5E6470"/>
                </a:solidFill>
                <a:latin typeface="Helvetica Neue"/>
                <a:ea typeface="Helvetica Neue"/>
                <a:cs typeface="Helvetica Neue"/>
              </a:rPr>
              <a:t>I · ENTROPY MECHANISM</a:t>
            </a:r>
          </a:p>
        </p:txBody>
      </p:sp>
      <p:sp>
        <p:nvSpPr>
          <p:cNvPr id="2" name="矩形 1">
            <a:extLst>
              <a:ext uri="{FF2B5EF4-FFF2-40B4-BE49-F238E27FC236}">
                <a16:creationId xmlns:a16="http://schemas.microsoft.com/office/drawing/2014/main" id="{E156E1B5-81C8-49D7-BCE5-905C406594D9}"/>
              </a:ext>
            </a:extLst>
          </p:cNvPr>
          <p:cNvSpPr>
            <a:spLocks noGrp="1"/>
          </p:cNvSpPr>
          <p:nvPr/>
        </p:nvSpPr>
        <p:spPr>
          <a:xfrm>
            <a:off x="419100" y="409575"/>
            <a:ext cx="11353800" cy="514350"/>
          </a:xfrm>
          <a:prstGeom prst="rect">
            <a:avLst/>
          </a:prstGeom>
          <a:noFill/>
          <a:ln w="0">
            <a:noFill/>
            <a:prstDash val="solid"/>
          </a:ln>
        </p:spPr>
        <p:txBody>
          <a:bodyPr wrap="square" lIns="0" tIns="0" rIns="0" bIns="0" anchor="t">
            <a:noAutofit/>
          </a:bodyPr>
          <a:lstStyle/>
          <a:p>
            <a:pPr algn="l">
              <a:buNone/>
              <a:defRPr sz="2850" b="1">
                <a:solidFill>
                  <a:srgbClr val="101214"/>
                </a:solidFill>
                <a:latin typeface="Hiragino Sans GB"/>
                <a:ea typeface="Hiragino Sans GB"/>
                <a:cs typeface="Hiragino Sans GB"/>
              </a:defRPr>
            </a:pPr>
            <a:r>
              <a:rPr sz="2850" b="1">
                <a:solidFill>
                  <a:srgbClr val="101214"/>
                </a:solidFill>
                <a:latin typeface="Hiragino Sans GB"/>
                <a:ea typeface="Hiragino Sans GB"/>
                <a:cs typeface="Hiragino Sans GB"/>
              </a:rPr>
              <a:t>模板坍缩藏在高熵背后</a:t>
            </a:r>
          </a:p>
        </p:txBody>
      </p:sp>
      <p:sp>
        <p:nvSpPr>
          <p:cNvPr id="3" name="圆角矩形 2">
            <a:extLst>
              <a:ext uri="{FF2B5EF4-FFF2-40B4-BE49-F238E27FC236}">
                <a16:creationId xmlns:a16="http://schemas.microsoft.com/office/drawing/2014/main" id="{5077BA8C-9662-48F2-8495-42DF6522E1A5}"/>
              </a:ext>
            </a:extLst>
          </p:cNvPr>
          <p:cNvSpPr>
            <a:spLocks noGrp="1"/>
          </p:cNvSpPr>
          <p:nvPr/>
        </p:nvSpPr>
        <p:spPr>
          <a:xfrm>
            <a:off x="419100" y="1162050"/>
            <a:ext cx="11353800" cy="4476750"/>
          </a:xfrm>
          <a:prstGeom prst="roundRect">
            <a:avLst>
              <a:gd name="adj" fmla="val 1702"/>
            </a:avLst>
          </a:prstGeom>
          <a:solidFill>
            <a:srgbClr val="F1F2F4"/>
          </a:solidFill>
          <a:ln w="9525">
            <a:solidFill>
              <a:srgbClr val="B8BCC4"/>
            </a:solidFill>
            <a:prstDash val="solid"/>
          </a:ln>
        </p:spPr>
      </p:sp>
      <p:pic>
        <p:nvPicPr>
          <p:cNvPr id="16" name="图片 13"/>
          <p:cNvPicPr>
            <a:picLocks noChangeAspect="1"/>
          </p:cNvPicPr>
          <p:nvPr/>
        </p:nvPicPr>
        <p:blipFill>
          <a:blip r:embed="rId3"/>
          <a:stretch/>
        </p:blipFill>
        <p:spPr>
          <a:xfrm>
            <a:off x="799568" y="1219200"/>
            <a:ext cx="10592864" cy="4362450"/>
          </a:xfrm>
          <a:prstGeom prst="roundRect">
            <a:avLst>
              <a:gd name="adj" fmla="val 1310"/>
            </a:avLst>
          </a:prstGeom>
        </p:spPr>
      </p:pic>
      <p:sp>
        <p:nvSpPr>
          <p:cNvPr id="5" name="圆角矩形 4">
            <a:extLst>
              <a:ext uri="{FF2B5EF4-FFF2-40B4-BE49-F238E27FC236}">
                <a16:creationId xmlns:a16="http://schemas.microsoft.com/office/drawing/2014/main" id="{7D103054-1560-4656-A2C8-57A60AE79C06}"/>
              </a:ext>
            </a:extLst>
          </p:cNvPr>
          <p:cNvSpPr>
            <a:spLocks noGrp="1"/>
          </p:cNvSpPr>
          <p:nvPr/>
        </p:nvSpPr>
        <p:spPr>
          <a:xfrm>
            <a:off x="7429500" y="4953000"/>
            <a:ext cx="4000500" cy="819150"/>
          </a:xfrm>
          <a:prstGeom prst="roundRect">
            <a:avLst>
              <a:gd name="adj" fmla="val 9302"/>
            </a:avLst>
          </a:prstGeom>
          <a:solidFill>
            <a:srgbClr val="FDEBEC"/>
          </a:solidFill>
          <a:ln w="0">
            <a:noFill/>
            <a:prstDash val="solid"/>
          </a:ln>
        </p:spPr>
      </p:sp>
      <p:sp>
        <p:nvSpPr>
          <p:cNvPr id="6" name="矩形 5">
            <a:extLst>
              <a:ext uri="{FF2B5EF4-FFF2-40B4-BE49-F238E27FC236}">
                <a16:creationId xmlns:a16="http://schemas.microsoft.com/office/drawing/2014/main" id="{D8C02634-09B6-49D5-B571-65DA8CFF671D}"/>
              </a:ext>
            </a:extLst>
          </p:cNvPr>
          <p:cNvSpPr>
            <a:spLocks noGrp="1"/>
          </p:cNvSpPr>
          <p:nvPr/>
        </p:nvSpPr>
        <p:spPr>
          <a:xfrm>
            <a:off x="7620000" y="5095875"/>
            <a:ext cx="1905000" cy="257175"/>
          </a:xfrm>
          <a:prstGeom prst="rect">
            <a:avLst/>
          </a:prstGeom>
          <a:noFill/>
          <a:ln w="0">
            <a:noFill/>
            <a:prstDash val="solid"/>
          </a:ln>
        </p:spPr>
        <p:txBody>
          <a:bodyPr wrap="square" lIns="0" tIns="0" rIns="0" bIns="0" anchor="t">
            <a:noAutofit/>
          </a:bodyPr>
          <a:lstStyle/>
          <a:p>
            <a:pPr algn="l">
              <a:buNone/>
              <a:defRPr sz="1500" b="1">
                <a:solidFill>
                  <a:srgbClr val="D94C4C"/>
                </a:solidFill>
                <a:latin typeface="Helvetica Neue"/>
                <a:ea typeface="Helvetica Neue"/>
                <a:cs typeface="Helvetica Neue"/>
              </a:defRPr>
            </a:pPr>
            <a:r>
              <a:rPr sz="1500" b="1">
                <a:solidFill>
                  <a:srgbClr val="D94C4C"/>
                </a:solidFill>
                <a:latin typeface="Helvetica Neue"/>
                <a:ea typeface="Helvetica Neue"/>
                <a:cs typeface="Helvetica Neue"/>
              </a:rPr>
              <a:t>Template Collapse</a:t>
            </a:r>
          </a:p>
        </p:txBody>
      </p:sp>
      <p:sp>
        <p:nvSpPr>
          <p:cNvPr id="7" name="矩形 6">
            <a:extLst>
              <a:ext uri="{FF2B5EF4-FFF2-40B4-BE49-F238E27FC236}">
                <a16:creationId xmlns:a16="http://schemas.microsoft.com/office/drawing/2014/main" id="{338FB3AC-DFA4-4539-AFF6-9096D9BF2DBC}"/>
              </a:ext>
            </a:extLst>
          </p:cNvPr>
          <p:cNvSpPr>
            <a:spLocks noGrp="1"/>
          </p:cNvSpPr>
          <p:nvPr/>
        </p:nvSpPr>
        <p:spPr>
          <a:xfrm>
            <a:off x="7620000" y="5429250"/>
            <a:ext cx="3543300" cy="228600"/>
          </a:xfrm>
          <a:prstGeom prst="rect">
            <a:avLst/>
          </a:prstGeom>
          <a:noFill/>
          <a:ln w="0">
            <a:noFill/>
            <a:prstDash val="solid"/>
          </a:ln>
        </p:spPr>
        <p:txBody>
          <a:bodyPr wrap="square" lIns="0" tIns="0" rIns="0" bIns="0" anchor="t">
            <a:noAutofit/>
          </a:bodyPr>
          <a:lstStyle/>
          <a:p>
            <a:pPr algn="l">
              <a:buNone/>
              <a:defRPr sz="1238" b="0">
                <a:solidFill>
                  <a:srgbClr val="101214"/>
                </a:solidFill>
                <a:latin typeface="Hiragino Sans GB"/>
                <a:ea typeface="Hiragino Sans GB"/>
                <a:cs typeface="Hiragino Sans GB"/>
              </a:defRPr>
            </a:pPr>
            <a:r>
              <a:rPr sz="1238" b="0">
                <a:solidFill>
                  <a:srgbClr val="101214"/>
                </a:solidFill>
                <a:latin typeface="Hiragino Sans GB"/>
                <a:ea typeface="Hiragino Sans GB"/>
                <a:cs typeface="Hiragino Sans GB"/>
              </a:rPr>
              <a:t>句式看似多样，但 reasoning 与输入弱耦合。</a:t>
            </a:r>
          </a:p>
        </p:txBody>
      </p:sp>
      <p:sp>
        <p:nvSpPr>
          <p:cNvPr id="8" name="直线连接符 7">
            <a:extLst>
              <a:ext uri="{FF2B5EF4-FFF2-40B4-BE49-F238E27FC236}">
                <a16:creationId xmlns:a16="http://schemas.microsoft.com/office/drawing/2014/main" id="{FE6B6255-34FF-4A8A-A26C-B7CC967575F1}"/>
              </a:ext>
            </a:extLst>
          </p:cNvPr>
          <p:cNvSpPr>
            <a:spLocks noGrp="1"/>
          </p:cNvSpPr>
          <p:nvPr/>
        </p:nvSpPr>
        <p:spPr>
          <a:xfrm>
            <a:off x="419100" y="6286500"/>
            <a:ext cx="11353800" cy="0"/>
          </a:xfrm>
          <a:prstGeom prst="line">
            <a:avLst/>
          </a:prstGeom>
          <a:noFill/>
          <a:ln w="9525">
            <a:solidFill>
              <a:srgbClr val="B8BCC4"/>
            </a:solidFill>
            <a:prstDash val="solid"/>
          </a:ln>
        </p:spPr>
      </p:sp>
      <p:sp>
        <p:nvSpPr>
          <p:cNvPr id="9" name="矩形 8">
            <a:extLst>
              <a:ext uri="{FF2B5EF4-FFF2-40B4-BE49-F238E27FC236}">
                <a16:creationId xmlns:a16="http://schemas.microsoft.com/office/drawing/2014/main" id="{4BA7D5C7-BB21-47BC-8CC6-B1A31F840287}"/>
              </a:ext>
            </a:extLst>
          </p:cNvPr>
          <p:cNvSpPr>
            <a:spLocks noGrp="1"/>
          </p:cNvSpPr>
          <p:nvPr/>
        </p:nvSpPr>
        <p:spPr>
          <a:xfrm>
            <a:off x="419100" y="6362700"/>
            <a:ext cx="10763250" cy="219075"/>
          </a:xfrm>
          <a:prstGeom prst="rect">
            <a:avLst/>
          </a:prstGeom>
          <a:noFill/>
          <a:ln w="0">
            <a:noFill/>
            <a:prstDash val="solid"/>
          </a:ln>
        </p:spPr>
        <p:txBody>
          <a:bodyPr wrap="square" lIns="0" tIns="0" rIns="0" bIns="0" anchor="t">
            <a:noAutofit/>
          </a:bodyPr>
          <a:lstStyle/>
          <a:p>
            <a:pPr algn="l">
              <a:buNone/>
              <a:defRPr sz="788" b="0">
                <a:solidFill>
                  <a:srgbClr val="5E6470"/>
                </a:solidFill>
                <a:latin typeface="Helvetica Neue"/>
                <a:ea typeface="Helvetica Neue"/>
                <a:cs typeface="Helvetica Neue"/>
              </a:defRPr>
            </a:pPr>
            <a:r>
              <a:rPr sz="788" b="0">
                <a:solidFill>
                  <a:srgbClr val="5E6470"/>
                </a:solidFill>
                <a:latin typeface="Helvetica Neue"/>
                <a:ea typeface="Helvetica Neue"/>
                <a:cs typeface="Helvetica Neue"/>
              </a:rPr>
              <a:t>Wang et al., RAGEN-2 (2026), Figure 1</a:t>
            </a:r>
          </a:p>
        </p:txBody>
      </p:sp>
      <p:sp>
        <p:nvSpPr>
          <p:cNvPr id="10" name="矩形 9">
            <a:extLst>
              <a:ext uri="{FF2B5EF4-FFF2-40B4-BE49-F238E27FC236}">
                <a16:creationId xmlns:a16="http://schemas.microsoft.com/office/drawing/2014/main" id="{CDBBB1FA-8AD6-499A-9F8F-CB12399AF1CF}"/>
              </a:ext>
            </a:extLst>
          </p:cNvPr>
          <p:cNvSpPr>
            <a:spLocks noGrp="1"/>
          </p:cNvSpPr>
          <p:nvPr/>
        </p:nvSpPr>
        <p:spPr>
          <a:xfrm>
            <a:off x="11334750" y="6362700"/>
            <a:ext cx="438150" cy="219075"/>
          </a:xfrm>
          <a:prstGeom prst="rect">
            <a:avLst/>
          </a:prstGeom>
          <a:noFill/>
          <a:ln w="0">
            <a:noFill/>
            <a:prstDash val="solid"/>
          </a:ln>
        </p:spPr>
        <p:txBody>
          <a:bodyPr wrap="square" lIns="0" tIns="0" rIns="0" bIns="0" anchor="t">
            <a:noAutofit/>
          </a:bodyPr>
          <a:lstStyle/>
          <a:p>
            <a:pPr algn="r">
              <a:buNone/>
              <a:defRPr sz="825" b="0">
                <a:solidFill>
                  <a:srgbClr val="5E6470"/>
                </a:solidFill>
                <a:latin typeface="Helvetica Neue"/>
                <a:ea typeface="Helvetica Neue"/>
                <a:cs typeface="Helvetica Neue"/>
              </a:defRPr>
            </a:pPr>
            <a:r>
              <a:rPr sz="825" b="0">
                <a:solidFill>
                  <a:srgbClr val="5E6470"/>
                </a:solidFill>
                <a:latin typeface="Helvetica Neue"/>
                <a:ea typeface="Helvetica Neue"/>
                <a:cs typeface="Helvetica Neue"/>
              </a:rPr>
              <a:t>16</a:t>
            </a:r>
          </a:p>
        </p:txBody>
      </p:sp>
    </p:spTree>
    <p:extLst>
      <p:ext uri="{BB962C8B-B14F-4D97-AF65-F5344CB8AC3E}">
        <p14:creationId xmlns:p14="http://schemas.microsoft.com/office/powerpoint/2010/main" val="3392115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0ACC6C51-F00E-430B-8BCD-B70A4225218D}"/>
              </a:ext>
            </a:extLst>
          </p:cNvPr>
          <p:cNvSpPr>
            <a:spLocks noGrp="1"/>
          </p:cNvSpPr>
          <p:nvPr/>
        </p:nvSpPr>
        <p:spPr>
          <a:xfrm>
            <a:off x="419100" y="171450"/>
            <a:ext cx="2952750" cy="228600"/>
          </a:xfrm>
          <a:prstGeom prst="rect">
            <a:avLst/>
          </a:prstGeom>
          <a:noFill/>
          <a:ln w="0">
            <a:noFill/>
            <a:prstDash val="solid"/>
          </a:ln>
        </p:spPr>
        <p:txBody>
          <a:bodyPr wrap="square" lIns="0" tIns="0" rIns="0" bIns="0" anchor="t">
            <a:noAutofit/>
          </a:bodyPr>
          <a:lstStyle/>
          <a:p>
            <a:pPr algn="l">
              <a:buNone/>
              <a:defRPr sz="975" b="1">
                <a:solidFill>
                  <a:srgbClr val="5E6470"/>
                </a:solidFill>
                <a:latin typeface="Helvetica Neue"/>
                <a:ea typeface="Helvetica Neue"/>
                <a:cs typeface="Helvetica Neue"/>
              </a:defRPr>
            </a:pPr>
            <a:r>
              <a:rPr sz="975" b="1">
                <a:solidFill>
                  <a:srgbClr val="5E6470"/>
                </a:solidFill>
                <a:latin typeface="Helvetica Neue"/>
                <a:ea typeface="Helvetica Neue"/>
                <a:cs typeface="Helvetica Neue"/>
              </a:rPr>
              <a:t>I · ENTROPY MECHANISM</a:t>
            </a:r>
          </a:p>
        </p:txBody>
      </p:sp>
      <p:sp>
        <p:nvSpPr>
          <p:cNvPr id="2" name="矩形 1">
            <a:extLst>
              <a:ext uri="{FF2B5EF4-FFF2-40B4-BE49-F238E27FC236}">
                <a16:creationId xmlns:a16="http://schemas.microsoft.com/office/drawing/2014/main" id="{8DF3B050-1DCA-41EB-AA14-98B3D5A5DE45}"/>
              </a:ext>
            </a:extLst>
          </p:cNvPr>
          <p:cNvSpPr>
            <a:spLocks noGrp="1"/>
          </p:cNvSpPr>
          <p:nvPr/>
        </p:nvSpPr>
        <p:spPr>
          <a:xfrm>
            <a:off x="419100" y="409575"/>
            <a:ext cx="11353800" cy="514350"/>
          </a:xfrm>
          <a:prstGeom prst="rect">
            <a:avLst/>
          </a:prstGeom>
          <a:noFill/>
          <a:ln w="0">
            <a:noFill/>
            <a:prstDash val="solid"/>
          </a:ln>
        </p:spPr>
        <p:txBody>
          <a:bodyPr wrap="square" lIns="0" tIns="0" rIns="0" bIns="0" anchor="t">
            <a:noAutofit/>
          </a:bodyPr>
          <a:lstStyle/>
          <a:p>
            <a:pPr algn="l">
              <a:buNone/>
              <a:defRPr sz="2850" b="1">
                <a:solidFill>
                  <a:srgbClr val="101214"/>
                </a:solidFill>
                <a:latin typeface="Hiragino Sans GB"/>
                <a:ea typeface="Hiragino Sans GB"/>
                <a:cs typeface="Hiragino Sans GB"/>
              </a:defRPr>
            </a:pPr>
            <a:r>
              <a:rPr lang="zh-CN" altLang="en-US" sz="2850" b="1" dirty="0">
                <a:solidFill>
                  <a:srgbClr val="101214"/>
                </a:solidFill>
                <a:latin typeface="Hiragino Sans GB"/>
                <a:ea typeface="Hiragino Sans GB"/>
                <a:cs typeface="Hiragino Sans GB"/>
              </a:rPr>
              <a:t>梯度分解和</a:t>
            </a:r>
            <a:r>
              <a:rPr lang="en-US" altLang="zh-CN" sz="2850" b="1" dirty="0">
                <a:solidFill>
                  <a:srgbClr val="101214"/>
                </a:solidFill>
                <a:latin typeface="Hiragino Sans GB"/>
                <a:ea typeface="Hiragino Sans GB"/>
                <a:cs typeface="Hiragino Sans GB"/>
              </a:rPr>
              <a:t>reward</a:t>
            </a:r>
            <a:r>
              <a:rPr lang="zh-CN" altLang="en-US" sz="2850" b="1" dirty="0">
                <a:solidFill>
                  <a:srgbClr val="101214"/>
                </a:solidFill>
                <a:latin typeface="Hiragino Sans GB"/>
                <a:ea typeface="Hiragino Sans GB"/>
                <a:cs typeface="Hiragino Sans GB"/>
              </a:rPr>
              <a:t> </a:t>
            </a:r>
            <a:r>
              <a:rPr lang="en-US" altLang="zh-CN" sz="2850" b="1" dirty="0">
                <a:solidFill>
                  <a:srgbClr val="101214"/>
                </a:solidFill>
                <a:latin typeface="Hiragino Sans GB"/>
                <a:ea typeface="Hiragino Sans GB"/>
                <a:cs typeface="Hiragino Sans GB"/>
              </a:rPr>
              <a:t>variance</a:t>
            </a:r>
            <a:endParaRPr sz="2850" b="1" dirty="0">
              <a:solidFill>
                <a:srgbClr val="101214"/>
              </a:solidFill>
              <a:latin typeface="Hiragino Sans GB"/>
              <a:ea typeface="Hiragino Sans GB"/>
              <a:cs typeface="Hiragino Sans GB"/>
            </a:endParaRPr>
          </a:p>
        </p:txBody>
      </p:sp>
      <p:sp>
        <p:nvSpPr>
          <p:cNvPr id="10" name="直线连接符 9">
            <a:extLst>
              <a:ext uri="{FF2B5EF4-FFF2-40B4-BE49-F238E27FC236}">
                <a16:creationId xmlns:a16="http://schemas.microsoft.com/office/drawing/2014/main" id="{7E6B34D0-1438-4B1B-904C-8F47FB9FC2F2}"/>
              </a:ext>
            </a:extLst>
          </p:cNvPr>
          <p:cNvSpPr>
            <a:spLocks noGrp="1"/>
          </p:cNvSpPr>
          <p:nvPr/>
        </p:nvSpPr>
        <p:spPr>
          <a:xfrm>
            <a:off x="419100" y="6286500"/>
            <a:ext cx="11353800" cy="0"/>
          </a:xfrm>
          <a:prstGeom prst="line">
            <a:avLst/>
          </a:prstGeom>
          <a:noFill/>
          <a:ln w="9525">
            <a:solidFill>
              <a:srgbClr val="B8BCC4"/>
            </a:solidFill>
            <a:prstDash val="solid"/>
          </a:ln>
        </p:spPr>
      </p:sp>
      <p:sp>
        <p:nvSpPr>
          <p:cNvPr id="11" name="矩形 10">
            <a:extLst>
              <a:ext uri="{FF2B5EF4-FFF2-40B4-BE49-F238E27FC236}">
                <a16:creationId xmlns:a16="http://schemas.microsoft.com/office/drawing/2014/main" id="{269CFECC-59C6-462E-92E4-E11F26837AA6}"/>
              </a:ext>
            </a:extLst>
          </p:cNvPr>
          <p:cNvSpPr>
            <a:spLocks noGrp="1"/>
          </p:cNvSpPr>
          <p:nvPr/>
        </p:nvSpPr>
        <p:spPr>
          <a:xfrm>
            <a:off x="419100" y="6362700"/>
            <a:ext cx="10763250" cy="219075"/>
          </a:xfrm>
          <a:prstGeom prst="rect">
            <a:avLst/>
          </a:prstGeom>
          <a:noFill/>
          <a:ln w="0">
            <a:noFill/>
            <a:prstDash val="solid"/>
          </a:ln>
        </p:spPr>
        <p:txBody>
          <a:bodyPr wrap="square" lIns="0" tIns="0" rIns="0" bIns="0" anchor="t">
            <a:noAutofit/>
          </a:bodyPr>
          <a:lstStyle/>
          <a:p>
            <a:pPr algn="l">
              <a:buNone/>
              <a:defRPr sz="788" b="0">
                <a:solidFill>
                  <a:srgbClr val="5E6470"/>
                </a:solidFill>
                <a:latin typeface="Helvetica Neue"/>
                <a:ea typeface="Helvetica Neue"/>
                <a:cs typeface="Helvetica Neue"/>
              </a:defRPr>
            </a:pPr>
            <a:r>
              <a:rPr sz="788" b="0">
                <a:solidFill>
                  <a:srgbClr val="5E6470"/>
                </a:solidFill>
                <a:latin typeface="Helvetica Neue"/>
                <a:ea typeface="Helvetica Neue"/>
                <a:cs typeface="Helvetica Neue"/>
              </a:rPr>
              <a:t>Wang et al., RAGEN-2 (2026), Sections 2.3-3.3 / Figure 2</a:t>
            </a:r>
          </a:p>
        </p:txBody>
      </p:sp>
      <p:sp>
        <p:nvSpPr>
          <p:cNvPr id="12" name="矩形 11">
            <a:extLst>
              <a:ext uri="{FF2B5EF4-FFF2-40B4-BE49-F238E27FC236}">
                <a16:creationId xmlns:a16="http://schemas.microsoft.com/office/drawing/2014/main" id="{4AAA1B61-D1A9-4AFD-A401-28ACD9B43690}"/>
              </a:ext>
            </a:extLst>
          </p:cNvPr>
          <p:cNvSpPr>
            <a:spLocks noGrp="1"/>
          </p:cNvSpPr>
          <p:nvPr/>
        </p:nvSpPr>
        <p:spPr>
          <a:xfrm>
            <a:off x="11334750" y="6362700"/>
            <a:ext cx="438150" cy="219075"/>
          </a:xfrm>
          <a:prstGeom prst="rect">
            <a:avLst/>
          </a:prstGeom>
          <a:noFill/>
          <a:ln w="0">
            <a:noFill/>
            <a:prstDash val="solid"/>
          </a:ln>
        </p:spPr>
        <p:txBody>
          <a:bodyPr wrap="square" lIns="0" tIns="0" rIns="0" bIns="0" anchor="t">
            <a:noAutofit/>
          </a:bodyPr>
          <a:lstStyle/>
          <a:p>
            <a:pPr algn="r">
              <a:buNone/>
              <a:defRPr sz="825" b="0">
                <a:solidFill>
                  <a:srgbClr val="5E6470"/>
                </a:solidFill>
                <a:latin typeface="Helvetica Neue"/>
                <a:ea typeface="Helvetica Neue"/>
                <a:cs typeface="Helvetica Neue"/>
              </a:defRPr>
            </a:pPr>
            <a:r>
              <a:rPr sz="825" b="0">
                <a:solidFill>
                  <a:srgbClr val="5E6470"/>
                </a:solidFill>
                <a:latin typeface="Helvetica Neue"/>
                <a:ea typeface="Helvetica Neue"/>
                <a:cs typeface="Helvetica Neue"/>
              </a:rPr>
              <a:t>17</a:t>
            </a:r>
          </a:p>
        </p:txBody>
      </p:sp>
      <p:pic>
        <p:nvPicPr>
          <p:cNvPr id="14" name="图片 13">
            <a:extLst>
              <a:ext uri="{FF2B5EF4-FFF2-40B4-BE49-F238E27FC236}">
                <a16:creationId xmlns:a16="http://schemas.microsoft.com/office/drawing/2014/main" id="{7B85C540-0543-48FC-9962-75EC035B7C72}"/>
              </a:ext>
            </a:extLst>
          </p:cNvPr>
          <p:cNvPicPr>
            <a:picLocks noChangeAspect="1"/>
          </p:cNvPicPr>
          <p:nvPr/>
        </p:nvPicPr>
        <p:blipFill>
          <a:blip r:embed="rId3"/>
          <a:stretch>
            <a:fillRect/>
          </a:stretch>
        </p:blipFill>
        <p:spPr>
          <a:xfrm>
            <a:off x="1600200" y="923925"/>
            <a:ext cx="8991600" cy="5268347"/>
          </a:xfrm>
          <a:prstGeom prst="rect">
            <a:avLst/>
          </a:prstGeom>
        </p:spPr>
      </p:pic>
    </p:spTree>
    <p:extLst>
      <p:ext uri="{BB962C8B-B14F-4D97-AF65-F5344CB8AC3E}">
        <p14:creationId xmlns:p14="http://schemas.microsoft.com/office/powerpoint/2010/main" val="18860798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矩形 16">
            <a:extLst>
              <a:ext uri="{FF2B5EF4-FFF2-40B4-BE49-F238E27FC236}">
                <a16:creationId xmlns:a16="http://schemas.microsoft.com/office/drawing/2014/main" id="{20BFA9C8-142D-41D6-898F-D0C137993D5E}"/>
              </a:ext>
            </a:extLst>
          </p:cNvPr>
          <p:cNvSpPr>
            <a:spLocks noGrp="1"/>
          </p:cNvSpPr>
          <p:nvPr/>
        </p:nvSpPr>
        <p:spPr>
          <a:xfrm>
            <a:off x="419100" y="171450"/>
            <a:ext cx="2952750" cy="228600"/>
          </a:xfrm>
          <a:prstGeom prst="rect">
            <a:avLst/>
          </a:prstGeom>
          <a:noFill/>
          <a:ln w="0">
            <a:noFill/>
            <a:prstDash val="solid"/>
          </a:ln>
        </p:spPr>
        <p:txBody>
          <a:bodyPr wrap="square" lIns="0" tIns="0" rIns="0" bIns="0" anchor="t">
            <a:noAutofit/>
          </a:bodyPr>
          <a:lstStyle/>
          <a:p>
            <a:pPr algn="l">
              <a:buNone/>
              <a:defRPr sz="975" b="1">
                <a:solidFill>
                  <a:srgbClr val="5E6470"/>
                </a:solidFill>
                <a:latin typeface="Helvetica Neue"/>
                <a:ea typeface="Helvetica Neue"/>
                <a:cs typeface="Helvetica Neue"/>
              </a:defRPr>
            </a:pPr>
            <a:r>
              <a:rPr sz="975" b="1">
                <a:solidFill>
                  <a:srgbClr val="5E6470"/>
                </a:solidFill>
                <a:latin typeface="Helvetica Neue"/>
                <a:ea typeface="Helvetica Neue"/>
                <a:cs typeface="Helvetica Neue"/>
              </a:rPr>
              <a:t>I · ENTROPY MECHANISM</a:t>
            </a:r>
          </a:p>
        </p:txBody>
      </p:sp>
      <p:sp>
        <p:nvSpPr>
          <p:cNvPr id="2" name="矩形 1">
            <a:extLst>
              <a:ext uri="{FF2B5EF4-FFF2-40B4-BE49-F238E27FC236}">
                <a16:creationId xmlns:a16="http://schemas.microsoft.com/office/drawing/2014/main" id="{CEECE800-00C4-45F3-A47B-6DA197468027}"/>
              </a:ext>
            </a:extLst>
          </p:cNvPr>
          <p:cNvSpPr>
            <a:spLocks noGrp="1"/>
          </p:cNvSpPr>
          <p:nvPr/>
        </p:nvSpPr>
        <p:spPr>
          <a:xfrm>
            <a:off x="419100" y="409575"/>
            <a:ext cx="11353800" cy="514350"/>
          </a:xfrm>
          <a:prstGeom prst="rect">
            <a:avLst/>
          </a:prstGeom>
          <a:noFill/>
          <a:ln w="0">
            <a:noFill/>
            <a:prstDash val="solid"/>
          </a:ln>
        </p:spPr>
        <p:txBody>
          <a:bodyPr wrap="square" lIns="0" tIns="0" rIns="0" bIns="0" anchor="t">
            <a:noAutofit/>
          </a:bodyPr>
          <a:lstStyle/>
          <a:p>
            <a:pPr algn="l">
              <a:buNone/>
              <a:defRPr sz="2850" b="1">
                <a:solidFill>
                  <a:srgbClr val="101214"/>
                </a:solidFill>
                <a:latin typeface="Hiragino Sans GB"/>
                <a:ea typeface="Hiragino Sans GB"/>
                <a:cs typeface="Hiragino Sans GB"/>
              </a:defRPr>
            </a:pPr>
            <a:r>
              <a:rPr sz="2850" b="1">
                <a:solidFill>
                  <a:srgbClr val="101214"/>
                </a:solidFill>
                <a:latin typeface="Hiragino Sans GB"/>
                <a:ea typeface="Hiragino Sans GB"/>
                <a:cs typeface="Hiragino Sans GB"/>
              </a:rPr>
              <a:t>按信号质量过滤 prompt</a:t>
            </a:r>
          </a:p>
        </p:txBody>
      </p:sp>
      <p:sp>
        <p:nvSpPr>
          <p:cNvPr id="3" name="圆角矩形 2">
            <a:extLst>
              <a:ext uri="{FF2B5EF4-FFF2-40B4-BE49-F238E27FC236}">
                <a16:creationId xmlns:a16="http://schemas.microsoft.com/office/drawing/2014/main" id="{BE07EEDC-BE64-47BB-89EE-4A6D490B6563}"/>
              </a:ext>
            </a:extLst>
          </p:cNvPr>
          <p:cNvSpPr>
            <a:spLocks noGrp="1"/>
          </p:cNvSpPr>
          <p:nvPr/>
        </p:nvSpPr>
        <p:spPr>
          <a:xfrm>
            <a:off x="419100" y="1257300"/>
            <a:ext cx="11353800" cy="2362200"/>
          </a:xfrm>
          <a:prstGeom prst="roundRect">
            <a:avLst>
              <a:gd name="adj" fmla="val 3226"/>
            </a:avLst>
          </a:prstGeom>
          <a:solidFill>
            <a:srgbClr val="F1F2F4"/>
          </a:solidFill>
          <a:ln w="9525">
            <a:solidFill>
              <a:srgbClr val="B8BCC4"/>
            </a:solidFill>
            <a:prstDash val="solid"/>
          </a:ln>
        </p:spPr>
      </p:sp>
      <p:pic>
        <p:nvPicPr>
          <p:cNvPr id="22" name="图片 19"/>
          <p:cNvPicPr>
            <a:picLocks noChangeAspect="1"/>
          </p:cNvPicPr>
          <p:nvPr/>
        </p:nvPicPr>
        <p:blipFill>
          <a:blip r:embed="rId3"/>
          <a:stretch/>
        </p:blipFill>
        <p:spPr>
          <a:xfrm>
            <a:off x="457200" y="1312172"/>
            <a:ext cx="11277600" cy="2252456"/>
          </a:xfrm>
          <a:prstGeom prst="roundRect">
            <a:avLst>
              <a:gd name="adj" fmla="val 2500"/>
            </a:avLst>
          </a:prstGeom>
        </p:spPr>
      </p:pic>
      <p:sp>
        <p:nvSpPr>
          <p:cNvPr id="5" name="圆角矩形 4">
            <a:extLst>
              <a:ext uri="{FF2B5EF4-FFF2-40B4-BE49-F238E27FC236}">
                <a16:creationId xmlns:a16="http://schemas.microsoft.com/office/drawing/2014/main" id="{07C0E357-7C8B-4BED-A662-9A76312FCDD8}"/>
              </a:ext>
            </a:extLst>
          </p:cNvPr>
          <p:cNvSpPr>
            <a:spLocks noGrp="1"/>
          </p:cNvSpPr>
          <p:nvPr/>
        </p:nvSpPr>
        <p:spPr>
          <a:xfrm>
            <a:off x="419100" y="3905250"/>
            <a:ext cx="7239000" cy="1600200"/>
          </a:xfrm>
          <a:prstGeom prst="roundRect">
            <a:avLst>
              <a:gd name="adj" fmla="val 4762"/>
            </a:avLst>
          </a:prstGeom>
          <a:solidFill>
            <a:srgbClr val="F1F2F4"/>
          </a:solidFill>
          <a:ln w="0">
            <a:noFill/>
            <a:prstDash val="solid"/>
          </a:ln>
        </p:spPr>
      </p:sp>
      <p:sp>
        <p:nvSpPr>
          <p:cNvPr id="6" name="矩形 5">
            <a:extLst>
              <a:ext uri="{FF2B5EF4-FFF2-40B4-BE49-F238E27FC236}">
                <a16:creationId xmlns:a16="http://schemas.microsoft.com/office/drawing/2014/main" id="{FDF278E2-BC1E-4979-81C7-2E519BA2B597}"/>
              </a:ext>
            </a:extLst>
          </p:cNvPr>
          <p:cNvSpPr>
            <a:spLocks noGrp="1"/>
          </p:cNvSpPr>
          <p:nvPr/>
        </p:nvSpPr>
        <p:spPr>
          <a:xfrm>
            <a:off x="647700" y="4095750"/>
            <a:ext cx="3143250" cy="323850"/>
          </a:xfrm>
          <a:prstGeom prst="rect">
            <a:avLst/>
          </a:prstGeom>
          <a:noFill/>
          <a:ln w="0">
            <a:noFill/>
            <a:prstDash val="solid"/>
          </a:ln>
        </p:spPr>
        <p:txBody>
          <a:bodyPr wrap="square" lIns="0" tIns="0" rIns="0" bIns="0" anchor="t">
            <a:noAutofit/>
          </a:bodyPr>
          <a:lstStyle/>
          <a:p>
            <a:pPr algn="l">
              <a:buNone/>
              <a:defRPr sz="1800" b="1">
                <a:solidFill>
                  <a:srgbClr val="101214"/>
                </a:solidFill>
                <a:latin typeface="Helvetica Neue"/>
                <a:ea typeface="Helvetica Neue"/>
                <a:cs typeface="Helvetica Neue"/>
              </a:defRPr>
            </a:pPr>
            <a:r>
              <a:rPr sz="1800" b="1">
                <a:solidFill>
                  <a:srgbClr val="101214"/>
                </a:solidFill>
                <a:latin typeface="Helvetica Neue"/>
                <a:ea typeface="Helvetica Neue"/>
                <a:cs typeface="Helvetica Neue"/>
              </a:rPr>
              <a:t>SNR-Aware Filtering</a:t>
            </a:r>
          </a:p>
        </p:txBody>
      </p:sp>
      <p:sp>
        <p:nvSpPr>
          <p:cNvPr id="7" name="矩形 6">
            <a:extLst>
              <a:ext uri="{FF2B5EF4-FFF2-40B4-BE49-F238E27FC236}">
                <a16:creationId xmlns:a16="http://schemas.microsoft.com/office/drawing/2014/main" id="{75FCB18B-F2EA-4ED6-9351-AB94CA4CC21F}"/>
              </a:ext>
            </a:extLst>
          </p:cNvPr>
          <p:cNvSpPr>
            <a:spLocks noGrp="1"/>
          </p:cNvSpPr>
          <p:nvPr/>
        </p:nvSpPr>
        <p:spPr>
          <a:xfrm>
            <a:off x="647700" y="4572000"/>
            <a:ext cx="3143250" cy="304800"/>
          </a:xfrm>
          <a:prstGeom prst="rect">
            <a:avLst/>
          </a:prstGeom>
          <a:noFill/>
          <a:ln w="0">
            <a:noFill/>
            <a:prstDash val="solid"/>
          </a:ln>
        </p:spPr>
        <p:txBody>
          <a:bodyPr wrap="square" lIns="0" tIns="0" rIns="0" bIns="0" anchor="t">
            <a:noAutofit/>
          </a:bodyPr>
          <a:lstStyle/>
          <a:p>
            <a:pPr algn="l">
              <a:buNone/>
              <a:defRPr sz="1575" b="1">
                <a:solidFill>
                  <a:srgbClr val="2787F5"/>
                </a:solidFill>
                <a:latin typeface="Cambria Math"/>
                <a:ea typeface="Cambria Math"/>
                <a:cs typeface="Cambria Math"/>
              </a:defRPr>
            </a:pPr>
            <a:r>
              <a:rPr sz="1575" b="1">
                <a:solidFill>
                  <a:srgbClr val="2787F5"/>
                </a:solidFill>
                <a:latin typeface="Cambria Math"/>
                <a:ea typeface="Cambria Math"/>
                <a:cs typeface="Cambria Math"/>
              </a:rPr>
              <a:t>RV(x) = Var(R | X=x)</a:t>
            </a:r>
          </a:p>
        </p:txBody>
      </p:sp>
      <p:sp>
        <p:nvSpPr>
          <p:cNvPr id="8" name="矩形 7">
            <a:extLst>
              <a:ext uri="{FF2B5EF4-FFF2-40B4-BE49-F238E27FC236}">
                <a16:creationId xmlns:a16="http://schemas.microsoft.com/office/drawing/2014/main" id="{B46C7E0E-1344-4987-B95D-11E066E970EC}"/>
              </a:ext>
            </a:extLst>
          </p:cNvPr>
          <p:cNvSpPr>
            <a:spLocks noGrp="1"/>
          </p:cNvSpPr>
          <p:nvPr/>
        </p:nvSpPr>
        <p:spPr>
          <a:xfrm>
            <a:off x="3733800" y="4114800"/>
            <a:ext cx="3867150" cy="1066800"/>
          </a:xfrm>
          <a:prstGeom prst="rect">
            <a:avLst/>
          </a:prstGeom>
          <a:noFill/>
          <a:ln w="0">
            <a:noFill/>
            <a:prstDash val="solid"/>
          </a:ln>
        </p:spPr>
        <p:txBody>
          <a:bodyPr wrap="square" lIns="0" tIns="0" rIns="0" bIns="0" anchor="t">
            <a:noAutofit/>
          </a:bodyPr>
          <a:lstStyle/>
          <a:p>
            <a:pPr algn="l">
              <a:lnSpc>
                <a:spcPct val="120000"/>
              </a:lnSpc>
              <a:buNone/>
              <a:defRPr sz="1238" b="0">
                <a:solidFill>
                  <a:srgbClr val="101214"/>
                </a:solidFill>
                <a:latin typeface="Hiragino Sans GB"/>
                <a:ea typeface="Hiragino Sans GB"/>
                <a:cs typeface="Hiragino Sans GB"/>
              </a:defRPr>
            </a:pPr>
            <a:r>
              <a:rPr sz="1600" b="0" dirty="0" err="1">
                <a:solidFill>
                  <a:srgbClr val="101214"/>
                </a:solidFill>
                <a:latin typeface="Hiragino Sans GB"/>
                <a:ea typeface="Hiragino Sans GB"/>
                <a:cs typeface="Hiragino Sans GB"/>
              </a:rPr>
              <a:t>按</a:t>
            </a:r>
            <a:r>
              <a:rPr sz="1600" b="0" dirty="0">
                <a:solidFill>
                  <a:srgbClr val="101214"/>
                </a:solidFill>
                <a:latin typeface="Hiragino Sans GB"/>
                <a:ea typeface="Hiragino Sans GB"/>
                <a:cs typeface="Hiragino Sans GB"/>
              </a:rPr>
              <a:t> RV </a:t>
            </a:r>
            <a:r>
              <a:rPr sz="1600" b="0" dirty="0" err="1">
                <a:solidFill>
                  <a:srgbClr val="101214"/>
                </a:solidFill>
                <a:latin typeface="Hiragino Sans GB"/>
                <a:ea typeface="Hiragino Sans GB"/>
                <a:cs typeface="Hiragino Sans GB"/>
              </a:rPr>
              <a:t>降序排列</a:t>
            </a:r>
            <a:r>
              <a:rPr sz="1600" b="0" dirty="0">
                <a:solidFill>
                  <a:srgbClr val="101214"/>
                </a:solidFill>
                <a:latin typeface="Hiragino Sans GB"/>
                <a:ea typeface="Hiragino Sans GB"/>
                <a:cs typeface="Hiragino Sans GB"/>
              </a:rPr>
              <a:t> prompt group</a:t>
            </a:r>
          </a:p>
          <a:p>
            <a:pPr algn="l">
              <a:lnSpc>
                <a:spcPct val="120000"/>
              </a:lnSpc>
              <a:buNone/>
              <a:defRPr sz="1238" b="0">
                <a:solidFill>
                  <a:srgbClr val="101214"/>
                </a:solidFill>
                <a:latin typeface="Hiragino Sans GB"/>
                <a:ea typeface="Hiragino Sans GB"/>
                <a:cs typeface="Hiragino Sans GB"/>
              </a:defRPr>
            </a:pPr>
            <a:r>
              <a:rPr sz="1600" b="0" dirty="0" err="1">
                <a:solidFill>
                  <a:srgbClr val="101214"/>
                </a:solidFill>
                <a:latin typeface="Hiragino Sans GB"/>
                <a:ea typeface="Hiragino Sans GB"/>
                <a:cs typeface="Hiragino Sans GB"/>
              </a:rPr>
              <a:t>保留累计</a:t>
            </a:r>
            <a:r>
              <a:rPr sz="1600" b="0" dirty="0">
                <a:solidFill>
                  <a:srgbClr val="101214"/>
                </a:solidFill>
                <a:latin typeface="Hiragino Sans GB"/>
                <a:ea typeface="Hiragino Sans GB"/>
                <a:cs typeface="Hiragino Sans GB"/>
              </a:rPr>
              <a:t> RV mass ≥ </a:t>
            </a:r>
            <a:r>
              <a:rPr sz="1600" b="0" dirty="0" err="1">
                <a:solidFill>
                  <a:srgbClr val="101214"/>
                </a:solidFill>
                <a:latin typeface="Hiragino Sans GB"/>
                <a:ea typeface="Hiragino Sans GB"/>
                <a:cs typeface="Hiragino Sans GB"/>
              </a:rPr>
              <a:t>ρ</a:t>
            </a:r>
            <a:r>
              <a:rPr sz="1600" b="0" dirty="0">
                <a:solidFill>
                  <a:srgbClr val="101214"/>
                </a:solidFill>
                <a:latin typeface="Hiragino Sans GB"/>
                <a:ea typeface="Hiragino Sans GB"/>
                <a:cs typeface="Hiragino Sans GB"/>
              </a:rPr>
              <a:t> </a:t>
            </a:r>
            <a:r>
              <a:rPr sz="1600" b="0" dirty="0" err="1">
                <a:solidFill>
                  <a:srgbClr val="101214"/>
                </a:solidFill>
                <a:latin typeface="Hiragino Sans GB"/>
                <a:ea typeface="Hiragino Sans GB"/>
                <a:cs typeface="Hiragino Sans GB"/>
              </a:rPr>
              <a:t>的最小</a:t>
            </a:r>
            <a:r>
              <a:rPr sz="1600" b="0" dirty="0">
                <a:solidFill>
                  <a:srgbClr val="101214"/>
                </a:solidFill>
                <a:latin typeface="Hiragino Sans GB"/>
                <a:ea typeface="Hiragino Sans GB"/>
                <a:cs typeface="Hiragino Sans GB"/>
              </a:rPr>
              <a:t> prefix</a:t>
            </a:r>
          </a:p>
          <a:p>
            <a:pPr algn="l">
              <a:lnSpc>
                <a:spcPct val="120000"/>
              </a:lnSpc>
              <a:buNone/>
              <a:defRPr sz="1238" b="0">
                <a:solidFill>
                  <a:srgbClr val="101214"/>
                </a:solidFill>
                <a:latin typeface="Hiragino Sans GB"/>
                <a:ea typeface="Hiragino Sans GB"/>
                <a:cs typeface="Hiragino Sans GB"/>
              </a:defRPr>
            </a:pPr>
            <a:r>
              <a:rPr sz="1600" b="0" dirty="0" err="1">
                <a:solidFill>
                  <a:srgbClr val="101214"/>
                </a:solidFill>
                <a:latin typeface="Hiragino Sans GB"/>
                <a:ea typeface="Hiragino Sans GB"/>
                <a:cs typeface="Hiragino Sans GB"/>
              </a:rPr>
              <a:t>仅在</a:t>
            </a:r>
            <a:r>
              <a:rPr sz="1600" b="0" dirty="0">
                <a:solidFill>
                  <a:srgbClr val="101214"/>
                </a:solidFill>
                <a:latin typeface="Hiragino Sans GB"/>
                <a:ea typeface="Hiragino Sans GB"/>
                <a:cs typeface="Hiragino Sans GB"/>
              </a:rPr>
              <a:t> update </a:t>
            </a:r>
            <a:r>
              <a:rPr sz="1600" b="0" dirty="0" err="1">
                <a:solidFill>
                  <a:srgbClr val="101214"/>
                </a:solidFill>
                <a:latin typeface="Hiragino Sans GB"/>
                <a:ea typeface="Hiragino Sans GB"/>
                <a:cs typeface="Hiragino Sans GB"/>
              </a:rPr>
              <a:t>时</a:t>
            </a:r>
            <a:r>
              <a:rPr sz="1600" b="0" dirty="0">
                <a:solidFill>
                  <a:srgbClr val="101214"/>
                </a:solidFill>
                <a:latin typeface="Hiragino Sans GB"/>
                <a:ea typeface="Hiragino Sans GB"/>
                <a:cs typeface="Hiragino Sans GB"/>
              </a:rPr>
              <a:t> </a:t>
            </a:r>
            <a:r>
              <a:rPr sz="1600" b="0" dirty="0" err="1">
                <a:solidFill>
                  <a:srgbClr val="101214"/>
                </a:solidFill>
                <a:latin typeface="Hiragino Sans GB"/>
                <a:ea typeface="Hiragino Sans GB"/>
                <a:cs typeface="Hiragino Sans GB"/>
              </a:rPr>
              <a:t>mask，不增加</a:t>
            </a:r>
            <a:r>
              <a:rPr sz="1600" b="0" dirty="0">
                <a:solidFill>
                  <a:srgbClr val="101214"/>
                </a:solidFill>
                <a:latin typeface="Hiragino Sans GB"/>
                <a:ea typeface="Hiragino Sans GB"/>
                <a:cs typeface="Hiragino Sans GB"/>
              </a:rPr>
              <a:t> rollout</a:t>
            </a:r>
          </a:p>
        </p:txBody>
      </p:sp>
      <p:sp>
        <p:nvSpPr>
          <p:cNvPr id="9" name="圆角矩形 8">
            <a:extLst>
              <a:ext uri="{FF2B5EF4-FFF2-40B4-BE49-F238E27FC236}">
                <a16:creationId xmlns:a16="http://schemas.microsoft.com/office/drawing/2014/main" id="{0B773B8E-847C-44D3-8F73-3C3D473120F3}"/>
              </a:ext>
            </a:extLst>
          </p:cNvPr>
          <p:cNvSpPr>
            <a:spLocks noGrp="1"/>
          </p:cNvSpPr>
          <p:nvPr/>
        </p:nvSpPr>
        <p:spPr>
          <a:xfrm>
            <a:off x="7905750" y="3905250"/>
            <a:ext cx="3867150" cy="1600200"/>
          </a:xfrm>
          <a:prstGeom prst="roundRect">
            <a:avLst>
              <a:gd name="adj" fmla="val 4762"/>
            </a:avLst>
          </a:prstGeom>
          <a:solidFill>
            <a:srgbClr val="FFF4DE"/>
          </a:solidFill>
          <a:ln w="0">
            <a:noFill/>
            <a:prstDash val="solid"/>
          </a:ln>
        </p:spPr>
      </p:sp>
      <p:sp>
        <p:nvSpPr>
          <p:cNvPr id="10" name="矩形 9">
            <a:extLst>
              <a:ext uri="{FF2B5EF4-FFF2-40B4-BE49-F238E27FC236}">
                <a16:creationId xmlns:a16="http://schemas.microsoft.com/office/drawing/2014/main" id="{C8B27AB6-4BBD-4219-8E00-1BF4BF8B668C}"/>
              </a:ext>
            </a:extLst>
          </p:cNvPr>
          <p:cNvSpPr>
            <a:spLocks noGrp="1"/>
          </p:cNvSpPr>
          <p:nvPr/>
        </p:nvSpPr>
        <p:spPr>
          <a:xfrm>
            <a:off x="8134350" y="4095750"/>
            <a:ext cx="1714500" cy="285750"/>
          </a:xfrm>
          <a:prstGeom prst="rect">
            <a:avLst/>
          </a:prstGeom>
          <a:noFill/>
          <a:ln w="0">
            <a:noFill/>
            <a:prstDash val="solid"/>
          </a:ln>
        </p:spPr>
        <p:txBody>
          <a:bodyPr wrap="square" lIns="0" tIns="0" rIns="0" bIns="0" anchor="t">
            <a:noAutofit/>
          </a:bodyPr>
          <a:lstStyle/>
          <a:p>
            <a:pPr algn="l">
              <a:buNone/>
              <a:defRPr sz="1650" b="1">
                <a:solidFill>
                  <a:srgbClr val="F59E0B"/>
                </a:solidFill>
                <a:latin typeface="Hiragino Sans GB"/>
                <a:ea typeface="Hiragino Sans GB"/>
                <a:cs typeface="Hiragino Sans GB"/>
              </a:defRPr>
            </a:pPr>
            <a:r>
              <a:rPr sz="1650" b="1">
                <a:solidFill>
                  <a:srgbClr val="F59E0B"/>
                </a:solidFill>
                <a:latin typeface="Hiragino Sans GB"/>
                <a:ea typeface="Hiragino Sans GB"/>
                <a:cs typeface="Hiragino Sans GB"/>
              </a:rPr>
              <a:t>使用边界</a:t>
            </a:r>
          </a:p>
        </p:txBody>
      </p:sp>
      <p:sp>
        <p:nvSpPr>
          <p:cNvPr id="11" name="矩形 10">
            <a:extLst>
              <a:ext uri="{FF2B5EF4-FFF2-40B4-BE49-F238E27FC236}">
                <a16:creationId xmlns:a16="http://schemas.microsoft.com/office/drawing/2014/main" id="{DD3042D1-2891-446A-8963-073CC52A2722}"/>
              </a:ext>
            </a:extLst>
          </p:cNvPr>
          <p:cNvSpPr>
            <a:spLocks noGrp="1"/>
          </p:cNvSpPr>
          <p:nvPr/>
        </p:nvSpPr>
        <p:spPr>
          <a:xfrm>
            <a:off x="8134350" y="4495800"/>
            <a:ext cx="3333750" cy="685800"/>
          </a:xfrm>
          <a:prstGeom prst="rect">
            <a:avLst/>
          </a:prstGeom>
          <a:noFill/>
          <a:ln w="0">
            <a:noFill/>
            <a:prstDash val="solid"/>
          </a:ln>
        </p:spPr>
        <p:txBody>
          <a:bodyPr wrap="square" lIns="0" tIns="0" rIns="0" bIns="0" anchor="t">
            <a:noAutofit/>
          </a:bodyPr>
          <a:lstStyle/>
          <a:p>
            <a:pPr algn="l">
              <a:buNone/>
              <a:defRPr sz="1238" b="0">
                <a:solidFill>
                  <a:srgbClr val="101214"/>
                </a:solidFill>
                <a:latin typeface="Hiragino Sans GB"/>
                <a:ea typeface="Hiragino Sans GB"/>
                <a:cs typeface="Hiragino Sans GB"/>
              </a:defRPr>
            </a:pPr>
            <a:r>
              <a:rPr sz="1600" b="0" dirty="0" err="1">
                <a:solidFill>
                  <a:srgbClr val="101214"/>
                </a:solidFill>
                <a:latin typeface="Hiragino Sans GB"/>
                <a:ea typeface="Hiragino Sans GB"/>
                <a:cs typeface="Hiragino Sans GB"/>
              </a:rPr>
              <a:t>环境随机性很高时，reward</a:t>
            </a:r>
            <a:r>
              <a:rPr sz="1600" b="0" dirty="0">
                <a:solidFill>
                  <a:srgbClr val="101214"/>
                </a:solidFill>
                <a:latin typeface="Hiragino Sans GB"/>
                <a:ea typeface="Hiragino Sans GB"/>
                <a:cs typeface="Hiragino Sans GB"/>
              </a:rPr>
              <a:t> variance </a:t>
            </a:r>
            <a:r>
              <a:rPr sz="1600" b="0" dirty="0" err="1">
                <a:solidFill>
                  <a:srgbClr val="101214"/>
                </a:solidFill>
                <a:latin typeface="Hiragino Sans GB"/>
                <a:ea typeface="Hiragino Sans GB"/>
                <a:cs typeface="Hiragino Sans GB"/>
              </a:rPr>
              <a:t>也可能只是噪声；过滤还会缩窄</a:t>
            </a:r>
            <a:r>
              <a:rPr sz="1600" b="0" dirty="0">
                <a:solidFill>
                  <a:srgbClr val="101214"/>
                </a:solidFill>
                <a:latin typeface="Hiragino Sans GB"/>
                <a:ea typeface="Hiragino Sans GB"/>
                <a:cs typeface="Hiragino Sans GB"/>
              </a:rPr>
              <a:t> exploration coverage。</a:t>
            </a:r>
          </a:p>
        </p:txBody>
      </p:sp>
      <p:sp>
        <p:nvSpPr>
          <p:cNvPr id="12" name="圆角矩形 11">
            <a:extLst>
              <a:ext uri="{FF2B5EF4-FFF2-40B4-BE49-F238E27FC236}">
                <a16:creationId xmlns:a16="http://schemas.microsoft.com/office/drawing/2014/main" id="{043EFD95-4313-4593-9B08-09CB04FD416B}"/>
              </a:ext>
            </a:extLst>
          </p:cNvPr>
          <p:cNvSpPr>
            <a:spLocks noGrp="1"/>
          </p:cNvSpPr>
          <p:nvPr/>
        </p:nvSpPr>
        <p:spPr>
          <a:xfrm>
            <a:off x="419100" y="5676900"/>
            <a:ext cx="11353800" cy="323850"/>
          </a:xfrm>
          <a:prstGeom prst="roundRect">
            <a:avLst>
              <a:gd name="adj" fmla="val 23529"/>
            </a:avLst>
          </a:prstGeom>
          <a:solidFill>
            <a:srgbClr val="EAF5FB"/>
          </a:solidFill>
          <a:ln w="0">
            <a:noFill/>
            <a:prstDash val="solid"/>
          </a:ln>
        </p:spPr>
      </p:sp>
      <p:sp>
        <p:nvSpPr>
          <p:cNvPr id="13" name="矩形 12">
            <a:extLst>
              <a:ext uri="{FF2B5EF4-FFF2-40B4-BE49-F238E27FC236}">
                <a16:creationId xmlns:a16="http://schemas.microsoft.com/office/drawing/2014/main" id="{74F74976-B221-4B22-9DED-DA0A6A2F547D}"/>
              </a:ext>
            </a:extLst>
          </p:cNvPr>
          <p:cNvSpPr>
            <a:spLocks noGrp="1"/>
          </p:cNvSpPr>
          <p:nvPr/>
        </p:nvSpPr>
        <p:spPr>
          <a:xfrm>
            <a:off x="647700" y="5734050"/>
            <a:ext cx="10858500" cy="209550"/>
          </a:xfrm>
          <a:prstGeom prst="rect">
            <a:avLst/>
          </a:prstGeom>
          <a:noFill/>
          <a:ln w="0">
            <a:noFill/>
            <a:prstDash val="solid"/>
          </a:ln>
        </p:spPr>
        <p:txBody>
          <a:bodyPr wrap="square" lIns="0" tIns="0" rIns="0" bIns="0" anchor="t">
            <a:noAutofit/>
          </a:bodyPr>
          <a:lstStyle/>
          <a:p>
            <a:pPr algn="ctr">
              <a:buNone/>
              <a:defRPr sz="1200" b="1">
                <a:solidFill>
                  <a:srgbClr val="2787F5"/>
                </a:solidFill>
                <a:latin typeface="Hiragino Sans GB"/>
                <a:ea typeface="Hiragino Sans GB"/>
                <a:cs typeface="Hiragino Sans GB"/>
              </a:defRPr>
            </a:pPr>
            <a:r>
              <a:rPr sz="1200" b="1">
                <a:solidFill>
                  <a:srgbClr val="2787F5"/>
                </a:solidFill>
                <a:latin typeface="Hiragino Sans GB"/>
                <a:ea typeface="Hiragino Sans GB"/>
                <a:cs typeface="Hiragino Sans GB"/>
              </a:rPr>
              <a:t>目标是提高 task-gradient SNR，而不是机械丢弃低方差样本。</a:t>
            </a:r>
          </a:p>
        </p:txBody>
      </p:sp>
      <p:sp>
        <p:nvSpPr>
          <p:cNvPr id="14" name="直线连接符 13">
            <a:extLst>
              <a:ext uri="{FF2B5EF4-FFF2-40B4-BE49-F238E27FC236}">
                <a16:creationId xmlns:a16="http://schemas.microsoft.com/office/drawing/2014/main" id="{DDC5D3A9-AC09-47BE-9567-5361972B04BE}"/>
              </a:ext>
            </a:extLst>
          </p:cNvPr>
          <p:cNvSpPr>
            <a:spLocks noGrp="1"/>
          </p:cNvSpPr>
          <p:nvPr/>
        </p:nvSpPr>
        <p:spPr>
          <a:xfrm>
            <a:off x="419100" y="6286500"/>
            <a:ext cx="11353800" cy="0"/>
          </a:xfrm>
          <a:prstGeom prst="line">
            <a:avLst/>
          </a:prstGeom>
          <a:noFill/>
          <a:ln w="9525">
            <a:solidFill>
              <a:srgbClr val="B8BCC4"/>
            </a:solidFill>
            <a:prstDash val="solid"/>
          </a:ln>
        </p:spPr>
      </p:sp>
      <p:sp>
        <p:nvSpPr>
          <p:cNvPr id="15" name="矩形 14">
            <a:extLst>
              <a:ext uri="{FF2B5EF4-FFF2-40B4-BE49-F238E27FC236}">
                <a16:creationId xmlns:a16="http://schemas.microsoft.com/office/drawing/2014/main" id="{8D26612E-0F27-4F49-A279-660348D84E98}"/>
              </a:ext>
            </a:extLst>
          </p:cNvPr>
          <p:cNvSpPr>
            <a:spLocks noGrp="1"/>
          </p:cNvSpPr>
          <p:nvPr/>
        </p:nvSpPr>
        <p:spPr>
          <a:xfrm>
            <a:off x="419100" y="6362700"/>
            <a:ext cx="10763250" cy="219075"/>
          </a:xfrm>
          <a:prstGeom prst="rect">
            <a:avLst/>
          </a:prstGeom>
          <a:noFill/>
          <a:ln w="0">
            <a:noFill/>
            <a:prstDash val="solid"/>
          </a:ln>
        </p:spPr>
        <p:txBody>
          <a:bodyPr wrap="square" lIns="0" tIns="0" rIns="0" bIns="0" anchor="t">
            <a:noAutofit/>
          </a:bodyPr>
          <a:lstStyle/>
          <a:p>
            <a:pPr algn="l">
              <a:buNone/>
              <a:defRPr sz="788" b="0">
                <a:solidFill>
                  <a:srgbClr val="5E6470"/>
                </a:solidFill>
                <a:latin typeface="Helvetica Neue"/>
                <a:ea typeface="Helvetica Neue"/>
                <a:cs typeface="Helvetica Neue"/>
              </a:defRPr>
            </a:pPr>
            <a:r>
              <a:rPr sz="788" b="0">
                <a:solidFill>
                  <a:srgbClr val="5E6470"/>
                </a:solidFill>
                <a:latin typeface="Helvetica Neue"/>
                <a:ea typeface="Helvetica Neue"/>
                <a:cs typeface="Helvetica Neue"/>
              </a:rPr>
              <a:t>Wang et al., RAGEN-2 (2026), Figure 4 / Section 3.3</a:t>
            </a:r>
          </a:p>
        </p:txBody>
      </p:sp>
      <p:sp>
        <p:nvSpPr>
          <p:cNvPr id="16" name="矩形 15">
            <a:extLst>
              <a:ext uri="{FF2B5EF4-FFF2-40B4-BE49-F238E27FC236}">
                <a16:creationId xmlns:a16="http://schemas.microsoft.com/office/drawing/2014/main" id="{85EF08D5-638E-435A-9A53-8F8FE5DE6537}"/>
              </a:ext>
            </a:extLst>
          </p:cNvPr>
          <p:cNvSpPr>
            <a:spLocks noGrp="1"/>
          </p:cNvSpPr>
          <p:nvPr/>
        </p:nvSpPr>
        <p:spPr>
          <a:xfrm>
            <a:off x="11334750" y="6362700"/>
            <a:ext cx="438150" cy="219075"/>
          </a:xfrm>
          <a:prstGeom prst="rect">
            <a:avLst/>
          </a:prstGeom>
          <a:noFill/>
          <a:ln w="0">
            <a:noFill/>
            <a:prstDash val="solid"/>
          </a:ln>
        </p:spPr>
        <p:txBody>
          <a:bodyPr wrap="square" lIns="0" tIns="0" rIns="0" bIns="0" anchor="t">
            <a:noAutofit/>
          </a:bodyPr>
          <a:lstStyle/>
          <a:p>
            <a:pPr algn="r">
              <a:buNone/>
              <a:defRPr sz="825" b="0">
                <a:solidFill>
                  <a:srgbClr val="5E6470"/>
                </a:solidFill>
                <a:latin typeface="Helvetica Neue"/>
                <a:ea typeface="Helvetica Neue"/>
                <a:cs typeface="Helvetica Neue"/>
              </a:defRPr>
            </a:pPr>
            <a:r>
              <a:rPr sz="825" b="0">
                <a:solidFill>
                  <a:srgbClr val="5E6470"/>
                </a:solidFill>
                <a:latin typeface="Helvetica Neue"/>
                <a:ea typeface="Helvetica Neue"/>
                <a:cs typeface="Helvetica Neue"/>
              </a:rPr>
              <a:t>18</a:t>
            </a:r>
          </a:p>
        </p:txBody>
      </p:sp>
    </p:spTree>
    <p:extLst>
      <p:ext uri="{BB962C8B-B14F-4D97-AF65-F5344CB8AC3E}">
        <p14:creationId xmlns:p14="http://schemas.microsoft.com/office/powerpoint/2010/main" val="14278319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19EFAD76-A66D-4186-A53B-714733948B1E}"/>
              </a:ext>
            </a:extLst>
          </p:cNvPr>
          <p:cNvSpPr>
            <a:spLocks noGrp="1"/>
          </p:cNvSpPr>
          <p:nvPr/>
        </p:nvSpPr>
        <p:spPr>
          <a:xfrm>
            <a:off x="419100" y="171450"/>
            <a:ext cx="2952750" cy="228600"/>
          </a:xfrm>
          <a:prstGeom prst="rect">
            <a:avLst/>
          </a:prstGeom>
          <a:noFill/>
          <a:ln w="0">
            <a:noFill/>
            <a:prstDash val="solid"/>
          </a:ln>
        </p:spPr>
        <p:txBody>
          <a:bodyPr wrap="square" lIns="0" tIns="0" rIns="0" bIns="0" anchor="t">
            <a:noAutofit/>
          </a:bodyPr>
          <a:lstStyle/>
          <a:p>
            <a:pPr algn="l">
              <a:buNone/>
              <a:defRPr sz="975" b="1">
                <a:solidFill>
                  <a:srgbClr val="5E6470"/>
                </a:solidFill>
                <a:latin typeface="Helvetica Neue"/>
                <a:ea typeface="Helvetica Neue"/>
                <a:cs typeface="Helvetica Neue"/>
              </a:defRPr>
            </a:pPr>
            <a:r>
              <a:rPr sz="975" b="1">
                <a:solidFill>
                  <a:srgbClr val="5E6470"/>
                </a:solidFill>
                <a:latin typeface="Helvetica Neue"/>
                <a:ea typeface="Helvetica Neue"/>
                <a:cs typeface="Helvetica Neue"/>
              </a:rPr>
              <a:t>I · ENTROPY MECHANISM</a:t>
            </a:r>
          </a:p>
        </p:txBody>
      </p:sp>
      <p:sp>
        <p:nvSpPr>
          <p:cNvPr id="2" name="矩形 1">
            <a:extLst>
              <a:ext uri="{FF2B5EF4-FFF2-40B4-BE49-F238E27FC236}">
                <a16:creationId xmlns:a16="http://schemas.microsoft.com/office/drawing/2014/main" id="{444AA5A0-48B6-4EC0-932F-B5257468B9B1}"/>
              </a:ext>
            </a:extLst>
          </p:cNvPr>
          <p:cNvSpPr>
            <a:spLocks noGrp="1"/>
          </p:cNvSpPr>
          <p:nvPr/>
        </p:nvSpPr>
        <p:spPr>
          <a:xfrm>
            <a:off x="419100" y="409575"/>
            <a:ext cx="11353800" cy="514350"/>
          </a:xfrm>
          <a:prstGeom prst="rect">
            <a:avLst/>
          </a:prstGeom>
          <a:noFill/>
          <a:ln w="0">
            <a:noFill/>
            <a:prstDash val="solid"/>
          </a:ln>
        </p:spPr>
        <p:txBody>
          <a:bodyPr wrap="square" lIns="0" tIns="0" rIns="0" bIns="0" anchor="t">
            <a:noAutofit/>
          </a:bodyPr>
          <a:lstStyle/>
          <a:p>
            <a:pPr algn="l">
              <a:buNone/>
              <a:defRPr sz="2850" b="1">
                <a:solidFill>
                  <a:srgbClr val="101214"/>
                </a:solidFill>
                <a:latin typeface="Hiragino Sans GB"/>
                <a:ea typeface="Hiragino Sans GB"/>
                <a:cs typeface="Hiragino Sans GB"/>
              </a:defRPr>
            </a:pPr>
            <a:r>
              <a:rPr sz="2850" b="1">
                <a:solidFill>
                  <a:srgbClr val="101214"/>
                </a:solidFill>
                <a:latin typeface="Hiragino Sans GB"/>
                <a:ea typeface="Hiragino Sans GB"/>
                <a:cs typeface="Hiragino Sans GB"/>
              </a:rPr>
              <a:t>MI 比熵更早预警坍缩</a:t>
            </a:r>
          </a:p>
        </p:txBody>
      </p:sp>
      <p:sp>
        <p:nvSpPr>
          <p:cNvPr id="3" name="圆角矩形 2">
            <a:extLst>
              <a:ext uri="{FF2B5EF4-FFF2-40B4-BE49-F238E27FC236}">
                <a16:creationId xmlns:a16="http://schemas.microsoft.com/office/drawing/2014/main" id="{4A6B8BD7-7FA5-4E82-B1B6-9C91A537CA21}"/>
              </a:ext>
            </a:extLst>
          </p:cNvPr>
          <p:cNvSpPr>
            <a:spLocks noGrp="1"/>
          </p:cNvSpPr>
          <p:nvPr/>
        </p:nvSpPr>
        <p:spPr>
          <a:xfrm>
            <a:off x="419100" y="1333500"/>
            <a:ext cx="6667500" cy="3333750"/>
          </a:xfrm>
          <a:prstGeom prst="roundRect">
            <a:avLst>
              <a:gd name="adj" fmla="val 2286"/>
            </a:avLst>
          </a:prstGeom>
          <a:solidFill>
            <a:srgbClr val="F1F2F4"/>
          </a:solidFill>
          <a:ln w="9525">
            <a:solidFill>
              <a:srgbClr val="B8BCC4"/>
            </a:solidFill>
            <a:prstDash val="solid"/>
          </a:ln>
        </p:spPr>
      </p:sp>
      <p:pic>
        <p:nvPicPr>
          <p:cNvPr id="22" name="图片 18"/>
          <p:cNvPicPr>
            <a:picLocks noChangeAspect="1"/>
          </p:cNvPicPr>
          <p:nvPr/>
        </p:nvPicPr>
        <p:blipFill>
          <a:blip r:embed="rId3"/>
          <a:stretch/>
        </p:blipFill>
        <p:spPr>
          <a:xfrm>
            <a:off x="476250" y="1970680"/>
            <a:ext cx="6553200" cy="2059389"/>
          </a:xfrm>
          <a:prstGeom prst="roundRect">
            <a:avLst>
              <a:gd name="adj" fmla="val 1775"/>
            </a:avLst>
          </a:prstGeom>
        </p:spPr>
      </p:pic>
      <p:graphicFrame>
        <p:nvGraphicFramePr>
          <p:cNvPr id="23" name="Chart"/>
          <p:cNvGraphicFramePr/>
          <p:nvPr/>
        </p:nvGraphicFramePr>
        <p:xfrm>
          <a:off x="7334250" y="1333500"/>
          <a:ext cx="4438650" cy="2857500"/>
        </p:xfrm>
        <a:graphic>
          <a:graphicData uri="http://schemas.openxmlformats.org/drawingml/2006/chart">
            <c:chart xmlns:c="http://schemas.openxmlformats.org/drawingml/2006/chart" xmlns:r="http://schemas.openxmlformats.org/officeDocument/2006/relationships" r:id="rId4"/>
          </a:graphicData>
        </a:graphic>
      </p:graphicFrame>
      <p:sp>
        <p:nvSpPr>
          <p:cNvPr id="6" name="圆角矩形 5">
            <a:extLst>
              <a:ext uri="{FF2B5EF4-FFF2-40B4-BE49-F238E27FC236}">
                <a16:creationId xmlns:a16="http://schemas.microsoft.com/office/drawing/2014/main" id="{289DD7E0-3D05-4655-81D6-AD72EDFEF9EA}"/>
              </a:ext>
            </a:extLst>
          </p:cNvPr>
          <p:cNvSpPr>
            <a:spLocks noGrp="1"/>
          </p:cNvSpPr>
          <p:nvPr/>
        </p:nvSpPr>
        <p:spPr>
          <a:xfrm>
            <a:off x="7524750" y="4524375"/>
            <a:ext cx="2000250" cy="1066800"/>
          </a:xfrm>
          <a:prstGeom prst="roundRect">
            <a:avLst>
              <a:gd name="adj" fmla="val 7143"/>
            </a:avLst>
          </a:prstGeom>
          <a:solidFill>
            <a:srgbClr val="E8F6F0"/>
          </a:solidFill>
          <a:ln w="0">
            <a:noFill/>
            <a:prstDash val="solid"/>
          </a:ln>
        </p:spPr>
      </p:sp>
      <p:sp>
        <p:nvSpPr>
          <p:cNvPr id="7" name="矩形 6">
            <a:extLst>
              <a:ext uri="{FF2B5EF4-FFF2-40B4-BE49-F238E27FC236}">
                <a16:creationId xmlns:a16="http://schemas.microsoft.com/office/drawing/2014/main" id="{83225366-363D-4923-B940-DFD6C09D8838}"/>
              </a:ext>
            </a:extLst>
          </p:cNvPr>
          <p:cNvSpPr>
            <a:spLocks noGrp="1"/>
          </p:cNvSpPr>
          <p:nvPr/>
        </p:nvSpPr>
        <p:spPr>
          <a:xfrm>
            <a:off x="7677150" y="4667250"/>
            <a:ext cx="1695450" cy="361950"/>
          </a:xfrm>
          <a:prstGeom prst="rect">
            <a:avLst/>
          </a:prstGeom>
          <a:noFill/>
          <a:ln w="0">
            <a:noFill/>
            <a:prstDash val="solid"/>
          </a:ln>
        </p:spPr>
        <p:txBody>
          <a:bodyPr wrap="square" lIns="0" tIns="0" rIns="0" bIns="0" anchor="t">
            <a:noAutofit/>
          </a:bodyPr>
          <a:lstStyle/>
          <a:p>
            <a:pPr algn="l">
              <a:buNone/>
              <a:defRPr sz="2325" b="1">
                <a:solidFill>
                  <a:srgbClr val="1F9D70"/>
                </a:solidFill>
                <a:latin typeface="Helvetica Neue"/>
                <a:ea typeface="Helvetica Neue"/>
                <a:cs typeface="Helvetica Neue"/>
              </a:defRPr>
            </a:pPr>
            <a:r>
              <a:rPr sz="2325" b="1">
                <a:solidFill>
                  <a:srgbClr val="1F9D70"/>
                </a:solidFill>
                <a:latin typeface="Helvetica Neue"/>
                <a:ea typeface="Helvetica Neue"/>
                <a:cs typeface="Helvetica Neue"/>
              </a:rPr>
              <a:t>+0.39</a:t>
            </a:r>
          </a:p>
        </p:txBody>
      </p:sp>
      <p:sp>
        <p:nvSpPr>
          <p:cNvPr id="8" name="矩形 7">
            <a:extLst>
              <a:ext uri="{FF2B5EF4-FFF2-40B4-BE49-F238E27FC236}">
                <a16:creationId xmlns:a16="http://schemas.microsoft.com/office/drawing/2014/main" id="{377B5DC4-E359-435A-A81D-AF85639BE8FB}"/>
              </a:ext>
            </a:extLst>
          </p:cNvPr>
          <p:cNvSpPr>
            <a:spLocks noGrp="1"/>
          </p:cNvSpPr>
          <p:nvPr/>
        </p:nvSpPr>
        <p:spPr>
          <a:xfrm>
            <a:off x="7677150" y="5086350"/>
            <a:ext cx="1695450" cy="342900"/>
          </a:xfrm>
          <a:prstGeom prst="rect">
            <a:avLst/>
          </a:prstGeom>
          <a:noFill/>
          <a:ln w="0">
            <a:noFill/>
            <a:prstDash val="solid"/>
          </a:ln>
        </p:spPr>
        <p:txBody>
          <a:bodyPr wrap="square" lIns="0" tIns="0" rIns="0" bIns="0" anchor="t">
            <a:noAutofit/>
          </a:bodyPr>
          <a:lstStyle/>
          <a:p>
            <a:pPr algn="l">
              <a:buNone/>
              <a:defRPr sz="1013" b="0">
                <a:solidFill>
                  <a:srgbClr val="5E6470"/>
                </a:solidFill>
                <a:latin typeface="Hiragino Sans GB"/>
                <a:ea typeface="Hiragino Sans GB"/>
                <a:cs typeface="Hiragino Sans GB"/>
              </a:defRPr>
            </a:pPr>
            <a:r>
              <a:rPr sz="1100" b="0" dirty="0">
                <a:solidFill>
                  <a:srgbClr val="5E6470"/>
                </a:solidFill>
                <a:latin typeface="Hiragino Sans GB"/>
                <a:ea typeface="Hiragino Sans GB"/>
                <a:cs typeface="Hiragino Sans GB"/>
              </a:rPr>
              <a:t>MI-ZScore：正向预测</a:t>
            </a:r>
          </a:p>
          <a:p>
            <a:pPr algn="l">
              <a:buNone/>
              <a:defRPr sz="1013" b="0">
                <a:solidFill>
                  <a:srgbClr val="5E6470"/>
                </a:solidFill>
                <a:latin typeface="Hiragino Sans GB"/>
                <a:ea typeface="Hiragino Sans GB"/>
                <a:cs typeface="Hiragino Sans GB"/>
              </a:defRPr>
            </a:pPr>
            <a:r>
              <a:rPr sz="1100" b="0" dirty="0" err="1">
                <a:solidFill>
                  <a:srgbClr val="5E6470"/>
                </a:solidFill>
                <a:latin typeface="Hiragino Sans GB"/>
                <a:ea typeface="Hiragino Sans GB"/>
                <a:cs typeface="Hiragino Sans GB"/>
              </a:rPr>
              <a:t>任务表现</a:t>
            </a:r>
            <a:endParaRPr sz="1100" b="0" dirty="0">
              <a:solidFill>
                <a:srgbClr val="5E6470"/>
              </a:solidFill>
              <a:latin typeface="Hiragino Sans GB"/>
              <a:ea typeface="Hiragino Sans GB"/>
              <a:cs typeface="Hiragino Sans GB"/>
            </a:endParaRPr>
          </a:p>
        </p:txBody>
      </p:sp>
      <p:sp>
        <p:nvSpPr>
          <p:cNvPr id="9" name="圆角矩形 8">
            <a:extLst>
              <a:ext uri="{FF2B5EF4-FFF2-40B4-BE49-F238E27FC236}">
                <a16:creationId xmlns:a16="http://schemas.microsoft.com/office/drawing/2014/main" id="{028BF7A8-1581-4B7E-9F31-3841B9A67103}"/>
              </a:ext>
            </a:extLst>
          </p:cNvPr>
          <p:cNvSpPr>
            <a:spLocks noGrp="1"/>
          </p:cNvSpPr>
          <p:nvPr/>
        </p:nvSpPr>
        <p:spPr>
          <a:xfrm>
            <a:off x="9715500" y="4524375"/>
            <a:ext cx="2057400" cy="1066800"/>
          </a:xfrm>
          <a:prstGeom prst="roundRect">
            <a:avLst>
              <a:gd name="adj" fmla="val 7143"/>
            </a:avLst>
          </a:prstGeom>
          <a:solidFill>
            <a:srgbClr val="FDEBEC"/>
          </a:solidFill>
          <a:ln w="0">
            <a:noFill/>
            <a:prstDash val="solid"/>
          </a:ln>
        </p:spPr>
      </p:sp>
      <p:sp>
        <p:nvSpPr>
          <p:cNvPr id="10" name="矩形 9">
            <a:extLst>
              <a:ext uri="{FF2B5EF4-FFF2-40B4-BE49-F238E27FC236}">
                <a16:creationId xmlns:a16="http://schemas.microsoft.com/office/drawing/2014/main" id="{09FA98A1-19F5-4DEF-87FA-DC83571A1547}"/>
              </a:ext>
            </a:extLst>
          </p:cNvPr>
          <p:cNvSpPr>
            <a:spLocks noGrp="1"/>
          </p:cNvSpPr>
          <p:nvPr/>
        </p:nvSpPr>
        <p:spPr>
          <a:xfrm>
            <a:off x="9867900" y="4676775"/>
            <a:ext cx="1752600" cy="342900"/>
          </a:xfrm>
          <a:prstGeom prst="rect">
            <a:avLst/>
          </a:prstGeom>
          <a:noFill/>
          <a:ln w="0">
            <a:noFill/>
            <a:prstDash val="solid"/>
          </a:ln>
        </p:spPr>
        <p:txBody>
          <a:bodyPr wrap="square" lIns="0" tIns="0" rIns="0" bIns="0" anchor="t">
            <a:noAutofit/>
          </a:bodyPr>
          <a:lstStyle/>
          <a:p>
            <a:pPr algn="l">
              <a:buNone/>
              <a:defRPr sz="1838" b="1">
                <a:solidFill>
                  <a:srgbClr val="D94C4C"/>
                </a:solidFill>
                <a:latin typeface="Helvetica Neue"/>
                <a:ea typeface="Helvetica Neue"/>
                <a:cs typeface="Helvetica Neue"/>
              </a:defRPr>
            </a:pPr>
            <a:r>
              <a:rPr sz="1838" b="1">
                <a:solidFill>
                  <a:srgbClr val="D94C4C"/>
                </a:solidFill>
                <a:latin typeface="Helvetica Neue"/>
                <a:ea typeface="Helvetica Neue"/>
                <a:cs typeface="Helvetica Neue"/>
              </a:rPr>
              <a:t>−0.11 … −0.14</a:t>
            </a:r>
          </a:p>
        </p:txBody>
      </p:sp>
      <p:sp>
        <p:nvSpPr>
          <p:cNvPr id="11" name="矩形 10">
            <a:extLst>
              <a:ext uri="{FF2B5EF4-FFF2-40B4-BE49-F238E27FC236}">
                <a16:creationId xmlns:a16="http://schemas.microsoft.com/office/drawing/2014/main" id="{B25223F4-D3D1-43C3-8198-CBEF3527F6E1}"/>
              </a:ext>
            </a:extLst>
          </p:cNvPr>
          <p:cNvSpPr>
            <a:spLocks noGrp="1"/>
          </p:cNvSpPr>
          <p:nvPr/>
        </p:nvSpPr>
        <p:spPr>
          <a:xfrm>
            <a:off x="9867900" y="5086350"/>
            <a:ext cx="1752600" cy="342900"/>
          </a:xfrm>
          <a:prstGeom prst="rect">
            <a:avLst/>
          </a:prstGeom>
          <a:noFill/>
          <a:ln w="0">
            <a:noFill/>
            <a:prstDash val="solid"/>
          </a:ln>
        </p:spPr>
        <p:txBody>
          <a:bodyPr wrap="square" lIns="0" tIns="0" rIns="0" bIns="0" anchor="t">
            <a:noAutofit/>
          </a:bodyPr>
          <a:lstStyle/>
          <a:p>
            <a:pPr algn="l">
              <a:buNone/>
              <a:defRPr sz="1013" b="0">
                <a:solidFill>
                  <a:srgbClr val="5E6470"/>
                </a:solidFill>
                <a:latin typeface="Hiragino Sans GB"/>
                <a:ea typeface="Hiragino Sans GB"/>
                <a:cs typeface="Hiragino Sans GB"/>
              </a:defRPr>
            </a:pPr>
            <a:r>
              <a:rPr sz="1100" b="0" dirty="0">
                <a:solidFill>
                  <a:srgbClr val="5E6470"/>
                </a:solidFill>
                <a:latin typeface="Hiragino Sans GB"/>
                <a:ea typeface="Hiragino Sans GB"/>
                <a:cs typeface="Hiragino Sans GB"/>
              </a:rPr>
              <a:t>Reasoning / Cond. H：</a:t>
            </a:r>
          </a:p>
          <a:p>
            <a:pPr algn="l">
              <a:buNone/>
              <a:defRPr sz="1013" b="0">
                <a:solidFill>
                  <a:srgbClr val="5E6470"/>
                </a:solidFill>
                <a:latin typeface="Hiragino Sans GB"/>
                <a:ea typeface="Hiragino Sans GB"/>
                <a:cs typeface="Hiragino Sans GB"/>
              </a:defRPr>
            </a:pPr>
            <a:r>
              <a:rPr sz="1100" b="0" dirty="0" err="1">
                <a:solidFill>
                  <a:srgbClr val="5E6470"/>
                </a:solidFill>
                <a:latin typeface="Hiragino Sans GB"/>
                <a:ea typeface="Hiragino Sans GB"/>
                <a:cs typeface="Hiragino Sans GB"/>
              </a:rPr>
              <a:t>相关方向相反</a:t>
            </a:r>
            <a:endParaRPr sz="1100" b="0" dirty="0">
              <a:solidFill>
                <a:srgbClr val="5E6470"/>
              </a:solidFill>
              <a:latin typeface="Hiragino Sans GB"/>
              <a:ea typeface="Hiragino Sans GB"/>
              <a:cs typeface="Hiragino Sans GB"/>
            </a:endParaRPr>
          </a:p>
        </p:txBody>
      </p:sp>
      <p:sp>
        <p:nvSpPr>
          <p:cNvPr id="12" name="矩形 11">
            <a:extLst>
              <a:ext uri="{FF2B5EF4-FFF2-40B4-BE49-F238E27FC236}">
                <a16:creationId xmlns:a16="http://schemas.microsoft.com/office/drawing/2014/main" id="{03A62F73-3821-49CE-B3E5-2D2A27924C58}"/>
              </a:ext>
            </a:extLst>
          </p:cNvPr>
          <p:cNvSpPr>
            <a:spLocks noGrp="1"/>
          </p:cNvSpPr>
          <p:nvPr/>
        </p:nvSpPr>
        <p:spPr>
          <a:xfrm>
            <a:off x="419100" y="4810125"/>
            <a:ext cx="6667500" cy="1257300"/>
          </a:xfrm>
          <a:prstGeom prst="rect">
            <a:avLst/>
          </a:prstGeom>
          <a:noFill/>
          <a:ln w="0">
            <a:noFill/>
            <a:prstDash val="solid"/>
          </a:ln>
        </p:spPr>
        <p:txBody>
          <a:bodyPr wrap="square" lIns="0" tIns="0" rIns="0" bIns="0" anchor="t">
            <a:noAutofit/>
          </a:bodyPr>
          <a:lstStyle/>
          <a:p>
            <a:pPr algn="l">
              <a:buNone/>
              <a:defRPr sz="1065" b="0">
                <a:solidFill>
                  <a:srgbClr val="101214"/>
                </a:solidFill>
                <a:latin typeface="Hiragino Sans GB"/>
                <a:ea typeface="Hiragino Sans GB"/>
                <a:cs typeface="Hiragino Sans GB"/>
              </a:defRPr>
            </a:pPr>
            <a:r>
              <a:rPr sz="1200" b="0" dirty="0" err="1">
                <a:solidFill>
                  <a:srgbClr val="101214"/>
                </a:solidFill>
                <a:latin typeface="Hiragino Sans GB"/>
                <a:ea typeface="Hiragino Sans GB"/>
                <a:cs typeface="Hiragino Sans GB"/>
              </a:rPr>
              <a:t>时序｜MI</a:t>
            </a:r>
            <a:r>
              <a:rPr sz="1200" b="0" dirty="0">
                <a:solidFill>
                  <a:srgbClr val="101214"/>
                </a:solidFill>
                <a:latin typeface="Hiragino Sans GB"/>
                <a:ea typeface="Hiragino Sans GB"/>
                <a:cs typeface="Hiragino Sans GB"/>
              </a:rPr>
              <a:t> </a:t>
            </a:r>
            <a:r>
              <a:rPr sz="1200" b="0" dirty="0" err="1">
                <a:solidFill>
                  <a:srgbClr val="101214"/>
                </a:solidFill>
                <a:latin typeface="Hiragino Sans GB"/>
                <a:ea typeface="Hiragino Sans GB"/>
                <a:cs typeface="Hiragino Sans GB"/>
              </a:rPr>
              <a:t>先于性能下降</a:t>
            </a:r>
            <a:endParaRPr sz="1200" b="0" dirty="0">
              <a:solidFill>
                <a:srgbClr val="101214"/>
              </a:solidFill>
              <a:latin typeface="Hiragino Sans GB"/>
              <a:ea typeface="Hiragino Sans GB"/>
              <a:cs typeface="Hiragino Sans GB"/>
            </a:endParaRPr>
          </a:p>
          <a:p>
            <a:pPr algn="l">
              <a:buNone/>
              <a:defRPr sz="1065" b="0">
                <a:solidFill>
                  <a:srgbClr val="101214"/>
                </a:solidFill>
                <a:latin typeface="Hiragino Sans GB"/>
                <a:ea typeface="Hiragino Sans GB"/>
                <a:cs typeface="Hiragino Sans GB"/>
              </a:defRPr>
            </a:pPr>
            <a:r>
              <a:rPr sz="1200" b="0" dirty="0">
                <a:solidFill>
                  <a:srgbClr val="101214"/>
                </a:solidFill>
                <a:latin typeface="Hiragino Sans GB"/>
                <a:ea typeface="Hiragino Sans GB"/>
                <a:cs typeface="Hiragino Sans GB"/>
              </a:rPr>
              <a:t>No </a:t>
            </a:r>
            <a:r>
              <a:rPr sz="1200" b="0" dirty="0" err="1">
                <a:solidFill>
                  <a:srgbClr val="101214"/>
                </a:solidFill>
                <a:latin typeface="Hiragino Sans GB"/>
                <a:ea typeface="Hiragino Sans GB"/>
                <a:cs typeface="Hiragino Sans GB"/>
              </a:rPr>
              <a:t>Filtering：Retrieval-Acc</a:t>
            </a:r>
            <a:r>
              <a:rPr sz="1200" b="0" dirty="0">
                <a:solidFill>
                  <a:srgbClr val="101214"/>
                </a:solidFill>
                <a:latin typeface="Hiragino Sans GB"/>
                <a:ea typeface="Hiragino Sans GB"/>
                <a:cs typeface="Hiragino Sans GB"/>
              </a:rPr>
              <a:t> </a:t>
            </a:r>
            <a:r>
              <a:rPr sz="1200" b="0" dirty="0" err="1">
                <a:solidFill>
                  <a:srgbClr val="101214"/>
                </a:solidFill>
                <a:latin typeface="Hiragino Sans GB"/>
                <a:ea typeface="Hiragino Sans GB"/>
                <a:cs typeface="Hiragino Sans GB"/>
              </a:rPr>
              <a:t>持续走低时，success</a:t>
            </a:r>
            <a:r>
              <a:rPr sz="1200" b="0" dirty="0">
                <a:solidFill>
                  <a:srgbClr val="101214"/>
                </a:solidFill>
                <a:latin typeface="Hiragino Sans GB"/>
                <a:ea typeface="Hiragino Sans GB"/>
                <a:cs typeface="Hiragino Sans GB"/>
              </a:rPr>
              <a:t> rate </a:t>
            </a:r>
            <a:r>
              <a:rPr sz="1200" b="0" dirty="0" err="1">
                <a:solidFill>
                  <a:srgbClr val="101214"/>
                </a:solidFill>
                <a:latin typeface="Hiragino Sans GB"/>
                <a:ea typeface="Hiragino Sans GB"/>
                <a:cs typeface="Hiragino Sans GB"/>
              </a:rPr>
              <a:t>尚未明显恶化</a:t>
            </a:r>
            <a:r>
              <a:rPr sz="1200" b="0" dirty="0">
                <a:solidFill>
                  <a:srgbClr val="101214"/>
                </a:solidFill>
                <a:latin typeface="Hiragino Sans GB"/>
                <a:ea typeface="Hiragino Sans GB"/>
                <a:cs typeface="Hiragino Sans GB"/>
              </a:rPr>
              <a:t>——MI proxy </a:t>
            </a:r>
            <a:r>
              <a:rPr sz="1200" b="0" dirty="0" err="1">
                <a:solidFill>
                  <a:srgbClr val="101214"/>
                </a:solidFill>
                <a:latin typeface="Hiragino Sans GB"/>
                <a:ea typeface="Hiragino Sans GB"/>
                <a:cs typeface="Hiragino Sans GB"/>
              </a:rPr>
              <a:t>是</a:t>
            </a:r>
            <a:r>
              <a:rPr sz="1200" b="0" dirty="0">
                <a:solidFill>
                  <a:srgbClr val="101214"/>
                </a:solidFill>
                <a:latin typeface="Hiragino Sans GB"/>
                <a:ea typeface="Hiragino Sans GB"/>
                <a:cs typeface="Hiragino Sans GB"/>
              </a:rPr>
              <a:t> early warning。</a:t>
            </a:r>
          </a:p>
          <a:p>
            <a:pPr algn="l">
              <a:buNone/>
              <a:defRPr sz="1065" b="0">
                <a:solidFill>
                  <a:srgbClr val="101214"/>
                </a:solidFill>
                <a:latin typeface="Hiragino Sans GB"/>
                <a:ea typeface="Hiragino Sans GB"/>
                <a:cs typeface="Hiragino Sans GB"/>
              </a:defRPr>
            </a:pPr>
            <a:r>
              <a:rPr sz="1200" b="0" dirty="0" err="1">
                <a:solidFill>
                  <a:srgbClr val="101214"/>
                </a:solidFill>
                <a:latin typeface="Hiragino Sans GB"/>
                <a:ea typeface="Hiragino Sans GB"/>
                <a:cs typeface="Hiragino Sans GB"/>
              </a:rPr>
              <a:t>熵为何失灵：Reasoning</a:t>
            </a:r>
            <a:r>
              <a:rPr sz="1200" b="0" dirty="0">
                <a:solidFill>
                  <a:srgbClr val="101214"/>
                </a:solidFill>
                <a:latin typeface="Hiragino Sans GB"/>
                <a:ea typeface="Hiragino Sans GB"/>
                <a:cs typeface="Hiragino Sans GB"/>
              </a:rPr>
              <a:t> entropy </a:t>
            </a:r>
            <a:r>
              <a:rPr sz="1200" b="0" dirty="0" err="1">
                <a:solidFill>
                  <a:srgbClr val="101214"/>
                </a:solidFill>
                <a:latin typeface="Hiragino Sans GB"/>
                <a:ea typeface="Hiragino Sans GB"/>
                <a:cs typeface="Hiragino Sans GB"/>
              </a:rPr>
              <a:t>始终偏高、后期甚至爆升</a:t>
            </a:r>
            <a:r>
              <a:rPr sz="1200" b="0" dirty="0">
                <a:solidFill>
                  <a:srgbClr val="101214"/>
                </a:solidFill>
                <a:latin typeface="Hiragino Sans GB"/>
                <a:ea typeface="Hiragino Sans GB"/>
                <a:cs typeface="Hiragino Sans GB"/>
              </a:rPr>
              <a:t>；“</a:t>
            </a:r>
            <a:r>
              <a:rPr sz="1200" b="0" dirty="0" err="1">
                <a:solidFill>
                  <a:srgbClr val="101214"/>
                </a:solidFill>
                <a:latin typeface="Hiragino Sans GB"/>
                <a:ea typeface="Hiragino Sans GB"/>
                <a:cs typeface="Hiragino Sans GB"/>
              </a:rPr>
              <a:t>输出仍多样”不等于“reasoning</a:t>
            </a:r>
            <a:r>
              <a:rPr sz="1200" b="0" dirty="0">
                <a:solidFill>
                  <a:srgbClr val="101214"/>
                </a:solidFill>
                <a:latin typeface="Hiragino Sans GB"/>
                <a:ea typeface="Hiragino Sans GB"/>
                <a:cs typeface="Hiragino Sans GB"/>
              </a:rPr>
              <a:t> </a:t>
            </a:r>
            <a:r>
              <a:rPr sz="1200" b="0" dirty="0" err="1">
                <a:solidFill>
                  <a:srgbClr val="101214"/>
                </a:solidFill>
                <a:latin typeface="Hiragino Sans GB"/>
                <a:ea typeface="Hiragino Sans GB"/>
                <a:cs typeface="Hiragino Sans GB"/>
              </a:rPr>
              <a:t>仍依赖输入</a:t>
            </a:r>
            <a:r>
              <a:rPr sz="1200" b="0" dirty="0">
                <a:solidFill>
                  <a:srgbClr val="101214"/>
                </a:solidFill>
                <a:latin typeface="Hiragino Sans GB"/>
                <a:ea typeface="Hiragino Sans GB"/>
                <a:cs typeface="Hiragino Sans GB"/>
              </a:rPr>
              <a:t>”。</a:t>
            </a:r>
          </a:p>
          <a:p>
            <a:pPr algn="l">
              <a:buNone/>
              <a:defRPr sz="1065" b="0">
                <a:solidFill>
                  <a:srgbClr val="101214"/>
                </a:solidFill>
                <a:latin typeface="Hiragino Sans GB"/>
                <a:ea typeface="Hiragino Sans GB"/>
                <a:cs typeface="Hiragino Sans GB"/>
              </a:defRPr>
            </a:pPr>
            <a:r>
              <a:rPr sz="1200" b="0" dirty="0" err="1">
                <a:solidFill>
                  <a:srgbClr val="101214"/>
                </a:solidFill>
                <a:latin typeface="Hiragino Sans GB"/>
                <a:ea typeface="Hiragino Sans GB"/>
                <a:cs typeface="Hiragino Sans GB"/>
              </a:rPr>
              <a:t>干预对照：Entropy</a:t>
            </a:r>
            <a:r>
              <a:rPr sz="1200" b="0" dirty="0">
                <a:solidFill>
                  <a:srgbClr val="101214"/>
                </a:solidFill>
                <a:latin typeface="Hiragino Sans GB"/>
                <a:ea typeface="Hiragino Sans GB"/>
                <a:cs typeface="Hiragino Sans GB"/>
              </a:rPr>
              <a:t>/KL reg </a:t>
            </a:r>
            <a:r>
              <a:rPr sz="1200" b="0" dirty="0" err="1">
                <a:solidFill>
                  <a:srgbClr val="101214"/>
                </a:solidFill>
                <a:latin typeface="Hiragino Sans GB"/>
                <a:ea typeface="Hiragino Sans GB"/>
                <a:cs typeface="Hiragino Sans GB"/>
              </a:rPr>
              <a:t>主要改变</a:t>
            </a:r>
            <a:r>
              <a:rPr sz="1200" b="0" dirty="0">
                <a:solidFill>
                  <a:srgbClr val="101214"/>
                </a:solidFill>
                <a:latin typeface="Hiragino Sans GB"/>
                <a:ea typeface="Hiragino Sans GB"/>
                <a:cs typeface="Hiragino Sans GB"/>
              </a:rPr>
              <a:t> H(Z|X)；Top-p RV filtering </a:t>
            </a:r>
            <a:r>
              <a:rPr sz="1200" b="0" dirty="0" err="1">
                <a:solidFill>
                  <a:srgbClr val="101214"/>
                </a:solidFill>
                <a:latin typeface="Hiragino Sans GB"/>
                <a:ea typeface="Hiragino Sans GB"/>
                <a:cs typeface="Hiragino Sans GB"/>
              </a:rPr>
              <a:t>才同时维持</a:t>
            </a:r>
            <a:r>
              <a:rPr sz="1200" b="0" dirty="0">
                <a:solidFill>
                  <a:srgbClr val="101214"/>
                </a:solidFill>
                <a:latin typeface="Hiragino Sans GB"/>
                <a:ea typeface="Hiragino Sans GB"/>
                <a:cs typeface="Hiragino Sans GB"/>
              </a:rPr>
              <a:t> MI proxy </a:t>
            </a:r>
            <a:r>
              <a:rPr sz="1200" b="0" dirty="0" err="1">
                <a:solidFill>
                  <a:srgbClr val="101214"/>
                </a:solidFill>
                <a:latin typeface="Hiragino Sans GB"/>
                <a:ea typeface="Hiragino Sans GB"/>
                <a:cs typeface="Hiragino Sans GB"/>
              </a:rPr>
              <a:t>与</a:t>
            </a:r>
            <a:r>
              <a:rPr sz="1200" b="0" dirty="0">
                <a:solidFill>
                  <a:srgbClr val="101214"/>
                </a:solidFill>
                <a:latin typeface="Hiragino Sans GB"/>
                <a:ea typeface="Hiragino Sans GB"/>
                <a:cs typeface="Hiragino Sans GB"/>
              </a:rPr>
              <a:t> task success。</a:t>
            </a:r>
          </a:p>
        </p:txBody>
      </p:sp>
      <p:sp>
        <p:nvSpPr>
          <p:cNvPr id="13" name="直线连接符 12">
            <a:extLst>
              <a:ext uri="{FF2B5EF4-FFF2-40B4-BE49-F238E27FC236}">
                <a16:creationId xmlns:a16="http://schemas.microsoft.com/office/drawing/2014/main" id="{BD7434B7-6AFA-4433-BB91-91A50AB30DD0}"/>
              </a:ext>
            </a:extLst>
          </p:cNvPr>
          <p:cNvSpPr>
            <a:spLocks noGrp="1"/>
          </p:cNvSpPr>
          <p:nvPr/>
        </p:nvSpPr>
        <p:spPr>
          <a:xfrm>
            <a:off x="419100" y="6286500"/>
            <a:ext cx="11353800" cy="0"/>
          </a:xfrm>
          <a:prstGeom prst="line">
            <a:avLst/>
          </a:prstGeom>
          <a:noFill/>
          <a:ln w="9525">
            <a:solidFill>
              <a:srgbClr val="B8BCC4"/>
            </a:solidFill>
            <a:prstDash val="solid"/>
          </a:ln>
        </p:spPr>
      </p:sp>
      <p:sp>
        <p:nvSpPr>
          <p:cNvPr id="14" name="矩形 13">
            <a:extLst>
              <a:ext uri="{FF2B5EF4-FFF2-40B4-BE49-F238E27FC236}">
                <a16:creationId xmlns:a16="http://schemas.microsoft.com/office/drawing/2014/main" id="{ACD4BA6A-5030-485F-9B8A-98492DC8286B}"/>
              </a:ext>
            </a:extLst>
          </p:cNvPr>
          <p:cNvSpPr>
            <a:spLocks noGrp="1"/>
          </p:cNvSpPr>
          <p:nvPr/>
        </p:nvSpPr>
        <p:spPr>
          <a:xfrm>
            <a:off x="419100" y="6362700"/>
            <a:ext cx="10763250" cy="219075"/>
          </a:xfrm>
          <a:prstGeom prst="rect">
            <a:avLst/>
          </a:prstGeom>
          <a:noFill/>
          <a:ln w="0">
            <a:noFill/>
            <a:prstDash val="solid"/>
          </a:ln>
        </p:spPr>
        <p:txBody>
          <a:bodyPr wrap="square" lIns="0" tIns="0" rIns="0" bIns="0" anchor="t">
            <a:noAutofit/>
          </a:bodyPr>
          <a:lstStyle/>
          <a:p>
            <a:pPr algn="l">
              <a:buNone/>
              <a:defRPr sz="788" b="0">
                <a:solidFill>
                  <a:srgbClr val="5E6470"/>
                </a:solidFill>
                <a:latin typeface="Helvetica Neue"/>
                <a:ea typeface="Helvetica Neue"/>
                <a:cs typeface="Helvetica Neue"/>
              </a:defRPr>
            </a:pPr>
            <a:r>
              <a:rPr sz="788" b="0">
                <a:solidFill>
                  <a:srgbClr val="5E6470"/>
                </a:solidFill>
                <a:latin typeface="Helvetica Neue"/>
                <a:ea typeface="Helvetica Neue"/>
                <a:cs typeface="Helvetica Neue"/>
              </a:rPr>
              <a:t>Wang et al., RAGEN-2 (2026), Figure 5 and Figure 8</a:t>
            </a:r>
          </a:p>
        </p:txBody>
      </p:sp>
      <p:sp>
        <p:nvSpPr>
          <p:cNvPr id="15" name="矩形 14">
            <a:extLst>
              <a:ext uri="{FF2B5EF4-FFF2-40B4-BE49-F238E27FC236}">
                <a16:creationId xmlns:a16="http://schemas.microsoft.com/office/drawing/2014/main" id="{64F7C9C7-FBC0-4D11-B6A3-732DB402D342}"/>
              </a:ext>
            </a:extLst>
          </p:cNvPr>
          <p:cNvSpPr>
            <a:spLocks noGrp="1"/>
          </p:cNvSpPr>
          <p:nvPr/>
        </p:nvSpPr>
        <p:spPr>
          <a:xfrm>
            <a:off x="11334750" y="6362700"/>
            <a:ext cx="438150" cy="219075"/>
          </a:xfrm>
          <a:prstGeom prst="rect">
            <a:avLst/>
          </a:prstGeom>
          <a:noFill/>
          <a:ln w="0">
            <a:noFill/>
            <a:prstDash val="solid"/>
          </a:ln>
        </p:spPr>
        <p:txBody>
          <a:bodyPr wrap="square" lIns="0" tIns="0" rIns="0" bIns="0" anchor="t">
            <a:noAutofit/>
          </a:bodyPr>
          <a:lstStyle/>
          <a:p>
            <a:pPr algn="r">
              <a:buNone/>
              <a:defRPr sz="825" b="0">
                <a:solidFill>
                  <a:srgbClr val="5E6470"/>
                </a:solidFill>
                <a:latin typeface="Helvetica Neue"/>
                <a:ea typeface="Helvetica Neue"/>
                <a:cs typeface="Helvetica Neue"/>
              </a:defRPr>
            </a:pPr>
            <a:r>
              <a:rPr sz="825" b="0">
                <a:solidFill>
                  <a:srgbClr val="5E6470"/>
                </a:solidFill>
                <a:latin typeface="Helvetica Neue"/>
                <a:ea typeface="Helvetica Neue"/>
                <a:cs typeface="Helvetica Neue"/>
              </a:rPr>
              <a:t>19</a:t>
            </a:r>
          </a:p>
        </p:txBody>
      </p:sp>
    </p:spTree>
    <p:extLst>
      <p:ext uri="{BB962C8B-B14F-4D97-AF65-F5344CB8AC3E}">
        <p14:creationId xmlns:p14="http://schemas.microsoft.com/office/powerpoint/2010/main" val="781540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矩形 16">
            <a:extLst>
              <a:ext uri="{FF2B5EF4-FFF2-40B4-BE49-F238E27FC236}">
                <a16:creationId xmlns:a16="http://schemas.microsoft.com/office/drawing/2014/main" id="{C26CED50-1935-4B4A-9EAE-80620E294376}"/>
              </a:ext>
            </a:extLst>
          </p:cNvPr>
          <p:cNvSpPr>
            <a:spLocks noGrp="1"/>
          </p:cNvSpPr>
          <p:nvPr/>
        </p:nvSpPr>
        <p:spPr>
          <a:xfrm>
            <a:off x="419100" y="171450"/>
            <a:ext cx="2952750" cy="228600"/>
          </a:xfrm>
          <a:prstGeom prst="rect">
            <a:avLst/>
          </a:prstGeom>
          <a:noFill/>
          <a:ln w="0">
            <a:noFill/>
            <a:prstDash val="solid"/>
          </a:ln>
        </p:spPr>
        <p:txBody>
          <a:bodyPr wrap="square" lIns="0" tIns="0" rIns="0" bIns="0" anchor="t">
            <a:noAutofit/>
          </a:bodyPr>
          <a:lstStyle/>
          <a:p>
            <a:pPr algn="l">
              <a:buNone/>
              <a:defRPr sz="975" b="1">
                <a:solidFill>
                  <a:srgbClr val="5E6470"/>
                </a:solidFill>
                <a:latin typeface="Helvetica Neue"/>
                <a:ea typeface="Helvetica Neue"/>
                <a:cs typeface="Helvetica Neue"/>
              </a:defRPr>
            </a:pPr>
            <a:r>
              <a:rPr sz="975" b="1">
                <a:solidFill>
                  <a:srgbClr val="5E6470"/>
                </a:solidFill>
                <a:latin typeface="Helvetica Neue"/>
                <a:ea typeface="Helvetica Neue"/>
                <a:cs typeface="Helvetica Neue"/>
              </a:rPr>
              <a:t>II · RAGEN-2</a:t>
            </a:r>
          </a:p>
        </p:txBody>
      </p:sp>
      <p:sp>
        <p:nvSpPr>
          <p:cNvPr id="2" name="矩形 1">
            <a:extLst>
              <a:ext uri="{FF2B5EF4-FFF2-40B4-BE49-F238E27FC236}">
                <a16:creationId xmlns:a16="http://schemas.microsoft.com/office/drawing/2014/main" id="{70B4C2F3-E0D0-4569-82AF-6CA8538B5A98}"/>
              </a:ext>
            </a:extLst>
          </p:cNvPr>
          <p:cNvSpPr>
            <a:spLocks noGrp="1"/>
          </p:cNvSpPr>
          <p:nvPr/>
        </p:nvSpPr>
        <p:spPr>
          <a:xfrm>
            <a:off x="419100" y="409575"/>
            <a:ext cx="11353800" cy="514350"/>
          </a:xfrm>
          <a:prstGeom prst="rect">
            <a:avLst/>
          </a:prstGeom>
          <a:noFill/>
          <a:ln w="0">
            <a:noFill/>
            <a:prstDash val="solid"/>
          </a:ln>
        </p:spPr>
        <p:txBody>
          <a:bodyPr wrap="square" lIns="0" tIns="0" rIns="0" bIns="0" anchor="t">
            <a:noAutofit/>
          </a:bodyPr>
          <a:lstStyle/>
          <a:p>
            <a:pPr algn="l">
              <a:buNone/>
              <a:defRPr sz="2850" b="1">
                <a:solidFill>
                  <a:srgbClr val="101214"/>
                </a:solidFill>
                <a:latin typeface="Hiragino Sans GB"/>
                <a:ea typeface="Hiragino Sans GB"/>
                <a:cs typeface="Hiragino Sans GB"/>
              </a:defRPr>
            </a:pPr>
            <a:r>
              <a:rPr sz="2850" b="1">
                <a:solidFill>
                  <a:srgbClr val="101214"/>
                </a:solidFill>
                <a:latin typeface="Hiragino Sans GB"/>
                <a:ea typeface="Hiragino Sans GB"/>
                <a:cs typeface="Hiragino Sans GB"/>
              </a:rPr>
              <a:t>行为分析：模板坍缩首先表现为推理压缩</a:t>
            </a:r>
          </a:p>
        </p:txBody>
      </p:sp>
      <p:sp>
        <p:nvSpPr>
          <p:cNvPr id="3" name="圆角矩形 2">
            <a:extLst>
              <a:ext uri="{FF2B5EF4-FFF2-40B4-BE49-F238E27FC236}">
                <a16:creationId xmlns:a16="http://schemas.microsoft.com/office/drawing/2014/main" id="{F484E623-8587-44D1-B962-803F887391F6}"/>
              </a:ext>
            </a:extLst>
          </p:cNvPr>
          <p:cNvSpPr>
            <a:spLocks noGrp="1"/>
          </p:cNvSpPr>
          <p:nvPr/>
        </p:nvSpPr>
        <p:spPr>
          <a:xfrm>
            <a:off x="419100" y="1257300"/>
            <a:ext cx="5391150" cy="3143250"/>
          </a:xfrm>
          <a:prstGeom prst="roundRect">
            <a:avLst>
              <a:gd name="adj" fmla="val 2424"/>
            </a:avLst>
          </a:prstGeom>
          <a:solidFill>
            <a:srgbClr val="F1F2F4"/>
          </a:solidFill>
          <a:ln w="9525">
            <a:solidFill>
              <a:srgbClr val="B8BCC4"/>
            </a:solidFill>
            <a:prstDash val="solid"/>
          </a:ln>
        </p:spPr>
      </p:sp>
      <p:sp>
        <p:nvSpPr>
          <p:cNvPr id="5" name="圆角矩形 4">
            <a:extLst>
              <a:ext uri="{FF2B5EF4-FFF2-40B4-BE49-F238E27FC236}">
                <a16:creationId xmlns:a16="http://schemas.microsoft.com/office/drawing/2014/main" id="{3477321F-A6CE-4F49-AAD9-2826D1184942}"/>
              </a:ext>
            </a:extLst>
          </p:cNvPr>
          <p:cNvSpPr>
            <a:spLocks noGrp="1"/>
          </p:cNvSpPr>
          <p:nvPr/>
        </p:nvSpPr>
        <p:spPr>
          <a:xfrm>
            <a:off x="6381750" y="1257300"/>
            <a:ext cx="5391150" cy="3143250"/>
          </a:xfrm>
          <a:prstGeom prst="roundRect">
            <a:avLst>
              <a:gd name="adj" fmla="val 2424"/>
            </a:avLst>
          </a:prstGeom>
          <a:solidFill>
            <a:srgbClr val="F1F2F4"/>
          </a:solidFill>
          <a:ln w="9525">
            <a:solidFill>
              <a:srgbClr val="B8BCC4"/>
            </a:solidFill>
            <a:prstDash val="solid"/>
          </a:ln>
        </p:spPr>
      </p:sp>
      <p:sp>
        <p:nvSpPr>
          <p:cNvPr id="7" name="圆角矩形 6">
            <a:extLst>
              <a:ext uri="{FF2B5EF4-FFF2-40B4-BE49-F238E27FC236}">
                <a16:creationId xmlns:a16="http://schemas.microsoft.com/office/drawing/2014/main" id="{6E6CCCAA-7CF1-48A0-949E-B71C320CB330}"/>
              </a:ext>
            </a:extLst>
          </p:cNvPr>
          <p:cNvSpPr>
            <a:spLocks noGrp="1"/>
          </p:cNvSpPr>
          <p:nvPr/>
        </p:nvSpPr>
        <p:spPr>
          <a:xfrm>
            <a:off x="571500" y="1428750"/>
            <a:ext cx="1143000" cy="285750"/>
          </a:xfrm>
          <a:prstGeom prst="roundRect">
            <a:avLst>
              <a:gd name="adj" fmla="val 50000"/>
            </a:avLst>
          </a:prstGeom>
          <a:solidFill>
            <a:srgbClr val="F1F2F4"/>
          </a:solidFill>
          <a:ln w="0">
            <a:noFill/>
            <a:prstDash val="solid"/>
          </a:ln>
        </p:spPr>
      </p:sp>
      <p:sp>
        <p:nvSpPr>
          <p:cNvPr id="8" name="矩形 7">
            <a:extLst>
              <a:ext uri="{FF2B5EF4-FFF2-40B4-BE49-F238E27FC236}">
                <a16:creationId xmlns:a16="http://schemas.microsoft.com/office/drawing/2014/main" id="{377DE1B8-20E0-4240-9E43-A965D682F153}"/>
              </a:ext>
            </a:extLst>
          </p:cNvPr>
          <p:cNvSpPr>
            <a:spLocks noGrp="1"/>
          </p:cNvSpPr>
          <p:nvPr/>
        </p:nvSpPr>
        <p:spPr>
          <a:xfrm>
            <a:off x="571500" y="1447800"/>
            <a:ext cx="1143000" cy="247650"/>
          </a:xfrm>
          <a:prstGeom prst="rect">
            <a:avLst/>
          </a:prstGeom>
          <a:noFill/>
          <a:ln w="0">
            <a:noFill/>
            <a:prstDash val="solid"/>
          </a:ln>
        </p:spPr>
        <p:txBody>
          <a:bodyPr wrap="square" lIns="0" tIns="0" rIns="0" bIns="0" anchor="ctr">
            <a:noAutofit/>
          </a:bodyPr>
          <a:lstStyle/>
          <a:p>
            <a:pPr algn="ctr">
              <a:buNone/>
              <a:defRPr sz="1050" b="1">
                <a:solidFill>
                  <a:srgbClr val="5E6470"/>
                </a:solidFill>
                <a:latin typeface="Hiragino Sans GB"/>
                <a:ea typeface="Hiragino Sans GB"/>
                <a:cs typeface="Hiragino Sans GB"/>
              </a:defRPr>
            </a:pPr>
            <a:r>
              <a:rPr sz="1050" b="1">
                <a:solidFill>
                  <a:srgbClr val="5E6470"/>
                </a:solidFill>
                <a:latin typeface="Hiragino Sans GB"/>
                <a:ea typeface="Hiragino Sans GB"/>
                <a:cs typeface="Hiragino Sans GB"/>
              </a:rPr>
              <a:t>Length drift</a:t>
            </a:r>
          </a:p>
        </p:txBody>
      </p:sp>
      <p:sp>
        <p:nvSpPr>
          <p:cNvPr id="9" name="圆角矩形 8">
            <a:extLst>
              <a:ext uri="{FF2B5EF4-FFF2-40B4-BE49-F238E27FC236}">
                <a16:creationId xmlns:a16="http://schemas.microsoft.com/office/drawing/2014/main" id="{E56526CD-2EB4-4ADB-A075-7FA32E8CFBF2}"/>
              </a:ext>
            </a:extLst>
          </p:cNvPr>
          <p:cNvSpPr>
            <a:spLocks noGrp="1"/>
          </p:cNvSpPr>
          <p:nvPr/>
        </p:nvSpPr>
        <p:spPr>
          <a:xfrm>
            <a:off x="6534150" y="1428750"/>
            <a:ext cx="876300" cy="285750"/>
          </a:xfrm>
          <a:prstGeom prst="roundRect">
            <a:avLst>
              <a:gd name="adj" fmla="val 50000"/>
            </a:avLst>
          </a:prstGeom>
          <a:solidFill>
            <a:srgbClr val="F1F2F4"/>
          </a:solidFill>
          <a:ln w="0">
            <a:noFill/>
            <a:prstDash val="solid"/>
          </a:ln>
        </p:spPr>
      </p:sp>
      <p:sp>
        <p:nvSpPr>
          <p:cNvPr id="10" name="矩形 9">
            <a:extLst>
              <a:ext uri="{FF2B5EF4-FFF2-40B4-BE49-F238E27FC236}">
                <a16:creationId xmlns:a16="http://schemas.microsoft.com/office/drawing/2014/main" id="{B52D9120-8DCD-4AA0-89E7-23F7F0B880CE}"/>
              </a:ext>
            </a:extLst>
          </p:cNvPr>
          <p:cNvSpPr>
            <a:spLocks noGrp="1"/>
          </p:cNvSpPr>
          <p:nvPr/>
        </p:nvSpPr>
        <p:spPr>
          <a:xfrm>
            <a:off x="6534150" y="1447800"/>
            <a:ext cx="876300" cy="247650"/>
          </a:xfrm>
          <a:prstGeom prst="rect">
            <a:avLst/>
          </a:prstGeom>
          <a:noFill/>
          <a:ln w="0">
            <a:noFill/>
            <a:prstDash val="solid"/>
          </a:ln>
        </p:spPr>
        <p:txBody>
          <a:bodyPr wrap="square" lIns="0" tIns="0" rIns="0" bIns="0" anchor="ctr">
            <a:noAutofit/>
          </a:bodyPr>
          <a:lstStyle/>
          <a:p>
            <a:pPr algn="ctr">
              <a:buNone/>
              <a:defRPr sz="1050" b="1">
                <a:solidFill>
                  <a:srgbClr val="5E6470"/>
                </a:solidFill>
                <a:latin typeface="Hiragino Sans GB"/>
                <a:ea typeface="Hiragino Sans GB"/>
                <a:cs typeface="Hiragino Sans GB"/>
              </a:defRPr>
            </a:pPr>
            <a:r>
              <a:rPr sz="1050" b="1">
                <a:solidFill>
                  <a:srgbClr val="5E6470"/>
                </a:solidFill>
                <a:latin typeface="Hiragino Sans GB"/>
                <a:ea typeface="Hiragino Sans GB"/>
                <a:cs typeface="Hiragino Sans GB"/>
              </a:rPr>
              <a:t>SNR filter</a:t>
            </a:r>
          </a:p>
        </p:txBody>
      </p:sp>
      <p:sp>
        <p:nvSpPr>
          <p:cNvPr id="11" name="圆角矩形 10">
            <a:extLst>
              <a:ext uri="{FF2B5EF4-FFF2-40B4-BE49-F238E27FC236}">
                <a16:creationId xmlns:a16="http://schemas.microsoft.com/office/drawing/2014/main" id="{C0F89618-8991-4118-9BF9-29DB0A41626E}"/>
              </a:ext>
            </a:extLst>
          </p:cNvPr>
          <p:cNvSpPr>
            <a:spLocks noGrp="1"/>
          </p:cNvSpPr>
          <p:nvPr/>
        </p:nvSpPr>
        <p:spPr>
          <a:xfrm>
            <a:off x="419100" y="4762500"/>
            <a:ext cx="11353800" cy="1066800"/>
          </a:xfrm>
          <a:prstGeom prst="roundRect">
            <a:avLst>
              <a:gd name="adj" fmla="val 7143"/>
            </a:avLst>
          </a:prstGeom>
          <a:solidFill>
            <a:srgbClr val="FDEBEC"/>
          </a:solidFill>
          <a:ln w="0">
            <a:noFill/>
            <a:prstDash val="solid"/>
          </a:ln>
        </p:spPr>
      </p:sp>
      <p:sp>
        <p:nvSpPr>
          <p:cNvPr id="12" name="矩形 11">
            <a:extLst>
              <a:ext uri="{FF2B5EF4-FFF2-40B4-BE49-F238E27FC236}">
                <a16:creationId xmlns:a16="http://schemas.microsoft.com/office/drawing/2014/main" id="{411B7AF1-0118-4B9C-8F26-864C3C833FD1}"/>
              </a:ext>
            </a:extLst>
          </p:cNvPr>
          <p:cNvSpPr>
            <a:spLocks noGrp="1"/>
          </p:cNvSpPr>
          <p:nvPr/>
        </p:nvSpPr>
        <p:spPr>
          <a:xfrm>
            <a:off x="685800" y="4857750"/>
            <a:ext cx="5476875" cy="895350"/>
          </a:xfrm>
          <a:prstGeom prst="rect">
            <a:avLst/>
          </a:prstGeom>
          <a:noFill/>
          <a:ln w="0">
            <a:noFill/>
            <a:prstDash val="solid"/>
          </a:ln>
        </p:spPr>
        <p:txBody>
          <a:bodyPr wrap="square" lIns="0" tIns="0" rIns="0" bIns="0" anchor="t">
            <a:noAutofit/>
          </a:bodyPr>
          <a:lstStyle/>
          <a:p>
            <a:pPr algn="l">
              <a:buNone/>
              <a:defRPr sz="1028" b="0">
                <a:solidFill>
                  <a:srgbClr val="101214"/>
                </a:solidFill>
                <a:latin typeface="Hiragino Sans GB"/>
                <a:ea typeface="Hiragino Sans GB"/>
                <a:cs typeface="Hiragino Sans GB"/>
              </a:defRPr>
            </a:pPr>
            <a:r>
              <a:rPr sz="1100" b="0" dirty="0" err="1">
                <a:solidFill>
                  <a:srgbClr val="101214"/>
                </a:solidFill>
                <a:latin typeface="Hiragino Sans GB"/>
                <a:ea typeface="Hiragino Sans GB"/>
                <a:cs typeface="Hiragino Sans GB"/>
              </a:rPr>
              <a:t>行为证据｜推理压缩</a:t>
            </a:r>
            <a:endParaRPr sz="1100" b="0" dirty="0">
              <a:solidFill>
                <a:srgbClr val="101214"/>
              </a:solidFill>
              <a:latin typeface="Hiragino Sans GB"/>
              <a:ea typeface="Hiragino Sans GB"/>
              <a:cs typeface="Hiragino Sans GB"/>
            </a:endParaRPr>
          </a:p>
          <a:p>
            <a:pPr algn="l">
              <a:buNone/>
              <a:defRPr sz="1028" b="0">
                <a:solidFill>
                  <a:srgbClr val="101214"/>
                </a:solidFill>
                <a:latin typeface="Hiragino Sans GB"/>
                <a:ea typeface="Hiragino Sans GB"/>
                <a:cs typeface="Hiragino Sans GB"/>
              </a:defRPr>
            </a:pPr>
            <a:r>
              <a:rPr sz="1100" b="0" dirty="0">
                <a:solidFill>
                  <a:srgbClr val="101214"/>
                </a:solidFill>
                <a:latin typeface="Hiragino Sans GB"/>
                <a:ea typeface="Hiragino Sans GB"/>
                <a:cs typeface="Hiragino Sans GB"/>
              </a:rPr>
              <a:t>8 </a:t>
            </a:r>
            <a:r>
              <a:rPr sz="1100" b="0" dirty="0" err="1">
                <a:solidFill>
                  <a:srgbClr val="101214"/>
                </a:solidFill>
                <a:latin typeface="Hiragino Sans GB"/>
                <a:ea typeface="Hiragino Sans GB"/>
                <a:cs typeface="Hiragino Sans GB"/>
              </a:rPr>
              <a:t>个环境的</a:t>
            </a:r>
            <a:r>
              <a:rPr sz="1100" b="0" dirty="0">
                <a:solidFill>
                  <a:srgbClr val="101214"/>
                </a:solidFill>
                <a:latin typeface="Hiragino Sans GB"/>
                <a:ea typeface="Hiragino Sans GB"/>
                <a:cs typeface="Hiragino Sans GB"/>
              </a:rPr>
              <a:t> reasoning length </a:t>
            </a:r>
            <a:r>
              <a:rPr sz="1100" b="0" dirty="0" err="1">
                <a:solidFill>
                  <a:srgbClr val="101214"/>
                </a:solidFill>
                <a:latin typeface="Hiragino Sans GB"/>
                <a:ea typeface="Hiragino Sans GB"/>
                <a:cs typeface="Hiragino Sans GB"/>
              </a:rPr>
              <a:t>都下降，最大约</a:t>
            </a:r>
            <a:r>
              <a:rPr sz="1100" b="0" dirty="0">
                <a:solidFill>
                  <a:srgbClr val="101214"/>
                </a:solidFill>
                <a:latin typeface="Hiragino Sans GB"/>
                <a:ea typeface="Hiragino Sans GB"/>
                <a:cs typeface="Hiragino Sans GB"/>
              </a:rPr>
              <a:t> −87%；</a:t>
            </a:r>
            <a:r>
              <a:rPr sz="1100" b="0" dirty="0" err="1">
                <a:solidFill>
                  <a:srgbClr val="101214"/>
                </a:solidFill>
                <a:latin typeface="Hiragino Sans GB"/>
                <a:ea typeface="Hiragino Sans GB"/>
                <a:cs typeface="Hiragino Sans GB"/>
              </a:rPr>
              <a:t>模型趋向更短、更公式化、可跨输入复用的模板</a:t>
            </a:r>
            <a:r>
              <a:rPr sz="1100" b="0" dirty="0">
                <a:solidFill>
                  <a:srgbClr val="101214"/>
                </a:solidFill>
                <a:latin typeface="Hiragino Sans GB"/>
                <a:ea typeface="Hiragino Sans GB"/>
                <a:cs typeface="Hiragino Sans GB"/>
              </a:rPr>
              <a:t>。</a:t>
            </a:r>
          </a:p>
          <a:p>
            <a:pPr algn="l">
              <a:buNone/>
              <a:defRPr sz="1028" b="0">
                <a:solidFill>
                  <a:srgbClr val="101214"/>
                </a:solidFill>
                <a:latin typeface="Hiragino Sans GB"/>
                <a:ea typeface="Hiragino Sans GB"/>
                <a:cs typeface="Hiragino Sans GB"/>
              </a:defRPr>
            </a:pPr>
            <a:r>
              <a:rPr sz="1100" b="0" dirty="0" err="1">
                <a:solidFill>
                  <a:srgbClr val="101214"/>
                </a:solidFill>
                <a:latin typeface="Hiragino Sans GB"/>
                <a:ea typeface="Hiragino Sans GB"/>
                <a:cs typeface="Hiragino Sans GB"/>
              </a:rPr>
              <a:t>判据：长度下降不是充分条件；只有</a:t>
            </a:r>
            <a:r>
              <a:rPr sz="1100" b="0" dirty="0">
                <a:solidFill>
                  <a:srgbClr val="101214"/>
                </a:solidFill>
                <a:latin typeface="Hiragino Sans GB"/>
                <a:ea typeface="Hiragino Sans GB"/>
                <a:cs typeface="Hiragino Sans GB"/>
              </a:rPr>
              <a:t> MI proxy </a:t>
            </a:r>
            <a:r>
              <a:rPr sz="1100" b="0" dirty="0" err="1">
                <a:solidFill>
                  <a:srgbClr val="101214"/>
                </a:solidFill>
                <a:latin typeface="Hiragino Sans GB"/>
                <a:ea typeface="Hiragino Sans GB"/>
                <a:cs typeface="Hiragino Sans GB"/>
              </a:rPr>
              <a:t>同步下降，才说明删掉的是</a:t>
            </a:r>
            <a:r>
              <a:rPr sz="1100" b="0" dirty="0">
                <a:solidFill>
                  <a:srgbClr val="101214"/>
                </a:solidFill>
                <a:latin typeface="Hiragino Sans GB"/>
                <a:ea typeface="Hiragino Sans GB"/>
                <a:cs typeface="Hiragino Sans GB"/>
              </a:rPr>
              <a:t> input-dependent </a:t>
            </a:r>
            <a:r>
              <a:rPr sz="1100" b="0" dirty="0" err="1">
                <a:solidFill>
                  <a:srgbClr val="101214"/>
                </a:solidFill>
                <a:latin typeface="Hiragino Sans GB"/>
                <a:ea typeface="Hiragino Sans GB"/>
                <a:cs typeface="Hiragino Sans GB"/>
              </a:rPr>
              <a:t>reasoning，而非有效压缩</a:t>
            </a:r>
            <a:r>
              <a:rPr sz="1100" b="0" dirty="0">
                <a:solidFill>
                  <a:srgbClr val="101214"/>
                </a:solidFill>
                <a:latin typeface="Hiragino Sans GB"/>
                <a:ea typeface="Hiragino Sans GB"/>
                <a:cs typeface="Hiragino Sans GB"/>
              </a:rPr>
              <a:t>。</a:t>
            </a:r>
          </a:p>
        </p:txBody>
      </p:sp>
      <p:sp>
        <p:nvSpPr>
          <p:cNvPr id="13" name="矩形 12">
            <a:extLst>
              <a:ext uri="{FF2B5EF4-FFF2-40B4-BE49-F238E27FC236}">
                <a16:creationId xmlns:a16="http://schemas.microsoft.com/office/drawing/2014/main" id="{7C025FCD-0140-4995-9F8C-5560E4C6E2C7}"/>
              </a:ext>
            </a:extLst>
          </p:cNvPr>
          <p:cNvSpPr>
            <a:spLocks noGrp="1"/>
          </p:cNvSpPr>
          <p:nvPr/>
        </p:nvSpPr>
        <p:spPr>
          <a:xfrm>
            <a:off x="6477000" y="4857750"/>
            <a:ext cx="4953000" cy="895350"/>
          </a:xfrm>
          <a:prstGeom prst="rect">
            <a:avLst/>
          </a:prstGeom>
          <a:noFill/>
          <a:ln w="0">
            <a:noFill/>
            <a:prstDash val="solid"/>
          </a:ln>
        </p:spPr>
        <p:txBody>
          <a:bodyPr wrap="square" lIns="0" tIns="0" rIns="0" bIns="0" anchor="t">
            <a:noAutofit/>
          </a:bodyPr>
          <a:lstStyle/>
          <a:p>
            <a:pPr algn="l">
              <a:buNone/>
              <a:defRPr sz="998" b="0">
                <a:solidFill>
                  <a:srgbClr val="101214"/>
                </a:solidFill>
                <a:latin typeface="Hiragino Sans GB"/>
                <a:ea typeface="Hiragino Sans GB"/>
                <a:cs typeface="Hiragino Sans GB"/>
              </a:defRPr>
            </a:pPr>
            <a:r>
              <a:rPr sz="1050" b="0" dirty="0" err="1">
                <a:solidFill>
                  <a:srgbClr val="101214"/>
                </a:solidFill>
                <a:latin typeface="Hiragino Sans GB"/>
                <a:ea typeface="Hiragino Sans GB"/>
                <a:cs typeface="Hiragino Sans GB"/>
              </a:rPr>
              <a:t>干预证据｜SNR</a:t>
            </a:r>
            <a:r>
              <a:rPr sz="1050" b="0" dirty="0">
                <a:solidFill>
                  <a:srgbClr val="101214"/>
                </a:solidFill>
                <a:latin typeface="Hiragino Sans GB"/>
                <a:ea typeface="Hiragino Sans GB"/>
                <a:cs typeface="Hiragino Sans GB"/>
              </a:rPr>
              <a:t> filtering </a:t>
            </a:r>
            <a:r>
              <a:rPr sz="1050" b="0" dirty="0" err="1">
                <a:solidFill>
                  <a:srgbClr val="101214"/>
                </a:solidFill>
                <a:latin typeface="Hiragino Sans GB"/>
                <a:ea typeface="Hiragino Sans GB"/>
                <a:cs typeface="Hiragino Sans GB"/>
              </a:rPr>
              <a:t>可泛化</a:t>
            </a:r>
            <a:endParaRPr sz="1050" b="0" dirty="0">
              <a:solidFill>
                <a:srgbClr val="101214"/>
              </a:solidFill>
              <a:latin typeface="Hiragino Sans GB"/>
              <a:ea typeface="Hiragino Sans GB"/>
              <a:cs typeface="Hiragino Sans GB"/>
            </a:endParaRPr>
          </a:p>
          <a:p>
            <a:pPr algn="l">
              <a:buNone/>
              <a:defRPr sz="998" b="0">
                <a:solidFill>
                  <a:srgbClr val="101214"/>
                </a:solidFill>
                <a:latin typeface="Hiragino Sans GB"/>
                <a:ea typeface="Hiragino Sans GB"/>
                <a:cs typeface="Hiragino Sans GB"/>
              </a:defRPr>
            </a:pPr>
            <a:r>
              <a:rPr sz="1050" b="0" dirty="0" err="1">
                <a:solidFill>
                  <a:srgbClr val="101214"/>
                </a:solidFill>
                <a:latin typeface="Hiragino Sans GB"/>
                <a:ea typeface="Hiragino Sans GB"/>
                <a:cs typeface="Hiragino Sans GB"/>
              </a:rPr>
              <a:t>收益跨</a:t>
            </a:r>
            <a:r>
              <a:rPr sz="1050" b="0" dirty="0">
                <a:solidFill>
                  <a:srgbClr val="101214"/>
                </a:solidFill>
                <a:latin typeface="Hiragino Sans GB"/>
                <a:ea typeface="Hiragino Sans GB"/>
                <a:cs typeface="Hiragino Sans GB"/>
              </a:rPr>
              <a:t> PPO/DAPO/GRPO/Dr.GRPO、0.5B–7B、Qwen/Llama </a:t>
            </a:r>
            <a:r>
              <a:rPr sz="1050" b="0" dirty="0" err="1">
                <a:solidFill>
                  <a:srgbClr val="101214"/>
                </a:solidFill>
                <a:latin typeface="Hiragino Sans GB"/>
                <a:ea typeface="Hiragino Sans GB"/>
                <a:cs typeface="Hiragino Sans GB"/>
              </a:rPr>
              <a:t>与文本</a:t>
            </a:r>
            <a:r>
              <a:rPr sz="1050" b="0" dirty="0">
                <a:solidFill>
                  <a:srgbClr val="101214"/>
                </a:solidFill>
                <a:latin typeface="Hiragino Sans GB"/>
                <a:ea typeface="Hiragino Sans GB"/>
                <a:cs typeface="Hiragino Sans GB"/>
              </a:rPr>
              <a:t>/</a:t>
            </a:r>
            <a:r>
              <a:rPr sz="1050" b="0" dirty="0" err="1">
                <a:solidFill>
                  <a:srgbClr val="101214"/>
                </a:solidFill>
                <a:latin typeface="Hiragino Sans GB"/>
                <a:ea typeface="Hiragino Sans GB"/>
                <a:cs typeface="Hiragino Sans GB"/>
              </a:rPr>
              <a:t>图像环境，指向通用的</a:t>
            </a:r>
            <a:r>
              <a:rPr sz="1050" b="0" dirty="0">
                <a:solidFill>
                  <a:srgbClr val="101214"/>
                </a:solidFill>
                <a:latin typeface="Hiragino Sans GB"/>
                <a:ea typeface="Hiragino Sans GB"/>
                <a:cs typeface="Hiragino Sans GB"/>
              </a:rPr>
              <a:t> task-gradient SNR </a:t>
            </a:r>
            <a:r>
              <a:rPr sz="1050" b="0" dirty="0" err="1">
                <a:solidFill>
                  <a:srgbClr val="101214"/>
                </a:solidFill>
                <a:latin typeface="Hiragino Sans GB"/>
                <a:ea typeface="Hiragino Sans GB"/>
                <a:cs typeface="Hiragino Sans GB"/>
              </a:rPr>
              <a:t>机制</a:t>
            </a:r>
            <a:r>
              <a:rPr sz="1050" b="0" dirty="0">
                <a:solidFill>
                  <a:srgbClr val="101214"/>
                </a:solidFill>
                <a:latin typeface="Hiragino Sans GB"/>
                <a:ea typeface="Hiragino Sans GB"/>
                <a:cs typeface="Hiragino Sans GB"/>
              </a:rPr>
              <a:t>。</a:t>
            </a:r>
          </a:p>
          <a:p>
            <a:pPr algn="l">
              <a:buNone/>
              <a:defRPr sz="998" b="0">
                <a:solidFill>
                  <a:srgbClr val="101214"/>
                </a:solidFill>
                <a:latin typeface="Hiragino Sans GB"/>
                <a:ea typeface="Hiragino Sans GB"/>
                <a:cs typeface="Hiragino Sans GB"/>
              </a:defRPr>
            </a:pPr>
            <a:r>
              <a:rPr sz="1050" b="0" dirty="0" err="1">
                <a:solidFill>
                  <a:srgbClr val="101214"/>
                </a:solidFill>
                <a:latin typeface="Hiragino Sans GB"/>
                <a:ea typeface="Hiragino Sans GB"/>
                <a:cs typeface="Hiragino Sans GB"/>
              </a:rPr>
              <a:t>分工与边界：MI</a:t>
            </a:r>
            <a:r>
              <a:rPr sz="1050" b="0" dirty="0">
                <a:solidFill>
                  <a:srgbClr val="101214"/>
                </a:solidFill>
                <a:latin typeface="Hiragino Sans GB"/>
                <a:ea typeface="Hiragino Sans GB"/>
                <a:cs typeface="Hiragino Sans GB"/>
              </a:rPr>
              <a:t> proxy </a:t>
            </a:r>
            <a:r>
              <a:rPr sz="1050" b="0" dirty="0" err="1">
                <a:solidFill>
                  <a:srgbClr val="101214"/>
                </a:solidFill>
                <a:latin typeface="Hiragino Sans GB"/>
                <a:ea typeface="Hiragino Sans GB"/>
                <a:cs typeface="Hiragino Sans GB"/>
              </a:rPr>
              <a:t>用于监控，RV</a:t>
            </a:r>
            <a:r>
              <a:rPr sz="1050" b="0" dirty="0">
                <a:solidFill>
                  <a:srgbClr val="101214"/>
                </a:solidFill>
                <a:latin typeface="Hiragino Sans GB"/>
                <a:ea typeface="Hiragino Sans GB"/>
                <a:cs typeface="Hiragino Sans GB"/>
              </a:rPr>
              <a:t> filtering </a:t>
            </a:r>
            <a:r>
              <a:rPr sz="1050" b="0" dirty="0" err="1">
                <a:solidFill>
                  <a:srgbClr val="101214"/>
                </a:solidFill>
                <a:latin typeface="Hiragino Sans GB"/>
                <a:ea typeface="Hiragino Sans GB"/>
                <a:cs typeface="Hiragino Sans GB"/>
              </a:rPr>
              <a:t>用于干预；Top-p</a:t>
            </a:r>
            <a:r>
              <a:rPr sz="1050" b="0" dirty="0">
                <a:solidFill>
                  <a:srgbClr val="101214"/>
                </a:solidFill>
                <a:latin typeface="Hiragino Sans GB"/>
                <a:ea typeface="Hiragino Sans GB"/>
                <a:cs typeface="Hiragino Sans GB"/>
              </a:rPr>
              <a:t> </a:t>
            </a:r>
            <a:r>
              <a:rPr sz="1050" b="0" dirty="0" err="1">
                <a:solidFill>
                  <a:srgbClr val="101214"/>
                </a:solidFill>
                <a:latin typeface="Hiragino Sans GB"/>
                <a:ea typeface="Hiragino Sans GB"/>
                <a:cs typeface="Hiragino Sans GB"/>
              </a:rPr>
              <a:t>自适应保留高信号</a:t>
            </a:r>
            <a:r>
              <a:rPr sz="1050" b="0" dirty="0">
                <a:solidFill>
                  <a:srgbClr val="101214"/>
                </a:solidFill>
                <a:latin typeface="Hiragino Sans GB"/>
                <a:ea typeface="Hiragino Sans GB"/>
                <a:cs typeface="Hiragino Sans GB"/>
              </a:rPr>
              <a:t> </a:t>
            </a:r>
            <a:r>
              <a:rPr sz="1050" b="0" dirty="0" err="1">
                <a:solidFill>
                  <a:srgbClr val="101214"/>
                </a:solidFill>
                <a:latin typeface="Hiragino Sans GB"/>
                <a:ea typeface="Hiragino Sans GB"/>
                <a:cs typeface="Hiragino Sans GB"/>
              </a:rPr>
              <a:t>prompt，但高随机环境会让</a:t>
            </a:r>
            <a:r>
              <a:rPr sz="1050" b="0" dirty="0">
                <a:solidFill>
                  <a:srgbClr val="101214"/>
                </a:solidFill>
                <a:latin typeface="Hiragino Sans GB"/>
                <a:ea typeface="Hiragino Sans GB"/>
                <a:cs typeface="Hiragino Sans GB"/>
              </a:rPr>
              <a:t> RV </a:t>
            </a:r>
            <a:r>
              <a:rPr sz="1050" b="0" dirty="0" err="1">
                <a:solidFill>
                  <a:srgbClr val="101214"/>
                </a:solidFill>
                <a:latin typeface="Hiragino Sans GB"/>
                <a:ea typeface="Hiragino Sans GB"/>
                <a:cs typeface="Hiragino Sans GB"/>
              </a:rPr>
              <a:t>混入噪声</a:t>
            </a:r>
            <a:r>
              <a:rPr sz="1050" b="0" dirty="0">
                <a:solidFill>
                  <a:srgbClr val="101214"/>
                </a:solidFill>
                <a:latin typeface="Hiragino Sans GB"/>
                <a:ea typeface="Hiragino Sans GB"/>
                <a:cs typeface="Hiragino Sans GB"/>
              </a:rPr>
              <a:t>。</a:t>
            </a:r>
          </a:p>
        </p:txBody>
      </p:sp>
      <p:sp>
        <p:nvSpPr>
          <p:cNvPr id="14" name="直线连接符 13">
            <a:extLst>
              <a:ext uri="{FF2B5EF4-FFF2-40B4-BE49-F238E27FC236}">
                <a16:creationId xmlns:a16="http://schemas.microsoft.com/office/drawing/2014/main" id="{43E2D12E-82CE-494C-8418-A52B32A97916}"/>
              </a:ext>
            </a:extLst>
          </p:cNvPr>
          <p:cNvSpPr>
            <a:spLocks noGrp="1"/>
          </p:cNvSpPr>
          <p:nvPr/>
        </p:nvSpPr>
        <p:spPr>
          <a:xfrm>
            <a:off x="419100" y="6286500"/>
            <a:ext cx="11353800" cy="0"/>
          </a:xfrm>
          <a:prstGeom prst="line">
            <a:avLst/>
          </a:prstGeom>
          <a:noFill/>
          <a:ln w="9525">
            <a:solidFill>
              <a:srgbClr val="B8BCC4"/>
            </a:solidFill>
            <a:prstDash val="solid"/>
          </a:ln>
        </p:spPr>
      </p:sp>
      <p:sp>
        <p:nvSpPr>
          <p:cNvPr id="15" name="矩形 14">
            <a:extLst>
              <a:ext uri="{FF2B5EF4-FFF2-40B4-BE49-F238E27FC236}">
                <a16:creationId xmlns:a16="http://schemas.microsoft.com/office/drawing/2014/main" id="{3218787C-0698-4376-879A-9DA057FCDB22}"/>
              </a:ext>
            </a:extLst>
          </p:cNvPr>
          <p:cNvSpPr>
            <a:spLocks noGrp="1"/>
          </p:cNvSpPr>
          <p:nvPr/>
        </p:nvSpPr>
        <p:spPr>
          <a:xfrm>
            <a:off x="419100" y="6362700"/>
            <a:ext cx="10763250" cy="219075"/>
          </a:xfrm>
          <a:prstGeom prst="rect">
            <a:avLst/>
          </a:prstGeom>
          <a:noFill/>
          <a:ln w="0">
            <a:noFill/>
            <a:prstDash val="solid"/>
          </a:ln>
        </p:spPr>
        <p:txBody>
          <a:bodyPr wrap="square" lIns="0" tIns="0" rIns="0" bIns="0" anchor="t">
            <a:noAutofit/>
          </a:bodyPr>
          <a:lstStyle/>
          <a:p>
            <a:pPr algn="l">
              <a:buNone/>
              <a:defRPr sz="788" b="0">
                <a:solidFill>
                  <a:srgbClr val="5E6470"/>
                </a:solidFill>
                <a:latin typeface="Helvetica Neue"/>
                <a:ea typeface="Helvetica Neue"/>
                <a:cs typeface="Helvetica Neue"/>
              </a:defRPr>
            </a:pPr>
            <a:r>
              <a:rPr sz="788" b="0">
                <a:solidFill>
                  <a:srgbClr val="5E6470"/>
                </a:solidFill>
                <a:latin typeface="Helvetica Neue"/>
                <a:ea typeface="Helvetica Neue"/>
                <a:cs typeface="Helvetica Neue"/>
              </a:rPr>
              <a:t>RAGEN-2, arXiv:2604.06268, Figure 7 / Table 4</a:t>
            </a:r>
          </a:p>
        </p:txBody>
      </p:sp>
      <p:sp>
        <p:nvSpPr>
          <p:cNvPr id="16" name="矩形 15">
            <a:extLst>
              <a:ext uri="{FF2B5EF4-FFF2-40B4-BE49-F238E27FC236}">
                <a16:creationId xmlns:a16="http://schemas.microsoft.com/office/drawing/2014/main" id="{BA57E205-E4DB-4A97-A06F-691E63CBDDBC}"/>
              </a:ext>
            </a:extLst>
          </p:cNvPr>
          <p:cNvSpPr>
            <a:spLocks noGrp="1"/>
          </p:cNvSpPr>
          <p:nvPr/>
        </p:nvSpPr>
        <p:spPr>
          <a:xfrm>
            <a:off x="11334750" y="6362700"/>
            <a:ext cx="438150" cy="219075"/>
          </a:xfrm>
          <a:prstGeom prst="rect">
            <a:avLst/>
          </a:prstGeom>
          <a:noFill/>
          <a:ln w="0">
            <a:noFill/>
            <a:prstDash val="solid"/>
          </a:ln>
        </p:spPr>
        <p:txBody>
          <a:bodyPr wrap="square" lIns="0" tIns="0" rIns="0" bIns="0" anchor="t">
            <a:noAutofit/>
          </a:bodyPr>
          <a:lstStyle/>
          <a:p>
            <a:pPr algn="r">
              <a:buNone/>
              <a:defRPr sz="825" b="0">
                <a:solidFill>
                  <a:srgbClr val="5E6470"/>
                </a:solidFill>
                <a:latin typeface="Helvetica Neue"/>
                <a:ea typeface="Helvetica Neue"/>
                <a:cs typeface="Helvetica Neue"/>
              </a:defRPr>
            </a:pPr>
            <a:r>
              <a:rPr sz="825" b="0">
                <a:solidFill>
                  <a:srgbClr val="5E6470"/>
                </a:solidFill>
                <a:latin typeface="Helvetica Neue"/>
                <a:ea typeface="Helvetica Neue"/>
                <a:cs typeface="Helvetica Neue"/>
              </a:rPr>
              <a:t>20</a:t>
            </a:r>
          </a:p>
        </p:txBody>
      </p:sp>
      <p:pic>
        <p:nvPicPr>
          <p:cNvPr id="34" name="图片 35"/>
          <p:cNvPicPr>
            <a:picLocks noChangeAspect="1"/>
          </p:cNvPicPr>
          <p:nvPr/>
        </p:nvPicPr>
        <p:blipFill>
          <a:blip r:embed="rId3"/>
          <a:stretch/>
        </p:blipFill>
        <p:spPr>
          <a:xfrm>
            <a:off x="568416" y="2019819"/>
            <a:ext cx="5092518" cy="1942062"/>
          </a:xfrm>
          <a:prstGeom prst="roundRect">
            <a:avLst/>
          </a:prstGeom>
        </p:spPr>
      </p:pic>
      <p:pic>
        <p:nvPicPr>
          <p:cNvPr id="35" name="图片 36"/>
          <p:cNvPicPr>
            <a:picLocks noChangeAspect="1"/>
          </p:cNvPicPr>
          <p:nvPr/>
        </p:nvPicPr>
        <p:blipFill>
          <a:blip r:embed="rId4"/>
          <a:stretch/>
        </p:blipFill>
        <p:spPr>
          <a:xfrm>
            <a:off x="6720656" y="1752600"/>
            <a:ext cx="4713339" cy="2476500"/>
          </a:xfrm>
          <a:prstGeom prst="roundRect">
            <a:avLst/>
          </a:prstGeom>
        </p:spPr>
      </p:pic>
    </p:spTree>
    <p:extLst>
      <p:ext uri="{BB962C8B-B14F-4D97-AF65-F5344CB8AC3E}">
        <p14:creationId xmlns:p14="http://schemas.microsoft.com/office/powerpoint/2010/main" val="21435659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09B04460-BEC2-F791-E8B5-1A56DD0E4DF0}"/>
              </a:ext>
            </a:extLst>
          </p:cNvPr>
          <p:cNvSpPr>
            <a:spLocks noGrp="1"/>
          </p:cNvSpPr>
          <p:nvPr/>
        </p:nvSpPr>
        <p:spPr>
          <a:xfrm>
            <a:off x="419100" y="1846305"/>
            <a:ext cx="10726695" cy="1809750"/>
          </a:xfrm>
          <a:prstGeom prst="rect">
            <a:avLst/>
          </a:prstGeom>
          <a:noFill/>
          <a:ln w="0">
            <a:noFill/>
            <a:prstDash val="solid"/>
          </a:ln>
        </p:spPr>
        <p:txBody>
          <a:bodyPr wrap="square" lIns="0" tIns="0" rIns="0" bIns="0" anchor="b">
            <a:noAutofit/>
          </a:bodyPr>
          <a:lstStyle/>
          <a:p>
            <a:pPr algn="l">
              <a:buNone/>
              <a:defRPr sz="4350" b="1">
                <a:solidFill>
                  <a:srgbClr val="101214"/>
                </a:solidFill>
                <a:latin typeface="Hiragino Sans GB"/>
                <a:ea typeface="Hiragino Sans GB"/>
                <a:cs typeface="Hiragino Sans GB"/>
              </a:defRPr>
            </a:pPr>
            <a:endParaRPr/>
          </a:p>
        </p:txBody>
      </p:sp>
      <p:sp>
        <p:nvSpPr>
          <p:cNvPr id="5" name="文本框 4">
            <a:extLst>
              <a:ext uri="{FF2B5EF4-FFF2-40B4-BE49-F238E27FC236}">
                <a16:creationId xmlns:a16="http://schemas.microsoft.com/office/drawing/2014/main" id="{3E5F628E-39A2-06E0-3976-84725ED03AD1}"/>
              </a:ext>
            </a:extLst>
          </p:cNvPr>
          <p:cNvSpPr>
            <a:spLocks noGrp="1"/>
          </p:cNvSpPr>
          <p:nvPr/>
        </p:nvSpPr>
        <p:spPr>
          <a:xfrm>
            <a:off x="128337" y="2371908"/>
            <a:ext cx="11935326" cy="1446550"/>
          </a:xfrm>
          <a:prstGeom prst="rect">
            <a:avLst/>
          </a:prstGeom>
          <a:noFill/>
        </p:spPr>
        <p:txBody>
          <a:bodyPr wrap="square">
            <a:spAutoFit/>
          </a:bodyPr>
          <a:lstStyle/>
          <a:p>
            <a:pPr algn="ctr">
              <a:buNone/>
            </a:pPr>
            <a:r>
              <a:rPr sz="4400" b="1" dirty="0"/>
              <a:t>T²PO</a:t>
            </a:r>
            <a:r>
              <a:rPr lang="zh-CN" altLang="en-US" sz="4400" b="1" dirty="0"/>
              <a:t>：</a:t>
            </a:r>
            <a:r>
              <a:rPr lang="en" altLang="zh-CN" sz="4400" b="1" dirty="0"/>
              <a:t>Uncertainty-Guided Exploration Control for Stable Multi-Turn Agentic Reinforcement Learning</a:t>
            </a:r>
            <a:endParaRPr sz="4400" b="1" dirty="0"/>
          </a:p>
        </p:txBody>
      </p:sp>
      <p:sp>
        <p:nvSpPr>
          <p:cNvPr id="6" name="矩形 5">
            <a:extLst>
              <a:ext uri="{FF2B5EF4-FFF2-40B4-BE49-F238E27FC236}">
                <a16:creationId xmlns:a16="http://schemas.microsoft.com/office/drawing/2014/main" id="{3DE99FA2-1243-D7C5-618A-2218CD935318}"/>
              </a:ext>
            </a:extLst>
          </p:cNvPr>
          <p:cNvSpPr>
            <a:spLocks noGrp="1"/>
          </p:cNvSpPr>
          <p:nvPr/>
        </p:nvSpPr>
        <p:spPr>
          <a:xfrm>
            <a:off x="1428750" y="4010208"/>
            <a:ext cx="9334500" cy="342900"/>
          </a:xfrm>
          <a:prstGeom prst="rect">
            <a:avLst/>
          </a:prstGeom>
          <a:noFill/>
          <a:ln w="0">
            <a:noFill/>
            <a:prstDash val="solid"/>
          </a:ln>
        </p:spPr>
        <p:txBody>
          <a:bodyPr wrap="square" lIns="0" tIns="0" rIns="0" bIns="0" anchor="t">
            <a:noAutofit/>
          </a:bodyPr>
          <a:lstStyle/>
          <a:p>
            <a:pPr algn="ctr">
              <a:buNone/>
              <a:defRPr sz="1350" b="0">
                <a:solidFill>
                  <a:srgbClr val="5E6470"/>
                </a:solidFill>
                <a:latin typeface="Helvetica Neue"/>
                <a:ea typeface="Helvetica Neue"/>
                <a:cs typeface="Helvetica Neue"/>
              </a:defRPr>
            </a:pPr>
            <a:r>
              <a:rPr sz="1350" dirty="0">
                <a:solidFill>
                  <a:srgbClr val="5E6470"/>
                </a:solidFill>
                <a:latin typeface="Helvetica Neue"/>
                <a:ea typeface="Helvetica Neue"/>
                <a:cs typeface="Helvetica Neue"/>
              </a:rPr>
              <a:t>ICML</a:t>
            </a:r>
            <a:r>
              <a:rPr lang="zh-CN" altLang="en-US" sz="1350" dirty="0">
                <a:solidFill>
                  <a:srgbClr val="5E6470"/>
                </a:solidFill>
                <a:latin typeface="Helvetica Neue"/>
                <a:ea typeface="Helvetica Neue"/>
                <a:cs typeface="Helvetica Neue"/>
              </a:rPr>
              <a:t>‘</a:t>
            </a:r>
            <a:r>
              <a:rPr sz="1350" dirty="0">
                <a:solidFill>
                  <a:srgbClr val="5E6470"/>
                </a:solidFill>
                <a:latin typeface="Helvetica Neue"/>
                <a:ea typeface="Helvetica Neue"/>
                <a:cs typeface="Helvetica Neue"/>
              </a:rPr>
              <a:t>26 Spotligh</a:t>
            </a:r>
            <a:r>
              <a:rPr lang="en-US" altLang="zh-CN" sz="1350" dirty="0">
                <a:solidFill>
                  <a:srgbClr val="5E6470"/>
                </a:solidFill>
                <a:latin typeface="Helvetica Neue"/>
                <a:ea typeface="Helvetica Neue"/>
                <a:cs typeface="Helvetica Neue"/>
              </a:rPr>
              <a:t>t</a:t>
            </a:r>
            <a:endParaRPr sz="1350" dirty="0">
              <a:solidFill>
                <a:srgbClr val="5E6470"/>
              </a:solidFill>
              <a:latin typeface="Helvetica Neue"/>
              <a:ea typeface="Helvetica Neue"/>
              <a:cs typeface="Helvetica Neue"/>
            </a:endParaRPr>
          </a:p>
        </p:txBody>
      </p:sp>
    </p:spTree>
    <p:extLst>
      <p:ext uri="{BB962C8B-B14F-4D97-AF65-F5344CB8AC3E}">
        <p14:creationId xmlns:p14="http://schemas.microsoft.com/office/powerpoint/2010/main" val="15230968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A69714F4-B6B4-3106-9C43-CD040A2F0519}"/>
              </a:ext>
            </a:extLst>
          </p:cNvPr>
          <p:cNvPicPr>
            <a:picLocks noChangeAspect="1"/>
          </p:cNvPicPr>
          <p:nvPr/>
        </p:nvPicPr>
        <p:blipFill>
          <a:blip r:embed="rId3"/>
          <a:stretch>
            <a:fillRect/>
          </a:stretch>
        </p:blipFill>
        <p:spPr>
          <a:xfrm>
            <a:off x="92765" y="1140998"/>
            <a:ext cx="5724226" cy="4576003"/>
          </a:xfrm>
          <a:prstGeom prst="rect">
            <a:avLst/>
          </a:prstGeom>
        </p:spPr>
      </p:pic>
      <p:cxnSp>
        <p:nvCxnSpPr>
          <p:cNvPr id="4" name="直线连接符 3">
            <a:extLst>
              <a:ext uri="{FF2B5EF4-FFF2-40B4-BE49-F238E27FC236}">
                <a16:creationId xmlns:a16="http://schemas.microsoft.com/office/drawing/2014/main" id="{49B2C4AA-8845-74BB-503E-4CEC15A76D1E}"/>
              </a:ext>
            </a:extLst>
          </p:cNvPr>
          <p:cNvCxnSpPr/>
          <p:nvPr/>
        </p:nvCxnSpPr>
        <p:spPr>
          <a:xfrm>
            <a:off x="5912916" y="0"/>
            <a:ext cx="0" cy="6858000"/>
          </a:xfrm>
          <a:prstGeom prst="line">
            <a:avLst/>
          </a:prstGeom>
        </p:spPr>
        <p:style>
          <a:lnRef idx="1">
            <a:schemeClr val="accent1"/>
          </a:lnRef>
          <a:fillRef idx="0">
            <a:schemeClr val="accent1"/>
          </a:fillRef>
          <a:effectRef idx="0">
            <a:schemeClr val="accent1"/>
          </a:effectRef>
          <a:fontRef idx="minor">
            <a:schemeClr val="tx1"/>
          </a:fontRef>
        </p:style>
      </p:cxnSp>
      <p:pic>
        <p:nvPicPr>
          <p:cNvPr id="5" name="图片 4">
            <a:extLst>
              <a:ext uri="{FF2B5EF4-FFF2-40B4-BE49-F238E27FC236}">
                <a16:creationId xmlns:a16="http://schemas.microsoft.com/office/drawing/2014/main" id="{D26F7A87-4B40-C3DC-ED31-4411D246715B}"/>
              </a:ext>
            </a:extLst>
          </p:cNvPr>
          <p:cNvPicPr>
            <a:picLocks noChangeAspect="1"/>
          </p:cNvPicPr>
          <p:nvPr/>
        </p:nvPicPr>
        <p:blipFill>
          <a:blip r:embed="rId4"/>
          <a:stretch>
            <a:fillRect/>
          </a:stretch>
        </p:blipFill>
        <p:spPr>
          <a:xfrm>
            <a:off x="6279085" y="908752"/>
            <a:ext cx="5658669" cy="5040495"/>
          </a:xfrm>
          <a:prstGeom prst="rect">
            <a:avLst/>
          </a:prstGeom>
        </p:spPr>
      </p:pic>
      <p:sp>
        <p:nvSpPr>
          <p:cNvPr id="6" name="矩形 5">
            <a:extLst>
              <a:ext uri="{FF2B5EF4-FFF2-40B4-BE49-F238E27FC236}">
                <a16:creationId xmlns:a16="http://schemas.microsoft.com/office/drawing/2014/main" id="{EC530FFF-1DF3-B1D5-AD01-1BE407EB874A}"/>
              </a:ext>
            </a:extLst>
          </p:cNvPr>
          <p:cNvSpPr>
            <a:spLocks noGrp="1"/>
          </p:cNvSpPr>
          <p:nvPr/>
        </p:nvSpPr>
        <p:spPr>
          <a:xfrm>
            <a:off x="254246" y="394402"/>
            <a:ext cx="5192395" cy="514350"/>
          </a:xfrm>
          <a:prstGeom prst="rect">
            <a:avLst/>
          </a:prstGeom>
          <a:noFill/>
          <a:ln w="0">
            <a:noFill/>
            <a:prstDash val="solid"/>
          </a:ln>
        </p:spPr>
        <p:txBody>
          <a:bodyPr wrap="square" lIns="0" tIns="0" rIns="0" bIns="0" anchor="t">
            <a:noAutofit/>
          </a:bodyPr>
          <a:lstStyle/>
          <a:p>
            <a:pPr algn="l">
              <a:buNone/>
              <a:defRPr sz="2850" b="1">
                <a:solidFill>
                  <a:srgbClr val="101214"/>
                </a:solidFill>
                <a:latin typeface="Hiragino Sans GB"/>
                <a:ea typeface="Hiragino Sans GB"/>
                <a:cs typeface="Hiragino Sans GB"/>
              </a:defRPr>
            </a:pPr>
            <a:r>
              <a:rPr lang="en-US" altLang="zh-CN" sz="2800" b="1" dirty="0">
                <a:solidFill>
                  <a:srgbClr val="101214"/>
                </a:solidFill>
                <a:latin typeface="Hiragino Sans GB"/>
                <a:ea typeface="Hiragino Sans GB"/>
                <a:cs typeface="Hiragino Sans GB"/>
              </a:rPr>
              <a:t>Entropy</a:t>
            </a:r>
            <a:r>
              <a:rPr lang="zh-CN" altLang="en-US" sz="2800" b="1" dirty="0">
                <a:solidFill>
                  <a:srgbClr val="101214"/>
                </a:solidFill>
                <a:latin typeface="Hiragino Sans GB"/>
                <a:ea typeface="Hiragino Sans GB"/>
                <a:cs typeface="Hiragino Sans GB"/>
              </a:rPr>
              <a:t>和</a:t>
            </a:r>
            <a:r>
              <a:rPr lang="en-US" altLang="zh-CN" sz="2800" b="1" dirty="0">
                <a:solidFill>
                  <a:srgbClr val="101214"/>
                </a:solidFill>
                <a:latin typeface="Hiragino Sans GB"/>
                <a:ea typeface="Hiragino Sans GB"/>
                <a:cs typeface="Hiragino Sans GB"/>
              </a:rPr>
              <a:t>Confidence</a:t>
            </a:r>
            <a:endParaRPr sz="2800" b="1" dirty="0">
              <a:solidFill>
                <a:srgbClr val="101214"/>
              </a:solidFill>
              <a:latin typeface="Hiragino Sans GB"/>
              <a:ea typeface="Hiragino Sans GB"/>
              <a:cs typeface="Hiragino Sans GB"/>
            </a:endParaRPr>
          </a:p>
        </p:txBody>
      </p:sp>
    </p:spTree>
    <p:extLst>
      <p:ext uri="{BB962C8B-B14F-4D97-AF65-F5344CB8AC3E}">
        <p14:creationId xmlns:p14="http://schemas.microsoft.com/office/powerpoint/2010/main" val="11789332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矩形 16">
            <a:extLst>
              <a:ext uri="{FF2B5EF4-FFF2-40B4-BE49-F238E27FC236}">
                <a16:creationId xmlns:a16="http://schemas.microsoft.com/office/drawing/2014/main" id="{C14502FB-89CF-4E26-A7C5-19662F57A2E6}"/>
              </a:ext>
            </a:extLst>
          </p:cNvPr>
          <p:cNvSpPr>
            <a:spLocks noGrp="1"/>
          </p:cNvSpPr>
          <p:nvPr/>
        </p:nvSpPr>
        <p:spPr>
          <a:xfrm>
            <a:off x="419100" y="171450"/>
            <a:ext cx="2952750" cy="228600"/>
          </a:xfrm>
          <a:prstGeom prst="rect">
            <a:avLst/>
          </a:prstGeom>
          <a:noFill/>
          <a:ln w="0">
            <a:noFill/>
            <a:prstDash val="solid"/>
          </a:ln>
        </p:spPr>
        <p:txBody>
          <a:bodyPr wrap="square" lIns="0" tIns="0" rIns="0" bIns="0" anchor="t">
            <a:noAutofit/>
          </a:bodyPr>
          <a:lstStyle/>
          <a:p>
            <a:pPr algn="l">
              <a:buNone/>
              <a:defRPr sz="975" b="1">
                <a:solidFill>
                  <a:srgbClr val="5E6470"/>
                </a:solidFill>
                <a:latin typeface="Helvetica Neue"/>
                <a:ea typeface="Helvetica Neue"/>
                <a:cs typeface="Helvetica Neue"/>
              </a:defRPr>
            </a:pPr>
            <a:r>
              <a:rPr sz="975" b="1">
                <a:solidFill>
                  <a:srgbClr val="5E6470"/>
                </a:solidFill>
                <a:latin typeface="Helvetica Neue"/>
                <a:ea typeface="Helvetica Neue"/>
                <a:cs typeface="Helvetica Neue"/>
              </a:rPr>
              <a:t>II · T²PO</a:t>
            </a:r>
          </a:p>
        </p:txBody>
      </p:sp>
      <p:sp>
        <p:nvSpPr>
          <p:cNvPr id="2" name="矩形 1">
            <a:extLst>
              <a:ext uri="{FF2B5EF4-FFF2-40B4-BE49-F238E27FC236}">
                <a16:creationId xmlns:a16="http://schemas.microsoft.com/office/drawing/2014/main" id="{534B6FBC-C7BC-4D86-AF7E-5F6B6A0F236A}"/>
              </a:ext>
            </a:extLst>
          </p:cNvPr>
          <p:cNvSpPr>
            <a:spLocks noGrp="1"/>
          </p:cNvSpPr>
          <p:nvPr/>
        </p:nvSpPr>
        <p:spPr>
          <a:xfrm>
            <a:off x="419100" y="409575"/>
            <a:ext cx="11353800" cy="514350"/>
          </a:xfrm>
          <a:prstGeom prst="rect">
            <a:avLst/>
          </a:prstGeom>
          <a:noFill/>
          <a:ln w="0">
            <a:noFill/>
            <a:prstDash val="solid"/>
          </a:ln>
        </p:spPr>
        <p:txBody>
          <a:bodyPr wrap="square" lIns="0" tIns="0" rIns="0" bIns="0" anchor="t">
            <a:noAutofit/>
          </a:bodyPr>
          <a:lstStyle/>
          <a:p>
            <a:pPr algn="l">
              <a:buNone/>
              <a:defRPr sz="2850" b="1">
                <a:solidFill>
                  <a:srgbClr val="101214"/>
                </a:solidFill>
                <a:latin typeface="Hiragino Sans GB"/>
                <a:ea typeface="Hiragino Sans GB"/>
                <a:cs typeface="Hiragino Sans GB"/>
              </a:defRPr>
            </a:pPr>
            <a:r>
              <a:rPr sz="2850" b="1">
                <a:solidFill>
                  <a:srgbClr val="101214"/>
                </a:solidFill>
                <a:latin typeface="Hiragino Sans GB"/>
                <a:ea typeface="Hiragino Sans GB"/>
                <a:cs typeface="Hiragino Sans GB"/>
              </a:rPr>
              <a:t>T²PO 用“边际不确定性”识别犹豫</a:t>
            </a:r>
          </a:p>
        </p:txBody>
      </p:sp>
      <p:sp>
        <p:nvSpPr>
          <p:cNvPr id="3" name="圆角矩形 2">
            <a:extLst>
              <a:ext uri="{FF2B5EF4-FFF2-40B4-BE49-F238E27FC236}">
                <a16:creationId xmlns:a16="http://schemas.microsoft.com/office/drawing/2014/main" id="{F4E060A1-6E57-4BE9-ACE9-D4997EC2F275}"/>
              </a:ext>
            </a:extLst>
          </p:cNvPr>
          <p:cNvSpPr>
            <a:spLocks noGrp="1"/>
          </p:cNvSpPr>
          <p:nvPr/>
        </p:nvSpPr>
        <p:spPr>
          <a:xfrm>
            <a:off x="419100" y="1285875"/>
            <a:ext cx="4857750" cy="1257300"/>
          </a:xfrm>
          <a:prstGeom prst="roundRect">
            <a:avLst>
              <a:gd name="adj" fmla="val 6061"/>
            </a:avLst>
          </a:prstGeom>
          <a:solidFill>
            <a:srgbClr val="F1F2F4"/>
          </a:solidFill>
          <a:ln w="0">
            <a:noFill/>
            <a:prstDash val="solid"/>
          </a:ln>
        </p:spPr>
      </p:sp>
      <p:sp>
        <p:nvSpPr>
          <p:cNvPr id="4" name="矩形 3">
            <a:extLst>
              <a:ext uri="{FF2B5EF4-FFF2-40B4-BE49-F238E27FC236}">
                <a16:creationId xmlns:a16="http://schemas.microsoft.com/office/drawing/2014/main" id="{69011F61-2808-450B-B1BA-F870EE4C23A6}"/>
              </a:ext>
            </a:extLst>
          </p:cNvPr>
          <p:cNvSpPr>
            <a:spLocks noGrp="1"/>
          </p:cNvSpPr>
          <p:nvPr/>
        </p:nvSpPr>
        <p:spPr>
          <a:xfrm>
            <a:off x="666750" y="1504950"/>
            <a:ext cx="4381500" cy="323850"/>
          </a:xfrm>
          <a:prstGeom prst="rect">
            <a:avLst/>
          </a:prstGeom>
          <a:noFill/>
          <a:ln w="0">
            <a:noFill/>
            <a:prstDash val="solid"/>
          </a:ln>
        </p:spPr>
        <p:txBody>
          <a:bodyPr wrap="square" lIns="0" tIns="0" rIns="0" bIns="0" anchor="t">
            <a:noAutofit/>
          </a:bodyPr>
          <a:lstStyle/>
          <a:p>
            <a:pPr algn="ctr">
              <a:buNone/>
              <a:defRPr sz="1725" b="1">
                <a:solidFill>
                  <a:srgbClr val="7257D5"/>
                </a:solidFill>
                <a:latin typeface="Cambria Math"/>
                <a:ea typeface="Cambria Math"/>
                <a:cs typeface="Cambria Math"/>
              </a:defRPr>
            </a:pPr>
            <a:r>
              <a:rPr sz="1725" b="1">
                <a:solidFill>
                  <a:srgbClr val="7257D5"/>
                </a:solidFill>
                <a:latin typeface="Cambria Math"/>
                <a:ea typeface="Cambria Math"/>
                <a:cs typeface="Cambria Math"/>
              </a:rPr>
              <a:t>Mₜ = α·H̃ₜ + (1−α)·(1−C̃ₜ)</a:t>
            </a:r>
          </a:p>
        </p:txBody>
      </p:sp>
      <p:sp>
        <p:nvSpPr>
          <p:cNvPr id="5" name="矩形 4">
            <a:extLst>
              <a:ext uri="{FF2B5EF4-FFF2-40B4-BE49-F238E27FC236}">
                <a16:creationId xmlns:a16="http://schemas.microsoft.com/office/drawing/2014/main" id="{BBF2F97D-EA5B-464E-9D3C-AA9554F76425}"/>
              </a:ext>
            </a:extLst>
          </p:cNvPr>
          <p:cNvSpPr>
            <a:spLocks noGrp="1"/>
          </p:cNvSpPr>
          <p:nvPr/>
        </p:nvSpPr>
        <p:spPr>
          <a:xfrm>
            <a:off x="714375" y="2000250"/>
            <a:ext cx="4286250" cy="381000"/>
          </a:xfrm>
          <a:prstGeom prst="rect">
            <a:avLst/>
          </a:prstGeom>
          <a:noFill/>
          <a:ln w="0">
            <a:noFill/>
            <a:prstDash val="solid"/>
          </a:ln>
        </p:spPr>
        <p:txBody>
          <a:bodyPr wrap="square" lIns="0" tIns="0" rIns="0" bIns="0" anchor="t">
            <a:noAutofit/>
          </a:bodyPr>
          <a:lstStyle/>
          <a:p>
            <a:pPr algn="ctr">
              <a:buNone/>
              <a:defRPr sz="1238" b="0">
                <a:solidFill>
                  <a:srgbClr val="5E6470"/>
                </a:solidFill>
                <a:latin typeface="Hiragino Sans GB"/>
                <a:ea typeface="Hiragino Sans GB"/>
                <a:cs typeface="Hiragino Sans GB"/>
              </a:defRPr>
            </a:pPr>
            <a:r>
              <a:rPr sz="1238" b="0">
                <a:solidFill>
                  <a:srgbClr val="5E6470"/>
                </a:solidFill>
                <a:latin typeface="Hiragino Sans GB"/>
                <a:ea typeface="Hiragino Sans GB"/>
                <a:cs typeface="Hiragino Sans GB"/>
              </a:rPr>
              <a:t>融合 entropy 对 tail mass 的敏感性，与 top-token confidence 的敏感性。</a:t>
            </a:r>
          </a:p>
        </p:txBody>
      </p:sp>
      <p:sp>
        <p:nvSpPr>
          <p:cNvPr id="6" name="圆角矩形 5">
            <a:extLst>
              <a:ext uri="{FF2B5EF4-FFF2-40B4-BE49-F238E27FC236}">
                <a16:creationId xmlns:a16="http://schemas.microsoft.com/office/drawing/2014/main" id="{F9FD2241-B2BC-470B-9265-490E4E4A68DD}"/>
              </a:ext>
            </a:extLst>
          </p:cNvPr>
          <p:cNvSpPr>
            <a:spLocks noGrp="1"/>
          </p:cNvSpPr>
          <p:nvPr/>
        </p:nvSpPr>
        <p:spPr>
          <a:xfrm>
            <a:off x="5476875" y="1285875"/>
            <a:ext cx="6296025" cy="1257300"/>
          </a:xfrm>
          <a:prstGeom prst="roundRect">
            <a:avLst>
              <a:gd name="adj" fmla="val 6061"/>
            </a:avLst>
          </a:prstGeom>
          <a:solidFill>
            <a:srgbClr val="EAF5FB"/>
          </a:solidFill>
          <a:ln w="0">
            <a:noFill/>
            <a:prstDash val="solid"/>
          </a:ln>
        </p:spPr>
      </p:sp>
      <p:sp>
        <p:nvSpPr>
          <p:cNvPr id="7" name="矩形 6">
            <a:extLst>
              <a:ext uri="{FF2B5EF4-FFF2-40B4-BE49-F238E27FC236}">
                <a16:creationId xmlns:a16="http://schemas.microsoft.com/office/drawing/2014/main" id="{F4306BE2-092E-4C10-86AA-41358BE544CC}"/>
              </a:ext>
            </a:extLst>
          </p:cNvPr>
          <p:cNvSpPr>
            <a:spLocks noGrp="1"/>
          </p:cNvSpPr>
          <p:nvPr/>
        </p:nvSpPr>
        <p:spPr>
          <a:xfrm>
            <a:off x="5715000" y="1466850"/>
            <a:ext cx="2190750" cy="285750"/>
          </a:xfrm>
          <a:prstGeom prst="rect">
            <a:avLst/>
          </a:prstGeom>
          <a:noFill/>
          <a:ln w="0">
            <a:noFill/>
            <a:prstDash val="solid"/>
          </a:ln>
        </p:spPr>
        <p:txBody>
          <a:bodyPr wrap="square" lIns="0" tIns="0" rIns="0" bIns="0" anchor="t">
            <a:noAutofit/>
          </a:bodyPr>
          <a:lstStyle/>
          <a:p>
            <a:pPr algn="l">
              <a:buNone/>
              <a:defRPr sz="1650" b="1">
                <a:solidFill>
                  <a:srgbClr val="101214"/>
                </a:solidFill>
                <a:latin typeface="Helvetica Neue"/>
                <a:ea typeface="Helvetica Neue"/>
                <a:cs typeface="Helvetica Neue"/>
              </a:defRPr>
            </a:pPr>
            <a:r>
              <a:rPr sz="1650" b="1">
                <a:solidFill>
                  <a:srgbClr val="101214"/>
                </a:solidFill>
                <a:latin typeface="Helvetica Neue"/>
                <a:ea typeface="Helvetica Neue"/>
                <a:cs typeface="Helvetica Neue"/>
              </a:rPr>
              <a:t>Token hesitation</a:t>
            </a:r>
          </a:p>
        </p:txBody>
      </p:sp>
      <p:sp>
        <p:nvSpPr>
          <p:cNvPr id="8" name="矩形 7">
            <a:extLst>
              <a:ext uri="{FF2B5EF4-FFF2-40B4-BE49-F238E27FC236}">
                <a16:creationId xmlns:a16="http://schemas.microsoft.com/office/drawing/2014/main" id="{64A79F35-1952-4FBD-A0DE-E52E858D97D6}"/>
              </a:ext>
            </a:extLst>
          </p:cNvPr>
          <p:cNvSpPr>
            <a:spLocks noGrp="1"/>
          </p:cNvSpPr>
          <p:nvPr/>
        </p:nvSpPr>
        <p:spPr>
          <a:xfrm>
            <a:off x="8001000" y="1466850"/>
            <a:ext cx="3429000" cy="304800"/>
          </a:xfrm>
          <a:prstGeom prst="rect">
            <a:avLst/>
          </a:prstGeom>
          <a:noFill/>
          <a:ln w="0">
            <a:noFill/>
            <a:prstDash val="solid"/>
          </a:ln>
        </p:spPr>
        <p:txBody>
          <a:bodyPr wrap="square" lIns="0" tIns="0" rIns="0" bIns="0" anchor="t">
            <a:noAutofit/>
          </a:bodyPr>
          <a:lstStyle/>
          <a:p>
            <a:pPr algn="l">
              <a:buNone/>
              <a:defRPr sz="1575" b="1">
                <a:solidFill>
                  <a:srgbClr val="2787F5"/>
                </a:solidFill>
                <a:latin typeface="Cambria Math"/>
                <a:ea typeface="Cambria Math"/>
                <a:cs typeface="Cambria Math"/>
              </a:defRPr>
            </a:pPr>
            <a:r>
              <a:rPr sz="1575" b="1">
                <a:solidFill>
                  <a:srgbClr val="2787F5"/>
                </a:solidFill>
                <a:latin typeface="Cambria Math"/>
                <a:ea typeface="Cambria Math"/>
                <a:cs typeface="Cambria Math"/>
              </a:rPr>
              <a:t>window-mean |ΔMₜ| &lt; ε</a:t>
            </a:r>
          </a:p>
        </p:txBody>
      </p:sp>
      <p:sp>
        <p:nvSpPr>
          <p:cNvPr id="9" name="矩形 8">
            <a:extLst>
              <a:ext uri="{FF2B5EF4-FFF2-40B4-BE49-F238E27FC236}">
                <a16:creationId xmlns:a16="http://schemas.microsoft.com/office/drawing/2014/main" id="{353B2314-F78B-4966-8BE8-5C0013DB62CA}"/>
              </a:ext>
            </a:extLst>
          </p:cNvPr>
          <p:cNvSpPr>
            <a:spLocks noGrp="1"/>
          </p:cNvSpPr>
          <p:nvPr/>
        </p:nvSpPr>
        <p:spPr>
          <a:xfrm>
            <a:off x="5715000" y="1943100"/>
            <a:ext cx="5715000" cy="438150"/>
          </a:xfrm>
          <a:prstGeom prst="rect">
            <a:avLst/>
          </a:prstGeom>
          <a:noFill/>
          <a:ln w="0">
            <a:noFill/>
            <a:prstDash val="solid"/>
          </a:ln>
        </p:spPr>
        <p:txBody>
          <a:bodyPr wrap="square" lIns="0" tIns="0" rIns="0" bIns="0" anchor="t">
            <a:noAutofit/>
          </a:bodyPr>
          <a:lstStyle/>
          <a:p>
            <a:pPr algn="l">
              <a:buNone/>
              <a:defRPr sz="1238" b="0">
                <a:solidFill>
                  <a:srgbClr val="101214"/>
                </a:solidFill>
                <a:latin typeface="Hiragino Sans GB"/>
                <a:ea typeface="Hiragino Sans GB"/>
                <a:cs typeface="Hiragino Sans GB"/>
              </a:defRPr>
            </a:pPr>
            <a:r>
              <a:rPr sz="1238" b="0">
                <a:solidFill>
                  <a:srgbClr val="101214"/>
                </a:solidFill>
                <a:latin typeface="Hiragino Sans GB"/>
                <a:ea typeface="Hiragino Sans GB"/>
                <a:cs typeface="Hiragino Sans GB"/>
              </a:rPr>
              <a:t>predictive distribution 长期不再变化 → 强制 &lt;/think&gt;，转入 action。检测的是 Δ uncertainty，而不是绝对 entropy。</a:t>
            </a:r>
          </a:p>
        </p:txBody>
      </p:sp>
      <p:sp>
        <p:nvSpPr>
          <p:cNvPr id="10" name="圆角矩形 9">
            <a:extLst>
              <a:ext uri="{FF2B5EF4-FFF2-40B4-BE49-F238E27FC236}">
                <a16:creationId xmlns:a16="http://schemas.microsoft.com/office/drawing/2014/main" id="{865C06D7-E962-4FF6-8469-7E0150EA8BE4}"/>
              </a:ext>
            </a:extLst>
          </p:cNvPr>
          <p:cNvSpPr>
            <a:spLocks noGrp="1"/>
          </p:cNvSpPr>
          <p:nvPr/>
        </p:nvSpPr>
        <p:spPr>
          <a:xfrm>
            <a:off x="419100" y="2838450"/>
            <a:ext cx="11353800" cy="2619375"/>
          </a:xfrm>
          <a:prstGeom prst="roundRect">
            <a:avLst>
              <a:gd name="adj" fmla="val 2909"/>
            </a:avLst>
          </a:prstGeom>
          <a:solidFill>
            <a:srgbClr val="F1F2F4"/>
          </a:solidFill>
          <a:ln w="9525">
            <a:solidFill>
              <a:srgbClr val="B8BCC4"/>
            </a:solidFill>
            <a:prstDash val="solid"/>
          </a:ln>
        </p:spPr>
      </p:sp>
      <p:sp>
        <p:nvSpPr>
          <p:cNvPr id="14" name="直线连接符 13">
            <a:extLst>
              <a:ext uri="{FF2B5EF4-FFF2-40B4-BE49-F238E27FC236}">
                <a16:creationId xmlns:a16="http://schemas.microsoft.com/office/drawing/2014/main" id="{E55F7556-5F43-4F5F-A68E-F4ED8D782A04}"/>
              </a:ext>
            </a:extLst>
          </p:cNvPr>
          <p:cNvSpPr>
            <a:spLocks noGrp="1"/>
          </p:cNvSpPr>
          <p:nvPr/>
        </p:nvSpPr>
        <p:spPr>
          <a:xfrm>
            <a:off x="419100" y="6286500"/>
            <a:ext cx="11353800" cy="0"/>
          </a:xfrm>
          <a:prstGeom prst="line">
            <a:avLst/>
          </a:prstGeom>
          <a:noFill/>
          <a:ln w="9525">
            <a:solidFill>
              <a:srgbClr val="B8BCC4"/>
            </a:solidFill>
            <a:prstDash val="solid"/>
          </a:ln>
        </p:spPr>
      </p:sp>
      <p:sp>
        <p:nvSpPr>
          <p:cNvPr id="15" name="矩形 14">
            <a:extLst>
              <a:ext uri="{FF2B5EF4-FFF2-40B4-BE49-F238E27FC236}">
                <a16:creationId xmlns:a16="http://schemas.microsoft.com/office/drawing/2014/main" id="{5F4DAFFC-51FC-46F4-B495-276741623A64}"/>
              </a:ext>
            </a:extLst>
          </p:cNvPr>
          <p:cNvSpPr>
            <a:spLocks noGrp="1"/>
          </p:cNvSpPr>
          <p:nvPr/>
        </p:nvSpPr>
        <p:spPr>
          <a:xfrm>
            <a:off x="419100" y="6362700"/>
            <a:ext cx="10763250" cy="219075"/>
          </a:xfrm>
          <a:prstGeom prst="rect">
            <a:avLst/>
          </a:prstGeom>
          <a:noFill/>
          <a:ln w="0">
            <a:noFill/>
            <a:prstDash val="solid"/>
          </a:ln>
        </p:spPr>
        <p:txBody>
          <a:bodyPr wrap="square" lIns="0" tIns="0" rIns="0" bIns="0" anchor="t">
            <a:noAutofit/>
          </a:bodyPr>
          <a:lstStyle/>
          <a:p>
            <a:pPr algn="l">
              <a:buNone/>
              <a:defRPr sz="788" b="0">
                <a:solidFill>
                  <a:srgbClr val="5E6470"/>
                </a:solidFill>
                <a:latin typeface="Helvetica Neue"/>
                <a:ea typeface="Helvetica Neue"/>
                <a:cs typeface="Helvetica Neue"/>
              </a:defRPr>
            </a:pPr>
            <a:r>
              <a:rPr sz="788" b="0">
                <a:solidFill>
                  <a:srgbClr val="5E6470"/>
                </a:solidFill>
                <a:latin typeface="Helvetica Neue"/>
                <a:ea typeface="Helvetica Neue"/>
                <a:cs typeface="Helvetica Neue"/>
              </a:rPr>
              <a:t>Wang et al., T²PO (2026), Eq. 1–6 / Figure 4</a:t>
            </a:r>
          </a:p>
        </p:txBody>
      </p:sp>
      <p:sp>
        <p:nvSpPr>
          <p:cNvPr id="16" name="矩形 15">
            <a:extLst>
              <a:ext uri="{FF2B5EF4-FFF2-40B4-BE49-F238E27FC236}">
                <a16:creationId xmlns:a16="http://schemas.microsoft.com/office/drawing/2014/main" id="{28F3AE1B-ED9B-4C2C-97B8-BBB37EEF8CD9}"/>
              </a:ext>
            </a:extLst>
          </p:cNvPr>
          <p:cNvSpPr>
            <a:spLocks noGrp="1"/>
          </p:cNvSpPr>
          <p:nvPr/>
        </p:nvSpPr>
        <p:spPr>
          <a:xfrm>
            <a:off x="11334750" y="6362700"/>
            <a:ext cx="438150" cy="219075"/>
          </a:xfrm>
          <a:prstGeom prst="rect">
            <a:avLst/>
          </a:prstGeom>
          <a:noFill/>
          <a:ln w="0">
            <a:noFill/>
            <a:prstDash val="solid"/>
          </a:ln>
        </p:spPr>
        <p:txBody>
          <a:bodyPr wrap="square" lIns="0" tIns="0" rIns="0" bIns="0" anchor="t">
            <a:noAutofit/>
          </a:bodyPr>
          <a:lstStyle/>
          <a:p>
            <a:pPr algn="r">
              <a:buNone/>
              <a:defRPr sz="825" b="0">
                <a:solidFill>
                  <a:srgbClr val="5E6470"/>
                </a:solidFill>
                <a:latin typeface="Helvetica Neue"/>
                <a:ea typeface="Helvetica Neue"/>
                <a:cs typeface="Helvetica Neue"/>
              </a:defRPr>
            </a:pPr>
            <a:r>
              <a:rPr sz="825" b="0">
                <a:solidFill>
                  <a:srgbClr val="5E6470"/>
                </a:solidFill>
                <a:latin typeface="Helvetica Neue"/>
                <a:ea typeface="Helvetica Neue"/>
                <a:cs typeface="Helvetica Neue"/>
              </a:rPr>
              <a:t>24</a:t>
            </a:r>
          </a:p>
        </p:txBody>
      </p:sp>
      <p:pic>
        <p:nvPicPr>
          <p:cNvPr id="11" name="图片 10">
            <a:extLst>
              <a:ext uri="{FF2B5EF4-FFF2-40B4-BE49-F238E27FC236}">
                <a16:creationId xmlns:a16="http://schemas.microsoft.com/office/drawing/2014/main" id="{A4DCC8E3-5D06-40F6-5693-34BA32FB0D17}"/>
              </a:ext>
            </a:extLst>
          </p:cNvPr>
          <p:cNvPicPr>
            <a:picLocks noChangeAspect="1"/>
          </p:cNvPicPr>
          <p:nvPr/>
        </p:nvPicPr>
        <p:blipFill>
          <a:blip r:embed="rId3"/>
          <a:stretch>
            <a:fillRect/>
          </a:stretch>
        </p:blipFill>
        <p:spPr>
          <a:xfrm>
            <a:off x="1603720" y="2886200"/>
            <a:ext cx="8984560" cy="2523874"/>
          </a:xfrm>
          <a:prstGeom prst="rect">
            <a:avLst/>
          </a:prstGeom>
        </p:spPr>
      </p:pic>
    </p:spTree>
    <p:extLst>
      <p:ext uri="{BB962C8B-B14F-4D97-AF65-F5344CB8AC3E}">
        <p14:creationId xmlns:p14="http://schemas.microsoft.com/office/powerpoint/2010/main" val="5612648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矩形 16">
            <a:extLst>
              <a:ext uri="{FF2B5EF4-FFF2-40B4-BE49-F238E27FC236}">
                <a16:creationId xmlns:a16="http://schemas.microsoft.com/office/drawing/2014/main" id="{07BF4A5E-A631-4CE0-8B37-C70C3206761B}"/>
              </a:ext>
            </a:extLst>
          </p:cNvPr>
          <p:cNvSpPr>
            <a:spLocks noGrp="1"/>
          </p:cNvSpPr>
          <p:nvPr/>
        </p:nvSpPr>
        <p:spPr>
          <a:xfrm>
            <a:off x="419100" y="171450"/>
            <a:ext cx="2952750" cy="228600"/>
          </a:xfrm>
          <a:prstGeom prst="rect">
            <a:avLst/>
          </a:prstGeom>
          <a:noFill/>
          <a:ln w="0">
            <a:noFill/>
            <a:prstDash val="solid"/>
          </a:ln>
        </p:spPr>
        <p:txBody>
          <a:bodyPr wrap="square" lIns="0" tIns="0" rIns="0" bIns="0" anchor="t">
            <a:noAutofit/>
          </a:bodyPr>
          <a:lstStyle/>
          <a:p>
            <a:pPr algn="l">
              <a:buNone/>
              <a:defRPr sz="975" b="1">
                <a:solidFill>
                  <a:srgbClr val="5E6470"/>
                </a:solidFill>
                <a:latin typeface="Helvetica Neue"/>
                <a:ea typeface="Helvetica Neue"/>
                <a:cs typeface="Helvetica Neue"/>
              </a:defRPr>
            </a:pPr>
            <a:r>
              <a:rPr sz="975" b="1">
                <a:solidFill>
                  <a:srgbClr val="5E6470"/>
                </a:solidFill>
                <a:latin typeface="Helvetica Neue"/>
                <a:ea typeface="Helvetica Neue"/>
                <a:cs typeface="Helvetica Neue"/>
              </a:rPr>
              <a:t>II · T²PO</a:t>
            </a:r>
          </a:p>
        </p:txBody>
      </p:sp>
      <p:sp>
        <p:nvSpPr>
          <p:cNvPr id="2" name="矩形 1">
            <a:extLst>
              <a:ext uri="{FF2B5EF4-FFF2-40B4-BE49-F238E27FC236}">
                <a16:creationId xmlns:a16="http://schemas.microsoft.com/office/drawing/2014/main" id="{94B8F8AC-DFA7-4D5E-9892-5DFAFB77B5BA}"/>
              </a:ext>
            </a:extLst>
          </p:cNvPr>
          <p:cNvSpPr>
            <a:spLocks noGrp="1"/>
          </p:cNvSpPr>
          <p:nvPr/>
        </p:nvSpPr>
        <p:spPr>
          <a:xfrm>
            <a:off x="419100" y="409575"/>
            <a:ext cx="11353800" cy="514350"/>
          </a:xfrm>
          <a:prstGeom prst="rect">
            <a:avLst/>
          </a:prstGeom>
          <a:noFill/>
          <a:ln w="0">
            <a:noFill/>
            <a:prstDash val="solid"/>
          </a:ln>
        </p:spPr>
        <p:txBody>
          <a:bodyPr wrap="square" lIns="0" tIns="0" rIns="0" bIns="0" anchor="t">
            <a:noAutofit/>
          </a:bodyPr>
          <a:lstStyle/>
          <a:p>
            <a:pPr algn="l">
              <a:buNone/>
              <a:defRPr sz="2850" b="1">
                <a:solidFill>
                  <a:srgbClr val="101214"/>
                </a:solidFill>
                <a:latin typeface="Hiragino Sans GB"/>
                <a:ea typeface="Hiragino Sans GB"/>
                <a:cs typeface="Hiragino Sans GB"/>
              </a:defRPr>
            </a:pPr>
            <a:r>
              <a:rPr sz="2850" b="1">
                <a:solidFill>
                  <a:srgbClr val="101214"/>
                </a:solidFill>
                <a:latin typeface="Hiragino Sans GB"/>
                <a:ea typeface="Hiragino Sans GB"/>
                <a:cs typeface="Hiragino Sans GB"/>
              </a:rPr>
              <a:t>T²PO 在 token 与 turn 两层控制探索</a:t>
            </a:r>
          </a:p>
        </p:txBody>
      </p:sp>
      <p:sp>
        <p:nvSpPr>
          <p:cNvPr id="3" name="圆角矩形 2">
            <a:extLst>
              <a:ext uri="{FF2B5EF4-FFF2-40B4-BE49-F238E27FC236}">
                <a16:creationId xmlns:a16="http://schemas.microsoft.com/office/drawing/2014/main" id="{481CA693-1EAC-4ECC-B7A1-F0966EFEC3AC}"/>
              </a:ext>
            </a:extLst>
          </p:cNvPr>
          <p:cNvSpPr>
            <a:spLocks noGrp="1"/>
          </p:cNvSpPr>
          <p:nvPr/>
        </p:nvSpPr>
        <p:spPr>
          <a:xfrm>
            <a:off x="419100" y="1219200"/>
            <a:ext cx="11353800" cy="3667125"/>
          </a:xfrm>
          <a:prstGeom prst="roundRect">
            <a:avLst>
              <a:gd name="adj" fmla="val 2078"/>
            </a:avLst>
          </a:prstGeom>
          <a:solidFill>
            <a:srgbClr val="F1F2F4"/>
          </a:solidFill>
          <a:ln w="9525">
            <a:solidFill>
              <a:srgbClr val="B8BCC4"/>
            </a:solidFill>
            <a:prstDash val="solid"/>
          </a:ln>
        </p:spPr>
      </p:sp>
      <p:pic>
        <p:nvPicPr>
          <p:cNvPr id="22" name="图片 19"/>
          <p:cNvPicPr>
            <a:picLocks noChangeAspect="1"/>
          </p:cNvPicPr>
          <p:nvPr/>
        </p:nvPicPr>
        <p:blipFill>
          <a:blip r:embed="rId3"/>
          <a:stretch/>
        </p:blipFill>
        <p:spPr>
          <a:xfrm>
            <a:off x="810394" y="1276350"/>
            <a:ext cx="10571213" cy="3552825"/>
          </a:xfrm>
          <a:prstGeom prst="roundRect">
            <a:avLst>
              <a:gd name="adj" fmla="val 1609"/>
            </a:avLst>
          </a:prstGeom>
        </p:spPr>
      </p:pic>
      <p:sp>
        <p:nvSpPr>
          <p:cNvPr id="14" name="直线连接符 13">
            <a:extLst>
              <a:ext uri="{FF2B5EF4-FFF2-40B4-BE49-F238E27FC236}">
                <a16:creationId xmlns:a16="http://schemas.microsoft.com/office/drawing/2014/main" id="{AC7C0FEB-2E93-48C6-911D-9F0AFE4ED499}"/>
              </a:ext>
            </a:extLst>
          </p:cNvPr>
          <p:cNvSpPr>
            <a:spLocks noGrp="1"/>
          </p:cNvSpPr>
          <p:nvPr/>
        </p:nvSpPr>
        <p:spPr>
          <a:xfrm>
            <a:off x="419100" y="6286500"/>
            <a:ext cx="11353800" cy="0"/>
          </a:xfrm>
          <a:prstGeom prst="line">
            <a:avLst/>
          </a:prstGeom>
          <a:noFill/>
          <a:ln w="9525">
            <a:solidFill>
              <a:srgbClr val="B8BCC4"/>
            </a:solidFill>
            <a:prstDash val="solid"/>
          </a:ln>
        </p:spPr>
      </p:sp>
      <p:sp>
        <p:nvSpPr>
          <p:cNvPr id="15" name="矩形 14">
            <a:extLst>
              <a:ext uri="{FF2B5EF4-FFF2-40B4-BE49-F238E27FC236}">
                <a16:creationId xmlns:a16="http://schemas.microsoft.com/office/drawing/2014/main" id="{318F4BB0-A44D-4507-89D4-A3D67479136F}"/>
              </a:ext>
            </a:extLst>
          </p:cNvPr>
          <p:cNvSpPr>
            <a:spLocks noGrp="1"/>
          </p:cNvSpPr>
          <p:nvPr/>
        </p:nvSpPr>
        <p:spPr>
          <a:xfrm>
            <a:off x="419100" y="6362700"/>
            <a:ext cx="10763250" cy="219075"/>
          </a:xfrm>
          <a:prstGeom prst="rect">
            <a:avLst/>
          </a:prstGeom>
          <a:noFill/>
          <a:ln w="0">
            <a:noFill/>
            <a:prstDash val="solid"/>
          </a:ln>
        </p:spPr>
        <p:txBody>
          <a:bodyPr wrap="square" lIns="0" tIns="0" rIns="0" bIns="0" anchor="t">
            <a:noAutofit/>
          </a:bodyPr>
          <a:lstStyle/>
          <a:p>
            <a:pPr algn="l">
              <a:buNone/>
              <a:defRPr sz="788" b="0">
                <a:solidFill>
                  <a:srgbClr val="5E6470"/>
                </a:solidFill>
                <a:latin typeface="Helvetica Neue"/>
                <a:ea typeface="Helvetica Neue"/>
                <a:cs typeface="Helvetica Neue"/>
              </a:defRPr>
            </a:pPr>
            <a:r>
              <a:rPr sz="788" b="0">
                <a:solidFill>
                  <a:srgbClr val="5E6470"/>
                </a:solidFill>
                <a:latin typeface="Helvetica Neue"/>
                <a:ea typeface="Helvetica Neue"/>
                <a:cs typeface="Helvetica Neue"/>
              </a:rPr>
              <a:t>Wang et al., T²PO (2026), Figure 2 / Eq. 1–8  ·  Policy update remains discounted-return + GiGPO-style advantage</a:t>
            </a:r>
          </a:p>
        </p:txBody>
      </p:sp>
      <p:sp>
        <p:nvSpPr>
          <p:cNvPr id="16" name="矩形 15">
            <a:extLst>
              <a:ext uri="{FF2B5EF4-FFF2-40B4-BE49-F238E27FC236}">
                <a16:creationId xmlns:a16="http://schemas.microsoft.com/office/drawing/2014/main" id="{BCFCBF91-8316-4179-8BCC-1179ED0F7C22}"/>
              </a:ext>
            </a:extLst>
          </p:cNvPr>
          <p:cNvSpPr>
            <a:spLocks noGrp="1"/>
          </p:cNvSpPr>
          <p:nvPr/>
        </p:nvSpPr>
        <p:spPr>
          <a:xfrm>
            <a:off x="11334750" y="6362700"/>
            <a:ext cx="438150" cy="219075"/>
          </a:xfrm>
          <a:prstGeom prst="rect">
            <a:avLst/>
          </a:prstGeom>
          <a:noFill/>
          <a:ln w="0">
            <a:noFill/>
            <a:prstDash val="solid"/>
          </a:ln>
        </p:spPr>
        <p:txBody>
          <a:bodyPr wrap="square" lIns="0" tIns="0" rIns="0" bIns="0" anchor="t">
            <a:noAutofit/>
          </a:bodyPr>
          <a:lstStyle/>
          <a:p>
            <a:pPr algn="r">
              <a:buNone/>
              <a:defRPr sz="825" b="0">
                <a:solidFill>
                  <a:srgbClr val="5E6470"/>
                </a:solidFill>
                <a:latin typeface="Helvetica Neue"/>
                <a:ea typeface="Helvetica Neue"/>
                <a:cs typeface="Helvetica Neue"/>
              </a:defRPr>
            </a:pPr>
            <a:r>
              <a:rPr sz="825" b="0">
                <a:solidFill>
                  <a:srgbClr val="5E6470"/>
                </a:solidFill>
                <a:latin typeface="Helvetica Neue"/>
                <a:ea typeface="Helvetica Neue"/>
                <a:cs typeface="Helvetica Neue"/>
              </a:rPr>
              <a:t>25</a:t>
            </a:r>
          </a:p>
        </p:txBody>
      </p:sp>
      <p:pic>
        <p:nvPicPr>
          <p:cNvPr id="4" name="图片 3">
            <a:extLst>
              <a:ext uri="{FF2B5EF4-FFF2-40B4-BE49-F238E27FC236}">
                <a16:creationId xmlns:a16="http://schemas.microsoft.com/office/drawing/2014/main" id="{F7F5939F-62E5-B7AB-858A-38ABED263CA9}"/>
              </a:ext>
            </a:extLst>
          </p:cNvPr>
          <p:cNvPicPr>
            <a:picLocks noChangeAspect="1"/>
          </p:cNvPicPr>
          <p:nvPr/>
        </p:nvPicPr>
        <p:blipFill>
          <a:blip r:embed="rId4"/>
          <a:stretch>
            <a:fillRect/>
          </a:stretch>
        </p:blipFill>
        <p:spPr>
          <a:xfrm>
            <a:off x="419100" y="4943475"/>
            <a:ext cx="3427343" cy="1080274"/>
          </a:xfrm>
          <a:prstGeom prst="rect">
            <a:avLst/>
          </a:prstGeom>
        </p:spPr>
      </p:pic>
      <p:pic>
        <p:nvPicPr>
          <p:cNvPr id="18" name="图片 17">
            <a:extLst>
              <a:ext uri="{FF2B5EF4-FFF2-40B4-BE49-F238E27FC236}">
                <a16:creationId xmlns:a16="http://schemas.microsoft.com/office/drawing/2014/main" id="{5DB43BA6-3DF8-5566-A1AE-841E2D4A9C69}"/>
              </a:ext>
            </a:extLst>
          </p:cNvPr>
          <p:cNvPicPr>
            <a:picLocks noChangeAspect="1"/>
          </p:cNvPicPr>
          <p:nvPr/>
        </p:nvPicPr>
        <p:blipFill>
          <a:blip r:embed="rId5"/>
          <a:stretch>
            <a:fillRect/>
          </a:stretch>
        </p:blipFill>
        <p:spPr>
          <a:xfrm>
            <a:off x="4707005" y="5347336"/>
            <a:ext cx="1824659" cy="468628"/>
          </a:xfrm>
          <a:prstGeom prst="rect">
            <a:avLst/>
          </a:prstGeom>
        </p:spPr>
      </p:pic>
      <p:pic>
        <p:nvPicPr>
          <p:cNvPr id="19" name="图片 18">
            <a:extLst>
              <a:ext uri="{FF2B5EF4-FFF2-40B4-BE49-F238E27FC236}">
                <a16:creationId xmlns:a16="http://schemas.microsoft.com/office/drawing/2014/main" id="{8854AB56-A5A1-3727-B055-F8C6A3F09D66}"/>
              </a:ext>
            </a:extLst>
          </p:cNvPr>
          <p:cNvPicPr>
            <a:picLocks noChangeAspect="1"/>
          </p:cNvPicPr>
          <p:nvPr/>
        </p:nvPicPr>
        <p:blipFill>
          <a:blip r:embed="rId6"/>
          <a:stretch>
            <a:fillRect/>
          </a:stretch>
        </p:blipFill>
        <p:spPr>
          <a:xfrm>
            <a:off x="7214152" y="4962524"/>
            <a:ext cx="4558748" cy="1287176"/>
          </a:xfrm>
          <a:prstGeom prst="rect">
            <a:avLst/>
          </a:prstGeom>
        </p:spPr>
      </p:pic>
      <p:cxnSp>
        <p:nvCxnSpPr>
          <p:cNvPr id="20" name="直线连接符 19">
            <a:extLst>
              <a:ext uri="{FF2B5EF4-FFF2-40B4-BE49-F238E27FC236}">
                <a16:creationId xmlns:a16="http://schemas.microsoft.com/office/drawing/2014/main" id="{9504D56F-29A9-0DBF-A975-B81D1614A108}"/>
              </a:ext>
            </a:extLst>
          </p:cNvPr>
          <p:cNvCxnSpPr>
            <a:cxnSpLocks/>
          </p:cNvCxnSpPr>
          <p:nvPr/>
        </p:nvCxnSpPr>
        <p:spPr>
          <a:xfrm>
            <a:off x="4240696" y="4962524"/>
            <a:ext cx="0" cy="1306225"/>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直线连接符 23">
            <a:extLst>
              <a:ext uri="{FF2B5EF4-FFF2-40B4-BE49-F238E27FC236}">
                <a16:creationId xmlns:a16="http://schemas.microsoft.com/office/drawing/2014/main" id="{316EC1F4-5E38-2CED-6024-5AA4EA079466}"/>
              </a:ext>
            </a:extLst>
          </p:cNvPr>
          <p:cNvCxnSpPr>
            <a:cxnSpLocks/>
          </p:cNvCxnSpPr>
          <p:nvPr/>
        </p:nvCxnSpPr>
        <p:spPr>
          <a:xfrm>
            <a:off x="6937513" y="4943475"/>
            <a:ext cx="0" cy="1306225"/>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89510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9425D286-F7DC-4228-B4F6-F72528625FFF}"/>
              </a:ext>
            </a:extLst>
          </p:cNvPr>
          <p:cNvSpPr>
            <a:spLocks noGrp="1"/>
          </p:cNvSpPr>
          <p:nvPr/>
        </p:nvSpPr>
        <p:spPr>
          <a:xfrm>
            <a:off x="419100" y="171450"/>
            <a:ext cx="2952750" cy="228600"/>
          </a:xfrm>
          <a:prstGeom prst="rect">
            <a:avLst/>
          </a:prstGeom>
          <a:noFill/>
          <a:ln w="0">
            <a:noFill/>
            <a:prstDash val="solid"/>
          </a:ln>
        </p:spPr>
        <p:txBody>
          <a:bodyPr wrap="square" lIns="0" tIns="0" rIns="0" bIns="0" anchor="t">
            <a:noAutofit/>
          </a:bodyPr>
          <a:lstStyle/>
          <a:p>
            <a:pPr algn="l">
              <a:buNone/>
              <a:defRPr sz="975" b="1">
                <a:solidFill>
                  <a:srgbClr val="5E6470"/>
                </a:solidFill>
                <a:latin typeface="Helvetica Neue"/>
                <a:ea typeface="Helvetica Neue"/>
                <a:cs typeface="Helvetica Neue"/>
              </a:defRPr>
            </a:pPr>
            <a:r>
              <a:rPr sz="975" b="1">
                <a:solidFill>
                  <a:srgbClr val="5E6470"/>
                </a:solidFill>
                <a:latin typeface="Helvetica Neue"/>
                <a:ea typeface="Helvetica Neue"/>
                <a:cs typeface="Helvetica Neue"/>
              </a:rPr>
              <a:t>II · T²PO</a:t>
            </a:r>
          </a:p>
        </p:txBody>
      </p:sp>
      <p:sp>
        <p:nvSpPr>
          <p:cNvPr id="2" name="矩形 1">
            <a:extLst>
              <a:ext uri="{FF2B5EF4-FFF2-40B4-BE49-F238E27FC236}">
                <a16:creationId xmlns:a16="http://schemas.microsoft.com/office/drawing/2014/main" id="{60ABDCD5-2A85-41DD-9B2B-69A6DA844AE8}"/>
              </a:ext>
            </a:extLst>
          </p:cNvPr>
          <p:cNvSpPr>
            <a:spLocks noGrp="1"/>
          </p:cNvSpPr>
          <p:nvPr/>
        </p:nvSpPr>
        <p:spPr>
          <a:xfrm>
            <a:off x="419100" y="409575"/>
            <a:ext cx="11353800" cy="514350"/>
          </a:xfrm>
          <a:prstGeom prst="rect">
            <a:avLst/>
          </a:prstGeom>
          <a:noFill/>
          <a:ln w="0">
            <a:noFill/>
            <a:prstDash val="solid"/>
          </a:ln>
        </p:spPr>
        <p:txBody>
          <a:bodyPr wrap="square" lIns="0" tIns="0" rIns="0" bIns="0" anchor="t">
            <a:noAutofit/>
          </a:bodyPr>
          <a:lstStyle/>
          <a:p>
            <a:pPr algn="l">
              <a:buNone/>
              <a:defRPr sz="2850" b="1">
                <a:solidFill>
                  <a:srgbClr val="101214"/>
                </a:solidFill>
                <a:latin typeface="Hiragino Sans GB"/>
                <a:ea typeface="Hiragino Sans GB"/>
                <a:cs typeface="Hiragino Sans GB"/>
              </a:defRPr>
            </a:pPr>
            <a:r>
              <a:rPr sz="2850" b="1">
                <a:solidFill>
                  <a:srgbClr val="101214"/>
                </a:solidFill>
                <a:latin typeface="Hiragino Sans GB"/>
                <a:ea typeface="Hiragino Sans GB"/>
                <a:cs typeface="Hiragino Sans GB"/>
              </a:rPr>
              <a:t>更稳、更省，但重采样并非免费</a:t>
            </a:r>
          </a:p>
        </p:txBody>
      </p:sp>
      <p:sp>
        <p:nvSpPr>
          <p:cNvPr id="3" name="圆角矩形 2">
            <a:extLst>
              <a:ext uri="{FF2B5EF4-FFF2-40B4-BE49-F238E27FC236}">
                <a16:creationId xmlns:a16="http://schemas.microsoft.com/office/drawing/2014/main" id="{69291C79-555F-4532-9BBC-7E8C350CC89C}"/>
              </a:ext>
            </a:extLst>
          </p:cNvPr>
          <p:cNvSpPr>
            <a:spLocks noGrp="1"/>
          </p:cNvSpPr>
          <p:nvPr/>
        </p:nvSpPr>
        <p:spPr>
          <a:xfrm>
            <a:off x="419100" y="1219200"/>
            <a:ext cx="11353800" cy="2266950"/>
          </a:xfrm>
          <a:prstGeom prst="roundRect">
            <a:avLst>
              <a:gd name="adj" fmla="val 3361"/>
            </a:avLst>
          </a:prstGeom>
          <a:solidFill>
            <a:srgbClr val="F1F2F4"/>
          </a:solidFill>
          <a:ln w="9525">
            <a:solidFill>
              <a:srgbClr val="B8BCC4"/>
            </a:solidFill>
            <a:prstDash val="solid"/>
          </a:ln>
        </p:spPr>
      </p:sp>
      <p:pic>
        <p:nvPicPr>
          <p:cNvPr id="28" name="图片 25"/>
          <p:cNvPicPr>
            <a:picLocks noChangeAspect="1"/>
          </p:cNvPicPr>
          <p:nvPr/>
        </p:nvPicPr>
        <p:blipFill>
          <a:blip r:embed="rId3"/>
          <a:stretch/>
        </p:blipFill>
        <p:spPr>
          <a:xfrm>
            <a:off x="750570" y="1257300"/>
            <a:ext cx="10690860" cy="2190750"/>
          </a:xfrm>
          <a:prstGeom prst="roundRect">
            <a:avLst>
              <a:gd name="adj" fmla="val 2609"/>
            </a:avLst>
          </a:prstGeom>
        </p:spPr>
      </p:pic>
      <p:sp>
        <p:nvSpPr>
          <p:cNvPr id="5" name="圆角矩形 4">
            <a:extLst>
              <a:ext uri="{FF2B5EF4-FFF2-40B4-BE49-F238E27FC236}">
                <a16:creationId xmlns:a16="http://schemas.microsoft.com/office/drawing/2014/main" id="{D5D98716-F484-455D-B708-34111E4177FE}"/>
              </a:ext>
            </a:extLst>
          </p:cNvPr>
          <p:cNvSpPr>
            <a:spLocks noGrp="1"/>
          </p:cNvSpPr>
          <p:nvPr/>
        </p:nvSpPr>
        <p:spPr>
          <a:xfrm>
            <a:off x="419100" y="3733800"/>
            <a:ext cx="2381250" cy="1123950"/>
          </a:xfrm>
          <a:prstGeom prst="roundRect">
            <a:avLst>
              <a:gd name="adj" fmla="val 6780"/>
            </a:avLst>
          </a:prstGeom>
          <a:solidFill>
            <a:srgbClr val="F0ECFD"/>
          </a:solidFill>
          <a:ln w="0">
            <a:noFill/>
            <a:prstDash val="solid"/>
          </a:ln>
        </p:spPr>
      </p:sp>
      <p:sp>
        <p:nvSpPr>
          <p:cNvPr id="6" name="矩形 5">
            <a:extLst>
              <a:ext uri="{FF2B5EF4-FFF2-40B4-BE49-F238E27FC236}">
                <a16:creationId xmlns:a16="http://schemas.microsoft.com/office/drawing/2014/main" id="{07F524D5-2F71-44AA-AAA8-10A200C0B2D7}"/>
              </a:ext>
            </a:extLst>
          </p:cNvPr>
          <p:cNvSpPr>
            <a:spLocks noGrp="1"/>
          </p:cNvSpPr>
          <p:nvPr/>
        </p:nvSpPr>
        <p:spPr>
          <a:xfrm>
            <a:off x="590550" y="3876675"/>
            <a:ext cx="2038350" cy="514350"/>
          </a:xfrm>
          <a:prstGeom prst="rect">
            <a:avLst/>
          </a:prstGeom>
          <a:noFill/>
          <a:ln w="0">
            <a:noFill/>
            <a:prstDash val="solid"/>
          </a:ln>
        </p:spPr>
        <p:txBody>
          <a:bodyPr wrap="square" lIns="0" tIns="0" rIns="0" bIns="0" anchor="b">
            <a:noAutofit/>
          </a:bodyPr>
          <a:lstStyle/>
          <a:p>
            <a:pPr algn="l">
              <a:buNone/>
              <a:defRPr sz="2550" b="1">
                <a:solidFill>
                  <a:srgbClr val="7257D5"/>
                </a:solidFill>
                <a:latin typeface="Helvetica Neue"/>
                <a:ea typeface="Helvetica Neue"/>
                <a:cs typeface="Helvetica Neue"/>
              </a:defRPr>
            </a:pPr>
            <a:r>
              <a:rPr sz="2550" b="1">
                <a:solidFill>
                  <a:srgbClr val="7257D5"/>
                </a:solidFill>
                <a:latin typeface="Helvetica Neue"/>
                <a:ea typeface="Helvetica Neue"/>
                <a:cs typeface="Helvetica Neue"/>
              </a:rPr>
              <a:t>81.64</a:t>
            </a:r>
          </a:p>
        </p:txBody>
      </p:sp>
      <p:sp>
        <p:nvSpPr>
          <p:cNvPr id="7" name="矩形 6">
            <a:extLst>
              <a:ext uri="{FF2B5EF4-FFF2-40B4-BE49-F238E27FC236}">
                <a16:creationId xmlns:a16="http://schemas.microsoft.com/office/drawing/2014/main" id="{9A3AADB9-A91D-4D77-8FE3-88B51DD359C9}"/>
              </a:ext>
            </a:extLst>
          </p:cNvPr>
          <p:cNvSpPr>
            <a:spLocks noGrp="1"/>
          </p:cNvSpPr>
          <p:nvPr/>
        </p:nvSpPr>
        <p:spPr>
          <a:xfrm>
            <a:off x="590550" y="4438650"/>
            <a:ext cx="2038350" cy="266700"/>
          </a:xfrm>
          <a:prstGeom prst="rect">
            <a:avLst/>
          </a:prstGeom>
          <a:noFill/>
          <a:ln w="0">
            <a:noFill/>
            <a:prstDash val="solid"/>
          </a:ln>
        </p:spPr>
        <p:txBody>
          <a:bodyPr wrap="square" lIns="0" tIns="0" rIns="0" bIns="0" anchor="t">
            <a:noAutofit/>
          </a:bodyPr>
          <a:lstStyle/>
          <a:p>
            <a:pPr algn="l">
              <a:buNone/>
              <a:defRPr sz="1125" b="0">
                <a:solidFill>
                  <a:srgbClr val="5E6470"/>
                </a:solidFill>
                <a:latin typeface="Hiragino Sans GB"/>
                <a:ea typeface="Hiragino Sans GB"/>
                <a:cs typeface="Hiragino Sans GB"/>
              </a:defRPr>
            </a:pPr>
            <a:r>
              <a:rPr sz="1125" b="0">
                <a:solidFill>
                  <a:srgbClr val="5E6470"/>
                </a:solidFill>
                <a:latin typeface="Hiragino Sans GB"/>
                <a:ea typeface="Hiragino Sans GB"/>
                <a:cs typeface="Hiragino Sans GB"/>
              </a:rPr>
              <a:t>WebShop 4B · 74.02 baseline</a:t>
            </a:r>
          </a:p>
        </p:txBody>
      </p:sp>
      <p:sp>
        <p:nvSpPr>
          <p:cNvPr id="8" name="圆角矩形 7">
            <a:extLst>
              <a:ext uri="{FF2B5EF4-FFF2-40B4-BE49-F238E27FC236}">
                <a16:creationId xmlns:a16="http://schemas.microsoft.com/office/drawing/2014/main" id="{0EED7D02-8A86-4A14-9244-10FACBB1F6D4}"/>
              </a:ext>
            </a:extLst>
          </p:cNvPr>
          <p:cNvSpPr>
            <a:spLocks noGrp="1"/>
          </p:cNvSpPr>
          <p:nvPr/>
        </p:nvSpPr>
        <p:spPr>
          <a:xfrm>
            <a:off x="3276600" y="3733800"/>
            <a:ext cx="2381250" cy="1123950"/>
          </a:xfrm>
          <a:prstGeom prst="roundRect">
            <a:avLst>
              <a:gd name="adj" fmla="val 6780"/>
            </a:avLst>
          </a:prstGeom>
          <a:solidFill>
            <a:srgbClr val="EAF5FB"/>
          </a:solidFill>
          <a:ln w="0">
            <a:noFill/>
            <a:prstDash val="solid"/>
          </a:ln>
        </p:spPr>
      </p:sp>
      <p:sp>
        <p:nvSpPr>
          <p:cNvPr id="9" name="矩形 8">
            <a:extLst>
              <a:ext uri="{FF2B5EF4-FFF2-40B4-BE49-F238E27FC236}">
                <a16:creationId xmlns:a16="http://schemas.microsoft.com/office/drawing/2014/main" id="{84BD073E-1B84-4BFE-8409-CEC63882A3C3}"/>
              </a:ext>
            </a:extLst>
          </p:cNvPr>
          <p:cNvSpPr>
            <a:spLocks noGrp="1"/>
          </p:cNvSpPr>
          <p:nvPr/>
        </p:nvSpPr>
        <p:spPr>
          <a:xfrm>
            <a:off x="3448050" y="3876675"/>
            <a:ext cx="2038350" cy="514350"/>
          </a:xfrm>
          <a:prstGeom prst="rect">
            <a:avLst/>
          </a:prstGeom>
          <a:noFill/>
          <a:ln w="0">
            <a:noFill/>
            <a:prstDash val="solid"/>
          </a:ln>
        </p:spPr>
        <p:txBody>
          <a:bodyPr wrap="square" lIns="0" tIns="0" rIns="0" bIns="0" anchor="b">
            <a:noAutofit/>
          </a:bodyPr>
          <a:lstStyle/>
          <a:p>
            <a:pPr algn="l">
              <a:buNone/>
              <a:defRPr sz="2550" b="1">
                <a:solidFill>
                  <a:srgbClr val="2787F5"/>
                </a:solidFill>
                <a:latin typeface="Helvetica Neue"/>
                <a:ea typeface="Helvetica Neue"/>
                <a:cs typeface="Helvetica Neue"/>
              </a:defRPr>
            </a:pPr>
            <a:r>
              <a:rPr sz="2550" b="1">
                <a:solidFill>
                  <a:srgbClr val="2787F5"/>
                </a:solidFill>
                <a:latin typeface="Helvetica Neue"/>
                <a:ea typeface="Helvetica Neue"/>
                <a:cs typeface="Helvetica Neue"/>
              </a:rPr>
              <a:t>90.23</a:t>
            </a:r>
          </a:p>
        </p:txBody>
      </p:sp>
      <p:sp>
        <p:nvSpPr>
          <p:cNvPr id="10" name="矩形 9">
            <a:extLst>
              <a:ext uri="{FF2B5EF4-FFF2-40B4-BE49-F238E27FC236}">
                <a16:creationId xmlns:a16="http://schemas.microsoft.com/office/drawing/2014/main" id="{4A5165B5-8B19-4863-97DB-93AAF8124E23}"/>
              </a:ext>
            </a:extLst>
          </p:cNvPr>
          <p:cNvSpPr>
            <a:spLocks noGrp="1"/>
          </p:cNvSpPr>
          <p:nvPr/>
        </p:nvSpPr>
        <p:spPr>
          <a:xfrm>
            <a:off x="3448050" y="4438650"/>
            <a:ext cx="2038350" cy="266700"/>
          </a:xfrm>
          <a:prstGeom prst="rect">
            <a:avLst/>
          </a:prstGeom>
          <a:noFill/>
          <a:ln w="0">
            <a:noFill/>
            <a:prstDash val="solid"/>
          </a:ln>
        </p:spPr>
        <p:txBody>
          <a:bodyPr wrap="square" lIns="0" tIns="0" rIns="0" bIns="0" anchor="t">
            <a:noAutofit/>
          </a:bodyPr>
          <a:lstStyle/>
          <a:p>
            <a:pPr algn="l">
              <a:buNone/>
              <a:defRPr sz="1125" b="0">
                <a:solidFill>
                  <a:srgbClr val="5E6470"/>
                </a:solidFill>
                <a:latin typeface="Hiragino Sans GB"/>
                <a:ea typeface="Hiragino Sans GB"/>
                <a:cs typeface="Hiragino Sans GB"/>
              </a:defRPr>
            </a:pPr>
            <a:r>
              <a:rPr sz="1125" b="0">
                <a:solidFill>
                  <a:srgbClr val="5E6470"/>
                </a:solidFill>
                <a:latin typeface="Hiragino Sans GB"/>
                <a:ea typeface="Hiragino Sans GB"/>
                <a:cs typeface="Hiragino Sans GB"/>
              </a:rPr>
              <a:t>ALFWorld 4B · 80.86 baseline</a:t>
            </a:r>
          </a:p>
        </p:txBody>
      </p:sp>
      <p:sp>
        <p:nvSpPr>
          <p:cNvPr id="11" name="圆角矩形 10">
            <a:extLst>
              <a:ext uri="{FF2B5EF4-FFF2-40B4-BE49-F238E27FC236}">
                <a16:creationId xmlns:a16="http://schemas.microsoft.com/office/drawing/2014/main" id="{AF8EF5B4-25FC-40AE-B87B-1A2706CEBF40}"/>
              </a:ext>
            </a:extLst>
          </p:cNvPr>
          <p:cNvSpPr>
            <a:spLocks noGrp="1"/>
          </p:cNvSpPr>
          <p:nvPr/>
        </p:nvSpPr>
        <p:spPr>
          <a:xfrm>
            <a:off x="6134100" y="3733800"/>
            <a:ext cx="2381250" cy="1123950"/>
          </a:xfrm>
          <a:prstGeom prst="roundRect">
            <a:avLst>
              <a:gd name="adj" fmla="val 6780"/>
            </a:avLst>
          </a:prstGeom>
          <a:solidFill>
            <a:srgbClr val="E8F6F0"/>
          </a:solidFill>
          <a:ln w="0">
            <a:noFill/>
            <a:prstDash val="solid"/>
          </a:ln>
        </p:spPr>
      </p:sp>
      <p:sp>
        <p:nvSpPr>
          <p:cNvPr id="12" name="矩形 11">
            <a:extLst>
              <a:ext uri="{FF2B5EF4-FFF2-40B4-BE49-F238E27FC236}">
                <a16:creationId xmlns:a16="http://schemas.microsoft.com/office/drawing/2014/main" id="{E699394D-50CD-4647-A439-963809B03740}"/>
              </a:ext>
            </a:extLst>
          </p:cNvPr>
          <p:cNvSpPr>
            <a:spLocks noGrp="1"/>
          </p:cNvSpPr>
          <p:nvPr/>
        </p:nvSpPr>
        <p:spPr>
          <a:xfrm>
            <a:off x="6305550" y="3876675"/>
            <a:ext cx="2038350" cy="514350"/>
          </a:xfrm>
          <a:prstGeom prst="rect">
            <a:avLst/>
          </a:prstGeom>
          <a:noFill/>
          <a:ln w="0">
            <a:noFill/>
            <a:prstDash val="solid"/>
          </a:ln>
        </p:spPr>
        <p:txBody>
          <a:bodyPr wrap="square" lIns="0" tIns="0" rIns="0" bIns="0" anchor="b">
            <a:noAutofit/>
          </a:bodyPr>
          <a:lstStyle/>
          <a:p>
            <a:pPr algn="l">
              <a:buNone/>
              <a:defRPr sz="2550" b="1">
                <a:solidFill>
                  <a:srgbClr val="1F9D70"/>
                </a:solidFill>
                <a:latin typeface="Helvetica Neue"/>
                <a:ea typeface="Helvetica Neue"/>
                <a:cs typeface="Helvetica Neue"/>
              </a:defRPr>
            </a:pPr>
            <a:r>
              <a:rPr sz="2550" b="1">
                <a:solidFill>
                  <a:srgbClr val="1F9D70"/>
                </a:solidFill>
                <a:latin typeface="Helvetica Neue"/>
                <a:ea typeface="Helvetica Neue"/>
                <a:cs typeface="Helvetica Neue"/>
              </a:rPr>
              <a:t>−25%</a:t>
            </a:r>
          </a:p>
        </p:txBody>
      </p:sp>
      <p:sp>
        <p:nvSpPr>
          <p:cNvPr id="13" name="矩形 12">
            <a:extLst>
              <a:ext uri="{FF2B5EF4-FFF2-40B4-BE49-F238E27FC236}">
                <a16:creationId xmlns:a16="http://schemas.microsoft.com/office/drawing/2014/main" id="{85AB75A7-710D-4FBD-BDDC-CB0C5480331A}"/>
              </a:ext>
            </a:extLst>
          </p:cNvPr>
          <p:cNvSpPr>
            <a:spLocks noGrp="1"/>
          </p:cNvSpPr>
          <p:nvPr/>
        </p:nvSpPr>
        <p:spPr>
          <a:xfrm>
            <a:off x="6305550" y="4438650"/>
            <a:ext cx="2038350" cy="266700"/>
          </a:xfrm>
          <a:prstGeom prst="rect">
            <a:avLst/>
          </a:prstGeom>
          <a:noFill/>
          <a:ln w="0">
            <a:noFill/>
            <a:prstDash val="solid"/>
          </a:ln>
        </p:spPr>
        <p:txBody>
          <a:bodyPr wrap="square" lIns="0" tIns="0" rIns="0" bIns="0" anchor="t">
            <a:noAutofit/>
          </a:bodyPr>
          <a:lstStyle/>
          <a:p>
            <a:pPr algn="l">
              <a:buNone/>
              <a:defRPr sz="1125" b="0">
                <a:solidFill>
                  <a:srgbClr val="5E6470"/>
                </a:solidFill>
                <a:latin typeface="Hiragino Sans GB"/>
                <a:ea typeface="Hiragino Sans GB"/>
                <a:cs typeface="Hiragino Sans GB"/>
              </a:defRPr>
            </a:pPr>
            <a:r>
              <a:rPr sz="1125" b="0">
                <a:solidFill>
                  <a:srgbClr val="5E6470"/>
                </a:solidFill>
                <a:latin typeface="Hiragino Sans GB"/>
                <a:ea typeface="Hiragino Sans GB"/>
                <a:cs typeface="Hiragino Sans GB"/>
              </a:rPr>
              <a:t>WebShop 成功所需 turns</a:t>
            </a:r>
          </a:p>
        </p:txBody>
      </p:sp>
      <p:sp>
        <p:nvSpPr>
          <p:cNvPr id="14" name="圆角矩形 13">
            <a:extLst>
              <a:ext uri="{FF2B5EF4-FFF2-40B4-BE49-F238E27FC236}">
                <a16:creationId xmlns:a16="http://schemas.microsoft.com/office/drawing/2014/main" id="{DE3DC645-6FEC-403E-9FF2-21CA7B72FB9C}"/>
              </a:ext>
            </a:extLst>
          </p:cNvPr>
          <p:cNvSpPr>
            <a:spLocks noGrp="1"/>
          </p:cNvSpPr>
          <p:nvPr/>
        </p:nvSpPr>
        <p:spPr>
          <a:xfrm>
            <a:off x="8991600" y="3733800"/>
            <a:ext cx="2381250" cy="1123950"/>
          </a:xfrm>
          <a:prstGeom prst="roundRect">
            <a:avLst>
              <a:gd name="adj" fmla="val 6780"/>
            </a:avLst>
          </a:prstGeom>
          <a:solidFill>
            <a:srgbClr val="FDEBEC"/>
          </a:solidFill>
          <a:ln w="0">
            <a:noFill/>
            <a:prstDash val="solid"/>
          </a:ln>
        </p:spPr>
      </p:sp>
      <p:sp>
        <p:nvSpPr>
          <p:cNvPr id="15" name="矩形 14">
            <a:extLst>
              <a:ext uri="{FF2B5EF4-FFF2-40B4-BE49-F238E27FC236}">
                <a16:creationId xmlns:a16="http://schemas.microsoft.com/office/drawing/2014/main" id="{AE1038F3-76BF-4A69-83B1-04A58CEFEF74}"/>
              </a:ext>
            </a:extLst>
          </p:cNvPr>
          <p:cNvSpPr>
            <a:spLocks noGrp="1"/>
          </p:cNvSpPr>
          <p:nvPr/>
        </p:nvSpPr>
        <p:spPr>
          <a:xfrm>
            <a:off x="9163050" y="3876675"/>
            <a:ext cx="2038350" cy="514350"/>
          </a:xfrm>
          <a:prstGeom prst="rect">
            <a:avLst/>
          </a:prstGeom>
          <a:noFill/>
          <a:ln w="0">
            <a:noFill/>
            <a:prstDash val="solid"/>
          </a:ln>
        </p:spPr>
        <p:txBody>
          <a:bodyPr wrap="square" lIns="0" tIns="0" rIns="0" bIns="0" anchor="b">
            <a:noAutofit/>
          </a:bodyPr>
          <a:lstStyle/>
          <a:p>
            <a:pPr algn="l">
              <a:buNone/>
              <a:defRPr sz="2550" b="1">
                <a:solidFill>
                  <a:srgbClr val="D94C4C"/>
                </a:solidFill>
                <a:latin typeface="Helvetica Neue"/>
                <a:ea typeface="Helvetica Neue"/>
                <a:cs typeface="Helvetica Neue"/>
              </a:defRPr>
            </a:pPr>
            <a:r>
              <a:rPr sz="2550" b="1">
                <a:solidFill>
                  <a:srgbClr val="D94C4C"/>
                </a:solidFill>
                <a:latin typeface="Helvetica Neue"/>
                <a:ea typeface="Helvetica Neue"/>
                <a:cs typeface="Helvetica Neue"/>
              </a:rPr>
              <a:t>63.67</a:t>
            </a:r>
          </a:p>
        </p:txBody>
      </p:sp>
      <p:sp>
        <p:nvSpPr>
          <p:cNvPr id="16" name="矩形 15">
            <a:extLst>
              <a:ext uri="{FF2B5EF4-FFF2-40B4-BE49-F238E27FC236}">
                <a16:creationId xmlns:a16="http://schemas.microsoft.com/office/drawing/2014/main" id="{667ECB78-6319-4167-8592-6BE3D4BA585E}"/>
              </a:ext>
            </a:extLst>
          </p:cNvPr>
          <p:cNvSpPr>
            <a:spLocks noGrp="1"/>
          </p:cNvSpPr>
          <p:nvPr/>
        </p:nvSpPr>
        <p:spPr>
          <a:xfrm>
            <a:off x="9163050" y="4438650"/>
            <a:ext cx="2038350" cy="266700"/>
          </a:xfrm>
          <a:prstGeom prst="rect">
            <a:avLst/>
          </a:prstGeom>
          <a:noFill/>
          <a:ln w="0">
            <a:noFill/>
            <a:prstDash val="solid"/>
          </a:ln>
        </p:spPr>
        <p:txBody>
          <a:bodyPr wrap="square" lIns="0" tIns="0" rIns="0" bIns="0" anchor="t">
            <a:noAutofit/>
          </a:bodyPr>
          <a:lstStyle/>
          <a:p>
            <a:pPr algn="l">
              <a:buNone/>
              <a:defRPr sz="1125" b="0">
                <a:solidFill>
                  <a:srgbClr val="5E6470"/>
                </a:solidFill>
                <a:latin typeface="Hiragino Sans GB"/>
                <a:ea typeface="Hiragino Sans GB"/>
                <a:cs typeface="Hiragino Sans GB"/>
              </a:defRPr>
            </a:pPr>
            <a:r>
              <a:rPr sz="1125" b="0">
                <a:solidFill>
                  <a:srgbClr val="5E6470"/>
                </a:solidFill>
                <a:latin typeface="Hiragino Sans GB"/>
                <a:ea typeface="Hiragino Sans GB"/>
                <a:cs typeface="Hiragino Sans GB"/>
              </a:rPr>
              <a:t>去掉 TDS 后的 success</a:t>
            </a:r>
          </a:p>
        </p:txBody>
      </p:sp>
      <p:sp>
        <p:nvSpPr>
          <p:cNvPr id="17" name="圆角矩形 16">
            <a:extLst>
              <a:ext uri="{FF2B5EF4-FFF2-40B4-BE49-F238E27FC236}">
                <a16:creationId xmlns:a16="http://schemas.microsoft.com/office/drawing/2014/main" id="{369655E8-B688-49B5-AC2D-53E92596A044}"/>
              </a:ext>
            </a:extLst>
          </p:cNvPr>
          <p:cNvSpPr>
            <a:spLocks noGrp="1"/>
          </p:cNvSpPr>
          <p:nvPr/>
        </p:nvSpPr>
        <p:spPr>
          <a:xfrm>
            <a:off x="419100" y="5105400"/>
            <a:ext cx="11353800" cy="819150"/>
          </a:xfrm>
          <a:prstGeom prst="roundRect">
            <a:avLst>
              <a:gd name="adj" fmla="val 9302"/>
            </a:avLst>
          </a:prstGeom>
          <a:solidFill>
            <a:srgbClr val="F1F2F4"/>
          </a:solidFill>
          <a:ln w="0">
            <a:noFill/>
            <a:prstDash val="solid"/>
          </a:ln>
        </p:spPr>
      </p:sp>
      <p:sp>
        <p:nvSpPr>
          <p:cNvPr id="18" name="矩形 17">
            <a:extLst>
              <a:ext uri="{FF2B5EF4-FFF2-40B4-BE49-F238E27FC236}">
                <a16:creationId xmlns:a16="http://schemas.microsoft.com/office/drawing/2014/main" id="{CD767584-69FD-48EA-B93B-6216C1270DC5}"/>
              </a:ext>
            </a:extLst>
          </p:cNvPr>
          <p:cNvSpPr>
            <a:spLocks noGrp="1"/>
          </p:cNvSpPr>
          <p:nvPr/>
        </p:nvSpPr>
        <p:spPr>
          <a:xfrm>
            <a:off x="647700" y="5248275"/>
            <a:ext cx="1143000" cy="247650"/>
          </a:xfrm>
          <a:prstGeom prst="rect">
            <a:avLst/>
          </a:prstGeom>
          <a:noFill/>
          <a:ln w="0">
            <a:noFill/>
            <a:prstDash val="solid"/>
          </a:ln>
        </p:spPr>
        <p:txBody>
          <a:bodyPr wrap="square" lIns="0" tIns="0" rIns="0" bIns="0" anchor="t">
            <a:noAutofit/>
          </a:bodyPr>
          <a:lstStyle/>
          <a:p>
            <a:pPr algn="l">
              <a:buNone/>
              <a:defRPr sz="1350" b="1">
                <a:solidFill>
                  <a:srgbClr val="101214"/>
                </a:solidFill>
                <a:latin typeface="Helvetica Neue"/>
                <a:ea typeface="Helvetica Neue"/>
                <a:cs typeface="Helvetica Neue"/>
              </a:defRPr>
            </a:pPr>
            <a:r>
              <a:rPr sz="1350" b="1">
                <a:solidFill>
                  <a:srgbClr val="101214"/>
                </a:solidFill>
                <a:latin typeface="Helvetica Neue"/>
                <a:ea typeface="Helvetica Neue"/>
                <a:cs typeface="Helvetica Neue"/>
              </a:rPr>
              <a:t>Caveats</a:t>
            </a:r>
          </a:p>
        </p:txBody>
      </p:sp>
      <p:sp>
        <p:nvSpPr>
          <p:cNvPr id="19" name="矩形 18">
            <a:extLst>
              <a:ext uri="{FF2B5EF4-FFF2-40B4-BE49-F238E27FC236}">
                <a16:creationId xmlns:a16="http://schemas.microsoft.com/office/drawing/2014/main" id="{D9B6477E-DCBC-43FC-B6ED-55A3898C870D}"/>
              </a:ext>
            </a:extLst>
          </p:cNvPr>
          <p:cNvSpPr>
            <a:spLocks noGrp="1"/>
          </p:cNvSpPr>
          <p:nvPr/>
        </p:nvSpPr>
        <p:spPr>
          <a:xfrm>
            <a:off x="1809750" y="5257800"/>
            <a:ext cx="9620250" cy="457200"/>
          </a:xfrm>
          <a:prstGeom prst="rect">
            <a:avLst/>
          </a:prstGeom>
          <a:noFill/>
          <a:ln w="0">
            <a:noFill/>
            <a:prstDash val="solid"/>
          </a:ln>
        </p:spPr>
        <p:txBody>
          <a:bodyPr wrap="square" lIns="0" tIns="0" rIns="0" bIns="0" anchor="t">
            <a:noAutofit/>
          </a:bodyPr>
          <a:lstStyle/>
          <a:p>
            <a:pPr algn="l">
              <a:buNone/>
              <a:defRPr sz="1200" b="0">
                <a:solidFill>
                  <a:srgbClr val="5E6470"/>
                </a:solidFill>
                <a:latin typeface="Hiragino Sans GB"/>
                <a:ea typeface="Hiragino Sans GB"/>
                <a:cs typeface="Hiragino Sans GB"/>
              </a:defRPr>
            </a:pPr>
            <a:r>
              <a:rPr sz="1200" b="0">
                <a:solidFill>
                  <a:srgbClr val="5E6470"/>
                </a:solidFill>
                <a:latin typeface="Hiragino Sans GB"/>
                <a:ea typeface="Hiragino Sans GB"/>
                <a:cs typeface="Hiragino Sans GB"/>
              </a:rPr>
              <a:t>未报告完整 wall-clock / GPU-hour · uncertainty change 很小也可能是正确收敛 · SearchQA 表格平均与正文不一致</a:t>
            </a:r>
          </a:p>
        </p:txBody>
      </p:sp>
      <p:sp>
        <p:nvSpPr>
          <p:cNvPr id="20" name="直线连接符 19">
            <a:extLst>
              <a:ext uri="{FF2B5EF4-FFF2-40B4-BE49-F238E27FC236}">
                <a16:creationId xmlns:a16="http://schemas.microsoft.com/office/drawing/2014/main" id="{A8AE12BC-8A6E-4BF9-8E7E-1F71B7EA95C0}"/>
              </a:ext>
            </a:extLst>
          </p:cNvPr>
          <p:cNvSpPr>
            <a:spLocks noGrp="1"/>
          </p:cNvSpPr>
          <p:nvPr/>
        </p:nvSpPr>
        <p:spPr>
          <a:xfrm>
            <a:off x="419100" y="6286500"/>
            <a:ext cx="11353800" cy="0"/>
          </a:xfrm>
          <a:prstGeom prst="line">
            <a:avLst/>
          </a:prstGeom>
          <a:noFill/>
          <a:ln w="9525">
            <a:solidFill>
              <a:srgbClr val="B8BCC4"/>
            </a:solidFill>
            <a:prstDash val="solid"/>
          </a:ln>
        </p:spPr>
      </p:sp>
      <p:sp>
        <p:nvSpPr>
          <p:cNvPr id="21" name="矩形 20">
            <a:extLst>
              <a:ext uri="{FF2B5EF4-FFF2-40B4-BE49-F238E27FC236}">
                <a16:creationId xmlns:a16="http://schemas.microsoft.com/office/drawing/2014/main" id="{0108E65B-37E4-4105-8690-0A816AF0E18C}"/>
              </a:ext>
            </a:extLst>
          </p:cNvPr>
          <p:cNvSpPr>
            <a:spLocks noGrp="1"/>
          </p:cNvSpPr>
          <p:nvPr/>
        </p:nvSpPr>
        <p:spPr>
          <a:xfrm>
            <a:off x="419100" y="6362700"/>
            <a:ext cx="10763250" cy="219075"/>
          </a:xfrm>
          <a:prstGeom prst="rect">
            <a:avLst/>
          </a:prstGeom>
          <a:noFill/>
          <a:ln w="0">
            <a:noFill/>
            <a:prstDash val="solid"/>
          </a:ln>
        </p:spPr>
        <p:txBody>
          <a:bodyPr wrap="square" lIns="0" tIns="0" rIns="0" bIns="0" anchor="t">
            <a:noAutofit/>
          </a:bodyPr>
          <a:lstStyle/>
          <a:p>
            <a:pPr algn="l">
              <a:buNone/>
              <a:defRPr sz="788" b="0">
                <a:solidFill>
                  <a:srgbClr val="5E6470"/>
                </a:solidFill>
                <a:latin typeface="Helvetica Neue"/>
                <a:ea typeface="Helvetica Neue"/>
                <a:cs typeface="Helvetica Neue"/>
              </a:defRPr>
            </a:pPr>
            <a:r>
              <a:rPr sz="788" b="0">
                <a:solidFill>
                  <a:srgbClr val="5E6470"/>
                </a:solidFill>
                <a:latin typeface="Helvetica Neue"/>
                <a:ea typeface="Helvetica Neue"/>
                <a:cs typeface="Helvetica Neue"/>
              </a:rPr>
              <a:t>Wang et al., T²PO (2026), Table 1 / Table 3 / Figure 5</a:t>
            </a:r>
          </a:p>
        </p:txBody>
      </p:sp>
      <p:sp>
        <p:nvSpPr>
          <p:cNvPr id="22" name="矩形 21">
            <a:extLst>
              <a:ext uri="{FF2B5EF4-FFF2-40B4-BE49-F238E27FC236}">
                <a16:creationId xmlns:a16="http://schemas.microsoft.com/office/drawing/2014/main" id="{449433AF-C85C-4A5A-AF61-58B052DE8E4B}"/>
              </a:ext>
            </a:extLst>
          </p:cNvPr>
          <p:cNvSpPr>
            <a:spLocks noGrp="1"/>
          </p:cNvSpPr>
          <p:nvPr/>
        </p:nvSpPr>
        <p:spPr>
          <a:xfrm>
            <a:off x="11334750" y="6362700"/>
            <a:ext cx="438150" cy="219075"/>
          </a:xfrm>
          <a:prstGeom prst="rect">
            <a:avLst/>
          </a:prstGeom>
          <a:noFill/>
          <a:ln w="0">
            <a:noFill/>
            <a:prstDash val="solid"/>
          </a:ln>
        </p:spPr>
        <p:txBody>
          <a:bodyPr wrap="square" lIns="0" tIns="0" rIns="0" bIns="0" anchor="t">
            <a:noAutofit/>
          </a:bodyPr>
          <a:lstStyle/>
          <a:p>
            <a:pPr algn="r">
              <a:buNone/>
              <a:defRPr sz="825" b="0">
                <a:solidFill>
                  <a:srgbClr val="5E6470"/>
                </a:solidFill>
                <a:latin typeface="Helvetica Neue"/>
                <a:ea typeface="Helvetica Neue"/>
                <a:cs typeface="Helvetica Neue"/>
              </a:defRPr>
            </a:pPr>
            <a:r>
              <a:rPr sz="825" b="0">
                <a:solidFill>
                  <a:srgbClr val="5E6470"/>
                </a:solidFill>
                <a:latin typeface="Helvetica Neue"/>
                <a:ea typeface="Helvetica Neue"/>
                <a:cs typeface="Helvetica Neue"/>
              </a:rPr>
              <a:t>26</a:t>
            </a:r>
          </a:p>
        </p:txBody>
      </p:sp>
    </p:spTree>
    <p:extLst>
      <p:ext uri="{BB962C8B-B14F-4D97-AF65-F5344CB8AC3E}">
        <p14:creationId xmlns:p14="http://schemas.microsoft.com/office/powerpoint/2010/main" val="6686329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矩形 16">
            <a:extLst>
              <a:ext uri="{FF2B5EF4-FFF2-40B4-BE49-F238E27FC236}">
                <a16:creationId xmlns:a16="http://schemas.microsoft.com/office/drawing/2014/main" id="{C26CED50-1935-4B4A-9EAE-80620E294376}"/>
              </a:ext>
            </a:extLst>
          </p:cNvPr>
          <p:cNvSpPr>
            <a:spLocks noGrp="1"/>
          </p:cNvSpPr>
          <p:nvPr/>
        </p:nvSpPr>
        <p:spPr>
          <a:xfrm>
            <a:off x="419100" y="171450"/>
            <a:ext cx="2952750" cy="228600"/>
          </a:xfrm>
          <a:prstGeom prst="rect">
            <a:avLst/>
          </a:prstGeom>
          <a:noFill/>
          <a:ln w="0">
            <a:noFill/>
            <a:prstDash val="solid"/>
          </a:ln>
        </p:spPr>
        <p:txBody>
          <a:bodyPr wrap="square" lIns="0" tIns="0" rIns="0" bIns="0" anchor="t">
            <a:noAutofit/>
          </a:bodyPr>
          <a:lstStyle/>
          <a:p>
            <a:pPr algn="l">
              <a:buNone/>
              <a:defRPr sz="975" b="1">
                <a:solidFill>
                  <a:srgbClr val="5E6470"/>
                </a:solidFill>
                <a:latin typeface="Helvetica Neue"/>
                <a:ea typeface="Helvetica Neue"/>
                <a:cs typeface="Helvetica Neue"/>
              </a:defRPr>
            </a:pPr>
            <a:r>
              <a:rPr sz="975" b="1">
                <a:solidFill>
                  <a:srgbClr val="5E6470"/>
                </a:solidFill>
                <a:latin typeface="Helvetica Neue"/>
                <a:ea typeface="Helvetica Neue"/>
                <a:cs typeface="Helvetica Neue"/>
              </a:rPr>
              <a:t>II · T²PO</a:t>
            </a:r>
          </a:p>
        </p:txBody>
      </p:sp>
      <p:sp>
        <p:nvSpPr>
          <p:cNvPr id="2" name="矩形 1">
            <a:extLst>
              <a:ext uri="{FF2B5EF4-FFF2-40B4-BE49-F238E27FC236}">
                <a16:creationId xmlns:a16="http://schemas.microsoft.com/office/drawing/2014/main" id="{70B4C2F3-E0D0-4569-82AF-6CA8538B5A98}"/>
              </a:ext>
            </a:extLst>
          </p:cNvPr>
          <p:cNvSpPr>
            <a:spLocks noGrp="1"/>
          </p:cNvSpPr>
          <p:nvPr/>
        </p:nvSpPr>
        <p:spPr>
          <a:xfrm>
            <a:off x="419100" y="409575"/>
            <a:ext cx="11353800" cy="514350"/>
          </a:xfrm>
          <a:prstGeom prst="rect">
            <a:avLst/>
          </a:prstGeom>
          <a:noFill/>
          <a:ln w="0">
            <a:noFill/>
            <a:prstDash val="solid"/>
          </a:ln>
        </p:spPr>
        <p:txBody>
          <a:bodyPr wrap="square" lIns="0" tIns="0" rIns="0" bIns="0" anchor="t">
            <a:noAutofit/>
          </a:bodyPr>
          <a:lstStyle/>
          <a:p>
            <a:pPr algn="l">
              <a:buNone/>
              <a:defRPr sz="2850" b="1">
                <a:solidFill>
                  <a:srgbClr val="101214"/>
                </a:solidFill>
                <a:latin typeface="Hiragino Sans GB"/>
                <a:ea typeface="Hiragino Sans GB"/>
                <a:cs typeface="Hiragino Sans GB"/>
              </a:defRPr>
            </a:pPr>
            <a:r>
              <a:rPr sz="2850" b="1">
                <a:solidFill>
                  <a:srgbClr val="101214"/>
                </a:solidFill>
                <a:latin typeface="Hiragino Sans GB"/>
                <a:ea typeface="Hiragino Sans GB"/>
                <a:cs typeface="Hiragino Sans GB"/>
              </a:rPr>
              <a:t>行为分析：削减冗余，不等于压制探索</a:t>
            </a:r>
          </a:p>
        </p:txBody>
      </p:sp>
      <p:sp>
        <p:nvSpPr>
          <p:cNvPr id="3" name="圆角矩形 2">
            <a:extLst>
              <a:ext uri="{FF2B5EF4-FFF2-40B4-BE49-F238E27FC236}">
                <a16:creationId xmlns:a16="http://schemas.microsoft.com/office/drawing/2014/main" id="{F484E623-8587-44D1-B962-803F887391F6}"/>
              </a:ext>
            </a:extLst>
          </p:cNvPr>
          <p:cNvSpPr>
            <a:spLocks noGrp="1"/>
          </p:cNvSpPr>
          <p:nvPr/>
        </p:nvSpPr>
        <p:spPr>
          <a:xfrm>
            <a:off x="419100" y="1257300"/>
            <a:ext cx="5391150" cy="3143250"/>
          </a:xfrm>
          <a:prstGeom prst="roundRect">
            <a:avLst>
              <a:gd name="adj" fmla="val 2424"/>
            </a:avLst>
          </a:prstGeom>
          <a:solidFill>
            <a:srgbClr val="F1F2F4"/>
          </a:solidFill>
          <a:ln w="9525">
            <a:solidFill>
              <a:srgbClr val="B8BCC4"/>
            </a:solidFill>
            <a:prstDash val="solid"/>
          </a:ln>
        </p:spPr>
      </p:sp>
      <p:sp>
        <p:nvSpPr>
          <p:cNvPr id="5" name="圆角矩形 4">
            <a:extLst>
              <a:ext uri="{FF2B5EF4-FFF2-40B4-BE49-F238E27FC236}">
                <a16:creationId xmlns:a16="http://schemas.microsoft.com/office/drawing/2014/main" id="{3477321F-A6CE-4F49-AAD9-2826D1184942}"/>
              </a:ext>
            </a:extLst>
          </p:cNvPr>
          <p:cNvSpPr>
            <a:spLocks noGrp="1"/>
          </p:cNvSpPr>
          <p:nvPr/>
        </p:nvSpPr>
        <p:spPr>
          <a:xfrm>
            <a:off x="6381750" y="1257300"/>
            <a:ext cx="5391150" cy="3143250"/>
          </a:xfrm>
          <a:prstGeom prst="roundRect">
            <a:avLst>
              <a:gd name="adj" fmla="val 2424"/>
            </a:avLst>
          </a:prstGeom>
          <a:solidFill>
            <a:srgbClr val="F1F2F4"/>
          </a:solidFill>
          <a:ln w="9525">
            <a:solidFill>
              <a:srgbClr val="B8BCC4"/>
            </a:solidFill>
            <a:prstDash val="solid"/>
          </a:ln>
        </p:spPr>
      </p:sp>
      <p:sp>
        <p:nvSpPr>
          <p:cNvPr id="7" name="圆角矩形 6">
            <a:extLst>
              <a:ext uri="{FF2B5EF4-FFF2-40B4-BE49-F238E27FC236}">
                <a16:creationId xmlns:a16="http://schemas.microsoft.com/office/drawing/2014/main" id="{6E6CCCAA-7CF1-48A0-949E-B71C320CB330}"/>
              </a:ext>
            </a:extLst>
          </p:cNvPr>
          <p:cNvSpPr>
            <a:spLocks noGrp="1"/>
          </p:cNvSpPr>
          <p:nvPr/>
        </p:nvSpPr>
        <p:spPr>
          <a:xfrm>
            <a:off x="571500" y="1428750"/>
            <a:ext cx="1143000" cy="285750"/>
          </a:xfrm>
          <a:prstGeom prst="roundRect">
            <a:avLst>
              <a:gd name="adj" fmla="val 50000"/>
            </a:avLst>
          </a:prstGeom>
          <a:solidFill>
            <a:srgbClr val="F1F2F4"/>
          </a:solidFill>
          <a:ln w="0">
            <a:noFill/>
            <a:prstDash val="solid"/>
          </a:ln>
        </p:spPr>
      </p:sp>
      <p:sp>
        <p:nvSpPr>
          <p:cNvPr id="8" name="矩形 7">
            <a:extLst>
              <a:ext uri="{FF2B5EF4-FFF2-40B4-BE49-F238E27FC236}">
                <a16:creationId xmlns:a16="http://schemas.microsoft.com/office/drawing/2014/main" id="{377DE1B8-20E0-4240-9E43-A965D682F153}"/>
              </a:ext>
            </a:extLst>
          </p:cNvPr>
          <p:cNvSpPr>
            <a:spLocks noGrp="1"/>
          </p:cNvSpPr>
          <p:nvPr/>
        </p:nvSpPr>
        <p:spPr>
          <a:xfrm>
            <a:off x="571500" y="1447800"/>
            <a:ext cx="1143000" cy="247650"/>
          </a:xfrm>
          <a:prstGeom prst="rect">
            <a:avLst/>
          </a:prstGeom>
          <a:noFill/>
          <a:ln w="0">
            <a:noFill/>
            <a:prstDash val="solid"/>
          </a:ln>
        </p:spPr>
        <p:txBody>
          <a:bodyPr wrap="square" lIns="0" tIns="0" rIns="0" bIns="0" anchor="ctr">
            <a:noAutofit/>
          </a:bodyPr>
          <a:lstStyle/>
          <a:p>
            <a:pPr algn="ctr">
              <a:buNone/>
              <a:defRPr sz="1050" b="1">
                <a:solidFill>
                  <a:srgbClr val="5E6470"/>
                </a:solidFill>
                <a:latin typeface="Hiragino Sans GB"/>
                <a:ea typeface="Hiragino Sans GB"/>
                <a:cs typeface="Hiragino Sans GB"/>
              </a:defRPr>
            </a:pPr>
            <a:r>
              <a:rPr sz="1050" b="1">
                <a:solidFill>
                  <a:srgbClr val="5E6470"/>
                </a:solidFill>
                <a:latin typeface="Hiragino Sans GB"/>
                <a:ea typeface="Hiragino Sans GB"/>
                <a:cs typeface="Hiragino Sans GB"/>
              </a:rPr>
              <a:t>Length</a:t>
            </a:r>
          </a:p>
        </p:txBody>
      </p:sp>
      <p:sp>
        <p:nvSpPr>
          <p:cNvPr id="9" name="圆角矩形 8">
            <a:extLst>
              <a:ext uri="{FF2B5EF4-FFF2-40B4-BE49-F238E27FC236}">
                <a16:creationId xmlns:a16="http://schemas.microsoft.com/office/drawing/2014/main" id="{E56526CD-2EB4-4ADB-A075-7FA32E8CFBF2}"/>
              </a:ext>
            </a:extLst>
          </p:cNvPr>
          <p:cNvSpPr>
            <a:spLocks noGrp="1"/>
          </p:cNvSpPr>
          <p:nvPr/>
        </p:nvSpPr>
        <p:spPr>
          <a:xfrm>
            <a:off x="6534150" y="1428750"/>
            <a:ext cx="876300" cy="285750"/>
          </a:xfrm>
          <a:prstGeom prst="roundRect">
            <a:avLst>
              <a:gd name="adj" fmla="val 50000"/>
            </a:avLst>
          </a:prstGeom>
          <a:solidFill>
            <a:srgbClr val="F1F2F4"/>
          </a:solidFill>
          <a:ln w="0">
            <a:noFill/>
            <a:prstDash val="solid"/>
          </a:ln>
        </p:spPr>
      </p:sp>
      <p:sp>
        <p:nvSpPr>
          <p:cNvPr id="10" name="矩形 9">
            <a:extLst>
              <a:ext uri="{FF2B5EF4-FFF2-40B4-BE49-F238E27FC236}">
                <a16:creationId xmlns:a16="http://schemas.microsoft.com/office/drawing/2014/main" id="{B52D9120-8DCD-4AA0-89E7-23F7F0B880CE}"/>
              </a:ext>
            </a:extLst>
          </p:cNvPr>
          <p:cNvSpPr>
            <a:spLocks noGrp="1"/>
          </p:cNvSpPr>
          <p:nvPr/>
        </p:nvSpPr>
        <p:spPr>
          <a:xfrm>
            <a:off x="6534150" y="1447800"/>
            <a:ext cx="876300" cy="247650"/>
          </a:xfrm>
          <a:prstGeom prst="rect">
            <a:avLst/>
          </a:prstGeom>
          <a:noFill/>
          <a:ln w="0">
            <a:noFill/>
            <a:prstDash val="solid"/>
          </a:ln>
        </p:spPr>
        <p:txBody>
          <a:bodyPr wrap="square" lIns="0" tIns="0" rIns="0" bIns="0" anchor="ctr">
            <a:noAutofit/>
          </a:bodyPr>
          <a:lstStyle/>
          <a:p>
            <a:pPr algn="ctr">
              <a:buNone/>
              <a:defRPr sz="1050" b="1">
                <a:solidFill>
                  <a:srgbClr val="5E6470"/>
                </a:solidFill>
                <a:latin typeface="Hiragino Sans GB"/>
                <a:ea typeface="Hiragino Sans GB"/>
                <a:cs typeface="Hiragino Sans GB"/>
              </a:defRPr>
            </a:pPr>
            <a:r>
              <a:rPr sz="1050" b="1">
                <a:solidFill>
                  <a:srgbClr val="5E6470"/>
                </a:solidFill>
                <a:latin typeface="Hiragino Sans GB"/>
                <a:ea typeface="Hiragino Sans GB"/>
                <a:cs typeface="Hiragino Sans GB"/>
              </a:rPr>
              <a:t>Clip ratio</a:t>
            </a:r>
          </a:p>
        </p:txBody>
      </p:sp>
      <p:sp>
        <p:nvSpPr>
          <p:cNvPr id="11" name="圆角矩形 10">
            <a:extLst>
              <a:ext uri="{FF2B5EF4-FFF2-40B4-BE49-F238E27FC236}">
                <a16:creationId xmlns:a16="http://schemas.microsoft.com/office/drawing/2014/main" id="{C0F89618-8991-4118-9BF9-29DB0A41626E}"/>
              </a:ext>
            </a:extLst>
          </p:cNvPr>
          <p:cNvSpPr>
            <a:spLocks noGrp="1"/>
          </p:cNvSpPr>
          <p:nvPr/>
        </p:nvSpPr>
        <p:spPr>
          <a:xfrm>
            <a:off x="419100" y="4762500"/>
            <a:ext cx="11353800" cy="1066800"/>
          </a:xfrm>
          <a:prstGeom prst="roundRect">
            <a:avLst>
              <a:gd name="adj" fmla="val 7143"/>
            </a:avLst>
          </a:prstGeom>
          <a:solidFill>
            <a:srgbClr val="FDEBEC"/>
          </a:solidFill>
          <a:ln w="0">
            <a:noFill/>
            <a:prstDash val="solid"/>
          </a:ln>
        </p:spPr>
      </p:sp>
      <p:sp>
        <p:nvSpPr>
          <p:cNvPr id="12" name="矩形 11">
            <a:extLst>
              <a:ext uri="{FF2B5EF4-FFF2-40B4-BE49-F238E27FC236}">
                <a16:creationId xmlns:a16="http://schemas.microsoft.com/office/drawing/2014/main" id="{411B7AF1-0118-4B9C-8F26-864C3C833FD1}"/>
              </a:ext>
            </a:extLst>
          </p:cNvPr>
          <p:cNvSpPr>
            <a:spLocks noGrp="1"/>
          </p:cNvSpPr>
          <p:nvPr/>
        </p:nvSpPr>
        <p:spPr>
          <a:xfrm>
            <a:off x="685800" y="4981575"/>
            <a:ext cx="5715000" cy="342900"/>
          </a:xfrm>
          <a:prstGeom prst="rect">
            <a:avLst/>
          </a:prstGeom>
          <a:noFill/>
          <a:ln w="0">
            <a:noFill/>
            <a:prstDash val="solid"/>
          </a:ln>
        </p:spPr>
        <p:txBody>
          <a:bodyPr wrap="square" lIns="0" tIns="0" rIns="0" bIns="0" anchor="t">
            <a:noAutofit/>
          </a:bodyPr>
          <a:lstStyle/>
          <a:p>
            <a:pPr algn="l">
              <a:buNone/>
              <a:defRPr sz="1950" b="1">
                <a:solidFill>
                  <a:srgbClr val="D94C4C"/>
                </a:solidFill>
                <a:latin typeface="Hiragino Sans GB"/>
                <a:ea typeface="Hiragino Sans GB"/>
                <a:cs typeface="Hiragino Sans GB"/>
              </a:defRPr>
            </a:pPr>
            <a:r>
              <a:rPr sz="1950" b="1">
                <a:solidFill>
                  <a:srgbClr val="D94C4C"/>
                </a:solidFill>
                <a:latin typeface="Hiragino Sans GB"/>
                <a:ea typeface="Hiragino Sans GB"/>
                <a:cs typeface="Hiragino Sans GB"/>
              </a:rPr>
              <a:t>500-token：约少 20% token</a:t>
            </a:r>
          </a:p>
        </p:txBody>
      </p:sp>
      <p:sp>
        <p:nvSpPr>
          <p:cNvPr id="13" name="矩形 12">
            <a:extLst>
              <a:ext uri="{FF2B5EF4-FFF2-40B4-BE49-F238E27FC236}">
                <a16:creationId xmlns:a16="http://schemas.microsoft.com/office/drawing/2014/main" id="{7C025FCD-0140-4995-9F8C-5560E4C6E2C7}"/>
              </a:ext>
            </a:extLst>
          </p:cNvPr>
          <p:cNvSpPr>
            <a:spLocks noGrp="1"/>
          </p:cNvSpPr>
          <p:nvPr/>
        </p:nvSpPr>
        <p:spPr>
          <a:xfrm>
            <a:off x="6762750" y="4924425"/>
            <a:ext cx="4667250" cy="590550"/>
          </a:xfrm>
          <a:prstGeom prst="rect">
            <a:avLst/>
          </a:prstGeom>
          <a:noFill/>
          <a:ln w="0">
            <a:noFill/>
            <a:prstDash val="solid"/>
          </a:ln>
        </p:spPr>
        <p:txBody>
          <a:bodyPr wrap="square" lIns="0" tIns="0" rIns="0" bIns="0" anchor="t">
            <a:noAutofit/>
          </a:bodyPr>
          <a:lstStyle/>
          <a:p>
            <a:pPr algn="l">
              <a:buNone/>
              <a:defRPr sz="1350" b="0">
                <a:solidFill>
                  <a:srgbClr val="101214"/>
                </a:solidFill>
                <a:latin typeface="Hiragino Sans GB"/>
                <a:ea typeface="Hiragino Sans GB"/>
                <a:cs typeface="Hiragino Sans GB"/>
              </a:defRPr>
            </a:pPr>
            <a:r>
              <a:rPr sz="1350" b="0">
                <a:solidFill>
                  <a:srgbClr val="101214"/>
                </a:solidFill>
                <a:latin typeface="Hiragino Sans GB"/>
                <a:ea typeface="Hiragino Sans GB"/>
                <a:cs typeface="Hiragino Sans GB"/>
              </a:rPr>
              <a:t>T²PO 前 20 step 长度先升、后期几乎不触发 clipping；GiGPO 早期长度快速下降，更像粗暴压制探索。</a:t>
            </a:r>
          </a:p>
        </p:txBody>
      </p:sp>
      <p:sp>
        <p:nvSpPr>
          <p:cNvPr id="14" name="直线连接符 13">
            <a:extLst>
              <a:ext uri="{FF2B5EF4-FFF2-40B4-BE49-F238E27FC236}">
                <a16:creationId xmlns:a16="http://schemas.microsoft.com/office/drawing/2014/main" id="{43E2D12E-82CE-494C-8418-A52B32A97916}"/>
              </a:ext>
            </a:extLst>
          </p:cNvPr>
          <p:cNvSpPr>
            <a:spLocks noGrp="1"/>
          </p:cNvSpPr>
          <p:nvPr/>
        </p:nvSpPr>
        <p:spPr>
          <a:xfrm>
            <a:off x="419100" y="6286500"/>
            <a:ext cx="11353800" cy="0"/>
          </a:xfrm>
          <a:prstGeom prst="line">
            <a:avLst/>
          </a:prstGeom>
          <a:noFill/>
          <a:ln w="9525">
            <a:solidFill>
              <a:srgbClr val="B8BCC4"/>
            </a:solidFill>
            <a:prstDash val="solid"/>
          </a:ln>
        </p:spPr>
      </p:sp>
      <p:sp>
        <p:nvSpPr>
          <p:cNvPr id="15" name="矩形 14">
            <a:extLst>
              <a:ext uri="{FF2B5EF4-FFF2-40B4-BE49-F238E27FC236}">
                <a16:creationId xmlns:a16="http://schemas.microsoft.com/office/drawing/2014/main" id="{3218787C-0698-4376-879A-9DA057FCDB22}"/>
              </a:ext>
            </a:extLst>
          </p:cNvPr>
          <p:cNvSpPr>
            <a:spLocks noGrp="1"/>
          </p:cNvSpPr>
          <p:nvPr/>
        </p:nvSpPr>
        <p:spPr>
          <a:xfrm>
            <a:off x="419100" y="6362700"/>
            <a:ext cx="10763250" cy="219075"/>
          </a:xfrm>
          <a:prstGeom prst="rect">
            <a:avLst/>
          </a:prstGeom>
          <a:noFill/>
          <a:ln w="0">
            <a:noFill/>
            <a:prstDash val="solid"/>
          </a:ln>
        </p:spPr>
        <p:txBody>
          <a:bodyPr wrap="square" lIns="0" tIns="0" rIns="0" bIns="0" anchor="t">
            <a:noAutofit/>
          </a:bodyPr>
          <a:lstStyle/>
          <a:p>
            <a:pPr algn="l">
              <a:buNone/>
              <a:defRPr sz="788" b="0">
                <a:solidFill>
                  <a:srgbClr val="5E6470"/>
                </a:solidFill>
                <a:latin typeface="Helvetica Neue"/>
                <a:ea typeface="Helvetica Neue"/>
                <a:cs typeface="Helvetica Neue"/>
              </a:defRPr>
            </a:pPr>
            <a:r>
              <a:rPr sz="788" b="0">
                <a:solidFill>
                  <a:srgbClr val="5E6470"/>
                </a:solidFill>
                <a:latin typeface="Helvetica Neue"/>
                <a:ea typeface="Helvetica Neue"/>
                <a:cs typeface="Helvetica Neue"/>
              </a:rPr>
              <a:t>Wang et al., T²PO, arXiv:2605.02178, Appendix Figure 6–7</a:t>
            </a:r>
          </a:p>
        </p:txBody>
      </p:sp>
      <p:sp>
        <p:nvSpPr>
          <p:cNvPr id="16" name="矩形 15">
            <a:extLst>
              <a:ext uri="{FF2B5EF4-FFF2-40B4-BE49-F238E27FC236}">
                <a16:creationId xmlns:a16="http://schemas.microsoft.com/office/drawing/2014/main" id="{BA57E205-E4DB-4A97-A06F-691E63CBDDBC}"/>
              </a:ext>
            </a:extLst>
          </p:cNvPr>
          <p:cNvSpPr>
            <a:spLocks noGrp="1"/>
          </p:cNvSpPr>
          <p:nvPr/>
        </p:nvSpPr>
        <p:spPr>
          <a:xfrm>
            <a:off x="11334750" y="6362700"/>
            <a:ext cx="438150" cy="219075"/>
          </a:xfrm>
          <a:prstGeom prst="rect">
            <a:avLst/>
          </a:prstGeom>
          <a:noFill/>
          <a:ln w="0">
            <a:noFill/>
            <a:prstDash val="solid"/>
          </a:ln>
        </p:spPr>
        <p:txBody>
          <a:bodyPr wrap="square" lIns="0" tIns="0" rIns="0" bIns="0" anchor="t">
            <a:noAutofit/>
          </a:bodyPr>
          <a:lstStyle/>
          <a:p>
            <a:pPr algn="r">
              <a:buNone/>
              <a:defRPr sz="825" b="0">
                <a:solidFill>
                  <a:srgbClr val="5E6470"/>
                </a:solidFill>
                <a:latin typeface="Helvetica Neue"/>
                <a:ea typeface="Helvetica Neue"/>
                <a:cs typeface="Helvetica Neue"/>
              </a:defRPr>
            </a:pPr>
            <a:r>
              <a:rPr sz="825" b="0">
                <a:solidFill>
                  <a:srgbClr val="5E6470"/>
                </a:solidFill>
                <a:latin typeface="Helvetica Neue"/>
                <a:ea typeface="Helvetica Neue"/>
                <a:cs typeface="Helvetica Neue"/>
              </a:rPr>
              <a:t>27</a:t>
            </a:r>
          </a:p>
        </p:txBody>
      </p:sp>
      <p:pic>
        <p:nvPicPr>
          <p:cNvPr id="34" name="图片 35"/>
          <p:cNvPicPr>
            <a:picLocks noChangeAspect="1"/>
          </p:cNvPicPr>
          <p:nvPr/>
        </p:nvPicPr>
        <p:blipFill>
          <a:blip r:embed="rId3"/>
          <a:stretch/>
        </p:blipFill>
        <p:spPr>
          <a:xfrm>
            <a:off x="568416" y="2215037"/>
            <a:ext cx="5092518" cy="1551627"/>
          </a:xfrm>
          <a:prstGeom prst="roundRect">
            <a:avLst/>
          </a:prstGeom>
        </p:spPr>
      </p:pic>
      <p:pic>
        <p:nvPicPr>
          <p:cNvPr id="35" name="图片 36"/>
          <p:cNvPicPr>
            <a:picLocks noChangeAspect="1"/>
          </p:cNvPicPr>
          <p:nvPr/>
        </p:nvPicPr>
        <p:blipFill>
          <a:blip r:embed="rId4"/>
          <a:stretch/>
        </p:blipFill>
        <p:spPr>
          <a:xfrm>
            <a:off x="6525012" y="2233132"/>
            <a:ext cx="5104626" cy="1515436"/>
          </a:xfrm>
          <a:prstGeom prst="roundRect">
            <a:avLst/>
          </a:prstGeom>
        </p:spPr>
      </p:pic>
    </p:spTree>
    <p:extLst>
      <p:ext uri="{BB962C8B-B14F-4D97-AF65-F5344CB8AC3E}">
        <p14:creationId xmlns:p14="http://schemas.microsoft.com/office/powerpoint/2010/main" val="21435659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09B04460-BEC2-F791-E8B5-1A56DD0E4DF0}"/>
              </a:ext>
            </a:extLst>
          </p:cNvPr>
          <p:cNvSpPr>
            <a:spLocks noGrp="1"/>
          </p:cNvSpPr>
          <p:nvPr/>
        </p:nvSpPr>
        <p:spPr>
          <a:xfrm>
            <a:off x="419100" y="1846305"/>
            <a:ext cx="10726695" cy="1809750"/>
          </a:xfrm>
          <a:prstGeom prst="rect">
            <a:avLst/>
          </a:prstGeom>
          <a:noFill/>
          <a:ln w="0">
            <a:noFill/>
            <a:prstDash val="solid"/>
          </a:ln>
        </p:spPr>
        <p:txBody>
          <a:bodyPr wrap="square" lIns="0" tIns="0" rIns="0" bIns="0" anchor="b">
            <a:noAutofit/>
          </a:bodyPr>
          <a:lstStyle/>
          <a:p>
            <a:pPr algn="l">
              <a:buNone/>
              <a:defRPr sz="4350" b="1">
                <a:solidFill>
                  <a:srgbClr val="101214"/>
                </a:solidFill>
                <a:latin typeface="Hiragino Sans GB"/>
                <a:ea typeface="Hiragino Sans GB"/>
                <a:cs typeface="Hiragino Sans GB"/>
              </a:defRPr>
            </a:pPr>
            <a:endParaRPr/>
          </a:p>
        </p:txBody>
      </p:sp>
      <p:sp>
        <p:nvSpPr>
          <p:cNvPr id="5" name="文本框 4">
            <a:extLst>
              <a:ext uri="{FF2B5EF4-FFF2-40B4-BE49-F238E27FC236}">
                <a16:creationId xmlns:a16="http://schemas.microsoft.com/office/drawing/2014/main" id="{3E5F628E-39A2-06E0-3976-84725ED03AD1}"/>
              </a:ext>
            </a:extLst>
          </p:cNvPr>
          <p:cNvSpPr>
            <a:spLocks noGrp="1"/>
          </p:cNvSpPr>
          <p:nvPr/>
        </p:nvSpPr>
        <p:spPr>
          <a:xfrm>
            <a:off x="128337" y="2371908"/>
            <a:ext cx="11935326" cy="1446550"/>
          </a:xfrm>
          <a:prstGeom prst="rect">
            <a:avLst/>
          </a:prstGeom>
          <a:noFill/>
        </p:spPr>
        <p:txBody>
          <a:bodyPr wrap="square">
            <a:spAutoFit/>
          </a:bodyPr>
          <a:lstStyle/>
          <a:p>
            <a:pPr algn="ctr"/>
            <a:r>
              <a:rPr sz="4400" b="1" dirty="0"/>
              <a:t>Agent0-VL</a:t>
            </a:r>
            <a:r>
              <a:rPr lang="en-US" sz="4400" b="1" dirty="0"/>
              <a:t>: </a:t>
            </a:r>
            <a:r>
              <a:rPr lang="en" altLang="zh-CN" sz="4400" b="1" dirty="0"/>
              <a:t>Exploring Self-Evolving Agent for Tool-Integrated Vision-Language Reasoning</a:t>
            </a:r>
          </a:p>
        </p:txBody>
      </p:sp>
      <p:sp>
        <p:nvSpPr>
          <p:cNvPr id="6" name="矩形 5">
            <a:extLst>
              <a:ext uri="{FF2B5EF4-FFF2-40B4-BE49-F238E27FC236}">
                <a16:creationId xmlns:a16="http://schemas.microsoft.com/office/drawing/2014/main" id="{3DE99FA2-1243-D7C5-618A-2218CD935318}"/>
              </a:ext>
            </a:extLst>
          </p:cNvPr>
          <p:cNvSpPr>
            <a:spLocks noGrp="1"/>
          </p:cNvSpPr>
          <p:nvPr/>
        </p:nvSpPr>
        <p:spPr>
          <a:xfrm>
            <a:off x="1428750" y="4010208"/>
            <a:ext cx="9334500" cy="342900"/>
          </a:xfrm>
          <a:prstGeom prst="rect">
            <a:avLst/>
          </a:prstGeom>
          <a:noFill/>
          <a:ln w="0">
            <a:noFill/>
            <a:prstDash val="solid"/>
          </a:ln>
        </p:spPr>
        <p:txBody>
          <a:bodyPr wrap="square" lIns="0" tIns="0" rIns="0" bIns="0" anchor="t">
            <a:noAutofit/>
          </a:bodyPr>
          <a:lstStyle/>
          <a:p>
            <a:pPr algn="ctr">
              <a:buNone/>
              <a:defRPr sz="1350" b="0">
                <a:solidFill>
                  <a:srgbClr val="5E6470"/>
                </a:solidFill>
                <a:latin typeface="Helvetica Neue"/>
                <a:ea typeface="Helvetica Neue"/>
                <a:cs typeface="Helvetica Neue"/>
              </a:defRPr>
            </a:pPr>
            <a:r>
              <a:rPr lang="en-US" altLang="zh-CN" sz="1350" dirty="0">
                <a:solidFill>
                  <a:srgbClr val="5E6470"/>
                </a:solidFill>
                <a:latin typeface="Helvetica Neue"/>
                <a:ea typeface="Helvetica Neue"/>
                <a:cs typeface="Helvetica Neue"/>
              </a:rPr>
              <a:t>ICML</a:t>
            </a:r>
            <a:r>
              <a:rPr lang="zh-CN" altLang="en-US" sz="1350" dirty="0">
                <a:solidFill>
                  <a:srgbClr val="5E6470"/>
                </a:solidFill>
                <a:latin typeface="Helvetica Neue"/>
                <a:ea typeface="Helvetica Neue"/>
                <a:cs typeface="Helvetica Neue"/>
              </a:rPr>
              <a:t>’</a:t>
            </a:r>
            <a:r>
              <a:rPr lang="en-US" altLang="zh-CN" sz="1350" dirty="0">
                <a:solidFill>
                  <a:srgbClr val="5E6470"/>
                </a:solidFill>
                <a:latin typeface="Helvetica Neue"/>
                <a:ea typeface="Helvetica Neue"/>
                <a:cs typeface="Helvetica Neue"/>
              </a:rPr>
              <a:t>26</a:t>
            </a:r>
            <a:r>
              <a:rPr lang="zh-CN" altLang="en-US" sz="1350" dirty="0">
                <a:solidFill>
                  <a:srgbClr val="5E6470"/>
                </a:solidFill>
                <a:latin typeface="Helvetica Neue"/>
                <a:ea typeface="Helvetica Neue"/>
                <a:cs typeface="Helvetica Neue"/>
              </a:rPr>
              <a:t> </a:t>
            </a:r>
            <a:r>
              <a:rPr lang="en-US" altLang="zh-CN" sz="1350" dirty="0">
                <a:solidFill>
                  <a:srgbClr val="5E6470"/>
                </a:solidFill>
                <a:latin typeface="Helvetica Neue"/>
                <a:ea typeface="Helvetica Neue"/>
                <a:cs typeface="Helvetica Neue"/>
              </a:rPr>
              <a:t>oral</a:t>
            </a:r>
            <a:endParaRPr sz="1350" dirty="0">
              <a:solidFill>
                <a:srgbClr val="5E6470"/>
              </a:solidFill>
              <a:latin typeface="Helvetica Neue"/>
              <a:ea typeface="Helvetica Neue"/>
              <a:cs typeface="Helvetica Neue"/>
            </a:endParaRPr>
          </a:p>
        </p:txBody>
      </p:sp>
    </p:spTree>
    <p:extLst>
      <p:ext uri="{BB962C8B-B14F-4D97-AF65-F5344CB8AC3E}">
        <p14:creationId xmlns:p14="http://schemas.microsoft.com/office/powerpoint/2010/main" val="15230968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9195C943-D42E-4A63-BBD4-C190D6CABDD0}"/>
              </a:ext>
            </a:extLst>
          </p:cNvPr>
          <p:cNvSpPr>
            <a:spLocks noGrp="1"/>
          </p:cNvSpPr>
          <p:nvPr/>
        </p:nvSpPr>
        <p:spPr>
          <a:xfrm>
            <a:off x="419100" y="171450"/>
            <a:ext cx="2952750" cy="228600"/>
          </a:xfrm>
          <a:prstGeom prst="rect">
            <a:avLst/>
          </a:prstGeom>
          <a:noFill/>
          <a:ln w="0">
            <a:noFill/>
            <a:prstDash val="solid"/>
          </a:ln>
        </p:spPr>
        <p:txBody>
          <a:bodyPr wrap="square" lIns="0" tIns="0" rIns="0" bIns="0" anchor="t">
            <a:noAutofit/>
          </a:bodyPr>
          <a:lstStyle/>
          <a:p>
            <a:pPr algn="l">
              <a:buNone/>
              <a:defRPr sz="975" b="1">
                <a:solidFill>
                  <a:srgbClr val="5E6470"/>
                </a:solidFill>
                <a:latin typeface="Helvetica Neue"/>
                <a:ea typeface="Helvetica Neue"/>
                <a:cs typeface="Helvetica Neue"/>
              </a:defRPr>
            </a:pPr>
            <a:r>
              <a:rPr sz="975" b="1">
                <a:solidFill>
                  <a:srgbClr val="5E6470"/>
                </a:solidFill>
                <a:latin typeface="Helvetica Neue"/>
                <a:ea typeface="Helvetica Neue"/>
                <a:cs typeface="Helvetica Neue"/>
              </a:rPr>
              <a:t>II · AGENT0-VL</a:t>
            </a:r>
          </a:p>
        </p:txBody>
      </p:sp>
      <p:sp>
        <p:nvSpPr>
          <p:cNvPr id="2" name="矩形 1">
            <a:extLst>
              <a:ext uri="{FF2B5EF4-FFF2-40B4-BE49-F238E27FC236}">
                <a16:creationId xmlns:a16="http://schemas.microsoft.com/office/drawing/2014/main" id="{8B601388-6AFD-4342-A697-6B96E97496E2}"/>
              </a:ext>
            </a:extLst>
          </p:cNvPr>
          <p:cNvSpPr>
            <a:spLocks noGrp="1"/>
          </p:cNvSpPr>
          <p:nvPr/>
        </p:nvSpPr>
        <p:spPr>
          <a:xfrm>
            <a:off x="419100" y="409575"/>
            <a:ext cx="11353800" cy="514350"/>
          </a:xfrm>
          <a:prstGeom prst="rect">
            <a:avLst/>
          </a:prstGeom>
          <a:noFill/>
          <a:ln w="0">
            <a:noFill/>
            <a:prstDash val="solid"/>
          </a:ln>
        </p:spPr>
        <p:txBody>
          <a:bodyPr wrap="square" lIns="0" tIns="0" rIns="0" bIns="0" anchor="t">
            <a:noAutofit/>
          </a:bodyPr>
          <a:lstStyle/>
          <a:p>
            <a:pPr algn="l">
              <a:buNone/>
              <a:defRPr sz="2850" b="1">
                <a:solidFill>
                  <a:srgbClr val="101214"/>
                </a:solidFill>
                <a:latin typeface="Hiragino Sans GB"/>
                <a:ea typeface="Hiragino Sans GB"/>
                <a:cs typeface="Hiragino Sans GB"/>
              </a:defRPr>
            </a:pPr>
            <a:r>
              <a:rPr sz="2850" b="1">
                <a:solidFill>
                  <a:srgbClr val="101214"/>
                </a:solidFill>
                <a:latin typeface="Hiragino Sans GB"/>
                <a:ea typeface="Hiragino Sans GB"/>
                <a:cs typeface="Hiragino Sans GB"/>
              </a:rPr>
              <a:t>Agent0-VL：工具也参与判题</a:t>
            </a:r>
          </a:p>
        </p:txBody>
      </p:sp>
      <p:sp>
        <p:nvSpPr>
          <p:cNvPr id="3" name="圆角矩形 2">
            <a:extLst>
              <a:ext uri="{FF2B5EF4-FFF2-40B4-BE49-F238E27FC236}">
                <a16:creationId xmlns:a16="http://schemas.microsoft.com/office/drawing/2014/main" id="{90F634A6-7452-4461-88BD-811EA45129A9}"/>
              </a:ext>
            </a:extLst>
          </p:cNvPr>
          <p:cNvSpPr>
            <a:spLocks noGrp="1"/>
          </p:cNvSpPr>
          <p:nvPr/>
        </p:nvSpPr>
        <p:spPr>
          <a:xfrm>
            <a:off x="5191125" y="1200150"/>
            <a:ext cx="6581775" cy="4495800"/>
          </a:xfrm>
          <a:prstGeom prst="roundRect">
            <a:avLst>
              <a:gd name="adj" fmla="val 1695"/>
            </a:avLst>
          </a:prstGeom>
          <a:solidFill>
            <a:srgbClr val="F1F2F4"/>
          </a:solidFill>
          <a:ln w="9525">
            <a:solidFill>
              <a:srgbClr val="B8BCC4"/>
            </a:solidFill>
            <a:prstDash val="solid"/>
          </a:ln>
        </p:spPr>
      </p:sp>
      <p:pic>
        <p:nvPicPr>
          <p:cNvPr id="21" name="图片 18"/>
          <p:cNvPicPr>
            <a:picLocks noChangeAspect="1"/>
          </p:cNvPicPr>
          <p:nvPr/>
        </p:nvPicPr>
        <p:blipFill>
          <a:blip r:embed="rId3"/>
          <a:stretch/>
        </p:blipFill>
        <p:spPr>
          <a:xfrm>
            <a:off x="5248275" y="1800368"/>
            <a:ext cx="6467475" cy="3295363"/>
          </a:xfrm>
          <a:prstGeom prst="roundRect">
            <a:avLst>
              <a:gd name="adj" fmla="val 1304"/>
            </a:avLst>
          </a:prstGeom>
        </p:spPr>
      </p:pic>
      <p:sp>
        <p:nvSpPr>
          <p:cNvPr id="5" name="圆角矩形 4">
            <a:extLst>
              <a:ext uri="{FF2B5EF4-FFF2-40B4-BE49-F238E27FC236}">
                <a16:creationId xmlns:a16="http://schemas.microsoft.com/office/drawing/2014/main" id="{1AB7080C-8904-4E73-B85F-C449999A3CA9}"/>
              </a:ext>
            </a:extLst>
          </p:cNvPr>
          <p:cNvSpPr>
            <a:spLocks noGrp="1"/>
          </p:cNvSpPr>
          <p:nvPr/>
        </p:nvSpPr>
        <p:spPr>
          <a:xfrm>
            <a:off x="419100" y="1381125"/>
            <a:ext cx="1809750" cy="285750"/>
          </a:xfrm>
          <a:prstGeom prst="roundRect">
            <a:avLst>
              <a:gd name="adj" fmla="val 50000"/>
            </a:avLst>
          </a:prstGeom>
          <a:solidFill>
            <a:srgbClr val="EAF5FB"/>
          </a:solidFill>
          <a:ln w="0">
            <a:noFill/>
            <a:prstDash val="solid"/>
          </a:ln>
        </p:spPr>
      </p:sp>
      <p:sp>
        <p:nvSpPr>
          <p:cNvPr id="6" name="矩形 5">
            <a:extLst>
              <a:ext uri="{FF2B5EF4-FFF2-40B4-BE49-F238E27FC236}">
                <a16:creationId xmlns:a16="http://schemas.microsoft.com/office/drawing/2014/main" id="{CA7968A9-2572-44F4-BB67-234CED533833}"/>
              </a:ext>
            </a:extLst>
          </p:cNvPr>
          <p:cNvSpPr>
            <a:spLocks noGrp="1"/>
          </p:cNvSpPr>
          <p:nvPr/>
        </p:nvSpPr>
        <p:spPr>
          <a:xfrm>
            <a:off x="419100" y="1400175"/>
            <a:ext cx="1809750" cy="247650"/>
          </a:xfrm>
          <a:prstGeom prst="rect">
            <a:avLst/>
          </a:prstGeom>
          <a:noFill/>
          <a:ln w="0">
            <a:noFill/>
            <a:prstDash val="solid"/>
          </a:ln>
        </p:spPr>
        <p:txBody>
          <a:bodyPr wrap="square" lIns="0" tIns="0" rIns="0" bIns="0" anchor="ctr">
            <a:noAutofit/>
          </a:bodyPr>
          <a:lstStyle/>
          <a:p>
            <a:pPr algn="ctr">
              <a:buNone/>
              <a:defRPr sz="1050" b="1">
                <a:solidFill>
                  <a:srgbClr val="2787F5"/>
                </a:solidFill>
                <a:latin typeface="Hiragino Sans GB"/>
                <a:ea typeface="Hiragino Sans GB"/>
                <a:cs typeface="Hiragino Sans GB"/>
              </a:defRPr>
            </a:pPr>
            <a:r>
              <a:rPr sz="1050" b="1">
                <a:solidFill>
                  <a:srgbClr val="2787F5"/>
                </a:solidFill>
                <a:latin typeface="Hiragino Sans GB"/>
                <a:ea typeface="Hiragino Sans GB"/>
                <a:cs typeface="Hiragino Sans GB"/>
              </a:rPr>
              <a:t>ONE SHARED POLICY</a:t>
            </a:r>
          </a:p>
        </p:txBody>
      </p:sp>
      <p:sp>
        <p:nvSpPr>
          <p:cNvPr id="7" name="矩形 6">
            <a:extLst>
              <a:ext uri="{FF2B5EF4-FFF2-40B4-BE49-F238E27FC236}">
                <a16:creationId xmlns:a16="http://schemas.microsoft.com/office/drawing/2014/main" id="{48971642-E8C6-444C-BEC3-FFFE134EAB01}"/>
              </a:ext>
            </a:extLst>
          </p:cNvPr>
          <p:cNvSpPr>
            <a:spLocks noGrp="1"/>
          </p:cNvSpPr>
          <p:nvPr/>
        </p:nvSpPr>
        <p:spPr>
          <a:xfrm>
            <a:off x="419100" y="2038350"/>
            <a:ext cx="2000250" cy="342900"/>
          </a:xfrm>
          <a:prstGeom prst="rect">
            <a:avLst/>
          </a:prstGeom>
          <a:noFill/>
          <a:ln w="0">
            <a:noFill/>
            <a:prstDash val="solid"/>
          </a:ln>
        </p:spPr>
        <p:txBody>
          <a:bodyPr wrap="square" lIns="0" tIns="0" rIns="0" bIns="0" anchor="t">
            <a:noAutofit/>
          </a:bodyPr>
          <a:lstStyle/>
          <a:p>
            <a:pPr algn="l">
              <a:buNone/>
              <a:defRPr sz="2025" b="1">
                <a:solidFill>
                  <a:srgbClr val="101214"/>
                </a:solidFill>
                <a:latin typeface="Helvetica Neue"/>
                <a:ea typeface="Helvetica Neue"/>
                <a:cs typeface="Helvetica Neue"/>
              </a:defRPr>
            </a:pPr>
            <a:r>
              <a:rPr sz="2025" b="1">
                <a:solidFill>
                  <a:srgbClr val="101214"/>
                </a:solidFill>
                <a:latin typeface="Helvetica Neue"/>
                <a:ea typeface="Helvetica Neue"/>
                <a:cs typeface="Helvetica Neue"/>
              </a:rPr>
              <a:t>Solver</a:t>
            </a:r>
          </a:p>
        </p:txBody>
      </p:sp>
      <p:sp>
        <p:nvSpPr>
          <p:cNvPr id="8" name="矩形 7">
            <a:extLst>
              <a:ext uri="{FF2B5EF4-FFF2-40B4-BE49-F238E27FC236}">
                <a16:creationId xmlns:a16="http://schemas.microsoft.com/office/drawing/2014/main" id="{DA33D11F-884C-4933-9BCD-846D62B03F68}"/>
              </a:ext>
            </a:extLst>
          </p:cNvPr>
          <p:cNvSpPr>
            <a:spLocks noGrp="1"/>
          </p:cNvSpPr>
          <p:nvPr/>
        </p:nvSpPr>
        <p:spPr>
          <a:xfrm>
            <a:off x="419100" y="2457450"/>
            <a:ext cx="4095750" cy="495300"/>
          </a:xfrm>
          <a:prstGeom prst="rect">
            <a:avLst/>
          </a:prstGeom>
          <a:noFill/>
          <a:ln w="0">
            <a:noFill/>
            <a:prstDash val="solid"/>
          </a:ln>
        </p:spPr>
        <p:txBody>
          <a:bodyPr wrap="square" lIns="0" tIns="0" rIns="0" bIns="0" anchor="t">
            <a:noAutofit/>
          </a:bodyPr>
          <a:lstStyle/>
          <a:p>
            <a:pPr algn="l">
              <a:buNone/>
              <a:defRPr sz="1350" b="0">
                <a:solidFill>
                  <a:srgbClr val="5E6470"/>
                </a:solidFill>
                <a:latin typeface="Hiragino Sans GB"/>
                <a:ea typeface="Hiragino Sans GB"/>
                <a:cs typeface="Hiragino Sans GB"/>
              </a:defRPr>
            </a:pPr>
            <a:r>
              <a:rPr sz="1350" b="0">
                <a:solidFill>
                  <a:srgbClr val="5E6470"/>
                </a:solidFill>
                <a:latin typeface="Hiragino Sans GB"/>
                <a:ea typeface="Hiragino Sans GB"/>
                <a:cs typeface="Hiragino Sans GB"/>
              </a:rPr>
              <a:t>多轮推理 + Python / crop / OCR / visual tools</a:t>
            </a:r>
          </a:p>
        </p:txBody>
      </p:sp>
      <p:sp>
        <p:nvSpPr>
          <p:cNvPr id="9" name="矩形 8">
            <a:extLst>
              <a:ext uri="{FF2B5EF4-FFF2-40B4-BE49-F238E27FC236}">
                <a16:creationId xmlns:a16="http://schemas.microsoft.com/office/drawing/2014/main" id="{3844AD27-A334-4552-8734-92C9234CB6A1}"/>
              </a:ext>
            </a:extLst>
          </p:cNvPr>
          <p:cNvSpPr>
            <a:spLocks noGrp="1"/>
          </p:cNvSpPr>
          <p:nvPr/>
        </p:nvSpPr>
        <p:spPr>
          <a:xfrm>
            <a:off x="419100" y="3238500"/>
            <a:ext cx="2000250" cy="342900"/>
          </a:xfrm>
          <a:prstGeom prst="rect">
            <a:avLst/>
          </a:prstGeom>
          <a:noFill/>
          <a:ln w="0">
            <a:noFill/>
            <a:prstDash val="solid"/>
          </a:ln>
        </p:spPr>
        <p:txBody>
          <a:bodyPr wrap="square" lIns="0" tIns="0" rIns="0" bIns="0" anchor="t">
            <a:noAutofit/>
          </a:bodyPr>
          <a:lstStyle/>
          <a:p>
            <a:pPr algn="l">
              <a:buNone/>
              <a:defRPr sz="2025" b="1">
                <a:solidFill>
                  <a:srgbClr val="101214"/>
                </a:solidFill>
                <a:latin typeface="Helvetica Neue"/>
                <a:ea typeface="Helvetica Neue"/>
                <a:cs typeface="Helvetica Neue"/>
              </a:defRPr>
            </a:pPr>
            <a:r>
              <a:rPr sz="2025" b="1">
                <a:solidFill>
                  <a:srgbClr val="101214"/>
                </a:solidFill>
                <a:latin typeface="Helvetica Neue"/>
                <a:ea typeface="Helvetica Neue"/>
                <a:cs typeface="Helvetica Neue"/>
              </a:rPr>
              <a:t>Verifier</a:t>
            </a:r>
          </a:p>
        </p:txBody>
      </p:sp>
      <p:sp>
        <p:nvSpPr>
          <p:cNvPr id="10" name="矩形 9">
            <a:extLst>
              <a:ext uri="{FF2B5EF4-FFF2-40B4-BE49-F238E27FC236}">
                <a16:creationId xmlns:a16="http://schemas.microsoft.com/office/drawing/2014/main" id="{53AFC566-E6AA-4673-9213-5D231FDD5F54}"/>
              </a:ext>
            </a:extLst>
          </p:cNvPr>
          <p:cNvSpPr>
            <a:spLocks noGrp="1"/>
          </p:cNvSpPr>
          <p:nvPr/>
        </p:nvSpPr>
        <p:spPr>
          <a:xfrm>
            <a:off x="419100" y="3657600"/>
            <a:ext cx="4286250" cy="685800"/>
          </a:xfrm>
          <a:prstGeom prst="rect">
            <a:avLst/>
          </a:prstGeom>
          <a:noFill/>
          <a:ln w="0">
            <a:noFill/>
            <a:prstDash val="solid"/>
          </a:ln>
        </p:spPr>
        <p:txBody>
          <a:bodyPr wrap="square" lIns="0" tIns="0" rIns="0" bIns="0" anchor="t">
            <a:noAutofit/>
          </a:bodyPr>
          <a:lstStyle/>
          <a:p>
            <a:pPr algn="l">
              <a:buNone/>
              <a:defRPr sz="1350" b="0">
                <a:solidFill>
                  <a:srgbClr val="5E6470"/>
                </a:solidFill>
                <a:latin typeface="Hiragino Sans GB"/>
                <a:ea typeface="Hiragino Sans GB"/>
                <a:cs typeface="Hiragino Sans GB"/>
              </a:defRPr>
            </a:pPr>
            <a:r>
              <a:rPr sz="1350" b="0">
                <a:solidFill>
                  <a:srgbClr val="5E6470"/>
                </a:solidFill>
                <a:latin typeface="Hiragino Sans GB"/>
                <a:ea typeface="Hiragino Sans GB"/>
                <a:cs typeface="Hiragino Sans GB"/>
              </a:rPr>
              <a:t>逐步输出 score、confidence、critique，并可重新调用工具交叉核验。</a:t>
            </a:r>
          </a:p>
        </p:txBody>
      </p:sp>
      <p:sp>
        <p:nvSpPr>
          <p:cNvPr id="11" name="矩形 10">
            <a:extLst>
              <a:ext uri="{FF2B5EF4-FFF2-40B4-BE49-F238E27FC236}">
                <a16:creationId xmlns:a16="http://schemas.microsoft.com/office/drawing/2014/main" id="{A581C3AD-5558-4F42-9C70-CEC6834F57EB}"/>
              </a:ext>
            </a:extLst>
          </p:cNvPr>
          <p:cNvSpPr>
            <a:spLocks noGrp="1"/>
          </p:cNvSpPr>
          <p:nvPr/>
        </p:nvSpPr>
        <p:spPr>
          <a:xfrm>
            <a:off x="419100" y="4667250"/>
            <a:ext cx="2286000" cy="342900"/>
          </a:xfrm>
          <a:prstGeom prst="rect">
            <a:avLst/>
          </a:prstGeom>
          <a:noFill/>
          <a:ln w="0">
            <a:noFill/>
            <a:prstDash val="solid"/>
          </a:ln>
        </p:spPr>
        <p:txBody>
          <a:bodyPr wrap="square" lIns="0" tIns="0" rIns="0" bIns="0" anchor="t">
            <a:noAutofit/>
          </a:bodyPr>
          <a:lstStyle/>
          <a:p>
            <a:pPr algn="l">
              <a:buNone/>
              <a:defRPr sz="2025" b="1">
                <a:solidFill>
                  <a:srgbClr val="101214"/>
                </a:solidFill>
                <a:latin typeface="Helvetica Neue"/>
                <a:ea typeface="Helvetica Neue"/>
                <a:cs typeface="Helvetica Neue"/>
              </a:defRPr>
            </a:pPr>
            <a:r>
              <a:rPr sz="2025" b="1">
                <a:solidFill>
                  <a:srgbClr val="101214"/>
                </a:solidFill>
                <a:latin typeface="Helvetica Neue"/>
                <a:ea typeface="Helvetica Neue"/>
                <a:cs typeface="Helvetica Neue"/>
              </a:rPr>
              <a:t>Self-Repair</a:t>
            </a:r>
          </a:p>
        </p:txBody>
      </p:sp>
      <p:sp>
        <p:nvSpPr>
          <p:cNvPr id="12" name="矩形 11">
            <a:extLst>
              <a:ext uri="{FF2B5EF4-FFF2-40B4-BE49-F238E27FC236}">
                <a16:creationId xmlns:a16="http://schemas.microsoft.com/office/drawing/2014/main" id="{AA833498-D8F1-40DE-831E-150CE05CA9D9}"/>
              </a:ext>
            </a:extLst>
          </p:cNvPr>
          <p:cNvSpPr>
            <a:spLocks noGrp="1"/>
          </p:cNvSpPr>
          <p:nvPr/>
        </p:nvSpPr>
        <p:spPr>
          <a:xfrm>
            <a:off x="419100" y="5086350"/>
            <a:ext cx="4191000" cy="495300"/>
          </a:xfrm>
          <a:prstGeom prst="rect">
            <a:avLst/>
          </a:prstGeom>
          <a:noFill/>
          <a:ln w="0">
            <a:noFill/>
            <a:prstDash val="solid"/>
          </a:ln>
        </p:spPr>
        <p:txBody>
          <a:bodyPr wrap="square" lIns="0" tIns="0" rIns="0" bIns="0" anchor="t">
            <a:noAutofit/>
          </a:bodyPr>
          <a:lstStyle/>
          <a:p>
            <a:pPr algn="l">
              <a:buNone/>
              <a:defRPr sz="1350" b="0">
                <a:solidFill>
                  <a:srgbClr val="5E6470"/>
                </a:solidFill>
                <a:latin typeface="Hiragino Sans GB"/>
                <a:ea typeface="Hiragino Sans GB"/>
                <a:cs typeface="Hiragino Sans GB"/>
              </a:defRPr>
            </a:pPr>
            <a:r>
              <a:rPr sz="1350" b="0">
                <a:solidFill>
                  <a:srgbClr val="5E6470"/>
                </a:solidFill>
                <a:latin typeface="Hiragino Sans GB"/>
                <a:ea typeface="Hiragino Sans GB"/>
                <a:cs typeface="Hiragino Sans GB"/>
              </a:rPr>
              <a:t>低 confidence 时只 PATCH 错误片段，而非整条轨迹重来。</a:t>
            </a:r>
          </a:p>
        </p:txBody>
      </p:sp>
      <p:sp>
        <p:nvSpPr>
          <p:cNvPr id="13" name="直线连接符 12">
            <a:extLst>
              <a:ext uri="{FF2B5EF4-FFF2-40B4-BE49-F238E27FC236}">
                <a16:creationId xmlns:a16="http://schemas.microsoft.com/office/drawing/2014/main" id="{C2B76CAC-C5E0-4E31-892D-48AA3274F0F2}"/>
              </a:ext>
            </a:extLst>
          </p:cNvPr>
          <p:cNvSpPr>
            <a:spLocks noGrp="1"/>
          </p:cNvSpPr>
          <p:nvPr/>
        </p:nvSpPr>
        <p:spPr>
          <a:xfrm>
            <a:off x="419100" y="6286500"/>
            <a:ext cx="11353800" cy="0"/>
          </a:xfrm>
          <a:prstGeom prst="line">
            <a:avLst/>
          </a:prstGeom>
          <a:noFill/>
          <a:ln w="9525">
            <a:solidFill>
              <a:srgbClr val="B8BCC4"/>
            </a:solidFill>
            <a:prstDash val="solid"/>
          </a:ln>
        </p:spPr>
      </p:sp>
      <p:sp>
        <p:nvSpPr>
          <p:cNvPr id="14" name="矩形 13">
            <a:extLst>
              <a:ext uri="{FF2B5EF4-FFF2-40B4-BE49-F238E27FC236}">
                <a16:creationId xmlns:a16="http://schemas.microsoft.com/office/drawing/2014/main" id="{8B24031F-8DEE-4D56-B87A-A1FCFA07E25E}"/>
              </a:ext>
            </a:extLst>
          </p:cNvPr>
          <p:cNvSpPr>
            <a:spLocks noGrp="1"/>
          </p:cNvSpPr>
          <p:nvPr/>
        </p:nvSpPr>
        <p:spPr>
          <a:xfrm>
            <a:off x="419100" y="6362700"/>
            <a:ext cx="10763250" cy="219075"/>
          </a:xfrm>
          <a:prstGeom prst="rect">
            <a:avLst/>
          </a:prstGeom>
          <a:noFill/>
          <a:ln w="0">
            <a:noFill/>
            <a:prstDash val="solid"/>
          </a:ln>
        </p:spPr>
        <p:txBody>
          <a:bodyPr wrap="square" lIns="0" tIns="0" rIns="0" bIns="0" anchor="t">
            <a:noAutofit/>
          </a:bodyPr>
          <a:lstStyle/>
          <a:p>
            <a:pPr algn="l">
              <a:buNone/>
              <a:defRPr sz="788" b="0">
                <a:solidFill>
                  <a:srgbClr val="5E6470"/>
                </a:solidFill>
                <a:latin typeface="Helvetica Neue"/>
                <a:ea typeface="Helvetica Neue"/>
                <a:cs typeface="Helvetica Neue"/>
              </a:defRPr>
            </a:pPr>
            <a:r>
              <a:rPr sz="788" b="0">
                <a:solidFill>
                  <a:srgbClr val="5E6470"/>
                </a:solidFill>
                <a:latin typeface="Helvetica Neue"/>
                <a:ea typeface="Helvetica Neue"/>
                <a:cs typeface="Helvetica Neue"/>
              </a:rPr>
              <a:t>Liu et al., Agent0-VL (2025), Figure 2</a:t>
            </a:r>
          </a:p>
        </p:txBody>
      </p:sp>
      <p:sp>
        <p:nvSpPr>
          <p:cNvPr id="15" name="矩形 14">
            <a:extLst>
              <a:ext uri="{FF2B5EF4-FFF2-40B4-BE49-F238E27FC236}">
                <a16:creationId xmlns:a16="http://schemas.microsoft.com/office/drawing/2014/main" id="{06B93F40-5C1B-4A48-8606-A8B939205600}"/>
              </a:ext>
            </a:extLst>
          </p:cNvPr>
          <p:cNvSpPr>
            <a:spLocks noGrp="1"/>
          </p:cNvSpPr>
          <p:nvPr/>
        </p:nvSpPr>
        <p:spPr>
          <a:xfrm>
            <a:off x="11334750" y="6362700"/>
            <a:ext cx="438150" cy="219075"/>
          </a:xfrm>
          <a:prstGeom prst="rect">
            <a:avLst/>
          </a:prstGeom>
          <a:noFill/>
          <a:ln w="0">
            <a:noFill/>
            <a:prstDash val="solid"/>
          </a:ln>
        </p:spPr>
        <p:txBody>
          <a:bodyPr wrap="square" lIns="0" tIns="0" rIns="0" bIns="0" anchor="t">
            <a:noAutofit/>
          </a:bodyPr>
          <a:lstStyle/>
          <a:p>
            <a:pPr algn="r">
              <a:buNone/>
              <a:defRPr sz="825" b="0">
                <a:solidFill>
                  <a:srgbClr val="5E6470"/>
                </a:solidFill>
                <a:latin typeface="Helvetica Neue"/>
                <a:ea typeface="Helvetica Neue"/>
                <a:cs typeface="Helvetica Neue"/>
              </a:defRPr>
            </a:pPr>
            <a:r>
              <a:rPr sz="825" b="0">
                <a:solidFill>
                  <a:srgbClr val="5E6470"/>
                </a:solidFill>
                <a:latin typeface="Helvetica Neue"/>
                <a:ea typeface="Helvetica Neue"/>
                <a:cs typeface="Helvetica Neue"/>
              </a:rPr>
              <a:t>28</a:t>
            </a:r>
          </a:p>
        </p:txBody>
      </p:sp>
    </p:spTree>
    <p:extLst>
      <p:ext uri="{BB962C8B-B14F-4D97-AF65-F5344CB8AC3E}">
        <p14:creationId xmlns:p14="http://schemas.microsoft.com/office/powerpoint/2010/main" val="5636051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 name="矩形 33">
            <a:extLst>
              <a:ext uri="{FF2B5EF4-FFF2-40B4-BE49-F238E27FC236}">
                <a16:creationId xmlns:a16="http://schemas.microsoft.com/office/drawing/2014/main" id="{43D0F2C1-C194-4C2F-97C2-35009BA54281}"/>
              </a:ext>
            </a:extLst>
          </p:cNvPr>
          <p:cNvSpPr>
            <a:spLocks noGrp="1"/>
          </p:cNvSpPr>
          <p:nvPr/>
        </p:nvSpPr>
        <p:spPr>
          <a:xfrm>
            <a:off x="419100" y="171450"/>
            <a:ext cx="2952750" cy="228600"/>
          </a:xfrm>
          <a:prstGeom prst="rect">
            <a:avLst/>
          </a:prstGeom>
          <a:noFill/>
          <a:ln w="0">
            <a:noFill/>
            <a:prstDash val="solid"/>
          </a:ln>
        </p:spPr>
        <p:txBody>
          <a:bodyPr wrap="square" lIns="0" tIns="0" rIns="0" bIns="0" anchor="t">
            <a:noAutofit/>
          </a:bodyPr>
          <a:lstStyle/>
          <a:p>
            <a:pPr algn="l">
              <a:buNone/>
              <a:defRPr sz="975" b="1">
                <a:solidFill>
                  <a:srgbClr val="5E6470"/>
                </a:solidFill>
                <a:latin typeface="Helvetica Neue"/>
                <a:ea typeface="Helvetica Neue"/>
                <a:cs typeface="Helvetica Neue"/>
              </a:defRPr>
            </a:pPr>
            <a:r>
              <a:rPr sz="975" b="1">
                <a:solidFill>
                  <a:srgbClr val="5E6470"/>
                </a:solidFill>
                <a:latin typeface="Helvetica Neue"/>
                <a:ea typeface="Helvetica Neue"/>
                <a:cs typeface="Helvetica Neue"/>
              </a:rPr>
              <a:t>II · AGENT0-VL</a:t>
            </a:r>
          </a:p>
        </p:txBody>
      </p:sp>
      <p:sp>
        <p:nvSpPr>
          <p:cNvPr id="2" name="矩形 1">
            <a:extLst>
              <a:ext uri="{FF2B5EF4-FFF2-40B4-BE49-F238E27FC236}">
                <a16:creationId xmlns:a16="http://schemas.microsoft.com/office/drawing/2014/main" id="{F49AE518-AD17-498E-B929-A583CE1BBC1E}"/>
              </a:ext>
            </a:extLst>
          </p:cNvPr>
          <p:cNvSpPr>
            <a:spLocks noGrp="1"/>
          </p:cNvSpPr>
          <p:nvPr/>
        </p:nvSpPr>
        <p:spPr>
          <a:xfrm>
            <a:off x="419100" y="409575"/>
            <a:ext cx="11353800" cy="514350"/>
          </a:xfrm>
          <a:prstGeom prst="rect">
            <a:avLst/>
          </a:prstGeom>
          <a:noFill/>
          <a:ln w="0">
            <a:noFill/>
            <a:prstDash val="solid"/>
          </a:ln>
        </p:spPr>
        <p:txBody>
          <a:bodyPr wrap="square" lIns="0" tIns="0" rIns="0" bIns="0" anchor="t">
            <a:noAutofit/>
          </a:bodyPr>
          <a:lstStyle/>
          <a:p>
            <a:pPr algn="l">
              <a:buNone/>
              <a:defRPr sz="2850" b="1">
                <a:solidFill>
                  <a:srgbClr val="101214"/>
                </a:solidFill>
                <a:latin typeface="Hiragino Sans GB"/>
                <a:ea typeface="Hiragino Sans GB"/>
                <a:cs typeface="Hiragino Sans GB"/>
              </a:defRPr>
            </a:pPr>
            <a:r>
              <a:rPr sz="2850" b="1">
                <a:solidFill>
                  <a:srgbClr val="101214"/>
                </a:solidFill>
                <a:latin typeface="Hiragino Sans GB"/>
                <a:ea typeface="Hiragino Sans GB"/>
                <a:cs typeface="Hiragino Sans GB"/>
              </a:rPr>
              <a:t>工具证据把终局奖励变成过程 credit</a:t>
            </a:r>
          </a:p>
        </p:txBody>
      </p:sp>
      <p:sp>
        <p:nvSpPr>
          <p:cNvPr id="3" name="圆角矩形 2">
            <a:extLst>
              <a:ext uri="{FF2B5EF4-FFF2-40B4-BE49-F238E27FC236}">
                <a16:creationId xmlns:a16="http://schemas.microsoft.com/office/drawing/2014/main" id="{5797DF9B-1678-41C8-84B2-4B0CE3345C42}"/>
              </a:ext>
            </a:extLst>
          </p:cNvPr>
          <p:cNvSpPr>
            <a:spLocks noGrp="1"/>
          </p:cNvSpPr>
          <p:nvPr/>
        </p:nvSpPr>
        <p:spPr>
          <a:xfrm>
            <a:off x="419100" y="1238250"/>
            <a:ext cx="5619750" cy="1619250"/>
          </a:xfrm>
          <a:prstGeom prst="roundRect">
            <a:avLst>
              <a:gd name="adj" fmla="val 4706"/>
            </a:avLst>
          </a:prstGeom>
          <a:solidFill>
            <a:srgbClr val="EAF5FB"/>
          </a:solidFill>
          <a:ln w="0">
            <a:noFill/>
            <a:prstDash val="solid"/>
          </a:ln>
        </p:spPr>
      </p:sp>
      <p:sp>
        <p:nvSpPr>
          <p:cNvPr id="4" name="矩形 3">
            <a:extLst>
              <a:ext uri="{FF2B5EF4-FFF2-40B4-BE49-F238E27FC236}">
                <a16:creationId xmlns:a16="http://schemas.microsoft.com/office/drawing/2014/main" id="{A82369E2-EB7E-4BAE-B958-C45D4E5E5114}"/>
              </a:ext>
            </a:extLst>
          </p:cNvPr>
          <p:cNvSpPr>
            <a:spLocks noGrp="1"/>
          </p:cNvSpPr>
          <p:nvPr/>
        </p:nvSpPr>
        <p:spPr>
          <a:xfrm>
            <a:off x="647700" y="1524000"/>
            <a:ext cx="5143500" cy="361950"/>
          </a:xfrm>
          <a:prstGeom prst="rect">
            <a:avLst/>
          </a:prstGeom>
          <a:noFill/>
          <a:ln w="0">
            <a:noFill/>
            <a:prstDash val="solid"/>
          </a:ln>
        </p:spPr>
        <p:txBody>
          <a:bodyPr wrap="square" lIns="0" tIns="0" rIns="0" bIns="0" anchor="t">
            <a:noAutofit/>
          </a:bodyPr>
          <a:lstStyle/>
          <a:p>
            <a:pPr algn="ctr">
              <a:buNone/>
              <a:defRPr sz="1575" b="1">
                <a:solidFill>
                  <a:srgbClr val="2787F5"/>
                </a:solidFill>
                <a:latin typeface="Cambria Math"/>
                <a:ea typeface="Cambria Math"/>
                <a:cs typeface="Cambria Math"/>
              </a:defRPr>
            </a:pPr>
            <a:r>
              <a:rPr sz="1575" b="1">
                <a:solidFill>
                  <a:srgbClr val="2787F5"/>
                </a:solidFill>
                <a:latin typeface="Cambria Math"/>
                <a:ea typeface="Cambria Math"/>
                <a:cs typeface="Cambria Math"/>
              </a:rPr>
              <a:t>rₛₜₑₚ(t) = λₜₒₒₗ·rₜₒₒₗ + scoreₜ·confₜ − β·Dₖₗ</a:t>
            </a:r>
          </a:p>
        </p:txBody>
      </p:sp>
      <p:sp>
        <p:nvSpPr>
          <p:cNvPr id="5" name="矩形 4">
            <a:extLst>
              <a:ext uri="{FF2B5EF4-FFF2-40B4-BE49-F238E27FC236}">
                <a16:creationId xmlns:a16="http://schemas.microsoft.com/office/drawing/2014/main" id="{489AC32E-3C6D-4D0E-B2C5-5C866241C162}"/>
              </a:ext>
            </a:extLst>
          </p:cNvPr>
          <p:cNvSpPr>
            <a:spLocks noGrp="1"/>
          </p:cNvSpPr>
          <p:nvPr/>
        </p:nvSpPr>
        <p:spPr>
          <a:xfrm>
            <a:off x="647700" y="2124075"/>
            <a:ext cx="5143500" cy="323850"/>
          </a:xfrm>
          <a:prstGeom prst="rect">
            <a:avLst/>
          </a:prstGeom>
          <a:noFill/>
          <a:ln w="0">
            <a:noFill/>
            <a:prstDash val="solid"/>
          </a:ln>
        </p:spPr>
        <p:txBody>
          <a:bodyPr wrap="square" lIns="0" tIns="0" rIns="0" bIns="0" anchor="t">
            <a:noAutofit/>
          </a:bodyPr>
          <a:lstStyle/>
          <a:p>
            <a:pPr algn="ctr">
              <a:buNone/>
              <a:defRPr sz="1538" b="0">
                <a:solidFill>
                  <a:srgbClr val="101214"/>
                </a:solidFill>
                <a:latin typeface="Cambria Math"/>
                <a:ea typeface="Cambria Math"/>
                <a:cs typeface="Cambria Math"/>
              </a:defRPr>
            </a:pPr>
            <a:r>
              <a:rPr sz="1538" b="0">
                <a:solidFill>
                  <a:srgbClr val="101214"/>
                </a:solidFill>
                <a:latin typeface="Cambria Math"/>
                <a:ea typeface="Cambria Math"/>
                <a:cs typeface="Cambria Math"/>
              </a:rPr>
              <a:t>rₜ = rₛₜₑₚ(t) − gₜ·Cᵣₑₚₐᵢᵣ(t)</a:t>
            </a:r>
          </a:p>
        </p:txBody>
      </p:sp>
      <p:sp>
        <p:nvSpPr>
          <p:cNvPr id="6" name="圆角矩形 5">
            <a:extLst>
              <a:ext uri="{FF2B5EF4-FFF2-40B4-BE49-F238E27FC236}">
                <a16:creationId xmlns:a16="http://schemas.microsoft.com/office/drawing/2014/main" id="{97DD3C07-9146-4E06-BF32-E4AE7234560A}"/>
              </a:ext>
            </a:extLst>
          </p:cNvPr>
          <p:cNvSpPr>
            <a:spLocks noGrp="1"/>
          </p:cNvSpPr>
          <p:nvPr/>
        </p:nvSpPr>
        <p:spPr>
          <a:xfrm>
            <a:off x="6381750" y="1238250"/>
            <a:ext cx="5391150" cy="1619250"/>
          </a:xfrm>
          <a:prstGeom prst="roundRect">
            <a:avLst>
              <a:gd name="adj" fmla="val 4706"/>
            </a:avLst>
          </a:prstGeom>
          <a:solidFill>
            <a:srgbClr val="F1F2F4"/>
          </a:solidFill>
          <a:ln w="0">
            <a:noFill/>
            <a:prstDash val="solid"/>
          </a:ln>
        </p:spPr>
      </p:sp>
      <p:sp>
        <p:nvSpPr>
          <p:cNvPr id="7" name="矩形 6">
            <a:extLst>
              <a:ext uri="{FF2B5EF4-FFF2-40B4-BE49-F238E27FC236}">
                <a16:creationId xmlns:a16="http://schemas.microsoft.com/office/drawing/2014/main" id="{A448C8DE-81BE-4131-83F5-53798F36D4D3}"/>
              </a:ext>
            </a:extLst>
          </p:cNvPr>
          <p:cNvSpPr>
            <a:spLocks noGrp="1"/>
          </p:cNvSpPr>
          <p:nvPr/>
        </p:nvSpPr>
        <p:spPr>
          <a:xfrm>
            <a:off x="6629400" y="1466850"/>
            <a:ext cx="1428750" cy="285750"/>
          </a:xfrm>
          <a:prstGeom prst="rect">
            <a:avLst/>
          </a:prstGeom>
          <a:noFill/>
          <a:ln w="0">
            <a:noFill/>
            <a:prstDash val="solid"/>
          </a:ln>
        </p:spPr>
        <p:txBody>
          <a:bodyPr wrap="square" lIns="0" tIns="0" rIns="0" bIns="0" anchor="t">
            <a:noAutofit/>
          </a:bodyPr>
          <a:lstStyle/>
          <a:p>
            <a:pPr algn="l">
              <a:buNone/>
              <a:defRPr sz="1575" b="1">
                <a:solidFill>
                  <a:srgbClr val="101214"/>
                </a:solidFill>
                <a:latin typeface="Hiragino Sans GB"/>
                <a:ea typeface="Hiragino Sans GB"/>
                <a:cs typeface="Hiragino Sans GB"/>
              </a:defRPr>
            </a:pPr>
            <a:r>
              <a:rPr sz="1575" b="1">
                <a:solidFill>
                  <a:srgbClr val="101214"/>
                </a:solidFill>
                <a:latin typeface="Hiragino Sans GB"/>
                <a:ea typeface="Hiragino Sans GB"/>
                <a:cs typeface="Hiragino Sans GB"/>
              </a:rPr>
              <a:t>修复 gate</a:t>
            </a:r>
          </a:p>
        </p:txBody>
      </p:sp>
      <p:sp>
        <p:nvSpPr>
          <p:cNvPr id="8" name="矩形 7">
            <a:extLst>
              <a:ext uri="{FF2B5EF4-FFF2-40B4-BE49-F238E27FC236}">
                <a16:creationId xmlns:a16="http://schemas.microsoft.com/office/drawing/2014/main" id="{A809797E-F018-4705-9E2F-EADD2BC0D763}"/>
              </a:ext>
            </a:extLst>
          </p:cNvPr>
          <p:cNvSpPr>
            <a:spLocks noGrp="1"/>
          </p:cNvSpPr>
          <p:nvPr/>
        </p:nvSpPr>
        <p:spPr>
          <a:xfrm>
            <a:off x="8191500" y="1466850"/>
            <a:ext cx="3200400" cy="304800"/>
          </a:xfrm>
          <a:prstGeom prst="rect">
            <a:avLst/>
          </a:prstGeom>
          <a:noFill/>
          <a:ln w="0">
            <a:noFill/>
            <a:prstDash val="solid"/>
          </a:ln>
        </p:spPr>
        <p:txBody>
          <a:bodyPr wrap="square" lIns="0" tIns="0" rIns="0" bIns="0" anchor="t">
            <a:noAutofit/>
          </a:bodyPr>
          <a:lstStyle/>
          <a:p>
            <a:pPr algn="l">
              <a:buNone/>
              <a:defRPr sz="1500" b="0">
                <a:solidFill>
                  <a:srgbClr val="7257D5"/>
                </a:solidFill>
                <a:latin typeface="Cambria Math"/>
                <a:ea typeface="Cambria Math"/>
                <a:cs typeface="Cambria Math"/>
              </a:defRPr>
            </a:pPr>
            <a:r>
              <a:rPr sz="1500" b="0">
                <a:solidFill>
                  <a:srgbClr val="7257D5"/>
                </a:solidFill>
                <a:latin typeface="Cambria Math"/>
                <a:ea typeface="Cambria Math"/>
                <a:cs typeface="Cambria Math"/>
              </a:rPr>
              <a:t>gₜ = sigmoid[κ(τ − confₜ)]</a:t>
            </a:r>
          </a:p>
        </p:txBody>
      </p:sp>
      <p:sp>
        <p:nvSpPr>
          <p:cNvPr id="9" name="矩形 8">
            <a:extLst>
              <a:ext uri="{FF2B5EF4-FFF2-40B4-BE49-F238E27FC236}">
                <a16:creationId xmlns:a16="http://schemas.microsoft.com/office/drawing/2014/main" id="{FD6BDB4C-7964-4ADA-883A-7891BFC6F4B5}"/>
              </a:ext>
            </a:extLst>
          </p:cNvPr>
          <p:cNvSpPr>
            <a:spLocks noGrp="1"/>
          </p:cNvSpPr>
          <p:nvPr/>
        </p:nvSpPr>
        <p:spPr>
          <a:xfrm>
            <a:off x="6629400" y="2009775"/>
            <a:ext cx="4705350" cy="552450"/>
          </a:xfrm>
          <a:prstGeom prst="rect">
            <a:avLst/>
          </a:prstGeom>
          <a:noFill/>
          <a:ln w="0">
            <a:noFill/>
            <a:prstDash val="solid"/>
          </a:ln>
        </p:spPr>
        <p:txBody>
          <a:bodyPr wrap="square" lIns="0" tIns="0" rIns="0" bIns="0" anchor="t">
            <a:noAutofit/>
          </a:bodyPr>
          <a:lstStyle/>
          <a:p>
            <a:pPr algn="l">
              <a:buNone/>
              <a:defRPr sz="1313" b="0">
                <a:solidFill>
                  <a:srgbClr val="5E6470"/>
                </a:solidFill>
                <a:latin typeface="Hiragino Sans GB"/>
                <a:ea typeface="Hiragino Sans GB"/>
                <a:cs typeface="Hiragino Sans GB"/>
              </a:defRPr>
            </a:pPr>
            <a:r>
              <a:rPr sz="1313" b="0">
                <a:solidFill>
                  <a:srgbClr val="5E6470"/>
                </a:solidFill>
                <a:latin typeface="Hiragino Sans GB"/>
                <a:ea typeface="Hiragino Sans GB"/>
                <a:cs typeface="Hiragino Sans GB"/>
              </a:rPr>
              <a:t>低置信 step → Verifier 生成局部 repair instruction → Solver 重生成该段。</a:t>
            </a:r>
          </a:p>
        </p:txBody>
      </p:sp>
      <p:sp>
        <p:nvSpPr>
          <p:cNvPr id="10" name="圆角矩形 9">
            <a:extLst>
              <a:ext uri="{FF2B5EF4-FFF2-40B4-BE49-F238E27FC236}">
                <a16:creationId xmlns:a16="http://schemas.microsoft.com/office/drawing/2014/main" id="{AF1A205E-7C9C-4DCA-85C7-0B1421CA5976}"/>
              </a:ext>
            </a:extLst>
          </p:cNvPr>
          <p:cNvSpPr>
            <a:spLocks noGrp="1"/>
          </p:cNvSpPr>
          <p:nvPr/>
        </p:nvSpPr>
        <p:spPr>
          <a:xfrm>
            <a:off x="419100" y="3638550"/>
            <a:ext cx="1524000" cy="1238250"/>
          </a:xfrm>
          <a:prstGeom prst="roundRect">
            <a:avLst>
              <a:gd name="adj" fmla="val 6154"/>
            </a:avLst>
          </a:prstGeom>
          <a:solidFill>
            <a:srgbClr val="F1F2F4"/>
          </a:solidFill>
          <a:ln w="0">
            <a:noFill/>
            <a:prstDash val="solid"/>
          </a:ln>
        </p:spPr>
      </p:sp>
      <p:sp>
        <p:nvSpPr>
          <p:cNvPr id="11" name="矩形 10">
            <a:extLst>
              <a:ext uri="{FF2B5EF4-FFF2-40B4-BE49-F238E27FC236}">
                <a16:creationId xmlns:a16="http://schemas.microsoft.com/office/drawing/2014/main" id="{03613B5A-4191-4E8D-993F-5C1853E46730}"/>
              </a:ext>
            </a:extLst>
          </p:cNvPr>
          <p:cNvSpPr>
            <a:spLocks noGrp="1"/>
          </p:cNvSpPr>
          <p:nvPr/>
        </p:nvSpPr>
        <p:spPr>
          <a:xfrm>
            <a:off x="552450" y="3752850"/>
            <a:ext cx="1257300" cy="400050"/>
          </a:xfrm>
          <a:prstGeom prst="rect">
            <a:avLst/>
          </a:prstGeom>
          <a:noFill/>
          <a:ln w="0">
            <a:noFill/>
            <a:prstDash val="solid"/>
          </a:ln>
        </p:spPr>
        <p:txBody>
          <a:bodyPr wrap="square" lIns="0" tIns="0" rIns="0" bIns="0" anchor="t">
            <a:noAutofit/>
          </a:bodyPr>
          <a:lstStyle/>
          <a:p>
            <a:pPr algn="l">
              <a:buNone/>
              <a:defRPr sz="1388" b="1">
                <a:solidFill>
                  <a:srgbClr val="101214"/>
                </a:solidFill>
                <a:latin typeface="Hiragino Sans GB"/>
                <a:ea typeface="Hiragino Sans GB"/>
                <a:cs typeface="Hiragino Sans GB"/>
              </a:defRPr>
            </a:pPr>
            <a:r>
              <a:rPr sz="1388" b="1">
                <a:solidFill>
                  <a:srgbClr val="101214"/>
                </a:solidFill>
                <a:latin typeface="Hiragino Sans GB"/>
                <a:ea typeface="Hiragino Sans GB"/>
                <a:cs typeface="Hiragino Sans GB"/>
              </a:rPr>
              <a:t>Outcome</a:t>
            </a:r>
          </a:p>
        </p:txBody>
      </p:sp>
      <p:sp>
        <p:nvSpPr>
          <p:cNvPr id="12" name="矩形 11">
            <a:extLst>
              <a:ext uri="{FF2B5EF4-FFF2-40B4-BE49-F238E27FC236}">
                <a16:creationId xmlns:a16="http://schemas.microsoft.com/office/drawing/2014/main" id="{80BABC15-EEBE-47FC-BD12-439E84D12892}"/>
              </a:ext>
            </a:extLst>
          </p:cNvPr>
          <p:cNvSpPr>
            <a:spLocks noGrp="1"/>
          </p:cNvSpPr>
          <p:nvPr/>
        </p:nvSpPr>
        <p:spPr>
          <a:xfrm>
            <a:off x="552450" y="4210050"/>
            <a:ext cx="1257300" cy="571500"/>
          </a:xfrm>
          <a:prstGeom prst="rect">
            <a:avLst/>
          </a:prstGeom>
          <a:noFill/>
          <a:ln w="0">
            <a:noFill/>
            <a:prstDash val="solid"/>
          </a:ln>
        </p:spPr>
        <p:txBody>
          <a:bodyPr wrap="square" lIns="0" tIns="0" rIns="0" bIns="0" anchor="t">
            <a:noAutofit/>
          </a:bodyPr>
          <a:lstStyle/>
          <a:p>
            <a:pPr algn="l">
              <a:buNone/>
              <a:defRPr sz="1088" b="0">
                <a:solidFill>
                  <a:srgbClr val="5E6470"/>
                </a:solidFill>
                <a:latin typeface="Hiragino Sans GB"/>
                <a:ea typeface="Hiragino Sans GB"/>
                <a:cs typeface="Hiragino Sans GB"/>
              </a:defRPr>
            </a:pPr>
            <a:r>
              <a:rPr sz="1088" b="0">
                <a:solidFill>
                  <a:srgbClr val="5E6470"/>
                </a:solidFill>
                <a:latin typeface="Hiragino Sans GB"/>
                <a:ea typeface="Hiragino Sans GB"/>
                <a:cs typeface="Hiragino Sans GB"/>
              </a:rPr>
              <a:t>终局 correct / wrong</a:t>
            </a:r>
          </a:p>
        </p:txBody>
      </p:sp>
      <p:sp>
        <p:nvSpPr>
          <p:cNvPr id="13" name="矩形 12">
            <a:extLst>
              <a:ext uri="{FF2B5EF4-FFF2-40B4-BE49-F238E27FC236}">
                <a16:creationId xmlns:a16="http://schemas.microsoft.com/office/drawing/2014/main" id="{38A79590-9722-4FDA-A102-51A1028853B0}"/>
              </a:ext>
            </a:extLst>
          </p:cNvPr>
          <p:cNvSpPr>
            <a:spLocks noGrp="1"/>
          </p:cNvSpPr>
          <p:nvPr/>
        </p:nvSpPr>
        <p:spPr>
          <a:xfrm>
            <a:off x="1971675" y="4048125"/>
            <a:ext cx="285750" cy="381000"/>
          </a:xfrm>
          <a:prstGeom prst="rect">
            <a:avLst/>
          </a:prstGeom>
          <a:noFill/>
          <a:ln w="0">
            <a:noFill/>
            <a:prstDash val="solid"/>
          </a:ln>
        </p:spPr>
        <p:txBody>
          <a:bodyPr wrap="square" lIns="0" tIns="0" rIns="0" bIns="0" anchor="ctr">
            <a:noAutofit/>
          </a:bodyPr>
          <a:lstStyle/>
          <a:p>
            <a:pPr algn="ctr">
              <a:buNone/>
              <a:defRPr sz="2250" b="0">
                <a:solidFill>
                  <a:srgbClr val="5E6470"/>
                </a:solidFill>
                <a:latin typeface="Helvetica Neue"/>
                <a:ea typeface="Helvetica Neue"/>
                <a:cs typeface="Helvetica Neue"/>
              </a:defRPr>
            </a:pPr>
            <a:r>
              <a:rPr sz="2250" b="0">
                <a:solidFill>
                  <a:srgbClr val="5E6470"/>
                </a:solidFill>
                <a:latin typeface="Helvetica Neue"/>
                <a:ea typeface="Helvetica Neue"/>
                <a:cs typeface="Helvetica Neue"/>
              </a:rPr>
              <a:t>→</a:t>
            </a:r>
          </a:p>
        </p:txBody>
      </p:sp>
      <p:sp>
        <p:nvSpPr>
          <p:cNvPr id="14" name="圆角矩形 13">
            <a:extLst>
              <a:ext uri="{FF2B5EF4-FFF2-40B4-BE49-F238E27FC236}">
                <a16:creationId xmlns:a16="http://schemas.microsoft.com/office/drawing/2014/main" id="{81A55ECF-598F-42CE-8F47-6142713336E4}"/>
              </a:ext>
            </a:extLst>
          </p:cNvPr>
          <p:cNvSpPr>
            <a:spLocks noGrp="1"/>
          </p:cNvSpPr>
          <p:nvPr/>
        </p:nvSpPr>
        <p:spPr>
          <a:xfrm>
            <a:off x="2857500" y="3638550"/>
            <a:ext cx="1952625" cy="1238250"/>
          </a:xfrm>
          <a:prstGeom prst="roundRect">
            <a:avLst>
              <a:gd name="adj" fmla="val 6154"/>
            </a:avLst>
          </a:prstGeom>
          <a:solidFill>
            <a:srgbClr val="EAF5FB"/>
          </a:solidFill>
          <a:ln w="0">
            <a:noFill/>
            <a:prstDash val="solid"/>
          </a:ln>
        </p:spPr>
      </p:sp>
      <p:sp>
        <p:nvSpPr>
          <p:cNvPr id="15" name="矩形 14">
            <a:extLst>
              <a:ext uri="{FF2B5EF4-FFF2-40B4-BE49-F238E27FC236}">
                <a16:creationId xmlns:a16="http://schemas.microsoft.com/office/drawing/2014/main" id="{2963BFAD-5645-4D7E-BA38-2A93278C06D0}"/>
              </a:ext>
            </a:extLst>
          </p:cNvPr>
          <p:cNvSpPr>
            <a:spLocks noGrp="1"/>
          </p:cNvSpPr>
          <p:nvPr/>
        </p:nvSpPr>
        <p:spPr>
          <a:xfrm>
            <a:off x="2990850" y="3752850"/>
            <a:ext cx="1685925" cy="400050"/>
          </a:xfrm>
          <a:prstGeom prst="rect">
            <a:avLst/>
          </a:prstGeom>
          <a:noFill/>
          <a:ln w="0">
            <a:noFill/>
            <a:prstDash val="solid"/>
          </a:ln>
        </p:spPr>
        <p:txBody>
          <a:bodyPr wrap="square" lIns="0" tIns="0" rIns="0" bIns="0" anchor="t">
            <a:noAutofit/>
          </a:bodyPr>
          <a:lstStyle/>
          <a:p>
            <a:pPr algn="l">
              <a:buNone/>
              <a:defRPr sz="1388" b="1">
                <a:solidFill>
                  <a:srgbClr val="101214"/>
                </a:solidFill>
                <a:latin typeface="Hiragino Sans GB"/>
                <a:ea typeface="Hiragino Sans GB"/>
                <a:cs typeface="Hiragino Sans GB"/>
              </a:defRPr>
            </a:pPr>
            <a:r>
              <a:rPr sz="1388" b="1">
                <a:solidFill>
                  <a:srgbClr val="101214"/>
                </a:solidFill>
                <a:latin typeface="Hiragino Sans GB"/>
                <a:ea typeface="Hiragino Sans GB"/>
                <a:cs typeface="Hiragino Sans GB"/>
              </a:rPr>
              <a:t>Tool check</a:t>
            </a:r>
          </a:p>
        </p:txBody>
      </p:sp>
      <p:sp>
        <p:nvSpPr>
          <p:cNvPr id="16" name="矩形 15">
            <a:extLst>
              <a:ext uri="{FF2B5EF4-FFF2-40B4-BE49-F238E27FC236}">
                <a16:creationId xmlns:a16="http://schemas.microsoft.com/office/drawing/2014/main" id="{8BBB5F38-2494-45EA-914B-7293186A3372}"/>
              </a:ext>
            </a:extLst>
          </p:cNvPr>
          <p:cNvSpPr>
            <a:spLocks noGrp="1"/>
          </p:cNvSpPr>
          <p:nvPr/>
        </p:nvSpPr>
        <p:spPr>
          <a:xfrm>
            <a:off x="2990850" y="4210050"/>
            <a:ext cx="1685925" cy="571500"/>
          </a:xfrm>
          <a:prstGeom prst="rect">
            <a:avLst/>
          </a:prstGeom>
          <a:noFill/>
          <a:ln w="0">
            <a:noFill/>
            <a:prstDash val="solid"/>
          </a:ln>
        </p:spPr>
        <p:txBody>
          <a:bodyPr wrap="square" lIns="0" tIns="0" rIns="0" bIns="0" anchor="t">
            <a:noAutofit/>
          </a:bodyPr>
          <a:lstStyle/>
          <a:p>
            <a:pPr algn="l">
              <a:buNone/>
              <a:defRPr sz="1088" b="0">
                <a:solidFill>
                  <a:srgbClr val="5E6470"/>
                </a:solidFill>
                <a:latin typeface="Hiragino Sans GB"/>
                <a:ea typeface="Hiragino Sans GB"/>
                <a:cs typeface="Hiragino Sans GB"/>
              </a:defRPr>
            </a:pPr>
            <a:r>
              <a:rPr sz="1088" b="0">
                <a:solidFill>
                  <a:srgbClr val="5E6470"/>
                </a:solidFill>
                <a:latin typeface="Hiragino Sans GB"/>
                <a:ea typeface="Hiragino Sans GB"/>
                <a:cs typeface="Hiragino Sans GB"/>
              </a:rPr>
              <a:t>逐 step 生成证据</a:t>
            </a:r>
          </a:p>
        </p:txBody>
      </p:sp>
      <p:sp>
        <p:nvSpPr>
          <p:cNvPr id="17" name="矩形 16">
            <a:extLst>
              <a:ext uri="{FF2B5EF4-FFF2-40B4-BE49-F238E27FC236}">
                <a16:creationId xmlns:a16="http://schemas.microsoft.com/office/drawing/2014/main" id="{558B990C-8E6D-4CAD-B04C-F7F186C9EFDF}"/>
              </a:ext>
            </a:extLst>
          </p:cNvPr>
          <p:cNvSpPr>
            <a:spLocks noGrp="1"/>
          </p:cNvSpPr>
          <p:nvPr/>
        </p:nvSpPr>
        <p:spPr>
          <a:xfrm>
            <a:off x="4838700" y="4048125"/>
            <a:ext cx="285750" cy="381000"/>
          </a:xfrm>
          <a:prstGeom prst="rect">
            <a:avLst/>
          </a:prstGeom>
          <a:noFill/>
          <a:ln w="0">
            <a:noFill/>
            <a:prstDash val="solid"/>
          </a:ln>
        </p:spPr>
        <p:txBody>
          <a:bodyPr wrap="square" lIns="0" tIns="0" rIns="0" bIns="0" anchor="ctr">
            <a:noAutofit/>
          </a:bodyPr>
          <a:lstStyle/>
          <a:p>
            <a:pPr algn="ctr">
              <a:buNone/>
              <a:defRPr sz="2250" b="0">
                <a:solidFill>
                  <a:srgbClr val="5E6470"/>
                </a:solidFill>
                <a:latin typeface="Helvetica Neue"/>
                <a:ea typeface="Helvetica Neue"/>
                <a:cs typeface="Helvetica Neue"/>
              </a:defRPr>
            </a:pPr>
            <a:r>
              <a:rPr sz="2250" b="0">
                <a:solidFill>
                  <a:srgbClr val="5E6470"/>
                </a:solidFill>
                <a:latin typeface="Helvetica Neue"/>
                <a:ea typeface="Helvetica Neue"/>
                <a:cs typeface="Helvetica Neue"/>
              </a:rPr>
              <a:t>→</a:t>
            </a:r>
          </a:p>
        </p:txBody>
      </p:sp>
      <p:sp>
        <p:nvSpPr>
          <p:cNvPr id="18" name="圆角矩形 17">
            <a:extLst>
              <a:ext uri="{FF2B5EF4-FFF2-40B4-BE49-F238E27FC236}">
                <a16:creationId xmlns:a16="http://schemas.microsoft.com/office/drawing/2014/main" id="{B1018638-74BA-407D-B6F9-4211D527BB1D}"/>
              </a:ext>
            </a:extLst>
          </p:cNvPr>
          <p:cNvSpPr>
            <a:spLocks noGrp="1"/>
          </p:cNvSpPr>
          <p:nvPr/>
        </p:nvSpPr>
        <p:spPr>
          <a:xfrm>
            <a:off x="5381625" y="3638550"/>
            <a:ext cx="1952625" cy="1238250"/>
          </a:xfrm>
          <a:prstGeom prst="roundRect">
            <a:avLst>
              <a:gd name="adj" fmla="val 6154"/>
            </a:avLst>
          </a:prstGeom>
          <a:solidFill>
            <a:srgbClr val="E8F6F0"/>
          </a:solidFill>
          <a:ln w="0">
            <a:noFill/>
            <a:prstDash val="solid"/>
          </a:ln>
        </p:spPr>
      </p:sp>
      <p:sp>
        <p:nvSpPr>
          <p:cNvPr id="19" name="矩形 18">
            <a:extLst>
              <a:ext uri="{FF2B5EF4-FFF2-40B4-BE49-F238E27FC236}">
                <a16:creationId xmlns:a16="http://schemas.microsoft.com/office/drawing/2014/main" id="{EE55A5C3-7329-48F0-81BC-6A8F7F531B31}"/>
              </a:ext>
            </a:extLst>
          </p:cNvPr>
          <p:cNvSpPr>
            <a:spLocks noGrp="1"/>
          </p:cNvSpPr>
          <p:nvPr/>
        </p:nvSpPr>
        <p:spPr>
          <a:xfrm>
            <a:off x="5514975" y="3752850"/>
            <a:ext cx="1685925" cy="400050"/>
          </a:xfrm>
          <a:prstGeom prst="rect">
            <a:avLst/>
          </a:prstGeom>
          <a:noFill/>
          <a:ln w="0">
            <a:noFill/>
            <a:prstDash val="solid"/>
          </a:ln>
        </p:spPr>
        <p:txBody>
          <a:bodyPr wrap="square" lIns="0" tIns="0" rIns="0" bIns="0" anchor="t">
            <a:noAutofit/>
          </a:bodyPr>
          <a:lstStyle/>
          <a:p>
            <a:pPr algn="l">
              <a:buNone/>
              <a:defRPr sz="1388" b="1">
                <a:solidFill>
                  <a:srgbClr val="1F9D70"/>
                </a:solidFill>
                <a:latin typeface="Hiragino Sans GB"/>
                <a:ea typeface="Hiragino Sans GB"/>
                <a:cs typeface="Hiragino Sans GB"/>
              </a:defRPr>
            </a:pPr>
            <a:r>
              <a:rPr sz="1388" b="1">
                <a:solidFill>
                  <a:srgbClr val="1F9D70"/>
                </a:solidFill>
                <a:latin typeface="Hiragino Sans GB"/>
                <a:ea typeface="Hiragino Sans GB"/>
                <a:cs typeface="Hiragino Sans GB"/>
              </a:rPr>
              <a:t>Process reward</a:t>
            </a:r>
          </a:p>
        </p:txBody>
      </p:sp>
      <p:sp>
        <p:nvSpPr>
          <p:cNvPr id="20" name="矩形 19">
            <a:extLst>
              <a:ext uri="{FF2B5EF4-FFF2-40B4-BE49-F238E27FC236}">
                <a16:creationId xmlns:a16="http://schemas.microsoft.com/office/drawing/2014/main" id="{506C2A85-3833-4E17-92D6-218CF3D2A002}"/>
              </a:ext>
            </a:extLst>
          </p:cNvPr>
          <p:cNvSpPr>
            <a:spLocks noGrp="1"/>
          </p:cNvSpPr>
          <p:nvPr/>
        </p:nvSpPr>
        <p:spPr>
          <a:xfrm>
            <a:off x="5514975" y="4210050"/>
            <a:ext cx="1685925" cy="571500"/>
          </a:xfrm>
          <a:prstGeom prst="rect">
            <a:avLst/>
          </a:prstGeom>
          <a:noFill/>
          <a:ln w="0">
            <a:noFill/>
            <a:prstDash val="solid"/>
          </a:ln>
        </p:spPr>
        <p:txBody>
          <a:bodyPr wrap="square" lIns="0" tIns="0" rIns="0" bIns="0" anchor="t">
            <a:noAutofit/>
          </a:bodyPr>
          <a:lstStyle/>
          <a:p>
            <a:pPr algn="l">
              <a:buNone/>
              <a:defRPr sz="1088" b="0">
                <a:solidFill>
                  <a:srgbClr val="5E6470"/>
                </a:solidFill>
                <a:latin typeface="Hiragino Sans GB"/>
                <a:ea typeface="Hiragino Sans GB"/>
                <a:cs typeface="Hiragino Sans GB"/>
              </a:defRPr>
            </a:pPr>
            <a:r>
              <a:rPr sz="1088" b="0">
                <a:solidFill>
                  <a:srgbClr val="5E6470"/>
                </a:solidFill>
                <a:latin typeface="Hiragino Sans GB"/>
                <a:ea typeface="Hiragino Sans GB"/>
                <a:cs typeface="Hiragino Sans GB"/>
              </a:rPr>
              <a:t>score × confidence</a:t>
            </a:r>
          </a:p>
        </p:txBody>
      </p:sp>
      <p:sp>
        <p:nvSpPr>
          <p:cNvPr id="21" name="矩形 20">
            <a:extLst>
              <a:ext uri="{FF2B5EF4-FFF2-40B4-BE49-F238E27FC236}">
                <a16:creationId xmlns:a16="http://schemas.microsoft.com/office/drawing/2014/main" id="{EE778A9A-80C2-4B86-BC51-C930639563BA}"/>
              </a:ext>
            </a:extLst>
          </p:cNvPr>
          <p:cNvSpPr>
            <a:spLocks noGrp="1"/>
          </p:cNvSpPr>
          <p:nvPr/>
        </p:nvSpPr>
        <p:spPr>
          <a:xfrm>
            <a:off x="7362825" y="4048125"/>
            <a:ext cx="285750" cy="381000"/>
          </a:xfrm>
          <a:prstGeom prst="rect">
            <a:avLst/>
          </a:prstGeom>
          <a:noFill/>
          <a:ln w="0">
            <a:noFill/>
            <a:prstDash val="solid"/>
          </a:ln>
        </p:spPr>
        <p:txBody>
          <a:bodyPr wrap="square" lIns="0" tIns="0" rIns="0" bIns="0" anchor="ctr">
            <a:noAutofit/>
          </a:bodyPr>
          <a:lstStyle/>
          <a:p>
            <a:pPr algn="ctr">
              <a:buNone/>
              <a:defRPr sz="2250" b="0">
                <a:solidFill>
                  <a:srgbClr val="5E6470"/>
                </a:solidFill>
                <a:latin typeface="Helvetica Neue"/>
                <a:ea typeface="Helvetica Neue"/>
                <a:cs typeface="Helvetica Neue"/>
              </a:defRPr>
            </a:pPr>
            <a:r>
              <a:rPr sz="2250" b="0">
                <a:solidFill>
                  <a:srgbClr val="5E6470"/>
                </a:solidFill>
                <a:latin typeface="Helvetica Neue"/>
                <a:ea typeface="Helvetica Neue"/>
                <a:cs typeface="Helvetica Neue"/>
              </a:rPr>
              <a:t>→</a:t>
            </a:r>
          </a:p>
        </p:txBody>
      </p:sp>
      <p:sp>
        <p:nvSpPr>
          <p:cNvPr id="22" name="圆角矩形 21">
            <a:extLst>
              <a:ext uri="{FF2B5EF4-FFF2-40B4-BE49-F238E27FC236}">
                <a16:creationId xmlns:a16="http://schemas.microsoft.com/office/drawing/2014/main" id="{01949610-B076-4EE1-A9CE-B8EF96C0EEB7}"/>
              </a:ext>
            </a:extLst>
          </p:cNvPr>
          <p:cNvSpPr>
            <a:spLocks noGrp="1"/>
          </p:cNvSpPr>
          <p:nvPr/>
        </p:nvSpPr>
        <p:spPr>
          <a:xfrm>
            <a:off x="7905750" y="3638550"/>
            <a:ext cx="1952625" cy="1238250"/>
          </a:xfrm>
          <a:prstGeom prst="roundRect">
            <a:avLst>
              <a:gd name="adj" fmla="val 6154"/>
            </a:avLst>
          </a:prstGeom>
          <a:solidFill>
            <a:srgbClr val="F0ECFD"/>
          </a:solidFill>
          <a:ln w="0">
            <a:noFill/>
            <a:prstDash val="solid"/>
          </a:ln>
        </p:spPr>
      </p:sp>
      <p:sp>
        <p:nvSpPr>
          <p:cNvPr id="23" name="矩形 22">
            <a:extLst>
              <a:ext uri="{FF2B5EF4-FFF2-40B4-BE49-F238E27FC236}">
                <a16:creationId xmlns:a16="http://schemas.microsoft.com/office/drawing/2014/main" id="{055CFA5F-520D-46DD-8C27-D19F503931F0}"/>
              </a:ext>
            </a:extLst>
          </p:cNvPr>
          <p:cNvSpPr>
            <a:spLocks noGrp="1"/>
          </p:cNvSpPr>
          <p:nvPr/>
        </p:nvSpPr>
        <p:spPr>
          <a:xfrm>
            <a:off x="8039100" y="3752850"/>
            <a:ext cx="1685925" cy="400050"/>
          </a:xfrm>
          <a:prstGeom prst="rect">
            <a:avLst/>
          </a:prstGeom>
          <a:noFill/>
          <a:ln w="0">
            <a:noFill/>
            <a:prstDash val="solid"/>
          </a:ln>
        </p:spPr>
        <p:txBody>
          <a:bodyPr wrap="square" lIns="0" tIns="0" rIns="0" bIns="0" anchor="t">
            <a:noAutofit/>
          </a:bodyPr>
          <a:lstStyle/>
          <a:p>
            <a:pPr algn="l">
              <a:buNone/>
              <a:defRPr sz="1388" b="1">
                <a:solidFill>
                  <a:srgbClr val="101214"/>
                </a:solidFill>
                <a:latin typeface="Hiragino Sans GB"/>
                <a:ea typeface="Hiragino Sans GB"/>
                <a:cs typeface="Hiragino Sans GB"/>
              </a:defRPr>
            </a:pPr>
            <a:r>
              <a:rPr sz="1388" b="1">
                <a:solidFill>
                  <a:srgbClr val="101214"/>
                </a:solidFill>
                <a:latin typeface="Hiragino Sans GB"/>
                <a:ea typeface="Hiragino Sans GB"/>
                <a:cs typeface="Hiragino Sans GB"/>
              </a:rPr>
              <a:t>Local repair</a:t>
            </a:r>
          </a:p>
        </p:txBody>
      </p:sp>
      <p:sp>
        <p:nvSpPr>
          <p:cNvPr id="24" name="矩形 23">
            <a:extLst>
              <a:ext uri="{FF2B5EF4-FFF2-40B4-BE49-F238E27FC236}">
                <a16:creationId xmlns:a16="http://schemas.microsoft.com/office/drawing/2014/main" id="{CE5DF6E3-77C5-4A3D-AA22-803ED9EA6A42}"/>
              </a:ext>
            </a:extLst>
          </p:cNvPr>
          <p:cNvSpPr>
            <a:spLocks noGrp="1"/>
          </p:cNvSpPr>
          <p:nvPr/>
        </p:nvSpPr>
        <p:spPr>
          <a:xfrm>
            <a:off x="8039100" y="4210050"/>
            <a:ext cx="1685925" cy="571500"/>
          </a:xfrm>
          <a:prstGeom prst="rect">
            <a:avLst/>
          </a:prstGeom>
          <a:noFill/>
          <a:ln w="0">
            <a:noFill/>
            <a:prstDash val="solid"/>
          </a:ln>
        </p:spPr>
        <p:txBody>
          <a:bodyPr wrap="square" lIns="0" tIns="0" rIns="0" bIns="0" anchor="t">
            <a:noAutofit/>
          </a:bodyPr>
          <a:lstStyle/>
          <a:p>
            <a:pPr algn="l">
              <a:buNone/>
              <a:defRPr sz="1088" b="0">
                <a:solidFill>
                  <a:srgbClr val="5E6470"/>
                </a:solidFill>
                <a:latin typeface="Hiragino Sans GB"/>
                <a:ea typeface="Hiragino Sans GB"/>
                <a:cs typeface="Hiragino Sans GB"/>
              </a:defRPr>
            </a:pPr>
            <a:r>
              <a:rPr sz="1088" b="0">
                <a:solidFill>
                  <a:srgbClr val="5E6470"/>
                </a:solidFill>
                <a:latin typeface="Hiragino Sans GB"/>
                <a:ea typeface="Hiragino Sans GB"/>
                <a:cs typeface="Hiragino Sans GB"/>
              </a:rPr>
              <a:t>只重试低置信片段</a:t>
            </a:r>
          </a:p>
        </p:txBody>
      </p:sp>
      <p:sp>
        <p:nvSpPr>
          <p:cNvPr id="25" name="矩形 24">
            <a:extLst>
              <a:ext uri="{FF2B5EF4-FFF2-40B4-BE49-F238E27FC236}">
                <a16:creationId xmlns:a16="http://schemas.microsoft.com/office/drawing/2014/main" id="{E27E93B6-9E8E-4758-B073-75B9697A5E00}"/>
              </a:ext>
            </a:extLst>
          </p:cNvPr>
          <p:cNvSpPr>
            <a:spLocks noGrp="1"/>
          </p:cNvSpPr>
          <p:nvPr/>
        </p:nvSpPr>
        <p:spPr>
          <a:xfrm>
            <a:off x="9886950" y="4048125"/>
            <a:ext cx="285750" cy="381000"/>
          </a:xfrm>
          <a:prstGeom prst="rect">
            <a:avLst/>
          </a:prstGeom>
          <a:noFill/>
          <a:ln w="0">
            <a:noFill/>
            <a:prstDash val="solid"/>
          </a:ln>
        </p:spPr>
        <p:txBody>
          <a:bodyPr wrap="square" lIns="0" tIns="0" rIns="0" bIns="0" anchor="ctr">
            <a:noAutofit/>
          </a:bodyPr>
          <a:lstStyle/>
          <a:p>
            <a:pPr algn="ctr">
              <a:buNone/>
              <a:defRPr sz="2250" b="0">
                <a:solidFill>
                  <a:srgbClr val="5E6470"/>
                </a:solidFill>
                <a:latin typeface="Helvetica Neue"/>
                <a:ea typeface="Helvetica Neue"/>
                <a:cs typeface="Helvetica Neue"/>
              </a:defRPr>
            </a:pPr>
            <a:r>
              <a:rPr sz="2250" b="0">
                <a:solidFill>
                  <a:srgbClr val="5E6470"/>
                </a:solidFill>
                <a:latin typeface="Helvetica Neue"/>
                <a:ea typeface="Helvetica Neue"/>
                <a:cs typeface="Helvetica Neue"/>
              </a:rPr>
              <a:t>→</a:t>
            </a:r>
          </a:p>
        </p:txBody>
      </p:sp>
      <p:sp>
        <p:nvSpPr>
          <p:cNvPr id="26" name="圆角矩形 25">
            <a:extLst>
              <a:ext uri="{FF2B5EF4-FFF2-40B4-BE49-F238E27FC236}">
                <a16:creationId xmlns:a16="http://schemas.microsoft.com/office/drawing/2014/main" id="{0702F1F5-76C7-4BEE-B89A-EA4B51D075AE}"/>
              </a:ext>
            </a:extLst>
          </p:cNvPr>
          <p:cNvSpPr>
            <a:spLocks noGrp="1"/>
          </p:cNvSpPr>
          <p:nvPr/>
        </p:nvSpPr>
        <p:spPr>
          <a:xfrm>
            <a:off x="10429875" y="3638550"/>
            <a:ext cx="1524000" cy="1238250"/>
          </a:xfrm>
          <a:prstGeom prst="roundRect">
            <a:avLst>
              <a:gd name="adj" fmla="val 6154"/>
            </a:avLst>
          </a:prstGeom>
          <a:solidFill>
            <a:srgbClr val="F1F2F4"/>
          </a:solidFill>
          <a:ln w="0">
            <a:noFill/>
            <a:prstDash val="solid"/>
          </a:ln>
        </p:spPr>
      </p:sp>
      <p:sp>
        <p:nvSpPr>
          <p:cNvPr id="27" name="矩形 26">
            <a:extLst>
              <a:ext uri="{FF2B5EF4-FFF2-40B4-BE49-F238E27FC236}">
                <a16:creationId xmlns:a16="http://schemas.microsoft.com/office/drawing/2014/main" id="{DD7F56BB-49A9-4B41-A7AA-EE4D72E64C1C}"/>
              </a:ext>
            </a:extLst>
          </p:cNvPr>
          <p:cNvSpPr>
            <a:spLocks noGrp="1"/>
          </p:cNvSpPr>
          <p:nvPr/>
        </p:nvSpPr>
        <p:spPr>
          <a:xfrm>
            <a:off x="10563225" y="3752850"/>
            <a:ext cx="1257300" cy="400050"/>
          </a:xfrm>
          <a:prstGeom prst="rect">
            <a:avLst/>
          </a:prstGeom>
          <a:noFill/>
          <a:ln w="0">
            <a:noFill/>
            <a:prstDash val="solid"/>
          </a:ln>
        </p:spPr>
        <p:txBody>
          <a:bodyPr wrap="square" lIns="0" tIns="0" rIns="0" bIns="0" anchor="t">
            <a:noAutofit/>
          </a:bodyPr>
          <a:lstStyle/>
          <a:p>
            <a:pPr algn="l">
              <a:buNone/>
              <a:defRPr sz="1388" b="1">
                <a:solidFill>
                  <a:srgbClr val="101214"/>
                </a:solidFill>
                <a:latin typeface="Hiragino Sans GB"/>
                <a:ea typeface="Hiragino Sans GB"/>
                <a:cs typeface="Hiragino Sans GB"/>
              </a:defRPr>
            </a:pPr>
            <a:r>
              <a:rPr sz="1388" b="1">
                <a:solidFill>
                  <a:srgbClr val="101214"/>
                </a:solidFill>
                <a:latin typeface="Hiragino Sans GB"/>
                <a:ea typeface="Hiragino Sans GB"/>
                <a:cs typeface="Hiragino Sans GB"/>
              </a:rPr>
              <a:t>Return</a:t>
            </a:r>
          </a:p>
        </p:txBody>
      </p:sp>
      <p:sp>
        <p:nvSpPr>
          <p:cNvPr id="28" name="矩形 27">
            <a:extLst>
              <a:ext uri="{FF2B5EF4-FFF2-40B4-BE49-F238E27FC236}">
                <a16:creationId xmlns:a16="http://schemas.microsoft.com/office/drawing/2014/main" id="{9DB149B0-6CA3-4AAD-BFA9-3DFB00264C32}"/>
              </a:ext>
            </a:extLst>
          </p:cNvPr>
          <p:cNvSpPr>
            <a:spLocks noGrp="1"/>
          </p:cNvSpPr>
          <p:nvPr/>
        </p:nvSpPr>
        <p:spPr>
          <a:xfrm>
            <a:off x="10563225" y="4210050"/>
            <a:ext cx="1257300" cy="571500"/>
          </a:xfrm>
          <a:prstGeom prst="rect">
            <a:avLst/>
          </a:prstGeom>
          <a:noFill/>
          <a:ln w="0">
            <a:noFill/>
            <a:prstDash val="solid"/>
          </a:ln>
        </p:spPr>
        <p:txBody>
          <a:bodyPr wrap="square" lIns="0" tIns="0" rIns="0" bIns="0" anchor="t">
            <a:noAutofit/>
          </a:bodyPr>
          <a:lstStyle/>
          <a:p>
            <a:pPr algn="l">
              <a:buNone/>
              <a:defRPr sz="1088" b="0">
                <a:solidFill>
                  <a:srgbClr val="5E6470"/>
                </a:solidFill>
                <a:latin typeface="Hiragino Sans GB"/>
                <a:ea typeface="Hiragino Sans GB"/>
                <a:cs typeface="Hiragino Sans GB"/>
              </a:defRPr>
            </a:pPr>
            <a:r>
              <a:rPr sz="1088" b="0">
                <a:solidFill>
                  <a:srgbClr val="5E6470"/>
                </a:solidFill>
                <a:latin typeface="Hiragino Sans GB"/>
                <a:ea typeface="Hiragino Sans GB"/>
                <a:cs typeface="Hiragino Sans GB"/>
              </a:rPr>
              <a:t>供 GRPO 计算 advantage</a:t>
            </a:r>
          </a:p>
        </p:txBody>
      </p:sp>
      <p:sp>
        <p:nvSpPr>
          <p:cNvPr id="29" name="圆角矩形 28">
            <a:extLst>
              <a:ext uri="{FF2B5EF4-FFF2-40B4-BE49-F238E27FC236}">
                <a16:creationId xmlns:a16="http://schemas.microsoft.com/office/drawing/2014/main" id="{501B8ADA-A484-4756-ABA6-54201B7C6B7A}"/>
              </a:ext>
            </a:extLst>
          </p:cNvPr>
          <p:cNvSpPr>
            <a:spLocks noGrp="1"/>
          </p:cNvSpPr>
          <p:nvPr/>
        </p:nvSpPr>
        <p:spPr>
          <a:xfrm>
            <a:off x="419100" y="5314950"/>
            <a:ext cx="11353800" cy="590550"/>
          </a:xfrm>
          <a:prstGeom prst="roundRect">
            <a:avLst>
              <a:gd name="adj" fmla="val 12903"/>
            </a:avLst>
          </a:prstGeom>
          <a:solidFill>
            <a:srgbClr val="FFF4DE"/>
          </a:solidFill>
          <a:ln w="0">
            <a:noFill/>
            <a:prstDash val="solid"/>
          </a:ln>
        </p:spPr>
      </p:sp>
      <p:sp>
        <p:nvSpPr>
          <p:cNvPr id="30" name="矩形 29">
            <a:extLst>
              <a:ext uri="{FF2B5EF4-FFF2-40B4-BE49-F238E27FC236}">
                <a16:creationId xmlns:a16="http://schemas.microsoft.com/office/drawing/2014/main" id="{2C4AEF10-BBDA-4DE5-B8F5-BDC66B924D36}"/>
              </a:ext>
            </a:extLst>
          </p:cNvPr>
          <p:cNvSpPr>
            <a:spLocks noGrp="1"/>
          </p:cNvSpPr>
          <p:nvPr/>
        </p:nvSpPr>
        <p:spPr>
          <a:xfrm>
            <a:off x="647700" y="5495925"/>
            <a:ext cx="10858500" cy="247650"/>
          </a:xfrm>
          <a:prstGeom prst="rect">
            <a:avLst/>
          </a:prstGeom>
          <a:noFill/>
          <a:ln w="0">
            <a:noFill/>
            <a:prstDash val="solid"/>
          </a:ln>
        </p:spPr>
        <p:txBody>
          <a:bodyPr wrap="square" lIns="0" tIns="0" rIns="0" bIns="0" anchor="t">
            <a:noAutofit/>
          </a:bodyPr>
          <a:lstStyle/>
          <a:p>
            <a:pPr algn="ctr">
              <a:buNone/>
              <a:defRPr sz="1313" b="0">
                <a:solidFill>
                  <a:srgbClr val="101214"/>
                </a:solidFill>
                <a:latin typeface="Hiragino Sans GB"/>
                <a:ea typeface="Hiragino Sans GB"/>
                <a:cs typeface="Hiragino Sans GB"/>
              </a:defRPr>
            </a:pPr>
            <a:r>
              <a:rPr sz="1313" b="0">
                <a:solidFill>
                  <a:srgbClr val="101214"/>
                </a:solidFill>
                <a:latin typeface="Hiragino Sans GB"/>
                <a:ea typeface="Hiragino Sans GB"/>
                <a:cs typeface="Hiragino Sans GB"/>
              </a:rPr>
              <a:t>Credit densification 的收益取决于 verifier 是否可信；共享模型也可能把错误判断自我强化。</a:t>
            </a:r>
          </a:p>
        </p:txBody>
      </p:sp>
      <p:sp>
        <p:nvSpPr>
          <p:cNvPr id="31" name="直线连接符 30">
            <a:extLst>
              <a:ext uri="{FF2B5EF4-FFF2-40B4-BE49-F238E27FC236}">
                <a16:creationId xmlns:a16="http://schemas.microsoft.com/office/drawing/2014/main" id="{2B2D600B-C5A6-4C61-93DB-3A98AC6E0E32}"/>
              </a:ext>
            </a:extLst>
          </p:cNvPr>
          <p:cNvSpPr>
            <a:spLocks noGrp="1"/>
          </p:cNvSpPr>
          <p:nvPr/>
        </p:nvSpPr>
        <p:spPr>
          <a:xfrm>
            <a:off x="419100" y="6286500"/>
            <a:ext cx="11353800" cy="0"/>
          </a:xfrm>
          <a:prstGeom prst="line">
            <a:avLst/>
          </a:prstGeom>
          <a:noFill/>
          <a:ln w="9525">
            <a:solidFill>
              <a:srgbClr val="B8BCC4"/>
            </a:solidFill>
            <a:prstDash val="solid"/>
          </a:ln>
        </p:spPr>
      </p:sp>
      <p:sp>
        <p:nvSpPr>
          <p:cNvPr id="32" name="矩形 31">
            <a:extLst>
              <a:ext uri="{FF2B5EF4-FFF2-40B4-BE49-F238E27FC236}">
                <a16:creationId xmlns:a16="http://schemas.microsoft.com/office/drawing/2014/main" id="{B318AFC0-2EB9-41FF-B0FE-7FB630A7FC54}"/>
              </a:ext>
            </a:extLst>
          </p:cNvPr>
          <p:cNvSpPr>
            <a:spLocks noGrp="1"/>
          </p:cNvSpPr>
          <p:nvPr/>
        </p:nvSpPr>
        <p:spPr>
          <a:xfrm>
            <a:off x="419100" y="6362700"/>
            <a:ext cx="10763250" cy="219075"/>
          </a:xfrm>
          <a:prstGeom prst="rect">
            <a:avLst/>
          </a:prstGeom>
          <a:noFill/>
          <a:ln w="0">
            <a:noFill/>
            <a:prstDash val="solid"/>
          </a:ln>
        </p:spPr>
        <p:txBody>
          <a:bodyPr wrap="square" lIns="0" tIns="0" rIns="0" bIns="0" anchor="t">
            <a:noAutofit/>
          </a:bodyPr>
          <a:lstStyle/>
          <a:p>
            <a:pPr algn="l">
              <a:buNone/>
              <a:defRPr sz="788" b="0">
                <a:solidFill>
                  <a:srgbClr val="5E6470"/>
                </a:solidFill>
                <a:latin typeface="Helvetica Neue"/>
                <a:ea typeface="Helvetica Neue"/>
                <a:cs typeface="Helvetica Neue"/>
              </a:defRPr>
            </a:pPr>
            <a:r>
              <a:rPr sz="788" b="0">
                <a:solidFill>
                  <a:srgbClr val="5E6470"/>
                </a:solidFill>
                <a:latin typeface="Helvetica Neue"/>
                <a:ea typeface="Helvetica Neue"/>
                <a:cs typeface="Helvetica Neue"/>
              </a:rPr>
              <a:t>Liu et al., Agent0-VL (2025), Eq. 2–5</a:t>
            </a:r>
          </a:p>
        </p:txBody>
      </p:sp>
      <p:sp>
        <p:nvSpPr>
          <p:cNvPr id="33" name="矩形 32">
            <a:extLst>
              <a:ext uri="{FF2B5EF4-FFF2-40B4-BE49-F238E27FC236}">
                <a16:creationId xmlns:a16="http://schemas.microsoft.com/office/drawing/2014/main" id="{F9AF4F09-244F-47BA-82BA-EC18CE416F98}"/>
              </a:ext>
            </a:extLst>
          </p:cNvPr>
          <p:cNvSpPr>
            <a:spLocks noGrp="1"/>
          </p:cNvSpPr>
          <p:nvPr/>
        </p:nvSpPr>
        <p:spPr>
          <a:xfrm>
            <a:off x="11334750" y="6362700"/>
            <a:ext cx="438150" cy="219075"/>
          </a:xfrm>
          <a:prstGeom prst="rect">
            <a:avLst/>
          </a:prstGeom>
          <a:noFill/>
          <a:ln w="0">
            <a:noFill/>
            <a:prstDash val="solid"/>
          </a:ln>
        </p:spPr>
        <p:txBody>
          <a:bodyPr wrap="square" lIns="0" tIns="0" rIns="0" bIns="0" anchor="t">
            <a:noAutofit/>
          </a:bodyPr>
          <a:lstStyle/>
          <a:p>
            <a:pPr algn="r">
              <a:buNone/>
              <a:defRPr sz="825" b="0">
                <a:solidFill>
                  <a:srgbClr val="5E6470"/>
                </a:solidFill>
                <a:latin typeface="Helvetica Neue"/>
                <a:ea typeface="Helvetica Neue"/>
                <a:cs typeface="Helvetica Neue"/>
              </a:defRPr>
            </a:pPr>
            <a:r>
              <a:rPr sz="825" b="0">
                <a:solidFill>
                  <a:srgbClr val="5E6470"/>
                </a:solidFill>
                <a:latin typeface="Helvetica Neue"/>
                <a:ea typeface="Helvetica Neue"/>
                <a:cs typeface="Helvetica Neue"/>
              </a:rPr>
              <a:t>29</a:t>
            </a:r>
          </a:p>
        </p:txBody>
      </p:sp>
    </p:spTree>
    <p:extLst>
      <p:ext uri="{BB962C8B-B14F-4D97-AF65-F5344CB8AC3E}">
        <p14:creationId xmlns:p14="http://schemas.microsoft.com/office/powerpoint/2010/main" val="17823113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08FA247E-48AA-4A45-934A-8936191A4CCA}"/>
              </a:ext>
            </a:extLst>
          </p:cNvPr>
          <p:cNvSpPr>
            <a:spLocks noGrp="1"/>
          </p:cNvSpPr>
          <p:nvPr/>
        </p:nvSpPr>
        <p:spPr>
          <a:xfrm>
            <a:off x="419100" y="171450"/>
            <a:ext cx="2952750" cy="228600"/>
          </a:xfrm>
          <a:prstGeom prst="rect">
            <a:avLst/>
          </a:prstGeom>
          <a:noFill/>
          <a:ln w="0">
            <a:noFill/>
            <a:prstDash val="solid"/>
          </a:ln>
        </p:spPr>
        <p:txBody>
          <a:bodyPr wrap="square" lIns="0" tIns="0" rIns="0" bIns="0" anchor="t">
            <a:noAutofit/>
          </a:bodyPr>
          <a:lstStyle/>
          <a:p>
            <a:pPr algn="l">
              <a:buNone/>
              <a:defRPr sz="975" b="1">
                <a:solidFill>
                  <a:srgbClr val="5E6470"/>
                </a:solidFill>
                <a:latin typeface="Helvetica Neue"/>
                <a:ea typeface="Helvetica Neue"/>
                <a:cs typeface="Helvetica Neue"/>
              </a:defRPr>
            </a:pPr>
            <a:r>
              <a:rPr sz="975" b="1">
                <a:solidFill>
                  <a:srgbClr val="5E6470"/>
                </a:solidFill>
                <a:latin typeface="Helvetica Neue"/>
                <a:ea typeface="Helvetica Neue"/>
                <a:cs typeface="Helvetica Neue"/>
              </a:rPr>
              <a:t>II · AGENT0-VL</a:t>
            </a:r>
          </a:p>
        </p:txBody>
      </p:sp>
      <p:sp>
        <p:nvSpPr>
          <p:cNvPr id="2" name="矩形 1">
            <a:extLst>
              <a:ext uri="{FF2B5EF4-FFF2-40B4-BE49-F238E27FC236}">
                <a16:creationId xmlns:a16="http://schemas.microsoft.com/office/drawing/2014/main" id="{CB64F17F-3D1B-4F16-8DC7-0CFA48326FC0}"/>
              </a:ext>
            </a:extLst>
          </p:cNvPr>
          <p:cNvSpPr>
            <a:spLocks noGrp="1"/>
          </p:cNvSpPr>
          <p:nvPr/>
        </p:nvSpPr>
        <p:spPr>
          <a:xfrm>
            <a:off x="419100" y="409575"/>
            <a:ext cx="11353800" cy="514350"/>
          </a:xfrm>
          <a:prstGeom prst="rect">
            <a:avLst/>
          </a:prstGeom>
          <a:noFill/>
          <a:ln w="0">
            <a:noFill/>
            <a:prstDash val="solid"/>
          </a:ln>
        </p:spPr>
        <p:txBody>
          <a:bodyPr wrap="square" lIns="0" tIns="0" rIns="0" bIns="0" anchor="t">
            <a:noAutofit/>
          </a:bodyPr>
          <a:lstStyle/>
          <a:p>
            <a:pPr algn="l">
              <a:buNone/>
              <a:defRPr sz="2850" b="1">
                <a:solidFill>
                  <a:srgbClr val="101214"/>
                </a:solidFill>
                <a:latin typeface="Hiragino Sans GB"/>
                <a:ea typeface="Hiragino Sans GB"/>
                <a:cs typeface="Hiragino Sans GB"/>
              </a:defRPr>
            </a:pPr>
            <a:r>
              <a:rPr sz="2850" b="1">
                <a:solidFill>
                  <a:srgbClr val="101214"/>
                </a:solidFill>
                <a:latin typeface="Hiragino Sans GB"/>
                <a:ea typeface="Hiragino Sans GB"/>
                <a:cs typeface="Hiragino Sans GB"/>
              </a:rPr>
              <a:t>内环修轨迹，外环学策略</a:t>
            </a:r>
          </a:p>
        </p:txBody>
      </p:sp>
      <p:sp>
        <p:nvSpPr>
          <p:cNvPr id="3" name="圆角矩形 2">
            <a:extLst>
              <a:ext uri="{FF2B5EF4-FFF2-40B4-BE49-F238E27FC236}">
                <a16:creationId xmlns:a16="http://schemas.microsoft.com/office/drawing/2014/main" id="{E540FE1C-D4ED-4DE8-A472-29CB3DDB9A17}"/>
              </a:ext>
            </a:extLst>
          </p:cNvPr>
          <p:cNvSpPr>
            <a:spLocks noGrp="1"/>
          </p:cNvSpPr>
          <p:nvPr/>
        </p:nvSpPr>
        <p:spPr>
          <a:xfrm>
            <a:off x="419100" y="1200150"/>
            <a:ext cx="11353800" cy="3505200"/>
          </a:xfrm>
          <a:prstGeom prst="roundRect">
            <a:avLst>
              <a:gd name="adj" fmla="val 2174"/>
            </a:avLst>
          </a:prstGeom>
          <a:solidFill>
            <a:srgbClr val="F1F2F4"/>
          </a:solidFill>
          <a:ln w="9525">
            <a:solidFill>
              <a:srgbClr val="B8BCC4"/>
            </a:solidFill>
            <a:prstDash val="solid"/>
          </a:ln>
        </p:spPr>
      </p:sp>
      <p:pic>
        <p:nvPicPr>
          <p:cNvPr id="19" name="图片 16"/>
          <p:cNvPicPr>
            <a:picLocks noChangeAspect="1"/>
          </p:cNvPicPr>
          <p:nvPr/>
        </p:nvPicPr>
        <p:blipFill>
          <a:blip r:embed="rId3"/>
          <a:stretch/>
        </p:blipFill>
        <p:spPr>
          <a:xfrm>
            <a:off x="554596" y="1238250"/>
            <a:ext cx="11082809" cy="3429000"/>
          </a:xfrm>
          <a:prstGeom prst="roundRect">
            <a:avLst>
              <a:gd name="adj" fmla="val 1667"/>
            </a:avLst>
          </a:prstGeom>
        </p:spPr>
      </p:pic>
      <p:sp>
        <p:nvSpPr>
          <p:cNvPr id="5" name="圆角矩形 4">
            <a:extLst>
              <a:ext uri="{FF2B5EF4-FFF2-40B4-BE49-F238E27FC236}">
                <a16:creationId xmlns:a16="http://schemas.microsoft.com/office/drawing/2014/main" id="{802E6BF7-ECB3-4F42-B1E9-C1663992FAD9}"/>
              </a:ext>
            </a:extLst>
          </p:cNvPr>
          <p:cNvSpPr>
            <a:spLocks noGrp="1"/>
          </p:cNvSpPr>
          <p:nvPr/>
        </p:nvSpPr>
        <p:spPr>
          <a:xfrm>
            <a:off x="419100" y="4953000"/>
            <a:ext cx="5410200" cy="876300"/>
          </a:xfrm>
          <a:prstGeom prst="roundRect">
            <a:avLst>
              <a:gd name="adj" fmla="val 8696"/>
            </a:avLst>
          </a:prstGeom>
          <a:solidFill>
            <a:srgbClr val="EAF5FB"/>
          </a:solidFill>
          <a:ln w="0">
            <a:noFill/>
            <a:prstDash val="solid"/>
          </a:ln>
        </p:spPr>
      </p:sp>
      <p:sp>
        <p:nvSpPr>
          <p:cNvPr id="6" name="矩形 5">
            <a:extLst>
              <a:ext uri="{FF2B5EF4-FFF2-40B4-BE49-F238E27FC236}">
                <a16:creationId xmlns:a16="http://schemas.microsoft.com/office/drawing/2014/main" id="{517B231E-32D8-47AA-BD95-48C9B1FC2711}"/>
              </a:ext>
            </a:extLst>
          </p:cNvPr>
          <p:cNvSpPr>
            <a:spLocks noGrp="1"/>
          </p:cNvSpPr>
          <p:nvPr/>
        </p:nvSpPr>
        <p:spPr>
          <a:xfrm>
            <a:off x="647700" y="5124450"/>
            <a:ext cx="1428750" cy="209550"/>
          </a:xfrm>
          <a:prstGeom prst="rect">
            <a:avLst/>
          </a:prstGeom>
          <a:noFill/>
          <a:ln w="0">
            <a:noFill/>
            <a:prstDash val="solid"/>
          </a:ln>
        </p:spPr>
        <p:txBody>
          <a:bodyPr wrap="square" lIns="0" tIns="0" rIns="0" bIns="0" anchor="t">
            <a:noAutofit/>
          </a:bodyPr>
          <a:lstStyle/>
          <a:p>
            <a:pPr algn="l">
              <a:buNone/>
              <a:defRPr sz="1050" b="1">
                <a:solidFill>
                  <a:srgbClr val="2787F5"/>
                </a:solidFill>
                <a:latin typeface="Helvetica Neue"/>
                <a:ea typeface="Helvetica Neue"/>
                <a:cs typeface="Helvetica Neue"/>
              </a:defRPr>
            </a:pPr>
            <a:r>
              <a:rPr sz="1050" b="1">
                <a:solidFill>
                  <a:srgbClr val="2787F5"/>
                </a:solidFill>
                <a:latin typeface="Helvetica Neue"/>
                <a:ea typeface="Helvetica Neue"/>
                <a:cs typeface="Helvetica Neue"/>
              </a:rPr>
              <a:t>INNER LOOP</a:t>
            </a:r>
          </a:p>
        </p:txBody>
      </p:sp>
      <p:sp>
        <p:nvSpPr>
          <p:cNvPr id="7" name="矩形 6">
            <a:extLst>
              <a:ext uri="{FF2B5EF4-FFF2-40B4-BE49-F238E27FC236}">
                <a16:creationId xmlns:a16="http://schemas.microsoft.com/office/drawing/2014/main" id="{651F44E3-9A51-46AA-9282-8E9F003ED690}"/>
              </a:ext>
            </a:extLst>
          </p:cNvPr>
          <p:cNvSpPr>
            <a:spLocks noGrp="1"/>
          </p:cNvSpPr>
          <p:nvPr/>
        </p:nvSpPr>
        <p:spPr>
          <a:xfrm>
            <a:off x="2095500" y="5105400"/>
            <a:ext cx="3429000" cy="457200"/>
          </a:xfrm>
          <a:prstGeom prst="rect">
            <a:avLst/>
          </a:prstGeom>
          <a:noFill/>
          <a:ln w="0">
            <a:noFill/>
            <a:prstDash val="solid"/>
          </a:ln>
        </p:spPr>
        <p:txBody>
          <a:bodyPr wrap="square" lIns="0" tIns="0" rIns="0" bIns="0" anchor="t">
            <a:noAutofit/>
          </a:bodyPr>
          <a:lstStyle/>
          <a:p>
            <a:pPr algn="l">
              <a:buNone/>
              <a:defRPr sz="1463" b="1">
                <a:solidFill>
                  <a:srgbClr val="101214"/>
                </a:solidFill>
                <a:latin typeface="Helvetica Neue"/>
                <a:ea typeface="Helvetica Neue"/>
                <a:cs typeface="Helvetica Neue"/>
              </a:defRPr>
            </a:pPr>
            <a:r>
              <a:rPr sz="1463" b="1">
                <a:solidFill>
                  <a:srgbClr val="101214"/>
                </a:solidFill>
                <a:latin typeface="Helvetica Neue"/>
                <a:ea typeface="Helvetica Neue"/>
                <a:cs typeface="Helvetica Neue"/>
              </a:rPr>
              <a:t>Solver → Tool → Verifier → optional Repair</a:t>
            </a:r>
          </a:p>
        </p:txBody>
      </p:sp>
      <p:sp>
        <p:nvSpPr>
          <p:cNvPr id="8" name="圆角矩形 7">
            <a:extLst>
              <a:ext uri="{FF2B5EF4-FFF2-40B4-BE49-F238E27FC236}">
                <a16:creationId xmlns:a16="http://schemas.microsoft.com/office/drawing/2014/main" id="{1C000D13-A1BE-4D7C-86C8-3C458BA98515}"/>
              </a:ext>
            </a:extLst>
          </p:cNvPr>
          <p:cNvSpPr>
            <a:spLocks noGrp="1"/>
          </p:cNvSpPr>
          <p:nvPr/>
        </p:nvSpPr>
        <p:spPr>
          <a:xfrm>
            <a:off x="6362700" y="4953000"/>
            <a:ext cx="5410200" cy="876300"/>
          </a:xfrm>
          <a:prstGeom prst="roundRect">
            <a:avLst>
              <a:gd name="adj" fmla="val 8696"/>
            </a:avLst>
          </a:prstGeom>
          <a:solidFill>
            <a:srgbClr val="F0ECFD"/>
          </a:solidFill>
          <a:ln w="0">
            <a:noFill/>
            <a:prstDash val="solid"/>
          </a:ln>
        </p:spPr>
      </p:sp>
      <p:sp>
        <p:nvSpPr>
          <p:cNvPr id="9" name="矩形 8">
            <a:extLst>
              <a:ext uri="{FF2B5EF4-FFF2-40B4-BE49-F238E27FC236}">
                <a16:creationId xmlns:a16="http://schemas.microsoft.com/office/drawing/2014/main" id="{82377F3D-643B-4F4A-8C15-9BC7693B3ACE}"/>
              </a:ext>
            </a:extLst>
          </p:cNvPr>
          <p:cNvSpPr>
            <a:spLocks noGrp="1"/>
          </p:cNvSpPr>
          <p:nvPr/>
        </p:nvSpPr>
        <p:spPr>
          <a:xfrm>
            <a:off x="6591300" y="5124450"/>
            <a:ext cx="1428750" cy="209550"/>
          </a:xfrm>
          <a:prstGeom prst="rect">
            <a:avLst/>
          </a:prstGeom>
          <a:noFill/>
          <a:ln w="0">
            <a:noFill/>
            <a:prstDash val="solid"/>
          </a:ln>
        </p:spPr>
        <p:txBody>
          <a:bodyPr wrap="square" lIns="0" tIns="0" rIns="0" bIns="0" anchor="t">
            <a:noAutofit/>
          </a:bodyPr>
          <a:lstStyle/>
          <a:p>
            <a:pPr algn="l">
              <a:buNone/>
              <a:defRPr sz="1050" b="1">
                <a:solidFill>
                  <a:srgbClr val="7257D5"/>
                </a:solidFill>
                <a:latin typeface="Helvetica Neue"/>
                <a:ea typeface="Helvetica Neue"/>
                <a:cs typeface="Helvetica Neue"/>
              </a:defRPr>
            </a:pPr>
            <a:r>
              <a:rPr sz="1050" b="1">
                <a:solidFill>
                  <a:srgbClr val="7257D5"/>
                </a:solidFill>
                <a:latin typeface="Helvetica Neue"/>
                <a:ea typeface="Helvetica Neue"/>
                <a:cs typeface="Helvetica Neue"/>
              </a:rPr>
              <a:t>OUTER LOOP</a:t>
            </a:r>
          </a:p>
        </p:txBody>
      </p:sp>
      <p:sp>
        <p:nvSpPr>
          <p:cNvPr id="10" name="矩形 9">
            <a:extLst>
              <a:ext uri="{FF2B5EF4-FFF2-40B4-BE49-F238E27FC236}">
                <a16:creationId xmlns:a16="http://schemas.microsoft.com/office/drawing/2014/main" id="{F065A840-EF95-40D8-972D-847360B33BF7}"/>
              </a:ext>
            </a:extLst>
          </p:cNvPr>
          <p:cNvSpPr>
            <a:spLocks noGrp="1"/>
          </p:cNvSpPr>
          <p:nvPr/>
        </p:nvSpPr>
        <p:spPr>
          <a:xfrm>
            <a:off x="8039100" y="5086350"/>
            <a:ext cx="3429000" cy="552450"/>
          </a:xfrm>
          <a:prstGeom prst="rect">
            <a:avLst/>
          </a:prstGeom>
          <a:noFill/>
          <a:ln w="0">
            <a:noFill/>
            <a:prstDash val="solid"/>
          </a:ln>
        </p:spPr>
        <p:txBody>
          <a:bodyPr wrap="square" lIns="0" tIns="0" rIns="0" bIns="0" anchor="t">
            <a:noAutofit/>
          </a:bodyPr>
          <a:lstStyle/>
          <a:p>
            <a:pPr algn="l">
              <a:buNone/>
              <a:defRPr sz="1350" b="1">
                <a:solidFill>
                  <a:srgbClr val="101214"/>
                </a:solidFill>
                <a:latin typeface="Cambria Math"/>
                <a:ea typeface="Cambria Math"/>
                <a:cs typeface="Cambria Math"/>
              </a:defRPr>
            </a:pPr>
            <a:r>
              <a:rPr sz="1350" b="1">
                <a:solidFill>
                  <a:srgbClr val="101214"/>
                </a:solidFill>
                <a:latin typeface="Cambria Math"/>
                <a:ea typeface="Cambria Math"/>
                <a:cs typeface="Cambria Math"/>
              </a:rPr>
              <a:t>G trajectories → group advantage → GRPO</a:t>
            </a:r>
          </a:p>
          <a:p>
            <a:pPr algn="l">
              <a:buNone/>
              <a:defRPr sz="1350" b="1">
                <a:solidFill>
                  <a:srgbClr val="101214"/>
                </a:solidFill>
                <a:latin typeface="Cambria Math"/>
                <a:ea typeface="Cambria Math"/>
                <a:cs typeface="Cambria Math"/>
              </a:defRPr>
            </a:pPr>
            <a:r>
              <a:rPr sz="1350" b="1">
                <a:solidFill>
                  <a:srgbClr val="101214"/>
                </a:solidFill>
                <a:latin typeface="Cambria Math"/>
                <a:ea typeface="Cambria Math"/>
                <a:cs typeface="Cambria Math"/>
              </a:rPr>
              <a:t>g(τ) = αₒᵤₜ·rₒᵤₜ + Σ γᵗ⁻¹ rₜ</a:t>
            </a:r>
          </a:p>
        </p:txBody>
      </p:sp>
      <p:sp>
        <p:nvSpPr>
          <p:cNvPr id="11" name="直线连接符 10">
            <a:extLst>
              <a:ext uri="{FF2B5EF4-FFF2-40B4-BE49-F238E27FC236}">
                <a16:creationId xmlns:a16="http://schemas.microsoft.com/office/drawing/2014/main" id="{8767C577-9B02-476A-8658-2D27FE5C5DA2}"/>
              </a:ext>
            </a:extLst>
          </p:cNvPr>
          <p:cNvSpPr>
            <a:spLocks noGrp="1"/>
          </p:cNvSpPr>
          <p:nvPr/>
        </p:nvSpPr>
        <p:spPr>
          <a:xfrm>
            <a:off x="419100" y="6286500"/>
            <a:ext cx="11353800" cy="0"/>
          </a:xfrm>
          <a:prstGeom prst="line">
            <a:avLst/>
          </a:prstGeom>
          <a:noFill/>
          <a:ln w="9525">
            <a:solidFill>
              <a:srgbClr val="B8BCC4"/>
            </a:solidFill>
            <a:prstDash val="solid"/>
          </a:ln>
        </p:spPr>
      </p:sp>
      <p:sp>
        <p:nvSpPr>
          <p:cNvPr id="12" name="矩形 11">
            <a:extLst>
              <a:ext uri="{FF2B5EF4-FFF2-40B4-BE49-F238E27FC236}">
                <a16:creationId xmlns:a16="http://schemas.microsoft.com/office/drawing/2014/main" id="{A0774834-36D9-4402-8D41-C4B57B2115B5}"/>
              </a:ext>
            </a:extLst>
          </p:cNvPr>
          <p:cNvSpPr>
            <a:spLocks noGrp="1"/>
          </p:cNvSpPr>
          <p:nvPr/>
        </p:nvSpPr>
        <p:spPr>
          <a:xfrm>
            <a:off x="419100" y="6362700"/>
            <a:ext cx="10763250" cy="219075"/>
          </a:xfrm>
          <a:prstGeom prst="rect">
            <a:avLst/>
          </a:prstGeom>
          <a:noFill/>
          <a:ln w="0">
            <a:noFill/>
            <a:prstDash val="solid"/>
          </a:ln>
        </p:spPr>
        <p:txBody>
          <a:bodyPr wrap="square" lIns="0" tIns="0" rIns="0" bIns="0" anchor="t">
            <a:noAutofit/>
          </a:bodyPr>
          <a:lstStyle/>
          <a:p>
            <a:pPr algn="l">
              <a:buNone/>
              <a:defRPr sz="788" b="0">
                <a:solidFill>
                  <a:srgbClr val="5E6470"/>
                </a:solidFill>
                <a:latin typeface="Helvetica Neue"/>
                <a:ea typeface="Helvetica Neue"/>
                <a:cs typeface="Helvetica Neue"/>
              </a:defRPr>
            </a:pPr>
            <a:r>
              <a:rPr sz="788" b="0">
                <a:solidFill>
                  <a:srgbClr val="5E6470"/>
                </a:solidFill>
                <a:latin typeface="Helvetica Neue"/>
                <a:ea typeface="Helvetica Neue"/>
                <a:cs typeface="Helvetica Neue"/>
              </a:rPr>
              <a:t>Liu et al., Agent0-VL (2025), Algorithm 1 / Figure 4</a:t>
            </a:r>
          </a:p>
        </p:txBody>
      </p:sp>
      <p:sp>
        <p:nvSpPr>
          <p:cNvPr id="13" name="矩形 12">
            <a:extLst>
              <a:ext uri="{FF2B5EF4-FFF2-40B4-BE49-F238E27FC236}">
                <a16:creationId xmlns:a16="http://schemas.microsoft.com/office/drawing/2014/main" id="{9755A9EE-1CC7-4CDA-8898-516CFEAEB38A}"/>
              </a:ext>
            </a:extLst>
          </p:cNvPr>
          <p:cNvSpPr>
            <a:spLocks noGrp="1"/>
          </p:cNvSpPr>
          <p:nvPr/>
        </p:nvSpPr>
        <p:spPr>
          <a:xfrm>
            <a:off x="11334750" y="6362700"/>
            <a:ext cx="438150" cy="219075"/>
          </a:xfrm>
          <a:prstGeom prst="rect">
            <a:avLst/>
          </a:prstGeom>
          <a:noFill/>
          <a:ln w="0">
            <a:noFill/>
            <a:prstDash val="solid"/>
          </a:ln>
        </p:spPr>
        <p:txBody>
          <a:bodyPr wrap="square" lIns="0" tIns="0" rIns="0" bIns="0" anchor="t">
            <a:noAutofit/>
          </a:bodyPr>
          <a:lstStyle/>
          <a:p>
            <a:pPr algn="r">
              <a:buNone/>
              <a:defRPr sz="825" b="0">
                <a:solidFill>
                  <a:srgbClr val="5E6470"/>
                </a:solidFill>
                <a:latin typeface="Helvetica Neue"/>
                <a:ea typeface="Helvetica Neue"/>
                <a:cs typeface="Helvetica Neue"/>
              </a:defRPr>
            </a:pPr>
            <a:r>
              <a:rPr sz="825" b="0">
                <a:solidFill>
                  <a:srgbClr val="5E6470"/>
                </a:solidFill>
                <a:latin typeface="Helvetica Neue"/>
                <a:ea typeface="Helvetica Neue"/>
                <a:cs typeface="Helvetica Neue"/>
              </a:rPr>
              <a:t>30</a:t>
            </a:r>
          </a:p>
        </p:txBody>
      </p:sp>
    </p:spTree>
    <p:extLst>
      <p:ext uri="{BB962C8B-B14F-4D97-AF65-F5344CB8AC3E}">
        <p14:creationId xmlns:p14="http://schemas.microsoft.com/office/powerpoint/2010/main" val="11688804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矩形 19">
            <a:extLst>
              <a:ext uri="{FF2B5EF4-FFF2-40B4-BE49-F238E27FC236}">
                <a16:creationId xmlns:a16="http://schemas.microsoft.com/office/drawing/2014/main" id="{A1765D46-F4DD-4290-965D-C09BE475DF65}"/>
              </a:ext>
            </a:extLst>
          </p:cNvPr>
          <p:cNvSpPr>
            <a:spLocks noGrp="1"/>
          </p:cNvSpPr>
          <p:nvPr/>
        </p:nvSpPr>
        <p:spPr>
          <a:xfrm>
            <a:off x="419100" y="171450"/>
            <a:ext cx="2952750" cy="228600"/>
          </a:xfrm>
          <a:prstGeom prst="rect">
            <a:avLst/>
          </a:prstGeom>
          <a:noFill/>
          <a:ln w="0">
            <a:noFill/>
            <a:prstDash val="solid"/>
          </a:ln>
        </p:spPr>
        <p:txBody>
          <a:bodyPr wrap="square" lIns="0" tIns="0" rIns="0" bIns="0" anchor="t">
            <a:noAutofit/>
          </a:bodyPr>
          <a:lstStyle/>
          <a:p>
            <a:pPr algn="l">
              <a:buNone/>
              <a:defRPr sz="975" b="1">
                <a:solidFill>
                  <a:srgbClr val="5E6470"/>
                </a:solidFill>
                <a:latin typeface="Helvetica Neue"/>
                <a:ea typeface="Helvetica Neue"/>
                <a:cs typeface="Helvetica Neue"/>
              </a:defRPr>
            </a:pPr>
            <a:r>
              <a:rPr sz="975" b="1">
                <a:solidFill>
                  <a:srgbClr val="5E6470"/>
                </a:solidFill>
                <a:latin typeface="Helvetica Neue"/>
                <a:ea typeface="Helvetica Neue"/>
                <a:cs typeface="Helvetica Neue"/>
              </a:rPr>
              <a:t>II · AGENT0-VL</a:t>
            </a:r>
          </a:p>
        </p:txBody>
      </p:sp>
      <p:sp>
        <p:nvSpPr>
          <p:cNvPr id="2" name="矩形 1">
            <a:extLst>
              <a:ext uri="{FF2B5EF4-FFF2-40B4-BE49-F238E27FC236}">
                <a16:creationId xmlns:a16="http://schemas.microsoft.com/office/drawing/2014/main" id="{18325F1D-1637-4ED8-B81B-C38F98598C0C}"/>
              </a:ext>
            </a:extLst>
          </p:cNvPr>
          <p:cNvSpPr>
            <a:spLocks noGrp="1"/>
          </p:cNvSpPr>
          <p:nvPr/>
        </p:nvSpPr>
        <p:spPr>
          <a:xfrm>
            <a:off x="419100" y="409575"/>
            <a:ext cx="11353800" cy="514350"/>
          </a:xfrm>
          <a:prstGeom prst="rect">
            <a:avLst/>
          </a:prstGeom>
          <a:noFill/>
          <a:ln w="0">
            <a:noFill/>
            <a:prstDash val="solid"/>
          </a:ln>
        </p:spPr>
        <p:txBody>
          <a:bodyPr wrap="square" lIns="0" tIns="0" rIns="0" bIns="0" anchor="t">
            <a:noAutofit/>
          </a:bodyPr>
          <a:lstStyle/>
          <a:p>
            <a:pPr algn="l">
              <a:buNone/>
              <a:defRPr sz="2850" b="1">
                <a:solidFill>
                  <a:srgbClr val="101214"/>
                </a:solidFill>
                <a:latin typeface="Hiragino Sans GB"/>
                <a:ea typeface="Hiragino Sans GB"/>
                <a:cs typeface="Hiragino Sans GB"/>
              </a:defRPr>
            </a:pPr>
            <a:r>
              <a:rPr sz="2850" b="1">
                <a:solidFill>
                  <a:srgbClr val="101214"/>
                </a:solidFill>
                <a:latin typeface="Hiragino Sans GB"/>
                <a:ea typeface="Hiragino Sans GB"/>
                <a:cs typeface="Hiragino Sans GB"/>
              </a:rPr>
              <a:t>迭代提升来自闭环，而非单次修复</a:t>
            </a:r>
          </a:p>
        </p:txBody>
      </p:sp>
      <p:sp>
        <p:nvSpPr>
          <p:cNvPr id="3" name="矩形 2">
            <a:extLst>
              <a:ext uri="{FF2B5EF4-FFF2-40B4-BE49-F238E27FC236}">
                <a16:creationId xmlns:a16="http://schemas.microsoft.com/office/drawing/2014/main" id="{CC089CA7-B34F-417D-8697-85A1DD2F5BB0}"/>
              </a:ext>
            </a:extLst>
          </p:cNvPr>
          <p:cNvSpPr>
            <a:spLocks noGrp="1"/>
          </p:cNvSpPr>
          <p:nvPr/>
        </p:nvSpPr>
        <p:spPr>
          <a:xfrm>
            <a:off x="419100" y="1123950"/>
            <a:ext cx="6191250" cy="209550"/>
          </a:xfrm>
          <a:prstGeom prst="rect">
            <a:avLst/>
          </a:prstGeom>
          <a:noFill/>
          <a:ln w="0">
            <a:noFill/>
            <a:prstDash val="solid"/>
          </a:ln>
        </p:spPr>
        <p:txBody>
          <a:bodyPr wrap="square" lIns="0" tIns="0" rIns="0" bIns="0" anchor="t">
            <a:noAutofit/>
          </a:bodyPr>
          <a:lstStyle/>
          <a:p>
            <a:pPr algn="l">
              <a:buNone/>
              <a:defRPr sz="1013" b="1">
                <a:solidFill>
                  <a:srgbClr val="5E6470"/>
                </a:solidFill>
                <a:latin typeface="Helvetica Neue"/>
                <a:ea typeface="Helvetica Neue"/>
                <a:cs typeface="Helvetica Neue"/>
              </a:defRPr>
            </a:pPr>
            <a:r>
              <a:rPr sz="1013" b="1">
                <a:solidFill>
                  <a:srgbClr val="5E6470"/>
                </a:solidFill>
                <a:latin typeface="Helvetica Neue"/>
                <a:ea typeface="Helvetica Neue"/>
                <a:cs typeface="Helvetica Neue"/>
              </a:rPr>
              <a:t>Table 2 · 8-benchmark average</a:t>
            </a:r>
          </a:p>
        </p:txBody>
      </p:sp>
      <p:sp>
        <p:nvSpPr>
          <p:cNvPr id="4" name="矩形 3">
            <a:extLst>
              <a:ext uri="{FF2B5EF4-FFF2-40B4-BE49-F238E27FC236}">
                <a16:creationId xmlns:a16="http://schemas.microsoft.com/office/drawing/2014/main" id="{D9D898DD-F4D3-47FB-A5F9-F9C206226C41}"/>
              </a:ext>
            </a:extLst>
          </p:cNvPr>
          <p:cNvSpPr>
            <a:spLocks noGrp="1"/>
          </p:cNvSpPr>
          <p:nvPr/>
        </p:nvSpPr>
        <p:spPr>
          <a:xfrm>
            <a:off x="7239000" y="1123950"/>
            <a:ext cx="4191000" cy="209550"/>
          </a:xfrm>
          <a:prstGeom prst="rect">
            <a:avLst/>
          </a:prstGeom>
          <a:noFill/>
          <a:ln w="0">
            <a:noFill/>
            <a:prstDash val="solid"/>
          </a:ln>
        </p:spPr>
        <p:txBody>
          <a:bodyPr wrap="square" lIns="0" tIns="0" rIns="0" bIns="0" anchor="t">
            <a:noAutofit/>
          </a:bodyPr>
          <a:lstStyle/>
          <a:p>
            <a:pPr algn="l">
              <a:buNone/>
              <a:defRPr sz="1013" b="1">
                <a:solidFill>
                  <a:srgbClr val="5E6470"/>
                </a:solidFill>
                <a:latin typeface="Helvetica Neue"/>
                <a:ea typeface="Helvetica Neue"/>
                <a:cs typeface="Helvetica Neue"/>
              </a:defRPr>
            </a:pPr>
            <a:r>
              <a:rPr sz="1013" b="1">
                <a:solidFill>
                  <a:srgbClr val="5E6470"/>
                </a:solidFill>
                <a:latin typeface="Helvetica Neue"/>
                <a:ea typeface="Helvetica Neue"/>
                <a:cs typeface="Helvetica Neue"/>
              </a:rPr>
              <a:t>Table 1 · 7-benchmark average</a:t>
            </a:r>
          </a:p>
        </p:txBody>
      </p:sp>
      <p:graphicFrame>
        <p:nvGraphicFramePr>
          <p:cNvPr id="26" name="Chart"/>
          <p:cNvGraphicFramePr/>
          <p:nvPr/>
        </p:nvGraphicFramePr>
        <p:xfrm>
          <a:off x="419100" y="1381125"/>
          <a:ext cx="619125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6" name="圆角矩形 5">
            <a:extLst>
              <a:ext uri="{FF2B5EF4-FFF2-40B4-BE49-F238E27FC236}">
                <a16:creationId xmlns:a16="http://schemas.microsoft.com/office/drawing/2014/main" id="{CCD96A75-FBC0-474E-8B37-EA134EEA7EF1}"/>
              </a:ext>
            </a:extLst>
          </p:cNvPr>
          <p:cNvSpPr>
            <a:spLocks noGrp="1"/>
          </p:cNvSpPr>
          <p:nvPr/>
        </p:nvSpPr>
        <p:spPr>
          <a:xfrm>
            <a:off x="7239000" y="1428750"/>
            <a:ext cx="2000250" cy="1123950"/>
          </a:xfrm>
          <a:prstGeom prst="roundRect">
            <a:avLst>
              <a:gd name="adj" fmla="val 6780"/>
            </a:avLst>
          </a:prstGeom>
          <a:solidFill>
            <a:srgbClr val="EAF5FB"/>
          </a:solidFill>
          <a:ln w="0">
            <a:noFill/>
            <a:prstDash val="solid"/>
          </a:ln>
        </p:spPr>
      </p:sp>
      <p:sp>
        <p:nvSpPr>
          <p:cNvPr id="7" name="矩形 6">
            <a:extLst>
              <a:ext uri="{FF2B5EF4-FFF2-40B4-BE49-F238E27FC236}">
                <a16:creationId xmlns:a16="http://schemas.microsoft.com/office/drawing/2014/main" id="{6FC0266E-7657-4CC1-82B6-ADEA9D1A39EB}"/>
              </a:ext>
            </a:extLst>
          </p:cNvPr>
          <p:cNvSpPr>
            <a:spLocks noGrp="1"/>
          </p:cNvSpPr>
          <p:nvPr/>
        </p:nvSpPr>
        <p:spPr>
          <a:xfrm>
            <a:off x="7410450" y="1571625"/>
            <a:ext cx="1657350" cy="514350"/>
          </a:xfrm>
          <a:prstGeom prst="rect">
            <a:avLst/>
          </a:prstGeom>
          <a:noFill/>
          <a:ln w="0">
            <a:noFill/>
            <a:prstDash val="solid"/>
          </a:ln>
        </p:spPr>
        <p:txBody>
          <a:bodyPr wrap="square" lIns="0" tIns="0" rIns="0" bIns="0" anchor="b">
            <a:noAutofit/>
          </a:bodyPr>
          <a:lstStyle/>
          <a:p>
            <a:pPr algn="l">
              <a:buNone/>
              <a:defRPr sz="2550" b="1">
                <a:solidFill>
                  <a:srgbClr val="2787F5"/>
                </a:solidFill>
                <a:latin typeface="Helvetica Neue"/>
                <a:ea typeface="Helvetica Neue"/>
                <a:cs typeface="Helvetica Neue"/>
              </a:defRPr>
            </a:pPr>
            <a:r>
              <a:rPr sz="2550" b="1">
                <a:solidFill>
                  <a:srgbClr val="2787F5"/>
                </a:solidFill>
                <a:latin typeface="Helvetica Neue"/>
                <a:ea typeface="Helvetica Neue"/>
                <a:cs typeface="Helvetica Neue"/>
              </a:rPr>
              <a:t>65.6</a:t>
            </a:r>
          </a:p>
        </p:txBody>
      </p:sp>
      <p:sp>
        <p:nvSpPr>
          <p:cNvPr id="8" name="矩形 7">
            <a:extLst>
              <a:ext uri="{FF2B5EF4-FFF2-40B4-BE49-F238E27FC236}">
                <a16:creationId xmlns:a16="http://schemas.microsoft.com/office/drawing/2014/main" id="{23944D84-9B55-4680-9B06-2E73F7C79638}"/>
              </a:ext>
            </a:extLst>
          </p:cNvPr>
          <p:cNvSpPr>
            <a:spLocks noGrp="1"/>
          </p:cNvSpPr>
          <p:nvPr/>
        </p:nvSpPr>
        <p:spPr>
          <a:xfrm>
            <a:off x="7410450" y="2133600"/>
            <a:ext cx="1657350" cy="266700"/>
          </a:xfrm>
          <a:prstGeom prst="rect">
            <a:avLst/>
          </a:prstGeom>
          <a:noFill/>
          <a:ln w="0">
            <a:noFill/>
            <a:prstDash val="solid"/>
          </a:ln>
        </p:spPr>
        <p:txBody>
          <a:bodyPr wrap="square" lIns="0" tIns="0" rIns="0" bIns="0" anchor="t">
            <a:noAutofit/>
          </a:bodyPr>
          <a:lstStyle/>
          <a:p>
            <a:pPr algn="l">
              <a:buNone/>
              <a:defRPr sz="1125" b="0">
                <a:solidFill>
                  <a:srgbClr val="5E6470"/>
                </a:solidFill>
                <a:latin typeface="Hiragino Sans GB"/>
                <a:ea typeface="Hiragino Sans GB"/>
                <a:cs typeface="Hiragino Sans GB"/>
              </a:defRPr>
            </a:pPr>
            <a:r>
              <a:rPr sz="1125" b="0">
                <a:solidFill>
                  <a:srgbClr val="5E6470"/>
                </a:solidFill>
                <a:latin typeface="Hiragino Sans GB"/>
                <a:ea typeface="Hiragino Sans GB"/>
                <a:cs typeface="Hiragino Sans GB"/>
              </a:rPr>
              <a:t>Qwen2.5-VL-7B · base 58.3</a:t>
            </a:r>
          </a:p>
        </p:txBody>
      </p:sp>
      <p:sp>
        <p:nvSpPr>
          <p:cNvPr id="9" name="圆角矩形 8">
            <a:extLst>
              <a:ext uri="{FF2B5EF4-FFF2-40B4-BE49-F238E27FC236}">
                <a16:creationId xmlns:a16="http://schemas.microsoft.com/office/drawing/2014/main" id="{C43FA2C6-1244-4E0B-81C3-6C3EFDF6B54D}"/>
              </a:ext>
            </a:extLst>
          </p:cNvPr>
          <p:cNvSpPr>
            <a:spLocks noGrp="1"/>
          </p:cNvSpPr>
          <p:nvPr/>
        </p:nvSpPr>
        <p:spPr>
          <a:xfrm>
            <a:off x="9429750" y="1428750"/>
            <a:ext cx="2000250" cy="1123950"/>
          </a:xfrm>
          <a:prstGeom prst="roundRect">
            <a:avLst>
              <a:gd name="adj" fmla="val 6780"/>
            </a:avLst>
          </a:prstGeom>
          <a:solidFill>
            <a:srgbClr val="F0ECFD"/>
          </a:solidFill>
          <a:ln w="0">
            <a:noFill/>
            <a:prstDash val="solid"/>
          </a:ln>
        </p:spPr>
      </p:sp>
      <p:sp>
        <p:nvSpPr>
          <p:cNvPr id="10" name="矩形 9">
            <a:extLst>
              <a:ext uri="{FF2B5EF4-FFF2-40B4-BE49-F238E27FC236}">
                <a16:creationId xmlns:a16="http://schemas.microsoft.com/office/drawing/2014/main" id="{2C4A28AB-482F-466C-80BE-5707BF1424F9}"/>
              </a:ext>
            </a:extLst>
          </p:cNvPr>
          <p:cNvSpPr>
            <a:spLocks noGrp="1"/>
          </p:cNvSpPr>
          <p:nvPr/>
        </p:nvSpPr>
        <p:spPr>
          <a:xfrm>
            <a:off x="9601200" y="1571625"/>
            <a:ext cx="1657350" cy="514350"/>
          </a:xfrm>
          <a:prstGeom prst="rect">
            <a:avLst/>
          </a:prstGeom>
          <a:noFill/>
          <a:ln w="0">
            <a:noFill/>
            <a:prstDash val="solid"/>
          </a:ln>
        </p:spPr>
        <p:txBody>
          <a:bodyPr wrap="square" lIns="0" tIns="0" rIns="0" bIns="0" anchor="b">
            <a:noAutofit/>
          </a:bodyPr>
          <a:lstStyle/>
          <a:p>
            <a:pPr algn="l">
              <a:buNone/>
              <a:defRPr sz="2550" b="1">
                <a:solidFill>
                  <a:srgbClr val="7257D5"/>
                </a:solidFill>
                <a:latin typeface="Helvetica Neue"/>
                <a:ea typeface="Helvetica Neue"/>
                <a:cs typeface="Helvetica Neue"/>
              </a:defRPr>
            </a:pPr>
            <a:r>
              <a:rPr sz="2550" b="1">
                <a:solidFill>
                  <a:srgbClr val="7257D5"/>
                </a:solidFill>
                <a:latin typeface="Helvetica Neue"/>
                <a:ea typeface="Helvetica Neue"/>
                <a:cs typeface="Helvetica Neue"/>
              </a:rPr>
              <a:t>74.6</a:t>
            </a:r>
          </a:p>
        </p:txBody>
      </p:sp>
      <p:sp>
        <p:nvSpPr>
          <p:cNvPr id="11" name="矩形 10">
            <a:extLst>
              <a:ext uri="{FF2B5EF4-FFF2-40B4-BE49-F238E27FC236}">
                <a16:creationId xmlns:a16="http://schemas.microsoft.com/office/drawing/2014/main" id="{C83B3E57-8F17-4E12-B332-42F0E33ACFC8}"/>
              </a:ext>
            </a:extLst>
          </p:cNvPr>
          <p:cNvSpPr>
            <a:spLocks noGrp="1"/>
          </p:cNvSpPr>
          <p:nvPr/>
        </p:nvSpPr>
        <p:spPr>
          <a:xfrm>
            <a:off x="9601200" y="2133600"/>
            <a:ext cx="1657350" cy="266700"/>
          </a:xfrm>
          <a:prstGeom prst="rect">
            <a:avLst/>
          </a:prstGeom>
          <a:noFill/>
          <a:ln w="0">
            <a:noFill/>
            <a:prstDash val="solid"/>
          </a:ln>
        </p:spPr>
        <p:txBody>
          <a:bodyPr wrap="square" lIns="0" tIns="0" rIns="0" bIns="0" anchor="t">
            <a:noAutofit/>
          </a:bodyPr>
          <a:lstStyle/>
          <a:p>
            <a:pPr algn="l">
              <a:buNone/>
              <a:defRPr sz="1125" b="0">
                <a:solidFill>
                  <a:srgbClr val="5E6470"/>
                </a:solidFill>
                <a:latin typeface="Hiragino Sans GB"/>
                <a:ea typeface="Hiragino Sans GB"/>
                <a:cs typeface="Hiragino Sans GB"/>
              </a:defRPr>
            </a:pPr>
            <a:r>
              <a:rPr sz="1125" b="0">
                <a:solidFill>
                  <a:srgbClr val="5E6470"/>
                </a:solidFill>
                <a:latin typeface="Hiragino Sans GB"/>
                <a:ea typeface="Hiragino Sans GB"/>
                <a:cs typeface="Hiragino Sans GB"/>
              </a:rPr>
              <a:t>Qwen3-VL-8B · base 70.3</a:t>
            </a:r>
          </a:p>
        </p:txBody>
      </p:sp>
      <p:sp>
        <p:nvSpPr>
          <p:cNvPr id="12" name="矩形 11">
            <a:extLst>
              <a:ext uri="{FF2B5EF4-FFF2-40B4-BE49-F238E27FC236}">
                <a16:creationId xmlns:a16="http://schemas.microsoft.com/office/drawing/2014/main" id="{DCF08F2F-0C9E-40BA-A71E-9D6AAA9603F6}"/>
              </a:ext>
            </a:extLst>
          </p:cNvPr>
          <p:cNvSpPr>
            <a:spLocks noGrp="1"/>
          </p:cNvSpPr>
          <p:nvPr/>
        </p:nvSpPr>
        <p:spPr>
          <a:xfrm>
            <a:off x="7239000" y="2952750"/>
            <a:ext cx="4191000" cy="285750"/>
          </a:xfrm>
          <a:prstGeom prst="rect">
            <a:avLst/>
          </a:prstGeom>
          <a:noFill/>
          <a:ln w="0">
            <a:noFill/>
            <a:prstDash val="solid"/>
          </a:ln>
        </p:spPr>
        <p:txBody>
          <a:bodyPr wrap="square" lIns="0" tIns="0" rIns="0" bIns="0" anchor="t">
            <a:noAutofit/>
          </a:bodyPr>
          <a:lstStyle/>
          <a:p>
            <a:pPr algn="l">
              <a:buNone/>
              <a:defRPr sz="1650" b="1">
                <a:solidFill>
                  <a:srgbClr val="101214"/>
                </a:solidFill>
                <a:latin typeface="Helvetica Neue"/>
                <a:ea typeface="Helvetica Neue"/>
                <a:cs typeface="Helvetica Neue"/>
              </a:defRPr>
            </a:pPr>
            <a:r>
              <a:rPr sz="1650" b="1">
                <a:solidFill>
                  <a:srgbClr val="101214"/>
                </a:solidFill>
                <a:latin typeface="Helvetica Neue"/>
                <a:ea typeface="Helvetica Neue"/>
                <a:cs typeface="Helvetica Neue"/>
              </a:rPr>
              <a:t>Ablation hierarchy</a:t>
            </a:r>
          </a:p>
        </p:txBody>
      </p:sp>
      <p:sp>
        <p:nvSpPr>
          <p:cNvPr id="13" name="矩形 12">
            <a:extLst>
              <a:ext uri="{FF2B5EF4-FFF2-40B4-BE49-F238E27FC236}">
                <a16:creationId xmlns:a16="http://schemas.microsoft.com/office/drawing/2014/main" id="{4795B32A-FF31-4247-BE73-B3E8558FC57D}"/>
              </a:ext>
            </a:extLst>
          </p:cNvPr>
          <p:cNvSpPr>
            <a:spLocks noGrp="1"/>
          </p:cNvSpPr>
          <p:nvPr/>
        </p:nvSpPr>
        <p:spPr>
          <a:xfrm>
            <a:off x="7239000" y="3381375"/>
            <a:ext cx="4095750" cy="1238250"/>
          </a:xfrm>
          <a:prstGeom prst="rect">
            <a:avLst/>
          </a:prstGeom>
          <a:noFill/>
          <a:ln w="0">
            <a:noFill/>
            <a:prstDash val="solid"/>
          </a:ln>
        </p:spPr>
        <p:txBody>
          <a:bodyPr wrap="square" lIns="0" tIns="0" rIns="0" bIns="0" anchor="t">
            <a:noAutofit/>
          </a:bodyPr>
          <a:lstStyle/>
          <a:p>
            <a:pPr marL="22" indent="-12" algn="l">
              <a:lnSpc>
                <a:spcPct val="115000"/>
              </a:lnSpc>
              <a:spcAft>
                <a:spcPts val="10"/>
              </a:spcAft>
              <a:buNone/>
              <a:defRPr sz="1313" b="0">
                <a:solidFill>
                  <a:srgbClr val="101214"/>
                </a:solidFill>
                <a:latin typeface="Hiragino Sans GB"/>
                <a:ea typeface="Hiragino Sans GB"/>
                <a:cs typeface="Hiragino Sans GB"/>
              </a:defRPr>
            </a:pPr>
            <a:r>
              <a:rPr sz="1313" b="0">
                <a:solidFill>
                  <a:srgbClr val="101214"/>
                </a:solidFill>
                <a:latin typeface="Hiragino Sans GB"/>
                <a:ea typeface="Hiragino Sans GB"/>
                <a:cs typeface="Hiragino Sans GB"/>
              </a:rPr>
              <a:t>去 SERC（SFT only）：退化最大。</a:t>
            </a:r>
          </a:p>
          <a:p>
            <a:pPr marL="22" indent="-12" algn="l">
              <a:lnSpc>
                <a:spcPct val="115000"/>
              </a:lnSpc>
              <a:spcAft>
                <a:spcPts val="10"/>
              </a:spcAft>
              <a:buNone/>
              <a:defRPr sz="1313" b="0">
                <a:solidFill>
                  <a:srgbClr val="101214"/>
                </a:solidFill>
                <a:latin typeface="Hiragino Sans GB"/>
                <a:ea typeface="Hiragino Sans GB"/>
                <a:cs typeface="Hiragino Sans GB"/>
              </a:defRPr>
            </a:pPr>
            <a:r>
              <a:rPr sz="1313" b="0">
                <a:solidFill>
                  <a:srgbClr val="101214"/>
                </a:solidFill>
                <a:latin typeface="Hiragino Sans GB"/>
                <a:ea typeface="Hiragino Sans GB"/>
                <a:cs typeface="Hiragino Sans GB"/>
              </a:rPr>
              <a:t>去 Tool Use：次之。</a:t>
            </a:r>
          </a:p>
          <a:p>
            <a:pPr marL="22" indent="-12" algn="l">
              <a:lnSpc>
                <a:spcPct val="115000"/>
              </a:lnSpc>
              <a:spcAft>
                <a:spcPts val="10"/>
              </a:spcAft>
              <a:buNone/>
              <a:defRPr sz="1313" b="0">
                <a:solidFill>
                  <a:srgbClr val="101214"/>
                </a:solidFill>
                <a:latin typeface="Hiragino Sans GB"/>
                <a:ea typeface="Hiragino Sans GB"/>
                <a:cs typeface="Hiragino Sans GB"/>
              </a:defRPr>
            </a:pPr>
            <a:r>
              <a:rPr sz="1313" b="0">
                <a:solidFill>
                  <a:srgbClr val="101214"/>
                </a:solidFill>
                <a:latin typeface="Hiragino Sans GB"/>
                <a:ea typeface="Hiragino Sans GB"/>
                <a:cs typeface="Hiragino Sans GB"/>
              </a:rPr>
              <a:t>去 Self-Repair：仍下降，但幅度较小。</a:t>
            </a:r>
          </a:p>
        </p:txBody>
      </p:sp>
      <p:sp>
        <p:nvSpPr>
          <p:cNvPr id="14" name="圆角矩形 13">
            <a:extLst>
              <a:ext uri="{FF2B5EF4-FFF2-40B4-BE49-F238E27FC236}">
                <a16:creationId xmlns:a16="http://schemas.microsoft.com/office/drawing/2014/main" id="{3EB5EE88-641B-49D3-B3CB-041BEA70226F}"/>
              </a:ext>
            </a:extLst>
          </p:cNvPr>
          <p:cNvSpPr>
            <a:spLocks noGrp="1"/>
          </p:cNvSpPr>
          <p:nvPr/>
        </p:nvSpPr>
        <p:spPr>
          <a:xfrm>
            <a:off x="7048500" y="4953000"/>
            <a:ext cx="4476750" cy="952500"/>
          </a:xfrm>
          <a:prstGeom prst="roundRect">
            <a:avLst>
              <a:gd name="adj" fmla="val 8000"/>
            </a:avLst>
          </a:prstGeom>
          <a:solidFill>
            <a:srgbClr val="FDEBEC"/>
          </a:solidFill>
          <a:ln w="0">
            <a:noFill/>
            <a:prstDash val="solid"/>
          </a:ln>
        </p:spPr>
      </p:sp>
      <p:sp>
        <p:nvSpPr>
          <p:cNvPr id="15" name="矩形 14">
            <a:extLst>
              <a:ext uri="{FF2B5EF4-FFF2-40B4-BE49-F238E27FC236}">
                <a16:creationId xmlns:a16="http://schemas.microsoft.com/office/drawing/2014/main" id="{6EA18B3F-B78A-4D60-BBEA-F751C036F2ED}"/>
              </a:ext>
            </a:extLst>
          </p:cNvPr>
          <p:cNvSpPr>
            <a:spLocks noGrp="1"/>
          </p:cNvSpPr>
          <p:nvPr/>
        </p:nvSpPr>
        <p:spPr>
          <a:xfrm>
            <a:off x="7239000" y="5124450"/>
            <a:ext cx="4000500" cy="247650"/>
          </a:xfrm>
          <a:prstGeom prst="rect">
            <a:avLst/>
          </a:prstGeom>
          <a:noFill/>
          <a:ln w="0">
            <a:noFill/>
            <a:prstDash val="solid"/>
          </a:ln>
        </p:spPr>
        <p:txBody>
          <a:bodyPr wrap="square" lIns="0" tIns="0" rIns="0" bIns="0" anchor="t">
            <a:noAutofit/>
          </a:bodyPr>
          <a:lstStyle/>
          <a:p>
            <a:pPr algn="l">
              <a:buNone/>
              <a:defRPr sz="1425" b="1">
                <a:solidFill>
                  <a:srgbClr val="D94C4C"/>
                </a:solidFill>
                <a:latin typeface="Hiragino Sans GB"/>
                <a:ea typeface="Hiragino Sans GB"/>
                <a:cs typeface="Hiragino Sans GB"/>
              </a:defRPr>
            </a:pPr>
            <a:r>
              <a:rPr sz="1425" b="1">
                <a:solidFill>
                  <a:srgbClr val="D94C4C"/>
                </a:solidFill>
                <a:latin typeface="Hiragino Sans GB"/>
                <a:ea typeface="Hiragino Sans GB"/>
                <a:cs typeface="Hiragino Sans GB"/>
              </a:rPr>
              <a:t>“zero external reward”需要降调</a:t>
            </a:r>
          </a:p>
        </p:txBody>
      </p:sp>
      <p:sp>
        <p:nvSpPr>
          <p:cNvPr id="16" name="矩形 15">
            <a:extLst>
              <a:ext uri="{FF2B5EF4-FFF2-40B4-BE49-F238E27FC236}">
                <a16:creationId xmlns:a16="http://schemas.microsoft.com/office/drawing/2014/main" id="{401CD099-CF64-4A94-A838-99D610A741F3}"/>
              </a:ext>
            </a:extLst>
          </p:cNvPr>
          <p:cNvSpPr>
            <a:spLocks noGrp="1"/>
          </p:cNvSpPr>
          <p:nvPr/>
        </p:nvSpPr>
        <p:spPr>
          <a:xfrm>
            <a:off x="7239000" y="5476875"/>
            <a:ext cx="4000500" cy="323850"/>
          </a:xfrm>
          <a:prstGeom prst="rect">
            <a:avLst/>
          </a:prstGeom>
          <a:noFill/>
          <a:ln w="0">
            <a:noFill/>
            <a:prstDash val="solid"/>
          </a:ln>
        </p:spPr>
        <p:txBody>
          <a:bodyPr wrap="square" lIns="0" tIns="0" rIns="0" bIns="0" anchor="t">
            <a:noAutofit/>
          </a:bodyPr>
          <a:lstStyle/>
          <a:p>
            <a:pPr algn="l">
              <a:buNone/>
              <a:defRPr sz="1163" b="0">
                <a:solidFill>
                  <a:srgbClr val="101214"/>
                </a:solidFill>
                <a:latin typeface="Hiragino Sans GB"/>
                <a:ea typeface="Hiragino Sans GB"/>
                <a:cs typeface="Hiragino Sans GB"/>
              </a:defRPr>
            </a:pPr>
            <a:r>
              <a:rPr sz="1163" b="0">
                <a:solidFill>
                  <a:srgbClr val="101214"/>
                </a:solidFill>
                <a:latin typeface="Hiragino Sans GB"/>
                <a:ea typeface="Hiragino Sans GB"/>
                <a:cs typeface="Hiragino Sans GB"/>
              </a:rPr>
              <a:t>附录含外部正确性 reward warm-up；SFT 也依赖强教师与人工 spot-check。</a:t>
            </a:r>
          </a:p>
        </p:txBody>
      </p:sp>
      <p:sp>
        <p:nvSpPr>
          <p:cNvPr id="17" name="直线连接符 16">
            <a:extLst>
              <a:ext uri="{FF2B5EF4-FFF2-40B4-BE49-F238E27FC236}">
                <a16:creationId xmlns:a16="http://schemas.microsoft.com/office/drawing/2014/main" id="{B2547589-5E46-49B9-910E-0E3A79BB8E3B}"/>
              </a:ext>
            </a:extLst>
          </p:cNvPr>
          <p:cNvSpPr>
            <a:spLocks noGrp="1"/>
          </p:cNvSpPr>
          <p:nvPr/>
        </p:nvSpPr>
        <p:spPr>
          <a:xfrm>
            <a:off x="419100" y="6286500"/>
            <a:ext cx="11353800" cy="0"/>
          </a:xfrm>
          <a:prstGeom prst="line">
            <a:avLst/>
          </a:prstGeom>
          <a:noFill/>
          <a:ln w="9525">
            <a:solidFill>
              <a:srgbClr val="B8BCC4"/>
            </a:solidFill>
            <a:prstDash val="solid"/>
          </a:ln>
        </p:spPr>
      </p:sp>
      <p:sp>
        <p:nvSpPr>
          <p:cNvPr id="18" name="矩形 17">
            <a:extLst>
              <a:ext uri="{FF2B5EF4-FFF2-40B4-BE49-F238E27FC236}">
                <a16:creationId xmlns:a16="http://schemas.microsoft.com/office/drawing/2014/main" id="{33C409E7-68DE-4A5B-BBF9-D5D48B1F6A9A}"/>
              </a:ext>
            </a:extLst>
          </p:cNvPr>
          <p:cNvSpPr>
            <a:spLocks noGrp="1"/>
          </p:cNvSpPr>
          <p:nvPr/>
        </p:nvSpPr>
        <p:spPr>
          <a:xfrm>
            <a:off x="419100" y="6362700"/>
            <a:ext cx="10763250" cy="219075"/>
          </a:xfrm>
          <a:prstGeom prst="rect">
            <a:avLst/>
          </a:prstGeom>
          <a:noFill/>
          <a:ln w="0">
            <a:noFill/>
            <a:prstDash val="solid"/>
          </a:ln>
        </p:spPr>
        <p:txBody>
          <a:bodyPr wrap="square" lIns="0" tIns="0" rIns="0" bIns="0" anchor="t">
            <a:noAutofit/>
          </a:bodyPr>
          <a:lstStyle/>
          <a:p>
            <a:pPr algn="l">
              <a:buNone/>
              <a:defRPr sz="788" b="0">
                <a:solidFill>
                  <a:srgbClr val="5E6470"/>
                </a:solidFill>
                <a:latin typeface="Helvetica Neue"/>
                <a:ea typeface="Helvetica Neue"/>
                <a:cs typeface="Helvetica Neue"/>
              </a:defRPr>
            </a:pPr>
            <a:r>
              <a:rPr sz="788" b="0">
                <a:solidFill>
                  <a:srgbClr val="5E6470"/>
                </a:solidFill>
                <a:latin typeface="Helvetica Neue"/>
                <a:ea typeface="Helvetica Neue"/>
                <a:cs typeface="Helvetica Neue"/>
              </a:rPr>
              <a:t>Liu et al., Agent0-VL (2025), Table 1–3  ·  训练/评测同名数据集重叠，论文未给完整 contamination audit</a:t>
            </a:r>
          </a:p>
        </p:txBody>
      </p:sp>
      <p:sp>
        <p:nvSpPr>
          <p:cNvPr id="19" name="矩形 18">
            <a:extLst>
              <a:ext uri="{FF2B5EF4-FFF2-40B4-BE49-F238E27FC236}">
                <a16:creationId xmlns:a16="http://schemas.microsoft.com/office/drawing/2014/main" id="{38001C79-0430-4C22-950E-FDD4FD038EB8}"/>
              </a:ext>
            </a:extLst>
          </p:cNvPr>
          <p:cNvSpPr>
            <a:spLocks noGrp="1"/>
          </p:cNvSpPr>
          <p:nvPr/>
        </p:nvSpPr>
        <p:spPr>
          <a:xfrm>
            <a:off x="11334750" y="6362700"/>
            <a:ext cx="438150" cy="219075"/>
          </a:xfrm>
          <a:prstGeom prst="rect">
            <a:avLst/>
          </a:prstGeom>
          <a:noFill/>
          <a:ln w="0">
            <a:noFill/>
            <a:prstDash val="solid"/>
          </a:ln>
        </p:spPr>
        <p:txBody>
          <a:bodyPr wrap="square" lIns="0" tIns="0" rIns="0" bIns="0" anchor="t">
            <a:noAutofit/>
          </a:bodyPr>
          <a:lstStyle/>
          <a:p>
            <a:pPr algn="r">
              <a:buNone/>
              <a:defRPr sz="825" b="0">
                <a:solidFill>
                  <a:srgbClr val="5E6470"/>
                </a:solidFill>
                <a:latin typeface="Helvetica Neue"/>
                <a:ea typeface="Helvetica Neue"/>
                <a:cs typeface="Helvetica Neue"/>
              </a:defRPr>
            </a:pPr>
            <a:r>
              <a:rPr sz="825" b="0">
                <a:solidFill>
                  <a:srgbClr val="5E6470"/>
                </a:solidFill>
                <a:latin typeface="Helvetica Neue"/>
                <a:ea typeface="Helvetica Neue"/>
                <a:cs typeface="Helvetica Neue"/>
              </a:rPr>
              <a:t>31</a:t>
            </a:r>
          </a:p>
        </p:txBody>
      </p:sp>
    </p:spTree>
    <p:extLst>
      <p:ext uri="{BB962C8B-B14F-4D97-AF65-F5344CB8AC3E}">
        <p14:creationId xmlns:p14="http://schemas.microsoft.com/office/powerpoint/2010/main" val="18131145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矩形 16">
            <a:extLst>
              <a:ext uri="{FF2B5EF4-FFF2-40B4-BE49-F238E27FC236}">
                <a16:creationId xmlns:a16="http://schemas.microsoft.com/office/drawing/2014/main" id="{C26CED50-1935-4B4A-9EAE-80620E294376}"/>
              </a:ext>
            </a:extLst>
          </p:cNvPr>
          <p:cNvSpPr>
            <a:spLocks noGrp="1"/>
          </p:cNvSpPr>
          <p:nvPr/>
        </p:nvSpPr>
        <p:spPr>
          <a:xfrm>
            <a:off x="419100" y="171450"/>
            <a:ext cx="2952750" cy="228600"/>
          </a:xfrm>
          <a:prstGeom prst="rect">
            <a:avLst/>
          </a:prstGeom>
          <a:noFill/>
          <a:ln w="0">
            <a:noFill/>
            <a:prstDash val="solid"/>
          </a:ln>
        </p:spPr>
        <p:txBody>
          <a:bodyPr wrap="square" lIns="0" tIns="0" rIns="0" bIns="0" anchor="t">
            <a:noAutofit/>
          </a:bodyPr>
          <a:lstStyle/>
          <a:p>
            <a:pPr algn="l">
              <a:buNone/>
              <a:defRPr sz="975" b="1">
                <a:solidFill>
                  <a:srgbClr val="5E6470"/>
                </a:solidFill>
                <a:latin typeface="Helvetica Neue"/>
                <a:ea typeface="Helvetica Neue"/>
                <a:cs typeface="Helvetica Neue"/>
              </a:defRPr>
            </a:pPr>
            <a:r>
              <a:rPr sz="975" b="1">
                <a:solidFill>
                  <a:srgbClr val="5E6470"/>
                </a:solidFill>
                <a:latin typeface="Helvetica Neue"/>
                <a:ea typeface="Helvetica Neue"/>
                <a:cs typeface="Helvetica Neue"/>
              </a:rPr>
              <a:t>II · AGENT0-VL</a:t>
            </a:r>
          </a:p>
        </p:txBody>
      </p:sp>
      <p:sp>
        <p:nvSpPr>
          <p:cNvPr id="2" name="矩形 1">
            <a:extLst>
              <a:ext uri="{FF2B5EF4-FFF2-40B4-BE49-F238E27FC236}">
                <a16:creationId xmlns:a16="http://schemas.microsoft.com/office/drawing/2014/main" id="{70B4C2F3-E0D0-4569-82AF-6CA8538B5A98}"/>
              </a:ext>
            </a:extLst>
          </p:cNvPr>
          <p:cNvSpPr>
            <a:spLocks noGrp="1"/>
          </p:cNvSpPr>
          <p:nvPr/>
        </p:nvSpPr>
        <p:spPr>
          <a:xfrm>
            <a:off x="419100" y="409575"/>
            <a:ext cx="11353800" cy="514350"/>
          </a:xfrm>
          <a:prstGeom prst="rect">
            <a:avLst/>
          </a:prstGeom>
          <a:noFill/>
          <a:ln w="0">
            <a:noFill/>
            <a:prstDash val="solid"/>
          </a:ln>
        </p:spPr>
        <p:txBody>
          <a:bodyPr wrap="square" lIns="0" tIns="0" rIns="0" bIns="0" anchor="t">
            <a:noAutofit/>
          </a:bodyPr>
          <a:lstStyle/>
          <a:p>
            <a:pPr algn="l">
              <a:buNone/>
              <a:defRPr sz="2850" b="1">
                <a:solidFill>
                  <a:srgbClr val="101214"/>
                </a:solidFill>
                <a:latin typeface="Hiragino Sans GB"/>
                <a:ea typeface="Hiragino Sans GB"/>
                <a:cs typeface="Hiragino Sans GB"/>
              </a:defRPr>
            </a:pPr>
            <a:r>
              <a:rPr sz="2850" b="1">
                <a:solidFill>
                  <a:srgbClr val="101214"/>
                </a:solidFill>
                <a:latin typeface="Hiragino Sans GB"/>
                <a:ea typeface="Hiragino Sans GB"/>
                <a:cs typeface="Hiragino Sans GB"/>
              </a:rPr>
              <a:t>Ablation：主要增益来自闭环，Verifier 还能迁移</a:t>
            </a:r>
          </a:p>
        </p:txBody>
      </p:sp>
      <p:sp>
        <p:nvSpPr>
          <p:cNvPr id="3" name="圆角矩形 2">
            <a:extLst>
              <a:ext uri="{FF2B5EF4-FFF2-40B4-BE49-F238E27FC236}">
                <a16:creationId xmlns:a16="http://schemas.microsoft.com/office/drawing/2014/main" id="{F484E623-8587-44D1-B962-803F887391F6}"/>
              </a:ext>
            </a:extLst>
          </p:cNvPr>
          <p:cNvSpPr>
            <a:spLocks noGrp="1"/>
          </p:cNvSpPr>
          <p:nvPr/>
        </p:nvSpPr>
        <p:spPr>
          <a:xfrm>
            <a:off x="419100" y="1257300"/>
            <a:ext cx="5391150" cy="3143250"/>
          </a:xfrm>
          <a:prstGeom prst="roundRect">
            <a:avLst>
              <a:gd name="adj" fmla="val 2424"/>
            </a:avLst>
          </a:prstGeom>
          <a:solidFill>
            <a:srgbClr val="F1F2F4"/>
          </a:solidFill>
          <a:ln w="9525">
            <a:solidFill>
              <a:srgbClr val="B8BCC4"/>
            </a:solidFill>
            <a:prstDash val="solid"/>
          </a:ln>
        </p:spPr>
      </p:sp>
      <p:sp>
        <p:nvSpPr>
          <p:cNvPr id="5" name="圆角矩形 4">
            <a:extLst>
              <a:ext uri="{FF2B5EF4-FFF2-40B4-BE49-F238E27FC236}">
                <a16:creationId xmlns:a16="http://schemas.microsoft.com/office/drawing/2014/main" id="{3477321F-A6CE-4F49-AAD9-2826D1184942}"/>
              </a:ext>
            </a:extLst>
          </p:cNvPr>
          <p:cNvSpPr>
            <a:spLocks noGrp="1"/>
          </p:cNvSpPr>
          <p:nvPr/>
        </p:nvSpPr>
        <p:spPr>
          <a:xfrm>
            <a:off x="6381750" y="1257300"/>
            <a:ext cx="5391150" cy="3143250"/>
          </a:xfrm>
          <a:prstGeom prst="roundRect">
            <a:avLst>
              <a:gd name="adj" fmla="val 2424"/>
            </a:avLst>
          </a:prstGeom>
          <a:solidFill>
            <a:srgbClr val="F1F2F4"/>
          </a:solidFill>
          <a:ln w="9525">
            <a:solidFill>
              <a:srgbClr val="B8BCC4"/>
            </a:solidFill>
            <a:prstDash val="solid"/>
          </a:ln>
        </p:spPr>
      </p:sp>
      <p:sp>
        <p:nvSpPr>
          <p:cNvPr id="7" name="圆角矩形 6">
            <a:extLst>
              <a:ext uri="{FF2B5EF4-FFF2-40B4-BE49-F238E27FC236}">
                <a16:creationId xmlns:a16="http://schemas.microsoft.com/office/drawing/2014/main" id="{6E6CCCAA-7CF1-48A0-949E-B71C320CB330}"/>
              </a:ext>
            </a:extLst>
          </p:cNvPr>
          <p:cNvSpPr>
            <a:spLocks noGrp="1"/>
          </p:cNvSpPr>
          <p:nvPr/>
        </p:nvSpPr>
        <p:spPr>
          <a:xfrm>
            <a:off x="571500" y="1428750"/>
            <a:ext cx="1143000" cy="285750"/>
          </a:xfrm>
          <a:prstGeom prst="roundRect">
            <a:avLst>
              <a:gd name="adj" fmla="val 50000"/>
            </a:avLst>
          </a:prstGeom>
          <a:solidFill>
            <a:srgbClr val="F1F2F4"/>
          </a:solidFill>
          <a:ln w="0">
            <a:noFill/>
            <a:prstDash val="solid"/>
          </a:ln>
        </p:spPr>
      </p:sp>
      <p:sp>
        <p:nvSpPr>
          <p:cNvPr id="8" name="矩形 7">
            <a:extLst>
              <a:ext uri="{FF2B5EF4-FFF2-40B4-BE49-F238E27FC236}">
                <a16:creationId xmlns:a16="http://schemas.microsoft.com/office/drawing/2014/main" id="{377DE1B8-20E0-4240-9E43-A965D682F153}"/>
              </a:ext>
            </a:extLst>
          </p:cNvPr>
          <p:cNvSpPr>
            <a:spLocks noGrp="1"/>
          </p:cNvSpPr>
          <p:nvPr/>
        </p:nvSpPr>
        <p:spPr>
          <a:xfrm>
            <a:off x="571500" y="1447800"/>
            <a:ext cx="1143000" cy="247650"/>
          </a:xfrm>
          <a:prstGeom prst="rect">
            <a:avLst/>
          </a:prstGeom>
          <a:noFill/>
          <a:ln w="0">
            <a:noFill/>
            <a:prstDash val="solid"/>
          </a:ln>
        </p:spPr>
        <p:txBody>
          <a:bodyPr wrap="square" lIns="0" tIns="0" rIns="0" bIns="0" anchor="ctr">
            <a:noAutofit/>
          </a:bodyPr>
          <a:lstStyle/>
          <a:p>
            <a:pPr algn="ctr">
              <a:buNone/>
              <a:defRPr sz="1050" b="1">
                <a:solidFill>
                  <a:srgbClr val="5E6470"/>
                </a:solidFill>
                <a:latin typeface="Hiragino Sans GB"/>
                <a:ea typeface="Hiragino Sans GB"/>
                <a:cs typeface="Hiragino Sans GB"/>
              </a:defRPr>
            </a:pPr>
            <a:r>
              <a:rPr sz="1050" b="1">
                <a:solidFill>
                  <a:srgbClr val="5E6470"/>
                </a:solidFill>
                <a:latin typeface="Hiragino Sans GB"/>
                <a:ea typeface="Hiragino Sans GB"/>
                <a:cs typeface="Hiragino Sans GB"/>
              </a:rPr>
              <a:t>Verifier PRM</a:t>
            </a:r>
          </a:p>
        </p:txBody>
      </p:sp>
      <p:sp>
        <p:nvSpPr>
          <p:cNvPr id="9" name="圆角矩形 8">
            <a:extLst>
              <a:ext uri="{FF2B5EF4-FFF2-40B4-BE49-F238E27FC236}">
                <a16:creationId xmlns:a16="http://schemas.microsoft.com/office/drawing/2014/main" id="{E56526CD-2EB4-4ADB-A075-7FA32E8CFBF2}"/>
              </a:ext>
            </a:extLst>
          </p:cNvPr>
          <p:cNvSpPr>
            <a:spLocks noGrp="1"/>
          </p:cNvSpPr>
          <p:nvPr/>
        </p:nvSpPr>
        <p:spPr>
          <a:xfrm>
            <a:off x="6534150" y="1428750"/>
            <a:ext cx="876300" cy="285750"/>
          </a:xfrm>
          <a:prstGeom prst="roundRect">
            <a:avLst>
              <a:gd name="adj" fmla="val 50000"/>
            </a:avLst>
          </a:prstGeom>
          <a:solidFill>
            <a:srgbClr val="F1F2F4"/>
          </a:solidFill>
          <a:ln w="0">
            <a:noFill/>
            <a:prstDash val="solid"/>
          </a:ln>
        </p:spPr>
      </p:sp>
      <p:sp>
        <p:nvSpPr>
          <p:cNvPr id="10" name="矩形 9">
            <a:extLst>
              <a:ext uri="{FF2B5EF4-FFF2-40B4-BE49-F238E27FC236}">
                <a16:creationId xmlns:a16="http://schemas.microsoft.com/office/drawing/2014/main" id="{B52D9120-8DCD-4AA0-89E7-23F7F0B880CE}"/>
              </a:ext>
            </a:extLst>
          </p:cNvPr>
          <p:cNvSpPr>
            <a:spLocks noGrp="1"/>
          </p:cNvSpPr>
          <p:nvPr/>
        </p:nvSpPr>
        <p:spPr>
          <a:xfrm>
            <a:off x="6534150" y="1447800"/>
            <a:ext cx="876300" cy="247650"/>
          </a:xfrm>
          <a:prstGeom prst="rect">
            <a:avLst/>
          </a:prstGeom>
          <a:noFill/>
          <a:ln w="0">
            <a:noFill/>
            <a:prstDash val="solid"/>
          </a:ln>
        </p:spPr>
        <p:txBody>
          <a:bodyPr wrap="square" lIns="0" tIns="0" rIns="0" bIns="0" anchor="ctr">
            <a:noAutofit/>
          </a:bodyPr>
          <a:lstStyle/>
          <a:p>
            <a:pPr algn="ctr">
              <a:buNone/>
              <a:defRPr sz="1050" b="1">
                <a:solidFill>
                  <a:srgbClr val="5E6470"/>
                </a:solidFill>
                <a:latin typeface="Hiragino Sans GB"/>
                <a:ea typeface="Hiragino Sans GB"/>
                <a:cs typeface="Hiragino Sans GB"/>
              </a:defRPr>
            </a:pPr>
            <a:r>
              <a:rPr sz="1050" b="1">
                <a:solidFill>
                  <a:srgbClr val="5E6470"/>
                </a:solidFill>
                <a:latin typeface="Hiragino Sans GB"/>
                <a:ea typeface="Hiragino Sans GB"/>
                <a:cs typeface="Hiragino Sans GB"/>
              </a:rPr>
              <a:t>Ablation</a:t>
            </a:r>
          </a:p>
        </p:txBody>
      </p:sp>
      <p:sp>
        <p:nvSpPr>
          <p:cNvPr id="11" name="圆角矩形 10">
            <a:extLst>
              <a:ext uri="{FF2B5EF4-FFF2-40B4-BE49-F238E27FC236}">
                <a16:creationId xmlns:a16="http://schemas.microsoft.com/office/drawing/2014/main" id="{C0F89618-8991-4118-9BF9-29DB0A41626E}"/>
              </a:ext>
            </a:extLst>
          </p:cNvPr>
          <p:cNvSpPr>
            <a:spLocks noGrp="1"/>
          </p:cNvSpPr>
          <p:nvPr/>
        </p:nvSpPr>
        <p:spPr>
          <a:xfrm>
            <a:off x="419100" y="4762500"/>
            <a:ext cx="11353800" cy="1066800"/>
          </a:xfrm>
          <a:prstGeom prst="roundRect">
            <a:avLst>
              <a:gd name="adj" fmla="val 7143"/>
            </a:avLst>
          </a:prstGeom>
          <a:solidFill>
            <a:srgbClr val="FDEBEC"/>
          </a:solidFill>
          <a:ln w="0">
            <a:noFill/>
            <a:prstDash val="solid"/>
          </a:ln>
        </p:spPr>
      </p:sp>
      <p:sp>
        <p:nvSpPr>
          <p:cNvPr id="12" name="矩形 11">
            <a:extLst>
              <a:ext uri="{FF2B5EF4-FFF2-40B4-BE49-F238E27FC236}">
                <a16:creationId xmlns:a16="http://schemas.microsoft.com/office/drawing/2014/main" id="{411B7AF1-0118-4B9C-8F26-864C3C833FD1}"/>
              </a:ext>
            </a:extLst>
          </p:cNvPr>
          <p:cNvSpPr>
            <a:spLocks noGrp="1"/>
          </p:cNvSpPr>
          <p:nvPr/>
        </p:nvSpPr>
        <p:spPr>
          <a:xfrm>
            <a:off x="685800" y="4981575"/>
            <a:ext cx="5715000" cy="342900"/>
          </a:xfrm>
          <a:prstGeom prst="rect">
            <a:avLst/>
          </a:prstGeom>
          <a:noFill/>
          <a:ln w="0">
            <a:noFill/>
            <a:prstDash val="solid"/>
          </a:ln>
        </p:spPr>
        <p:txBody>
          <a:bodyPr wrap="square" lIns="0" tIns="0" rIns="0" bIns="0" anchor="t">
            <a:noAutofit/>
          </a:bodyPr>
          <a:lstStyle/>
          <a:p>
            <a:pPr algn="l">
              <a:buNone/>
              <a:defRPr sz="1950" b="1">
                <a:solidFill>
                  <a:srgbClr val="D94C4C"/>
                </a:solidFill>
                <a:latin typeface="Hiragino Sans GB"/>
                <a:ea typeface="Hiragino Sans GB"/>
                <a:cs typeface="Hiragino Sans GB"/>
              </a:defRPr>
            </a:pPr>
            <a:r>
              <a:rPr sz="1950" b="1">
                <a:solidFill>
                  <a:srgbClr val="D94C4C"/>
                </a:solidFill>
                <a:latin typeface="Hiragino Sans GB"/>
                <a:ea typeface="Hiragino Sans GB"/>
                <a:cs typeface="Hiragino Sans GB"/>
              </a:rPr>
              <a:t>移除 SERC：平均约 −8.7%</a:t>
            </a:r>
          </a:p>
        </p:txBody>
      </p:sp>
      <p:sp>
        <p:nvSpPr>
          <p:cNvPr id="13" name="矩形 12">
            <a:extLst>
              <a:ext uri="{FF2B5EF4-FFF2-40B4-BE49-F238E27FC236}">
                <a16:creationId xmlns:a16="http://schemas.microsoft.com/office/drawing/2014/main" id="{7C025FCD-0140-4995-9F8C-5560E4C6E2C7}"/>
              </a:ext>
            </a:extLst>
          </p:cNvPr>
          <p:cNvSpPr>
            <a:spLocks noGrp="1"/>
          </p:cNvSpPr>
          <p:nvPr/>
        </p:nvSpPr>
        <p:spPr>
          <a:xfrm>
            <a:off x="6762750" y="4924425"/>
            <a:ext cx="4667250" cy="590550"/>
          </a:xfrm>
          <a:prstGeom prst="rect">
            <a:avLst/>
          </a:prstGeom>
          <a:noFill/>
          <a:ln w="0">
            <a:noFill/>
            <a:prstDash val="solid"/>
          </a:ln>
        </p:spPr>
        <p:txBody>
          <a:bodyPr wrap="square" lIns="0" tIns="0" rIns="0" bIns="0" anchor="t">
            <a:noAutofit/>
          </a:bodyPr>
          <a:lstStyle/>
          <a:p>
            <a:pPr algn="l">
              <a:buNone/>
              <a:defRPr sz="1350" b="0">
                <a:solidFill>
                  <a:srgbClr val="101214"/>
                </a:solidFill>
                <a:latin typeface="Hiragino Sans GB"/>
                <a:ea typeface="Hiragino Sans GB"/>
                <a:cs typeface="Hiragino Sans GB"/>
              </a:defRPr>
            </a:pPr>
            <a:r>
              <a:rPr sz="1350" b="0">
                <a:solidFill>
                  <a:srgbClr val="101214"/>
                </a:solidFill>
                <a:latin typeface="Hiragino Sans GB"/>
                <a:ea typeface="Hiragino Sans GB"/>
                <a:cs typeface="Hiragino Sans GB"/>
              </a:rPr>
              <a:t>移除 Tool Use 约 −6.5%，Self-Repair 约 −2.5%；Verifier 给其他 VLM 做 Best-of-8 排序，平均 +7.3%。</a:t>
            </a:r>
          </a:p>
        </p:txBody>
      </p:sp>
      <p:sp>
        <p:nvSpPr>
          <p:cNvPr id="14" name="直线连接符 13">
            <a:extLst>
              <a:ext uri="{FF2B5EF4-FFF2-40B4-BE49-F238E27FC236}">
                <a16:creationId xmlns:a16="http://schemas.microsoft.com/office/drawing/2014/main" id="{43E2D12E-82CE-494C-8418-A52B32A97916}"/>
              </a:ext>
            </a:extLst>
          </p:cNvPr>
          <p:cNvSpPr>
            <a:spLocks noGrp="1"/>
          </p:cNvSpPr>
          <p:nvPr/>
        </p:nvSpPr>
        <p:spPr>
          <a:xfrm>
            <a:off x="419100" y="6286500"/>
            <a:ext cx="11353800" cy="0"/>
          </a:xfrm>
          <a:prstGeom prst="line">
            <a:avLst/>
          </a:prstGeom>
          <a:noFill/>
          <a:ln w="9525">
            <a:solidFill>
              <a:srgbClr val="B8BCC4"/>
            </a:solidFill>
            <a:prstDash val="solid"/>
          </a:ln>
        </p:spPr>
      </p:sp>
      <p:sp>
        <p:nvSpPr>
          <p:cNvPr id="15" name="矩形 14">
            <a:extLst>
              <a:ext uri="{FF2B5EF4-FFF2-40B4-BE49-F238E27FC236}">
                <a16:creationId xmlns:a16="http://schemas.microsoft.com/office/drawing/2014/main" id="{3218787C-0698-4376-879A-9DA057FCDB22}"/>
              </a:ext>
            </a:extLst>
          </p:cNvPr>
          <p:cNvSpPr>
            <a:spLocks noGrp="1"/>
          </p:cNvSpPr>
          <p:nvPr/>
        </p:nvSpPr>
        <p:spPr>
          <a:xfrm>
            <a:off x="419100" y="6362700"/>
            <a:ext cx="10763250" cy="219075"/>
          </a:xfrm>
          <a:prstGeom prst="rect">
            <a:avLst/>
          </a:prstGeom>
          <a:noFill/>
          <a:ln w="0">
            <a:noFill/>
            <a:prstDash val="solid"/>
          </a:ln>
        </p:spPr>
        <p:txBody>
          <a:bodyPr wrap="square" lIns="0" tIns="0" rIns="0" bIns="0" anchor="t">
            <a:noAutofit/>
          </a:bodyPr>
          <a:lstStyle/>
          <a:p>
            <a:pPr algn="l">
              <a:buNone/>
              <a:defRPr sz="788" b="0">
                <a:solidFill>
                  <a:srgbClr val="5E6470"/>
                </a:solidFill>
                <a:latin typeface="Helvetica Neue"/>
                <a:ea typeface="Helvetica Neue"/>
                <a:cs typeface="Helvetica Neue"/>
              </a:defRPr>
            </a:pPr>
            <a:r>
              <a:rPr sz="788" b="0">
                <a:solidFill>
                  <a:srgbClr val="5E6470"/>
                </a:solidFill>
                <a:latin typeface="Helvetica Neue"/>
                <a:ea typeface="Helvetica Neue"/>
                <a:cs typeface="Helvetica Neue"/>
              </a:rPr>
              <a:t>Agent0-VL, arXiv:2511.19900, Figure 3 / Table 3</a:t>
            </a:r>
          </a:p>
        </p:txBody>
      </p:sp>
      <p:sp>
        <p:nvSpPr>
          <p:cNvPr id="16" name="矩形 15">
            <a:extLst>
              <a:ext uri="{FF2B5EF4-FFF2-40B4-BE49-F238E27FC236}">
                <a16:creationId xmlns:a16="http://schemas.microsoft.com/office/drawing/2014/main" id="{BA57E205-E4DB-4A97-A06F-691E63CBDDBC}"/>
              </a:ext>
            </a:extLst>
          </p:cNvPr>
          <p:cNvSpPr>
            <a:spLocks noGrp="1"/>
          </p:cNvSpPr>
          <p:nvPr/>
        </p:nvSpPr>
        <p:spPr>
          <a:xfrm>
            <a:off x="11334750" y="6362700"/>
            <a:ext cx="438150" cy="219075"/>
          </a:xfrm>
          <a:prstGeom prst="rect">
            <a:avLst/>
          </a:prstGeom>
          <a:noFill/>
          <a:ln w="0">
            <a:noFill/>
            <a:prstDash val="solid"/>
          </a:ln>
        </p:spPr>
        <p:txBody>
          <a:bodyPr wrap="square" lIns="0" tIns="0" rIns="0" bIns="0" anchor="t">
            <a:noAutofit/>
          </a:bodyPr>
          <a:lstStyle/>
          <a:p>
            <a:pPr algn="r">
              <a:buNone/>
              <a:defRPr sz="825" b="0">
                <a:solidFill>
                  <a:srgbClr val="5E6470"/>
                </a:solidFill>
                <a:latin typeface="Helvetica Neue"/>
                <a:ea typeface="Helvetica Neue"/>
                <a:cs typeface="Helvetica Neue"/>
              </a:defRPr>
            </a:pPr>
            <a:r>
              <a:rPr sz="825" b="0">
                <a:solidFill>
                  <a:srgbClr val="5E6470"/>
                </a:solidFill>
                <a:latin typeface="Helvetica Neue"/>
                <a:ea typeface="Helvetica Neue"/>
                <a:cs typeface="Helvetica Neue"/>
              </a:rPr>
              <a:t>32</a:t>
            </a:r>
          </a:p>
        </p:txBody>
      </p:sp>
      <p:pic>
        <p:nvPicPr>
          <p:cNvPr id="34" name="图片 35"/>
          <p:cNvPicPr>
            <a:picLocks noChangeAspect="1"/>
          </p:cNvPicPr>
          <p:nvPr/>
        </p:nvPicPr>
        <p:blipFill>
          <a:blip r:embed="rId3"/>
          <a:stretch/>
        </p:blipFill>
        <p:spPr>
          <a:xfrm>
            <a:off x="675698" y="1752600"/>
            <a:ext cx="4877955" cy="2476500"/>
          </a:xfrm>
          <a:prstGeom prst="roundRect">
            <a:avLst/>
          </a:prstGeom>
        </p:spPr>
      </p:pic>
      <p:pic>
        <p:nvPicPr>
          <p:cNvPr id="35" name="图片 36"/>
          <p:cNvPicPr>
            <a:picLocks noChangeAspect="1"/>
          </p:cNvPicPr>
          <p:nvPr/>
        </p:nvPicPr>
        <p:blipFill>
          <a:blip r:embed="rId4"/>
          <a:stretch/>
        </p:blipFill>
        <p:spPr>
          <a:xfrm>
            <a:off x="6525012" y="2193252"/>
            <a:ext cx="5104626" cy="1595196"/>
          </a:xfrm>
          <a:prstGeom prst="roundRect">
            <a:avLst/>
          </a:prstGeom>
        </p:spPr>
      </p:pic>
    </p:spTree>
    <p:extLst>
      <p:ext uri="{BB962C8B-B14F-4D97-AF65-F5344CB8AC3E}">
        <p14:creationId xmlns:p14="http://schemas.microsoft.com/office/powerpoint/2010/main" val="21435659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09B04460-BEC2-F791-E8B5-1A56DD0E4DF0}"/>
              </a:ext>
            </a:extLst>
          </p:cNvPr>
          <p:cNvSpPr>
            <a:spLocks noGrp="1"/>
          </p:cNvSpPr>
          <p:nvPr/>
        </p:nvSpPr>
        <p:spPr>
          <a:xfrm>
            <a:off x="419100" y="1846305"/>
            <a:ext cx="10726695" cy="1809750"/>
          </a:xfrm>
          <a:prstGeom prst="rect">
            <a:avLst/>
          </a:prstGeom>
          <a:noFill/>
          <a:ln w="0">
            <a:noFill/>
            <a:prstDash val="solid"/>
          </a:ln>
        </p:spPr>
        <p:txBody>
          <a:bodyPr wrap="square" lIns="0" tIns="0" rIns="0" bIns="0" anchor="b">
            <a:noAutofit/>
          </a:bodyPr>
          <a:lstStyle/>
          <a:p>
            <a:pPr algn="l">
              <a:buNone/>
              <a:defRPr sz="4350" b="1">
                <a:solidFill>
                  <a:srgbClr val="101214"/>
                </a:solidFill>
                <a:latin typeface="Hiragino Sans GB"/>
                <a:ea typeface="Hiragino Sans GB"/>
                <a:cs typeface="Hiragino Sans GB"/>
              </a:defRPr>
            </a:pPr>
            <a:endParaRPr/>
          </a:p>
        </p:txBody>
      </p:sp>
      <p:sp>
        <p:nvSpPr>
          <p:cNvPr id="5" name="文本框 4">
            <a:extLst>
              <a:ext uri="{FF2B5EF4-FFF2-40B4-BE49-F238E27FC236}">
                <a16:creationId xmlns:a16="http://schemas.microsoft.com/office/drawing/2014/main" id="{3E5F628E-39A2-06E0-3976-84725ED03AD1}"/>
              </a:ext>
            </a:extLst>
          </p:cNvPr>
          <p:cNvSpPr>
            <a:spLocks noGrp="1"/>
          </p:cNvSpPr>
          <p:nvPr/>
        </p:nvSpPr>
        <p:spPr>
          <a:xfrm>
            <a:off x="128337" y="2371908"/>
            <a:ext cx="11935326" cy="1446550"/>
          </a:xfrm>
          <a:prstGeom prst="rect">
            <a:avLst/>
          </a:prstGeom>
          <a:noFill/>
        </p:spPr>
        <p:txBody>
          <a:bodyPr wrap="square">
            <a:spAutoFit/>
          </a:bodyPr>
          <a:lstStyle/>
          <a:p>
            <a:pPr algn="ctr">
              <a:buNone/>
            </a:pPr>
            <a:r>
              <a:rPr sz="4400" b="1"/>
              <a:t>GLM-5.2:</a:t>
            </a:r>
          </a:p>
          <a:p>
            <a:pPr algn="ctr">
              <a:buNone/>
            </a:pPr>
            <a:r>
              <a:rPr sz="4400" b="1"/>
              <a:t>Built for Long-Horizon Tasks</a:t>
            </a:r>
          </a:p>
        </p:txBody>
      </p:sp>
      <p:sp>
        <p:nvSpPr>
          <p:cNvPr id="6" name="矩形 5">
            <a:extLst>
              <a:ext uri="{FF2B5EF4-FFF2-40B4-BE49-F238E27FC236}">
                <a16:creationId xmlns:a16="http://schemas.microsoft.com/office/drawing/2014/main" id="{3DE99FA2-1243-D7C5-618A-2218CD935318}"/>
              </a:ext>
            </a:extLst>
          </p:cNvPr>
          <p:cNvSpPr>
            <a:spLocks noGrp="1"/>
          </p:cNvSpPr>
          <p:nvPr/>
        </p:nvSpPr>
        <p:spPr>
          <a:xfrm>
            <a:off x="1428750" y="4010208"/>
            <a:ext cx="9334500" cy="342900"/>
          </a:xfrm>
          <a:prstGeom prst="rect">
            <a:avLst/>
          </a:prstGeom>
          <a:noFill/>
          <a:ln w="0">
            <a:noFill/>
            <a:prstDash val="solid"/>
          </a:ln>
        </p:spPr>
        <p:txBody>
          <a:bodyPr wrap="square" lIns="0" tIns="0" rIns="0" bIns="0" anchor="t">
            <a:noAutofit/>
          </a:bodyPr>
          <a:lstStyle/>
          <a:p>
            <a:pPr algn="ctr">
              <a:buNone/>
              <a:defRPr sz="1350" b="0">
                <a:solidFill>
                  <a:srgbClr val="5E6470"/>
                </a:solidFill>
                <a:latin typeface="Helvetica Neue"/>
                <a:ea typeface="Helvetica Neue"/>
                <a:cs typeface="Helvetica Neue"/>
              </a:defRPr>
            </a:pPr>
            <a:r>
              <a:rPr sz="1350">
                <a:solidFill>
                  <a:srgbClr val="5E6470"/>
                </a:solidFill>
                <a:latin typeface="Helvetica Neue"/>
                <a:ea typeface="Helvetica Neue"/>
                <a:cs typeface="Helvetica Neue"/>
              </a:rPr>
              <a:t>Z.ai release blog · 2026</a:t>
            </a:r>
          </a:p>
        </p:txBody>
      </p:sp>
    </p:spTree>
    <p:extLst>
      <p:ext uri="{BB962C8B-B14F-4D97-AF65-F5344CB8AC3E}">
        <p14:creationId xmlns:p14="http://schemas.microsoft.com/office/powerpoint/2010/main" val="15230968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矩形 27">
            <a:extLst>
              <a:ext uri="{FF2B5EF4-FFF2-40B4-BE49-F238E27FC236}">
                <a16:creationId xmlns:a16="http://schemas.microsoft.com/office/drawing/2014/main" id="{24E80A63-289E-44B3-B240-1013082234A4}"/>
              </a:ext>
            </a:extLst>
          </p:cNvPr>
          <p:cNvSpPr>
            <a:spLocks noGrp="1"/>
          </p:cNvSpPr>
          <p:nvPr/>
        </p:nvSpPr>
        <p:spPr>
          <a:xfrm>
            <a:off x="419100" y="171450"/>
            <a:ext cx="2952750" cy="228600"/>
          </a:xfrm>
          <a:prstGeom prst="rect">
            <a:avLst/>
          </a:prstGeom>
          <a:noFill/>
          <a:ln w="0">
            <a:noFill/>
            <a:prstDash val="solid"/>
          </a:ln>
        </p:spPr>
        <p:txBody>
          <a:bodyPr wrap="square" lIns="0" tIns="0" rIns="0" bIns="0" anchor="t">
            <a:noAutofit/>
          </a:bodyPr>
          <a:lstStyle/>
          <a:p>
            <a:pPr algn="l">
              <a:buNone/>
              <a:defRPr sz="975" b="1">
                <a:solidFill>
                  <a:srgbClr val="5E6470"/>
                </a:solidFill>
                <a:latin typeface="Helvetica Neue"/>
                <a:ea typeface="Helvetica Neue"/>
                <a:cs typeface="Helvetica Neue"/>
              </a:defRPr>
            </a:pPr>
            <a:r>
              <a:rPr sz="975" b="1">
                <a:solidFill>
                  <a:srgbClr val="5E6470"/>
                </a:solidFill>
                <a:latin typeface="Helvetica Neue"/>
                <a:ea typeface="Helvetica Neue"/>
                <a:cs typeface="Helvetica Neue"/>
              </a:rPr>
              <a:t>III · GLM-5.2</a:t>
            </a:r>
          </a:p>
        </p:txBody>
      </p:sp>
      <p:sp>
        <p:nvSpPr>
          <p:cNvPr id="2" name="矩形 1">
            <a:extLst>
              <a:ext uri="{FF2B5EF4-FFF2-40B4-BE49-F238E27FC236}">
                <a16:creationId xmlns:a16="http://schemas.microsoft.com/office/drawing/2014/main" id="{7A8312B9-B470-46BD-8E44-E7D3A9C7A146}"/>
              </a:ext>
            </a:extLst>
          </p:cNvPr>
          <p:cNvSpPr>
            <a:spLocks noGrp="1"/>
          </p:cNvSpPr>
          <p:nvPr/>
        </p:nvSpPr>
        <p:spPr>
          <a:xfrm>
            <a:off x="419100" y="409575"/>
            <a:ext cx="11353800" cy="514350"/>
          </a:xfrm>
          <a:prstGeom prst="rect">
            <a:avLst/>
          </a:prstGeom>
          <a:noFill/>
          <a:ln w="0">
            <a:noFill/>
            <a:prstDash val="solid"/>
          </a:ln>
        </p:spPr>
        <p:txBody>
          <a:bodyPr wrap="square" lIns="0" tIns="0" rIns="0" bIns="0" anchor="t">
            <a:noAutofit/>
          </a:bodyPr>
          <a:lstStyle/>
          <a:p>
            <a:pPr algn="l">
              <a:buNone/>
              <a:defRPr sz="2850" b="1">
                <a:solidFill>
                  <a:srgbClr val="101214"/>
                </a:solidFill>
                <a:latin typeface="Hiragino Sans GB"/>
                <a:ea typeface="Hiragino Sans GB"/>
                <a:cs typeface="Hiragino Sans GB"/>
              </a:defRPr>
            </a:pPr>
            <a:r>
              <a:rPr sz="2850" b="1">
                <a:solidFill>
                  <a:srgbClr val="101214"/>
                </a:solidFill>
                <a:latin typeface="Hiragino Sans GB"/>
                <a:ea typeface="Hiragino Sans GB"/>
                <a:cs typeface="Hiragino Sans GB"/>
              </a:rPr>
              <a:t>GLM‑5.2：DSA 与 IndexShare 的公式链条</a:t>
            </a:r>
          </a:p>
        </p:txBody>
      </p:sp>
      <p:sp>
        <p:nvSpPr>
          <p:cNvPr id="3" name="圆角矩形 2">
            <a:extLst>
              <a:ext uri="{FF2B5EF4-FFF2-40B4-BE49-F238E27FC236}">
                <a16:creationId xmlns:a16="http://schemas.microsoft.com/office/drawing/2014/main" id="{0CFB6237-5960-47F7-B83B-A6F05D33149A}"/>
              </a:ext>
            </a:extLst>
          </p:cNvPr>
          <p:cNvSpPr>
            <a:spLocks noGrp="1"/>
          </p:cNvSpPr>
          <p:nvPr/>
        </p:nvSpPr>
        <p:spPr>
          <a:xfrm>
            <a:off x="419100" y="1257300"/>
            <a:ext cx="5810250" cy="2286000"/>
          </a:xfrm>
          <a:prstGeom prst="roundRect">
            <a:avLst>
              <a:gd name="adj" fmla="val 3333"/>
            </a:avLst>
          </a:prstGeom>
          <a:solidFill>
            <a:srgbClr val="F1F2F4"/>
          </a:solidFill>
          <a:ln w="0">
            <a:noFill/>
            <a:prstDash val="solid"/>
          </a:ln>
        </p:spPr>
      </p:sp>
      <p:sp>
        <p:nvSpPr>
          <p:cNvPr id="4" name="矩形 3">
            <a:extLst>
              <a:ext uri="{FF2B5EF4-FFF2-40B4-BE49-F238E27FC236}">
                <a16:creationId xmlns:a16="http://schemas.microsoft.com/office/drawing/2014/main" id="{7498845E-5B06-4FB7-AF2D-B800793131DE}"/>
              </a:ext>
            </a:extLst>
          </p:cNvPr>
          <p:cNvSpPr>
            <a:spLocks noGrp="1"/>
          </p:cNvSpPr>
          <p:nvPr/>
        </p:nvSpPr>
        <p:spPr>
          <a:xfrm>
            <a:off x="666750" y="1485900"/>
            <a:ext cx="5334000" cy="304800"/>
          </a:xfrm>
          <a:prstGeom prst="rect">
            <a:avLst/>
          </a:prstGeom>
          <a:noFill/>
          <a:ln w="0">
            <a:noFill/>
            <a:prstDash val="solid"/>
          </a:ln>
        </p:spPr>
        <p:txBody>
          <a:bodyPr wrap="square" lIns="0" tIns="0" rIns="0" bIns="0" anchor="t">
            <a:noAutofit/>
          </a:bodyPr>
          <a:lstStyle/>
          <a:p>
            <a:pPr algn="l">
              <a:buNone/>
              <a:defRPr sz="1800" b="1">
                <a:solidFill>
                  <a:srgbClr val="101214"/>
                </a:solidFill>
                <a:latin typeface="Helvetica Neue"/>
                <a:ea typeface="Helvetica Neue"/>
                <a:cs typeface="Helvetica Neue"/>
              </a:defRPr>
            </a:pPr>
            <a:r>
              <a:rPr sz="1800" b="1">
                <a:solidFill>
                  <a:srgbClr val="101214"/>
                </a:solidFill>
                <a:latin typeface="Helvetica Neue"/>
                <a:ea typeface="Helvetica Neue"/>
                <a:cs typeface="Helvetica Neue"/>
              </a:rPr>
              <a:t>1 · Lightning indexer：先在全序列上打分</a:t>
            </a:r>
          </a:p>
        </p:txBody>
      </p:sp>
      <p:sp>
        <p:nvSpPr>
          <p:cNvPr id="5" name="圆角矩形 4">
            <a:extLst>
              <a:ext uri="{FF2B5EF4-FFF2-40B4-BE49-F238E27FC236}">
                <a16:creationId xmlns:a16="http://schemas.microsoft.com/office/drawing/2014/main" id="{23584E6A-4CE5-45DE-B9E5-66758FCABB1F}"/>
              </a:ext>
            </a:extLst>
          </p:cNvPr>
          <p:cNvSpPr>
            <a:spLocks noGrp="1"/>
          </p:cNvSpPr>
          <p:nvPr/>
        </p:nvSpPr>
        <p:spPr>
          <a:xfrm>
            <a:off x="666750" y="2095500"/>
            <a:ext cx="1428750" cy="914400"/>
          </a:xfrm>
          <a:prstGeom prst="roundRect">
            <a:avLst>
              <a:gd name="adj" fmla="val 8333"/>
            </a:avLst>
          </a:prstGeom>
          <a:solidFill>
            <a:srgbClr val="FFFFFF"/>
          </a:solidFill>
          <a:ln w="0">
            <a:noFill/>
            <a:prstDash val="solid"/>
          </a:ln>
        </p:spPr>
      </p:sp>
      <p:sp>
        <p:nvSpPr>
          <p:cNvPr id="6" name="矩形 5">
            <a:extLst>
              <a:ext uri="{FF2B5EF4-FFF2-40B4-BE49-F238E27FC236}">
                <a16:creationId xmlns:a16="http://schemas.microsoft.com/office/drawing/2014/main" id="{5DE8FC52-67FE-4058-85EA-97A0619848CE}"/>
              </a:ext>
            </a:extLst>
          </p:cNvPr>
          <p:cNvSpPr>
            <a:spLocks noGrp="1"/>
          </p:cNvSpPr>
          <p:nvPr/>
        </p:nvSpPr>
        <p:spPr>
          <a:xfrm>
            <a:off x="800100" y="2209800"/>
            <a:ext cx="1162050" cy="400050"/>
          </a:xfrm>
          <a:prstGeom prst="rect">
            <a:avLst/>
          </a:prstGeom>
          <a:noFill/>
          <a:ln w="0">
            <a:noFill/>
            <a:prstDash val="solid"/>
          </a:ln>
        </p:spPr>
        <p:txBody>
          <a:bodyPr wrap="square" lIns="0" tIns="0" rIns="0" bIns="0" anchor="t">
            <a:noAutofit/>
          </a:bodyPr>
          <a:lstStyle/>
          <a:p>
            <a:pPr algn="l">
              <a:buNone/>
              <a:defRPr sz="1388" b="1">
                <a:solidFill>
                  <a:srgbClr val="101214"/>
                </a:solidFill>
                <a:latin typeface="Hiragino Sans GB"/>
                <a:ea typeface="Hiragino Sans GB"/>
                <a:cs typeface="Hiragino Sans GB"/>
              </a:defRPr>
            </a:pPr>
            <a:r>
              <a:rPr sz="1388" b="1">
                <a:solidFill>
                  <a:srgbClr val="101214"/>
                </a:solidFill>
                <a:latin typeface="Hiragino Sans GB"/>
                <a:ea typeface="Hiragino Sans GB"/>
                <a:cs typeface="Hiragino Sans GB"/>
              </a:rPr>
              <a:t>Query</a:t>
            </a:r>
          </a:p>
        </p:txBody>
      </p:sp>
      <p:sp>
        <p:nvSpPr>
          <p:cNvPr id="7" name="矩形 6">
            <a:extLst>
              <a:ext uri="{FF2B5EF4-FFF2-40B4-BE49-F238E27FC236}">
                <a16:creationId xmlns:a16="http://schemas.microsoft.com/office/drawing/2014/main" id="{07CE11F2-8ED4-4A4F-848C-98F0A2948722}"/>
              </a:ext>
            </a:extLst>
          </p:cNvPr>
          <p:cNvSpPr>
            <a:spLocks noGrp="1"/>
          </p:cNvSpPr>
          <p:nvPr/>
        </p:nvSpPr>
        <p:spPr>
          <a:xfrm>
            <a:off x="800100" y="2667000"/>
            <a:ext cx="1162050" cy="247650"/>
          </a:xfrm>
          <a:prstGeom prst="rect">
            <a:avLst/>
          </a:prstGeom>
          <a:noFill/>
          <a:ln w="0">
            <a:noFill/>
            <a:prstDash val="solid"/>
          </a:ln>
        </p:spPr>
        <p:txBody>
          <a:bodyPr wrap="square" lIns="0" tIns="0" rIns="0" bIns="0" anchor="t">
            <a:noAutofit/>
          </a:bodyPr>
          <a:lstStyle/>
          <a:p>
            <a:pPr algn="l">
              <a:buNone/>
              <a:defRPr sz="1073" b="0">
                <a:solidFill>
                  <a:srgbClr val="5E6470"/>
                </a:solidFill>
                <a:latin typeface="Hiragino Sans GB"/>
                <a:ea typeface="Hiragino Sans GB"/>
                <a:cs typeface="Hiragino Sans GB"/>
              </a:defRPr>
            </a:pPr>
            <a:r>
              <a:rPr sz="1073" b="0">
                <a:solidFill>
                  <a:srgbClr val="5E6470"/>
                </a:solidFill>
                <a:latin typeface="Hiragino Sans GB"/>
                <a:ea typeface="Hiragino Sans GB"/>
                <a:cs typeface="Hiragino Sans GB"/>
              </a:rPr>
              <a:t>hₜ → {qⱼ, wⱼ}</a:t>
            </a:r>
          </a:p>
        </p:txBody>
      </p:sp>
      <p:sp>
        <p:nvSpPr>
          <p:cNvPr id="8" name="矩形 7">
            <a:extLst>
              <a:ext uri="{FF2B5EF4-FFF2-40B4-BE49-F238E27FC236}">
                <a16:creationId xmlns:a16="http://schemas.microsoft.com/office/drawing/2014/main" id="{4FD7BC1E-5111-42C7-AE50-3FF9E3F77832}"/>
              </a:ext>
            </a:extLst>
          </p:cNvPr>
          <p:cNvSpPr>
            <a:spLocks noGrp="1"/>
          </p:cNvSpPr>
          <p:nvPr/>
        </p:nvSpPr>
        <p:spPr>
          <a:xfrm>
            <a:off x="2133600" y="2343150"/>
            <a:ext cx="257175" cy="381000"/>
          </a:xfrm>
          <a:prstGeom prst="rect">
            <a:avLst/>
          </a:prstGeom>
          <a:noFill/>
          <a:ln w="0">
            <a:noFill/>
            <a:prstDash val="solid"/>
          </a:ln>
        </p:spPr>
        <p:txBody>
          <a:bodyPr wrap="square" lIns="0" tIns="0" rIns="0" bIns="0" anchor="ctr">
            <a:noAutofit/>
          </a:bodyPr>
          <a:lstStyle/>
          <a:p>
            <a:pPr algn="ctr">
              <a:buNone/>
              <a:defRPr sz="2250" b="0">
                <a:solidFill>
                  <a:srgbClr val="5E6470"/>
                </a:solidFill>
                <a:latin typeface="Helvetica Neue"/>
                <a:ea typeface="Helvetica Neue"/>
                <a:cs typeface="Helvetica Neue"/>
              </a:defRPr>
            </a:pPr>
            <a:r>
              <a:rPr sz="2250" b="0">
                <a:solidFill>
                  <a:srgbClr val="5E6470"/>
                </a:solidFill>
                <a:latin typeface="Helvetica Neue"/>
                <a:ea typeface="Helvetica Neue"/>
                <a:cs typeface="Helvetica Neue"/>
              </a:rPr>
              <a:t>→</a:t>
            </a:r>
          </a:p>
        </p:txBody>
      </p:sp>
      <p:sp>
        <p:nvSpPr>
          <p:cNvPr id="9" name="圆角矩形 8">
            <a:extLst>
              <a:ext uri="{FF2B5EF4-FFF2-40B4-BE49-F238E27FC236}">
                <a16:creationId xmlns:a16="http://schemas.microsoft.com/office/drawing/2014/main" id="{4CC2447B-2C36-46C8-A454-E4E313D11FA2}"/>
              </a:ext>
            </a:extLst>
          </p:cNvPr>
          <p:cNvSpPr>
            <a:spLocks noGrp="1"/>
          </p:cNvSpPr>
          <p:nvPr/>
        </p:nvSpPr>
        <p:spPr>
          <a:xfrm>
            <a:off x="2428875" y="2095500"/>
            <a:ext cx="1428750" cy="914400"/>
          </a:xfrm>
          <a:prstGeom prst="roundRect">
            <a:avLst>
              <a:gd name="adj" fmla="val 8333"/>
            </a:avLst>
          </a:prstGeom>
          <a:solidFill>
            <a:srgbClr val="FFFFFF"/>
          </a:solidFill>
          <a:ln w="0">
            <a:noFill/>
            <a:prstDash val="solid"/>
          </a:ln>
        </p:spPr>
      </p:sp>
      <p:sp>
        <p:nvSpPr>
          <p:cNvPr id="10" name="矩形 9">
            <a:extLst>
              <a:ext uri="{FF2B5EF4-FFF2-40B4-BE49-F238E27FC236}">
                <a16:creationId xmlns:a16="http://schemas.microsoft.com/office/drawing/2014/main" id="{70EA66E5-E09A-47BA-B5CC-9EA066FEF58B}"/>
              </a:ext>
            </a:extLst>
          </p:cNvPr>
          <p:cNvSpPr>
            <a:spLocks noGrp="1"/>
          </p:cNvSpPr>
          <p:nvPr/>
        </p:nvSpPr>
        <p:spPr>
          <a:xfrm>
            <a:off x="2562225" y="2209800"/>
            <a:ext cx="1162050" cy="400050"/>
          </a:xfrm>
          <a:prstGeom prst="rect">
            <a:avLst/>
          </a:prstGeom>
          <a:noFill/>
          <a:ln w="0">
            <a:noFill/>
            <a:prstDash val="solid"/>
          </a:ln>
        </p:spPr>
        <p:txBody>
          <a:bodyPr wrap="square" lIns="0" tIns="0" rIns="0" bIns="0" anchor="t">
            <a:noAutofit/>
          </a:bodyPr>
          <a:lstStyle/>
          <a:p>
            <a:pPr algn="l">
              <a:buNone/>
              <a:defRPr sz="1388" b="1">
                <a:solidFill>
                  <a:srgbClr val="101214"/>
                </a:solidFill>
                <a:latin typeface="Hiragino Sans GB"/>
                <a:ea typeface="Hiragino Sans GB"/>
                <a:cs typeface="Hiragino Sans GB"/>
              </a:defRPr>
            </a:pPr>
            <a:r>
              <a:rPr sz="1388" b="1">
                <a:solidFill>
                  <a:srgbClr val="101214"/>
                </a:solidFill>
                <a:latin typeface="Hiragino Sans GB"/>
                <a:ea typeface="Hiragino Sans GB"/>
                <a:cs typeface="Hiragino Sans GB"/>
              </a:rPr>
              <a:t>Score</a:t>
            </a:r>
          </a:p>
        </p:txBody>
      </p:sp>
      <p:sp>
        <p:nvSpPr>
          <p:cNvPr id="11" name="矩形 10">
            <a:extLst>
              <a:ext uri="{FF2B5EF4-FFF2-40B4-BE49-F238E27FC236}">
                <a16:creationId xmlns:a16="http://schemas.microsoft.com/office/drawing/2014/main" id="{177CCEFE-C604-4954-B44F-8616CBD13DAA}"/>
              </a:ext>
            </a:extLst>
          </p:cNvPr>
          <p:cNvSpPr>
            <a:spLocks noGrp="1"/>
          </p:cNvSpPr>
          <p:nvPr/>
        </p:nvSpPr>
        <p:spPr>
          <a:xfrm>
            <a:off x="2562225" y="2667000"/>
            <a:ext cx="1162050" cy="247650"/>
          </a:xfrm>
          <a:prstGeom prst="rect">
            <a:avLst/>
          </a:prstGeom>
          <a:noFill/>
          <a:ln w="0">
            <a:noFill/>
            <a:prstDash val="solid"/>
          </a:ln>
        </p:spPr>
        <p:txBody>
          <a:bodyPr wrap="square" lIns="0" tIns="0" rIns="0" bIns="0" anchor="t">
            <a:noAutofit/>
          </a:bodyPr>
          <a:lstStyle/>
          <a:p>
            <a:pPr algn="l">
              <a:buNone/>
              <a:defRPr sz="1005" b="0">
                <a:solidFill>
                  <a:srgbClr val="5E6470"/>
                </a:solidFill>
                <a:latin typeface="Hiragino Sans GB"/>
                <a:ea typeface="Hiragino Sans GB"/>
                <a:cs typeface="Hiragino Sans GB"/>
              </a:defRPr>
            </a:pPr>
            <a:r>
              <a:rPr sz="1005" b="0">
                <a:solidFill>
                  <a:srgbClr val="5E6470"/>
                </a:solidFill>
                <a:latin typeface="Hiragino Sans GB"/>
                <a:ea typeface="Hiragino Sans GB"/>
                <a:cs typeface="Hiragino Sans GB"/>
              </a:rPr>
              <a:t>Iₜ,ₛ=Σⱼwⱼ·ReLU(qⱼ·kₛ)</a:t>
            </a:r>
          </a:p>
        </p:txBody>
      </p:sp>
      <p:sp>
        <p:nvSpPr>
          <p:cNvPr id="12" name="矩形 11">
            <a:extLst>
              <a:ext uri="{FF2B5EF4-FFF2-40B4-BE49-F238E27FC236}">
                <a16:creationId xmlns:a16="http://schemas.microsoft.com/office/drawing/2014/main" id="{07ADAE9B-4E21-4980-9148-87A79DB17557}"/>
              </a:ext>
            </a:extLst>
          </p:cNvPr>
          <p:cNvSpPr>
            <a:spLocks noGrp="1"/>
          </p:cNvSpPr>
          <p:nvPr/>
        </p:nvSpPr>
        <p:spPr>
          <a:xfrm>
            <a:off x="3895725" y="2343150"/>
            <a:ext cx="257175" cy="381000"/>
          </a:xfrm>
          <a:prstGeom prst="rect">
            <a:avLst/>
          </a:prstGeom>
          <a:noFill/>
          <a:ln w="0">
            <a:noFill/>
            <a:prstDash val="solid"/>
          </a:ln>
        </p:spPr>
        <p:txBody>
          <a:bodyPr wrap="square" lIns="0" tIns="0" rIns="0" bIns="0" anchor="ctr">
            <a:noAutofit/>
          </a:bodyPr>
          <a:lstStyle/>
          <a:p>
            <a:pPr algn="ctr">
              <a:buNone/>
              <a:defRPr sz="2250" b="0">
                <a:solidFill>
                  <a:srgbClr val="5E6470"/>
                </a:solidFill>
                <a:latin typeface="Helvetica Neue"/>
                <a:ea typeface="Helvetica Neue"/>
                <a:cs typeface="Helvetica Neue"/>
              </a:defRPr>
            </a:pPr>
            <a:r>
              <a:rPr sz="2250" b="0">
                <a:solidFill>
                  <a:srgbClr val="5E6470"/>
                </a:solidFill>
                <a:latin typeface="Helvetica Neue"/>
                <a:ea typeface="Helvetica Neue"/>
                <a:cs typeface="Helvetica Neue"/>
              </a:rPr>
              <a:t>→</a:t>
            </a:r>
          </a:p>
        </p:txBody>
      </p:sp>
      <p:sp>
        <p:nvSpPr>
          <p:cNvPr id="13" name="圆角矩形 12">
            <a:extLst>
              <a:ext uri="{FF2B5EF4-FFF2-40B4-BE49-F238E27FC236}">
                <a16:creationId xmlns:a16="http://schemas.microsoft.com/office/drawing/2014/main" id="{8AA1DE00-28AE-4048-8FFD-ED6F2FD89949}"/>
              </a:ext>
            </a:extLst>
          </p:cNvPr>
          <p:cNvSpPr>
            <a:spLocks noGrp="1"/>
          </p:cNvSpPr>
          <p:nvPr/>
        </p:nvSpPr>
        <p:spPr>
          <a:xfrm>
            <a:off x="4191000" y="2095500"/>
            <a:ext cx="1428750" cy="914400"/>
          </a:xfrm>
          <a:prstGeom prst="roundRect">
            <a:avLst>
              <a:gd name="adj" fmla="val 8333"/>
            </a:avLst>
          </a:prstGeom>
          <a:solidFill>
            <a:srgbClr val="EAF5FB"/>
          </a:solidFill>
          <a:ln w="0">
            <a:noFill/>
            <a:prstDash val="solid"/>
          </a:ln>
        </p:spPr>
      </p:sp>
      <p:sp>
        <p:nvSpPr>
          <p:cNvPr id="14" name="矩形 13">
            <a:extLst>
              <a:ext uri="{FF2B5EF4-FFF2-40B4-BE49-F238E27FC236}">
                <a16:creationId xmlns:a16="http://schemas.microsoft.com/office/drawing/2014/main" id="{CB3D159C-496E-4551-9CC6-6ACEF50C515F}"/>
              </a:ext>
            </a:extLst>
          </p:cNvPr>
          <p:cNvSpPr>
            <a:spLocks noGrp="1"/>
          </p:cNvSpPr>
          <p:nvPr/>
        </p:nvSpPr>
        <p:spPr>
          <a:xfrm>
            <a:off x="4324350" y="2209800"/>
            <a:ext cx="1162050" cy="400050"/>
          </a:xfrm>
          <a:prstGeom prst="rect">
            <a:avLst/>
          </a:prstGeom>
          <a:noFill/>
          <a:ln w="0">
            <a:noFill/>
            <a:prstDash val="solid"/>
          </a:ln>
        </p:spPr>
        <p:txBody>
          <a:bodyPr wrap="square" lIns="0" tIns="0" rIns="0" bIns="0" anchor="t">
            <a:noAutofit/>
          </a:bodyPr>
          <a:lstStyle/>
          <a:p>
            <a:pPr algn="l">
              <a:buNone/>
              <a:defRPr sz="1388" b="1">
                <a:solidFill>
                  <a:srgbClr val="2787F5"/>
                </a:solidFill>
                <a:latin typeface="Hiragino Sans GB"/>
                <a:ea typeface="Hiragino Sans GB"/>
                <a:cs typeface="Hiragino Sans GB"/>
              </a:defRPr>
            </a:pPr>
            <a:r>
              <a:rPr sz="1388" b="1">
                <a:solidFill>
                  <a:srgbClr val="2787F5"/>
                </a:solidFill>
                <a:latin typeface="Hiragino Sans GB"/>
                <a:ea typeface="Hiragino Sans GB"/>
                <a:cs typeface="Hiragino Sans GB"/>
              </a:rPr>
              <a:t>Select</a:t>
            </a:r>
          </a:p>
        </p:txBody>
      </p:sp>
      <p:sp>
        <p:nvSpPr>
          <p:cNvPr id="15" name="矩形 14">
            <a:extLst>
              <a:ext uri="{FF2B5EF4-FFF2-40B4-BE49-F238E27FC236}">
                <a16:creationId xmlns:a16="http://schemas.microsoft.com/office/drawing/2014/main" id="{23B21722-883B-498B-AA05-B4A9C20557EC}"/>
              </a:ext>
            </a:extLst>
          </p:cNvPr>
          <p:cNvSpPr>
            <a:spLocks noGrp="1"/>
          </p:cNvSpPr>
          <p:nvPr/>
        </p:nvSpPr>
        <p:spPr>
          <a:xfrm>
            <a:off x="4324350" y="2667000"/>
            <a:ext cx="1162050" cy="247650"/>
          </a:xfrm>
          <a:prstGeom prst="rect">
            <a:avLst/>
          </a:prstGeom>
          <a:noFill/>
          <a:ln w="0">
            <a:noFill/>
            <a:prstDash val="solid"/>
          </a:ln>
        </p:spPr>
        <p:txBody>
          <a:bodyPr wrap="square" lIns="0" tIns="0" rIns="0" bIns="0" anchor="t">
            <a:noAutofit/>
          </a:bodyPr>
          <a:lstStyle/>
          <a:p>
            <a:pPr algn="l">
              <a:buNone/>
              <a:defRPr sz="1035" b="0">
                <a:solidFill>
                  <a:srgbClr val="5E6470"/>
                </a:solidFill>
                <a:latin typeface="Hiragino Sans GB"/>
                <a:ea typeface="Hiragino Sans GB"/>
                <a:cs typeface="Hiragino Sans GB"/>
              </a:defRPr>
            </a:pPr>
            <a:r>
              <a:rPr sz="1035" b="0">
                <a:solidFill>
                  <a:srgbClr val="5E6470"/>
                </a:solidFill>
                <a:latin typeface="Hiragino Sans GB"/>
                <a:ea typeface="Hiragino Sans GB"/>
                <a:cs typeface="Hiragino Sans GB"/>
              </a:rPr>
              <a:t>𝒮ₜ = Top‑k(Iₜ,:)</a:t>
            </a:r>
          </a:p>
        </p:txBody>
      </p:sp>
      <p:sp>
        <p:nvSpPr>
          <p:cNvPr id="16" name="矩形 15">
            <a:extLst>
              <a:ext uri="{FF2B5EF4-FFF2-40B4-BE49-F238E27FC236}">
                <a16:creationId xmlns:a16="http://schemas.microsoft.com/office/drawing/2014/main" id="{FCE5E0B4-8B87-4E87-981D-80E065173A18}"/>
              </a:ext>
            </a:extLst>
          </p:cNvPr>
          <p:cNvSpPr>
            <a:spLocks noGrp="1"/>
          </p:cNvSpPr>
          <p:nvPr/>
        </p:nvSpPr>
        <p:spPr>
          <a:xfrm>
            <a:off x="666750" y="2990850"/>
            <a:ext cx="5286375" cy="552450"/>
          </a:xfrm>
          <a:prstGeom prst="rect">
            <a:avLst/>
          </a:prstGeom>
          <a:noFill/>
          <a:ln w="0">
            <a:noFill/>
            <a:prstDash val="solid"/>
          </a:ln>
        </p:spPr>
        <p:txBody>
          <a:bodyPr wrap="square" lIns="0" tIns="0" rIns="0" bIns="0" anchor="ctr">
            <a:noAutofit/>
          </a:bodyPr>
          <a:lstStyle/>
          <a:p>
            <a:pPr algn="l">
              <a:buNone/>
              <a:defRPr sz="1110" b="0">
                <a:solidFill>
                  <a:srgbClr val="5E6470"/>
                </a:solidFill>
                <a:latin typeface="Hiragino Sans GB"/>
                <a:ea typeface="Hiragino Sans GB"/>
                <a:cs typeface="Hiragino Sans GB"/>
              </a:defRPr>
            </a:pPr>
            <a:r>
              <a:rPr sz="1110" b="0">
                <a:solidFill>
                  <a:srgbClr val="5E6470"/>
                </a:solidFill>
                <a:latin typeface="Hiragino Sans GB"/>
                <a:ea typeface="Hiragino Sans GB"/>
                <a:cs typeface="Hiragino Sans GB"/>
              </a:rPr>
              <a:t>Iₜ,ₛ=Σⱼwᶦₜⱼ·ReLU(qᶦₜⱼ·kᶦₛ)。Indexer 用少量 heads、低秩投影和 FP8；但对全历史评分，selection 仍为 O(L²)。</a:t>
            </a:r>
          </a:p>
        </p:txBody>
      </p:sp>
      <p:sp>
        <p:nvSpPr>
          <p:cNvPr id="17" name="圆角矩形 16">
            <a:extLst>
              <a:ext uri="{FF2B5EF4-FFF2-40B4-BE49-F238E27FC236}">
                <a16:creationId xmlns:a16="http://schemas.microsoft.com/office/drawing/2014/main" id="{9E168D73-5BB1-4905-8D03-DE45920D70B9}"/>
              </a:ext>
            </a:extLst>
          </p:cNvPr>
          <p:cNvSpPr>
            <a:spLocks noGrp="1"/>
          </p:cNvSpPr>
          <p:nvPr/>
        </p:nvSpPr>
        <p:spPr>
          <a:xfrm>
            <a:off x="419100" y="3714750"/>
            <a:ext cx="5810250" cy="2095500"/>
          </a:xfrm>
          <a:prstGeom prst="roundRect">
            <a:avLst>
              <a:gd name="adj" fmla="val 3636"/>
            </a:avLst>
          </a:prstGeom>
          <a:solidFill>
            <a:srgbClr val="EAF5FB"/>
          </a:solidFill>
          <a:ln w="0">
            <a:noFill/>
            <a:prstDash val="solid"/>
          </a:ln>
        </p:spPr>
      </p:sp>
      <p:sp>
        <p:nvSpPr>
          <p:cNvPr id="18" name="矩形 17">
            <a:extLst>
              <a:ext uri="{FF2B5EF4-FFF2-40B4-BE49-F238E27FC236}">
                <a16:creationId xmlns:a16="http://schemas.microsoft.com/office/drawing/2014/main" id="{AB1BD664-940F-41D4-9039-FFA13F0069B6}"/>
              </a:ext>
            </a:extLst>
          </p:cNvPr>
          <p:cNvSpPr>
            <a:spLocks noGrp="1"/>
          </p:cNvSpPr>
          <p:nvPr/>
        </p:nvSpPr>
        <p:spPr>
          <a:xfrm>
            <a:off x="666750" y="3943350"/>
            <a:ext cx="2571750" cy="285750"/>
          </a:xfrm>
          <a:prstGeom prst="rect">
            <a:avLst/>
          </a:prstGeom>
          <a:noFill/>
          <a:ln w="0">
            <a:noFill/>
            <a:prstDash val="solid"/>
          </a:ln>
        </p:spPr>
        <p:txBody>
          <a:bodyPr wrap="square" lIns="0" tIns="0" rIns="0" bIns="0" anchor="t">
            <a:noAutofit/>
          </a:bodyPr>
          <a:lstStyle/>
          <a:p>
            <a:pPr algn="l">
              <a:buNone/>
              <a:defRPr sz="1725" b="1">
                <a:solidFill>
                  <a:srgbClr val="2787F5"/>
                </a:solidFill>
                <a:latin typeface="Helvetica Neue"/>
                <a:ea typeface="Helvetica Neue"/>
                <a:cs typeface="Helvetica Neue"/>
              </a:defRPr>
            </a:pPr>
            <a:r>
              <a:rPr sz="1725" b="1">
                <a:solidFill>
                  <a:srgbClr val="2787F5"/>
                </a:solidFill>
                <a:latin typeface="Helvetica Neue"/>
                <a:ea typeface="Helvetica Neue"/>
                <a:cs typeface="Helvetica Neue"/>
              </a:rPr>
              <a:t>2 · Sparse core = O(Lk)</a:t>
            </a:r>
          </a:p>
        </p:txBody>
      </p:sp>
      <p:sp>
        <p:nvSpPr>
          <p:cNvPr id="19" name="矩形 18">
            <a:extLst>
              <a:ext uri="{FF2B5EF4-FFF2-40B4-BE49-F238E27FC236}">
                <a16:creationId xmlns:a16="http://schemas.microsoft.com/office/drawing/2014/main" id="{2CBF3D06-3169-4D0F-A6ED-AC923617A6AD}"/>
              </a:ext>
            </a:extLst>
          </p:cNvPr>
          <p:cNvSpPr>
            <a:spLocks noGrp="1"/>
          </p:cNvSpPr>
          <p:nvPr/>
        </p:nvSpPr>
        <p:spPr>
          <a:xfrm>
            <a:off x="666750" y="4324350"/>
            <a:ext cx="5238750" cy="1257300"/>
          </a:xfrm>
          <a:prstGeom prst="rect">
            <a:avLst/>
          </a:prstGeom>
          <a:noFill/>
          <a:ln w="0">
            <a:noFill/>
            <a:prstDash val="solid"/>
          </a:ln>
        </p:spPr>
        <p:txBody>
          <a:bodyPr wrap="square" lIns="0" tIns="0" rIns="0" bIns="0" anchor="t">
            <a:noAutofit/>
          </a:bodyPr>
          <a:lstStyle/>
          <a:p>
            <a:pPr marL="22" indent="-12" algn="l">
              <a:lnSpc>
                <a:spcPct val="95000"/>
              </a:lnSpc>
              <a:spcAft>
                <a:spcPts val="8"/>
              </a:spcAft>
              <a:buNone/>
              <a:defRPr sz="1095" b="0">
                <a:solidFill>
                  <a:srgbClr val="101214"/>
                </a:solidFill>
                <a:latin typeface="Hiragino Sans GB"/>
                <a:ea typeface="Hiragino Sans GB"/>
                <a:cs typeface="Hiragino Sans GB"/>
              </a:defRPr>
            </a:pPr>
            <a:r>
              <a:rPr sz="1600" b="0" dirty="0">
                <a:solidFill>
                  <a:srgbClr val="101214"/>
                </a:solidFill>
                <a:latin typeface="Hiragino Sans GB"/>
                <a:ea typeface="Hiragino Sans GB"/>
                <a:cs typeface="Hiragino Sans GB"/>
              </a:rPr>
              <a:t>uₜ=Attn(hₜ,{cₛ | s∈𝒮ₜ}), k=2048≪L</a:t>
            </a:r>
            <a:endParaRPr lang="en-US" sz="1600" b="0" dirty="0">
              <a:solidFill>
                <a:srgbClr val="101214"/>
              </a:solidFill>
              <a:latin typeface="Hiragino Sans GB"/>
              <a:ea typeface="Hiragino Sans GB"/>
              <a:cs typeface="Hiragino Sans GB"/>
            </a:endParaRPr>
          </a:p>
          <a:p>
            <a:pPr marL="22" indent="-12" algn="l">
              <a:lnSpc>
                <a:spcPct val="95000"/>
              </a:lnSpc>
              <a:spcAft>
                <a:spcPts val="8"/>
              </a:spcAft>
              <a:buNone/>
              <a:defRPr sz="1095" b="0">
                <a:solidFill>
                  <a:srgbClr val="101214"/>
                </a:solidFill>
                <a:latin typeface="Hiragino Sans GB"/>
                <a:ea typeface="Hiragino Sans GB"/>
                <a:cs typeface="Hiragino Sans GB"/>
              </a:defRPr>
            </a:pPr>
            <a:endParaRPr sz="1600" b="0" dirty="0">
              <a:solidFill>
                <a:srgbClr val="101214"/>
              </a:solidFill>
              <a:latin typeface="Hiragino Sans GB"/>
              <a:ea typeface="Hiragino Sans GB"/>
              <a:cs typeface="Hiragino Sans GB"/>
            </a:endParaRPr>
          </a:p>
          <a:p>
            <a:pPr marL="22" indent="-12" algn="l">
              <a:lnSpc>
                <a:spcPct val="95000"/>
              </a:lnSpc>
              <a:spcAft>
                <a:spcPts val="8"/>
              </a:spcAft>
              <a:buNone/>
              <a:defRPr sz="1095" b="0">
                <a:solidFill>
                  <a:srgbClr val="101214"/>
                </a:solidFill>
                <a:latin typeface="Hiragino Sans GB"/>
                <a:ea typeface="Hiragino Sans GB"/>
                <a:cs typeface="Hiragino Sans GB"/>
              </a:defRPr>
            </a:pPr>
            <a:r>
              <a:rPr sz="1600" b="0" dirty="0">
                <a:solidFill>
                  <a:srgbClr val="101214"/>
                </a:solidFill>
                <a:latin typeface="Hiragino Sans GB"/>
                <a:ea typeface="Hiragino Sans GB"/>
                <a:cs typeface="Hiragino Sans GB"/>
              </a:rPr>
              <a:t>Dense core O(L²) → sparse core O(Lk)</a:t>
            </a:r>
            <a:endParaRPr lang="en-US" sz="1600" b="0" dirty="0">
              <a:solidFill>
                <a:srgbClr val="101214"/>
              </a:solidFill>
              <a:latin typeface="Hiragino Sans GB"/>
              <a:ea typeface="Hiragino Sans GB"/>
              <a:cs typeface="Hiragino Sans GB"/>
            </a:endParaRPr>
          </a:p>
          <a:p>
            <a:pPr marL="22" indent="-12" algn="l">
              <a:lnSpc>
                <a:spcPct val="95000"/>
              </a:lnSpc>
              <a:spcAft>
                <a:spcPts val="8"/>
              </a:spcAft>
              <a:buNone/>
              <a:defRPr sz="1095" b="0">
                <a:solidFill>
                  <a:srgbClr val="101214"/>
                </a:solidFill>
                <a:latin typeface="Hiragino Sans GB"/>
                <a:ea typeface="Hiragino Sans GB"/>
                <a:cs typeface="Hiragino Sans GB"/>
              </a:defRPr>
            </a:pPr>
            <a:endParaRPr sz="1600" b="0" dirty="0">
              <a:solidFill>
                <a:srgbClr val="101214"/>
              </a:solidFill>
              <a:latin typeface="Hiragino Sans GB"/>
              <a:ea typeface="Hiragino Sans GB"/>
              <a:cs typeface="Hiragino Sans GB"/>
            </a:endParaRPr>
          </a:p>
          <a:p>
            <a:pPr marL="22" indent="-12" algn="l">
              <a:lnSpc>
                <a:spcPct val="95000"/>
              </a:lnSpc>
              <a:spcAft>
                <a:spcPts val="8"/>
              </a:spcAft>
              <a:buNone/>
              <a:defRPr sz="1095" b="0">
                <a:solidFill>
                  <a:srgbClr val="101214"/>
                </a:solidFill>
                <a:latin typeface="Hiragino Sans GB"/>
                <a:ea typeface="Hiragino Sans GB"/>
                <a:cs typeface="Hiragino Sans GB"/>
              </a:defRPr>
            </a:pPr>
            <a:r>
              <a:rPr sz="1600" b="0" dirty="0" err="1">
                <a:solidFill>
                  <a:srgbClr val="101214"/>
                </a:solidFill>
                <a:latin typeface="Hiragino Sans GB"/>
                <a:ea typeface="Hiragino Sans GB"/>
                <a:cs typeface="Hiragino Sans GB"/>
              </a:rPr>
              <a:t>主注意力稀疏化；indexer</a:t>
            </a:r>
            <a:r>
              <a:rPr sz="1600" b="0" dirty="0">
                <a:solidFill>
                  <a:srgbClr val="101214"/>
                </a:solidFill>
                <a:latin typeface="Hiragino Sans GB"/>
                <a:ea typeface="Hiragino Sans GB"/>
                <a:cs typeface="Hiragino Sans GB"/>
              </a:rPr>
              <a:t> </a:t>
            </a:r>
            <a:r>
              <a:rPr sz="1600" b="0" dirty="0" err="1">
                <a:solidFill>
                  <a:srgbClr val="101214"/>
                </a:solidFill>
                <a:latin typeface="Hiragino Sans GB"/>
                <a:ea typeface="Hiragino Sans GB"/>
                <a:cs typeface="Hiragino Sans GB"/>
              </a:rPr>
              <a:t>的</a:t>
            </a:r>
            <a:r>
              <a:rPr sz="1600" b="0" dirty="0">
                <a:solidFill>
                  <a:srgbClr val="101214"/>
                </a:solidFill>
                <a:latin typeface="Hiragino Sans GB"/>
                <a:ea typeface="Hiragino Sans GB"/>
                <a:cs typeface="Hiragino Sans GB"/>
              </a:rPr>
              <a:t> O(L²) </a:t>
            </a:r>
            <a:r>
              <a:rPr sz="1600" b="0" dirty="0" err="1">
                <a:solidFill>
                  <a:srgbClr val="101214"/>
                </a:solidFill>
                <a:latin typeface="Hiragino Sans GB"/>
                <a:ea typeface="Hiragino Sans GB"/>
                <a:cs typeface="Hiragino Sans GB"/>
              </a:rPr>
              <a:t>仍保留</a:t>
            </a:r>
            <a:r>
              <a:rPr sz="1600" b="0" dirty="0">
                <a:solidFill>
                  <a:srgbClr val="101214"/>
                </a:solidFill>
                <a:latin typeface="Hiragino Sans GB"/>
                <a:ea typeface="Hiragino Sans GB"/>
                <a:cs typeface="Hiragino Sans GB"/>
              </a:rPr>
              <a:t>。</a:t>
            </a:r>
          </a:p>
        </p:txBody>
      </p:sp>
      <p:sp>
        <p:nvSpPr>
          <p:cNvPr id="20" name="圆角矩形 19">
            <a:extLst>
              <a:ext uri="{FF2B5EF4-FFF2-40B4-BE49-F238E27FC236}">
                <a16:creationId xmlns:a16="http://schemas.microsoft.com/office/drawing/2014/main" id="{C165FF84-E182-44BF-89B0-E7D5EFDB7BBE}"/>
              </a:ext>
            </a:extLst>
          </p:cNvPr>
          <p:cNvSpPr>
            <a:spLocks noGrp="1"/>
          </p:cNvSpPr>
          <p:nvPr/>
        </p:nvSpPr>
        <p:spPr>
          <a:xfrm>
            <a:off x="6381750" y="1238250"/>
            <a:ext cx="5391150" cy="3162300"/>
          </a:xfrm>
          <a:prstGeom prst="roundRect">
            <a:avLst>
              <a:gd name="adj" fmla="val 2410"/>
            </a:avLst>
          </a:prstGeom>
          <a:solidFill>
            <a:srgbClr val="F1F2F4"/>
          </a:solidFill>
          <a:ln w="9525">
            <a:solidFill>
              <a:srgbClr val="B8BCC4"/>
            </a:solidFill>
            <a:prstDash val="solid"/>
          </a:ln>
        </p:spPr>
      </p:sp>
      <p:sp>
        <p:nvSpPr>
          <p:cNvPr id="22" name="圆角矩形 21">
            <a:extLst>
              <a:ext uri="{FF2B5EF4-FFF2-40B4-BE49-F238E27FC236}">
                <a16:creationId xmlns:a16="http://schemas.microsoft.com/office/drawing/2014/main" id="{C056410F-79C6-4215-B810-CA319AB492F2}"/>
              </a:ext>
            </a:extLst>
          </p:cNvPr>
          <p:cNvSpPr>
            <a:spLocks noGrp="1"/>
          </p:cNvSpPr>
          <p:nvPr/>
        </p:nvSpPr>
        <p:spPr>
          <a:xfrm>
            <a:off x="6381750" y="4591050"/>
            <a:ext cx="5391150" cy="1219200"/>
          </a:xfrm>
          <a:prstGeom prst="roundRect">
            <a:avLst>
              <a:gd name="adj" fmla="val 6250"/>
            </a:avLst>
          </a:prstGeom>
          <a:solidFill>
            <a:srgbClr val="FFF4DE"/>
          </a:solidFill>
          <a:ln w="0">
            <a:noFill/>
            <a:prstDash val="solid"/>
          </a:ln>
        </p:spPr>
      </p:sp>
      <p:sp>
        <p:nvSpPr>
          <p:cNvPr id="23" name="矩形 22">
            <a:extLst>
              <a:ext uri="{FF2B5EF4-FFF2-40B4-BE49-F238E27FC236}">
                <a16:creationId xmlns:a16="http://schemas.microsoft.com/office/drawing/2014/main" id="{DACC5557-DDEA-435E-B6A4-9AA00E9F30B7}"/>
              </a:ext>
            </a:extLst>
          </p:cNvPr>
          <p:cNvSpPr>
            <a:spLocks noGrp="1"/>
          </p:cNvSpPr>
          <p:nvPr/>
        </p:nvSpPr>
        <p:spPr>
          <a:xfrm>
            <a:off x="6629400" y="4762500"/>
            <a:ext cx="4572000" cy="285750"/>
          </a:xfrm>
          <a:prstGeom prst="rect">
            <a:avLst/>
          </a:prstGeom>
          <a:noFill/>
          <a:ln w="0">
            <a:noFill/>
            <a:prstDash val="solid"/>
          </a:ln>
        </p:spPr>
        <p:txBody>
          <a:bodyPr wrap="square" lIns="0" tIns="0" rIns="0" bIns="0" anchor="t">
            <a:noAutofit/>
          </a:bodyPr>
          <a:lstStyle/>
          <a:p>
            <a:pPr algn="l">
              <a:buNone/>
              <a:defRPr sz="1538" b="1">
                <a:solidFill>
                  <a:srgbClr val="F59E0B"/>
                </a:solidFill>
                <a:latin typeface="Helvetica Neue"/>
                <a:ea typeface="Helvetica Neue"/>
                <a:cs typeface="Helvetica Neue"/>
              </a:defRPr>
            </a:pPr>
            <a:r>
              <a:rPr sz="1538" b="1">
                <a:solidFill>
                  <a:srgbClr val="F59E0B"/>
                </a:solidFill>
                <a:latin typeface="Helvetica Neue"/>
                <a:ea typeface="Helvetica Neue"/>
                <a:cs typeface="Helvetica Neue"/>
              </a:rPr>
              <a:t>3 · IndexShare：每 4 层只算一次 indexer</a:t>
            </a:r>
          </a:p>
        </p:txBody>
      </p:sp>
      <p:sp>
        <p:nvSpPr>
          <p:cNvPr id="24" name="矩形 23">
            <a:extLst>
              <a:ext uri="{FF2B5EF4-FFF2-40B4-BE49-F238E27FC236}">
                <a16:creationId xmlns:a16="http://schemas.microsoft.com/office/drawing/2014/main" id="{FD7F6765-F8C5-4C69-8BF4-BC81D8E58B8C}"/>
              </a:ext>
            </a:extLst>
          </p:cNvPr>
          <p:cNvSpPr>
            <a:spLocks noGrp="1"/>
          </p:cNvSpPr>
          <p:nvPr/>
        </p:nvSpPr>
        <p:spPr>
          <a:xfrm>
            <a:off x="6629400" y="5086350"/>
            <a:ext cx="4857750" cy="685800"/>
          </a:xfrm>
          <a:prstGeom prst="rect">
            <a:avLst/>
          </a:prstGeom>
          <a:noFill/>
          <a:ln w="0">
            <a:noFill/>
            <a:prstDash val="solid"/>
          </a:ln>
        </p:spPr>
        <p:txBody>
          <a:bodyPr wrap="square" lIns="0" tIns="0" rIns="0" bIns="0" anchor="t">
            <a:noAutofit/>
          </a:bodyPr>
          <a:lstStyle/>
          <a:p>
            <a:pPr algn="l">
              <a:lnSpc>
                <a:spcPct val="94000"/>
              </a:lnSpc>
              <a:buNone/>
              <a:defRPr sz="1050" b="0">
                <a:solidFill>
                  <a:srgbClr val="101214"/>
                </a:solidFill>
                <a:latin typeface="Hiragino Sans GB"/>
                <a:ea typeface="Hiragino Sans GB"/>
                <a:cs typeface="Hiragino Sans GB"/>
              </a:defRPr>
            </a:pPr>
            <a:r>
              <a:rPr sz="1200" b="0" dirty="0" err="1">
                <a:solidFill>
                  <a:srgbClr val="101214"/>
                </a:solidFill>
                <a:latin typeface="Hiragino Sans GB"/>
                <a:ea typeface="Hiragino Sans GB"/>
                <a:cs typeface="Hiragino Sans GB"/>
              </a:rPr>
              <a:t>每</a:t>
            </a:r>
            <a:r>
              <a:rPr sz="1200" b="0" dirty="0">
                <a:solidFill>
                  <a:srgbClr val="101214"/>
                </a:solidFill>
                <a:latin typeface="Hiragino Sans GB"/>
                <a:ea typeface="Hiragino Sans GB"/>
                <a:cs typeface="Hiragino Sans GB"/>
              </a:rPr>
              <a:t> 4 </a:t>
            </a:r>
            <a:r>
              <a:rPr sz="1200" b="0" dirty="0" err="1">
                <a:solidFill>
                  <a:srgbClr val="101214"/>
                </a:solidFill>
                <a:latin typeface="Hiragino Sans GB"/>
                <a:ea typeface="Hiragino Sans GB"/>
                <a:cs typeface="Hiragino Sans GB"/>
              </a:rPr>
              <a:t>层复用同一组</a:t>
            </a:r>
            <a:r>
              <a:rPr sz="1200" b="0" dirty="0">
                <a:solidFill>
                  <a:srgbClr val="101214"/>
                </a:solidFill>
                <a:latin typeface="Hiragino Sans GB"/>
                <a:ea typeface="Hiragino Sans GB"/>
                <a:cs typeface="Hiragino Sans GB"/>
              </a:rPr>
              <a:t> top‑k indices：𝒮ₜ⁽⁴ᵐ⁺¹⁾</a:t>
            </a:r>
          </a:p>
          <a:p>
            <a:pPr algn="l">
              <a:lnSpc>
                <a:spcPct val="94000"/>
              </a:lnSpc>
              <a:buNone/>
              <a:defRPr sz="1050" b="0">
                <a:solidFill>
                  <a:srgbClr val="101214"/>
                </a:solidFill>
                <a:latin typeface="Hiragino Sans GB"/>
                <a:ea typeface="Hiragino Sans GB"/>
                <a:cs typeface="Hiragino Sans GB"/>
              </a:defRPr>
            </a:pPr>
            <a:r>
              <a:rPr sz="1200" b="0" dirty="0">
                <a:solidFill>
                  <a:srgbClr val="101214"/>
                </a:solidFill>
                <a:latin typeface="Hiragino Sans GB"/>
                <a:ea typeface="Hiragino Sans GB"/>
                <a:cs typeface="Hiragino Sans GB"/>
              </a:rPr>
              <a:t>C≈¼·O(NL²)+O(</a:t>
            </a:r>
            <a:r>
              <a:rPr sz="1200" b="0" dirty="0" err="1">
                <a:solidFill>
                  <a:srgbClr val="101214"/>
                </a:solidFill>
                <a:latin typeface="Hiragino Sans GB"/>
                <a:ea typeface="Hiragino Sans GB"/>
                <a:cs typeface="Hiragino Sans GB"/>
              </a:rPr>
              <a:t>NLk</a:t>
            </a:r>
            <a:r>
              <a:rPr sz="1200" b="0" dirty="0">
                <a:solidFill>
                  <a:srgbClr val="101214"/>
                </a:solidFill>
                <a:latin typeface="Hiragino Sans GB"/>
                <a:ea typeface="Hiragino Sans GB"/>
                <a:cs typeface="Hiragino Sans GB"/>
              </a:rPr>
              <a:t>)；1M context </a:t>
            </a:r>
            <a:r>
              <a:rPr sz="1200" b="0" dirty="0" err="1">
                <a:solidFill>
                  <a:srgbClr val="101214"/>
                </a:solidFill>
                <a:latin typeface="Hiragino Sans GB"/>
                <a:ea typeface="Hiragino Sans GB"/>
                <a:cs typeface="Hiragino Sans GB"/>
              </a:rPr>
              <a:t>单</a:t>
            </a:r>
            <a:r>
              <a:rPr sz="1200" b="0" dirty="0">
                <a:solidFill>
                  <a:srgbClr val="101214"/>
                </a:solidFill>
                <a:latin typeface="Hiragino Sans GB"/>
                <a:ea typeface="Hiragino Sans GB"/>
                <a:cs typeface="Hiragino Sans GB"/>
              </a:rPr>
              <a:t> token FLOPs ↓2.9×。</a:t>
            </a:r>
          </a:p>
        </p:txBody>
      </p:sp>
      <p:sp>
        <p:nvSpPr>
          <p:cNvPr id="25" name="直线连接符 24">
            <a:extLst>
              <a:ext uri="{FF2B5EF4-FFF2-40B4-BE49-F238E27FC236}">
                <a16:creationId xmlns:a16="http://schemas.microsoft.com/office/drawing/2014/main" id="{E0D57587-9311-4048-A4C0-AFE1B85CDE1F}"/>
              </a:ext>
            </a:extLst>
          </p:cNvPr>
          <p:cNvSpPr>
            <a:spLocks noGrp="1"/>
          </p:cNvSpPr>
          <p:nvPr/>
        </p:nvSpPr>
        <p:spPr>
          <a:xfrm>
            <a:off x="419100" y="6286500"/>
            <a:ext cx="11353800" cy="0"/>
          </a:xfrm>
          <a:prstGeom prst="line">
            <a:avLst/>
          </a:prstGeom>
          <a:noFill/>
          <a:ln w="9525">
            <a:solidFill>
              <a:srgbClr val="B8BCC4"/>
            </a:solidFill>
            <a:prstDash val="solid"/>
          </a:ln>
        </p:spPr>
      </p:sp>
      <p:sp>
        <p:nvSpPr>
          <p:cNvPr id="26" name="矩形 25">
            <a:extLst>
              <a:ext uri="{FF2B5EF4-FFF2-40B4-BE49-F238E27FC236}">
                <a16:creationId xmlns:a16="http://schemas.microsoft.com/office/drawing/2014/main" id="{840CCED2-E820-4C19-A0BF-AB7FD9DBDFA9}"/>
              </a:ext>
            </a:extLst>
          </p:cNvPr>
          <p:cNvSpPr>
            <a:spLocks noGrp="1"/>
          </p:cNvSpPr>
          <p:nvPr/>
        </p:nvSpPr>
        <p:spPr>
          <a:xfrm>
            <a:off x="419100" y="6362700"/>
            <a:ext cx="10763250" cy="219075"/>
          </a:xfrm>
          <a:prstGeom prst="rect">
            <a:avLst/>
          </a:prstGeom>
          <a:noFill/>
          <a:ln w="0">
            <a:noFill/>
            <a:prstDash val="solid"/>
          </a:ln>
        </p:spPr>
        <p:txBody>
          <a:bodyPr wrap="square" lIns="0" tIns="0" rIns="0" bIns="0" anchor="t">
            <a:noAutofit/>
          </a:bodyPr>
          <a:lstStyle/>
          <a:p>
            <a:pPr algn="l">
              <a:buNone/>
              <a:defRPr sz="788" b="0">
                <a:solidFill>
                  <a:srgbClr val="5E6470"/>
                </a:solidFill>
                <a:latin typeface="Helvetica Neue"/>
                <a:ea typeface="Helvetica Neue"/>
                <a:cs typeface="Helvetica Neue"/>
              </a:defRPr>
            </a:pPr>
            <a:r>
              <a:rPr sz="788" b="0">
                <a:solidFill>
                  <a:srgbClr val="5E6470"/>
                </a:solidFill>
                <a:latin typeface="Helvetica Neue"/>
                <a:ea typeface="Helvetica Neue"/>
                <a:cs typeface="Helvetica Neue"/>
              </a:rPr>
              <a:t>DeepSeek‑V3.2, arXiv:2512.02556 · IndexCache, arXiv:2603.12201 · 用户提供知乎分析</a:t>
            </a:r>
          </a:p>
        </p:txBody>
      </p:sp>
      <p:sp>
        <p:nvSpPr>
          <p:cNvPr id="27" name="矩形 26">
            <a:extLst>
              <a:ext uri="{FF2B5EF4-FFF2-40B4-BE49-F238E27FC236}">
                <a16:creationId xmlns:a16="http://schemas.microsoft.com/office/drawing/2014/main" id="{FC6C00D8-F868-4326-9EF9-81A914967935}"/>
              </a:ext>
            </a:extLst>
          </p:cNvPr>
          <p:cNvSpPr>
            <a:spLocks noGrp="1"/>
          </p:cNvSpPr>
          <p:nvPr/>
        </p:nvSpPr>
        <p:spPr>
          <a:xfrm>
            <a:off x="11334750" y="6362700"/>
            <a:ext cx="438150" cy="219075"/>
          </a:xfrm>
          <a:prstGeom prst="rect">
            <a:avLst/>
          </a:prstGeom>
          <a:noFill/>
          <a:ln w="0">
            <a:noFill/>
            <a:prstDash val="solid"/>
          </a:ln>
        </p:spPr>
        <p:txBody>
          <a:bodyPr wrap="square" lIns="0" tIns="0" rIns="0" bIns="0" anchor="t">
            <a:noAutofit/>
          </a:bodyPr>
          <a:lstStyle/>
          <a:p>
            <a:pPr algn="r">
              <a:buNone/>
              <a:defRPr sz="825" b="0">
                <a:solidFill>
                  <a:srgbClr val="5E6470"/>
                </a:solidFill>
                <a:latin typeface="Helvetica Neue"/>
                <a:ea typeface="Helvetica Neue"/>
                <a:cs typeface="Helvetica Neue"/>
              </a:defRPr>
            </a:pPr>
            <a:r>
              <a:rPr sz="825" b="0">
                <a:solidFill>
                  <a:srgbClr val="5E6470"/>
                </a:solidFill>
                <a:latin typeface="Helvetica Neue"/>
                <a:ea typeface="Helvetica Neue"/>
                <a:cs typeface="Helvetica Neue"/>
              </a:rPr>
              <a:t>34</a:t>
            </a:r>
          </a:p>
        </p:txBody>
      </p:sp>
      <p:pic>
        <p:nvPicPr>
          <p:cNvPr id="56" name="图片 55"/>
          <p:cNvPicPr>
            <a:picLocks noChangeAspect="1"/>
          </p:cNvPicPr>
          <p:nvPr/>
        </p:nvPicPr>
        <p:blipFill>
          <a:blip r:embed="rId3"/>
          <a:stretch/>
        </p:blipFill>
        <p:spPr>
          <a:xfrm>
            <a:off x="6697367" y="1276350"/>
            <a:ext cx="4759917" cy="3086100"/>
          </a:xfrm>
          <a:prstGeom prst="roundRect">
            <a:avLst/>
          </a:prstGeom>
        </p:spPr>
      </p:pic>
    </p:spTree>
    <p:extLst>
      <p:ext uri="{BB962C8B-B14F-4D97-AF65-F5344CB8AC3E}">
        <p14:creationId xmlns:p14="http://schemas.microsoft.com/office/powerpoint/2010/main" val="14251715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矩形 27">
            <a:extLst>
              <a:ext uri="{FF2B5EF4-FFF2-40B4-BE49-F238E27FC236}">
                <a16:creationId xmlns:a16="http://schemas.microsoft.com/office/drawing/2014/main" id="{24E80A63-289E-44B3-B240-1013082234A4}"/>
              </a:ext>
            </a:extLst>
          </p:cNvPr>
          <p:cNvSpPr>
            <a:spLocks noGrp="1"/>
          </p:cNvSpPr>
          <p:nvPr/>
        </p:nvSpPr>
        <p:spPr>
          <a:xfrm>
            <a:off x="419100" y="171450"/>
            <a:ext cx="2952750" cy="228600"/>
          </a:xfrm>
          <a:prstGeom prst="rect">
            <a:avLst/>
          </a:prstGeom>
          <a:noFill/>
          <a:ln w="0">
            <a:noFill/>
            <a:prstDash val="solid"/>
          </a:ln>
        </p:spPr>
        <p:txBody>
          <a:bodyPr wrap="square" lIns="0" tIns="0" rIns="0" bIns="0" anchor="t">
            <a:noAutofit/>
          </a:bodyPr>
          <a:lstStyle/>
          <a:p>
            <a:pPr algn="l">
              <a:buNone/>
              <a:defRPr sz="975" b="1">
                <a:solidFill>
                  <a:srgbClr val="5E6470"/>
                </a:solidFill>
                <a:latin typeface="Helvetica Neue"/>
                <a:ea typeface="Helvetica Neue"/>
                <a:cs typeface="Helvetica Neue"/>
              </a:defRPr>
            </a:pPr>
            <a:r>
              <a:rPr sz="975" b="1">
                <a:solidFill>
                  <a:srgbClr val="5E6470"/>
                </a:solidFill>
                <a:latin typeface="Helvetica Neue"/>
                <a:ea typeface="Helvetica Neue"/>
                <a:cs typeface="Helvetica Neue"/>
              </a:rPr>
              <a:t>III · GLM-5.2</a:t>
            </a:r>
          </a:p>
        </p:txBody>
      </p:sp>
      <p:sp>
        <p:nvSpPr>
          <p:cNvPr id="2" name="矩形 1">
            <a:extLst>
              <a:ext uri="{FF2B5EF4-FFF2-40B4-BE49-F238E27FC236}">
                <a16:creationId xmlns:a16="http://schemas.microsoft.com/office/drawing/2014/main" id="{7A8312B9-B470-46BD-8E44-E7D3A9C7A146}"/>
              </a:ext>
            </a:extLst>
          </p:cNvPr>
          <p:cNvSpPr>
            <a:spLocks noGrp="1"/>
          </p:cNvSpPr>
          <p:nvPr/>
        </p:nvSpPr>
        <p:spPr>
          <a:xfrm>
            <a:off x="419100" y="409575"/>
            <a:ext cx="11353800" cy="514350"/>
          </a:xfrm>
          <a:prstGeom prst="rect">
            <a:avLst/>
          </a:prstGeom>
          <a:noFill/>
          <a:ln w="0">
            <a:noFill/>
            <a:prstDash val="solid"/>
          </a:ln>
        </p:spPr>
        <p:txBody>
          <a:bodyPr wrap="square" lIns="0" tIns="0" rIns="0" bIns="0" anchor="t">
            <a:noAutofit/>
          </a:bodyPr>
          <a:lstStyle/>
          <a:p>
            <a:pPr algn="l">
              <a:buNone/>
              <a:defRPr sz="2850" b="1">
                <a:solidFill>
                  <a:srgbClr val="101214"/>
                </a:solidFill>
                <a:latin typeface="Hiragino Sans GB"/>
                <a:ea typeface="Hiragino Sans GB"/>
                <a:cs typeface="Hiragino Sans GB"/>
              </a:defRPr>
            </a:pPr>
            <a:r>
              <a:rPr sz="2850" b="1" dirty="0">
                <a:solidFill>
                  <a:srgbClr val="101214"/>
                </a:solidFill>
                <a:latin typeface="Hiragino Sans GB"/>
                <a:ea typeface="Hiragino Sans GB"/>
                <a:cs typeface="Hiragino Sans GB"/>
              </a:rPr>
              <a:t>GLM‑5.2：</a:t>
            </a:r>
            <a:r>
              <a:rPr lang="en-US" sz="2850" b="1" dirty="0">
                <a:solidFill>
                  <a:srgbClr val="101214"/>
                </a:solidFill>
                <a:latin typeface="Hiragino Sans GB"/>
                <a:ea typeface="Hiragino Sans GB"/>
                <a:cs typeface="Hiragino Sans GB"/>
              </a:rPr>
              <a:t>回归原教旨PPO</a:t>
            </a:r>
            <a:endParaRPr sz="2850" b="1" dirty="0">
              <a:solidFill>
                <a:srgbClr val="101214"/>
              </a:solidFill>
              <a:latin typeface="Hiragino Sans GB"/>
              <a:ea typeface="Hiragino Sans GB"/>
              <a:cs typeface="Hiragino Sans GB"/>
            </a:endParaRPr>
          </a:p>
        </p:txBody>
      </p:sp>
      <p:sp>
        <p:nvSpPr>
          <p:cNvPr id="3" name="圆角矩形 2">
            <a:extLst>
              <a:ext uri="{FF2B5EF4-FFF2-40B4-BE49-F238E27FC236}">
                <a16:creationId xmlns:a16="http://schemas.microsoft.com/office/drawing/2014/main" id="{0CFB6237-5960-47F7-B83B-A6F05D33149A}"/>
              </a:ext>
            </a:extLst>
          </p:cNvPr>
          <p:cNvSpPr>
            <a:spLocks noGrp="1"/>
          </p:cNvSpPr>
          <p:nvPr/>
        </p:nvSpPr>
        <p:spPr>
          <a:xfrm>
            <a:off x="419100" y="1257300"/>
            <a:ext cx="5810250" cy="2286000"/>
          </a:xfrm>
          <a:prstGeom prst="roundRect">
            <a:avLst>
              <a:gd name="adj" fmla="val 3333"/>
            </a:avLst>
          </a:prstGeom>
          <a:solidFill>
            <a:srgbClr val="F1F2F4"/>
          </a:solidFill>
          <a:ln w="0">
            <a:noFill/>
            <a:prstDash val="solid"/>
          </a:ln>
        </p:spPr>
      </p:sp>
      <p:sp>
        <p:nvSpPr>
          <p:cNvPr id="4" name="矩形 3">
            <a:extLst>
              <a:ext uri="{FF2B5EF4-FFF2-40B4-BE49-F238E27FC236}">
                <a16:creationId xmlns:a16="http://schemas.microsoft.com/office/drawing/2014/main" id="{7498845E-5B06-4FB7-AF2D-B800793131DE}"/>
              </a:ext>
            </a:extLst>
          </p:cNvPr>
          <p:cNvSpPr>
            <a:spLocks noGrp="1"/>
          </p:cNvSpPr>
          <p:nvPr/>
        </p:nvSpPr>
        <p:spPr>
          <a:xfrm>
            <a:off x="666750" y="1485900"/>
            <a:ext cx="5334000" cy="304800"/>
          </a:xfrm>
          <a:prstGeom prst="rect">
            <a:avLst/>
          </a:prstGeom>
          <a:noFill/>
          <a:ln w="0">
            <a:noFill/>
            <a:prstDash val="solid"/>
          </a:ln>
        </p:spPr>
        <p:txBody>
          <a:bodyPr wrap="square" lIns="0" tIns="0" rIns="0" bIns="0" anchor="t">
            <a:noAutofit/>
          </a:bodyPr>
          <a:lstStyle/>
          <a:p>
            <a:pPr algn="l">
              <a:buNone/>
              <a:defRPr sz="1800" b="1">
                <a:solidFill>
                  <a:srgbClr val="101214"/>
                </a:solidFill>
                <a:latin typeface="Helvetica Neue"/>
                <a:ea typeface="Helvetica Neue"/>
                <a:cs typeface="Helvetica Neue"/>
              </a:defRPr>
            </a:pPr>
            <a:r>
              <a:rPr sz="1800" b="1">
                <a:solidFill>
                  <a:srgbClr val="101214"/>
                </a:solidFill>
                <a:latin typeface="Helvetica Neue"/>
                <a:ea typeface="Helvetica Neue"/>
                <a:cs typeface="Helvetica Neue"/>
              </a:rPr>
              <a:t>1 · Group-wise 优势在变长 sub-trace 上失去对齐</a:t>
            </a:r>
          </a:p>
        </p:txBody>
      </p:sp>
      <p:sp>
        <p:nvSpPr>
          <p:cNvPr id="5" name="圆角矩形 4">
            <a:extLst>
              <a:ext uri="{FF2B5EF4-FFF2-40B4-BE49-F238E27FC236}">
                <a16:creationId xmlns:a16="http://schemas.microsoft.com/office/drawing/2014/main" id="{23584E6A-4CE5-45DE-B9E5-66758FCABB1F}"/>
              </a:ext>
            </a:extLst>
          </p:cNvPr>
          <p:cNvSpPr>
            <a:spLocks noGrp="1"/>
          </p:cNvSpPr>
          <p:nvPr/>
        </p:nvSpPr>
        <p:spPr>
          <a:xfrm>
            <a:off x="666750" y="2095500"/>
            <a:ext cx="1428750" cy="914400"/>
          </a:xfrm>
          <a:prstGeom prst="roundRect">
            <a:avLst>
              <a:gd name="adj" fmla="val 8333"/>
            </a:avLst>
          </a:prstGeom>
          <a:solidFill>
            <a:srgbClr val="FFFFFF"/>
          </a:solidFill>
          <a:ln w="0">
            <a:noFill/>
            <a:prstDash val="solid"/>
          </a:ln>
        </p:spPr>
      </p:sp>
      <p:sp>
        <p:nvSpPr>
          <p:cNvPr id="6" name="矩形 5">
            <a:extLst>
              <a:ext uri="{FF2B5EF4-FFF2-40B4-BE49-F238E27FC236}">
                <a16:creationId xmlns:a16="http://schemas.microsoft.com/office/drawing/2014/main" id="{5DE8FC52-67FE-4058-85EA-97A0619848CE}"/>
              </a:ext>
            </a:extLst>
          </p:cNvPr>
          <p:cNvSpPr>
            <a:spLocks noGrp="1"/>
          </p:cNvSpPr>
          <p:nvPr/>
        </p:nvSpPr>
        <p:spPr>
          <a:xfrm>
            <a:off x="800100" y="2209800"/>
            <a:ext cx="1162050" cy="400050"/>
          </a:xfrm>
          <a:prstGeom prst="rect">
            <a:avLst/>
          </a:prstGeom>
          <a:noFill/>
          <a:ln w="0">
            <a:noFill/>
            <a:prstDash val="solid"/>
          </a:ln>
        </p:spPr>
        <p:txBody>
          <a:bodyPr wrap="square" lIns="0" tIns="0" rIns="0" bIns="0" anchor="t">
            <a:noAutofit/>
          </a:bodyPr>
          <a:lstStyle/>
          <a:p>
            <a:pPr algn="l">
              <a:buNone/>
              <a:defRPr sz="1388" b="1">
                <a:solidFill>
                  <a:srgbClr val="101214"/>
                </a:solidFill>
                <a:latin typeface="Hiragino Sans GB"/>
                <a:ea typeface="Hiragino Sans GB"/>
                <a:cs typeface="Hiragino Sans GB"/>
              </a:defRPr>
            </a:pPr>
            <a:r>
              <a:rPr sz="1388" b="1">
                <a:solidFill>
                  <a:srgbClr val="101214"/>
                </a:solidFill>
                <a:latin typeface="Hiragino Sans GB"/>
                <a:ea typeface="Hiragino Sans GB"/>
                <a:cs typeface="Hiragino Sans GB"/>
              </a:rPr>
              <a:t>GRPO</a:t>
            </a:r>
          </a:p>
        </p:txBody>
      </p:sp>
      <p:sp>
        <p:nvSpPr>
          <p:cNvPr id="7" name="矩形 6">
            <a:extLst>
              <a:ext uri="{FF2B5EF4-FFF2-40B4-BE49-F238E27FC236}">
                <a16:creationId xmlns:a16="http://schemas.microsoft.com/office/drawing/2014/main" id="{07CE11F2-8ED4-4A4F-848C-98F0A2948722}"/>
              </a:ext>
            </a:extLst>
          </p:cNvPr>
          <p:cNvSpPr>
            <a:spLocks noGrp="1"/>
          </p:cNvSpPr>
          <p:nvPr/>
        </p:nvSpPr>
        <p:spPr>
          <a:xfrm>
            <a:off x="800100" y="2667000"/>
            <a:ext cx="1162050" cy="247650"/>
          </a:xfrm>
          <a:prstGeom prst="rect">
            <a:avLst/>
          </a:prstGeom>
          <a:noFill/>
          <a:ln w="0">
            <a:noFill/>
            <a:prstDash val="solid"/>
          </a:ln>
        </p:spPr>
        <p:txBody>
          <a:bodyPr wrap="square" lIns="0" tIns="0" rIns="0" bIns="0" anchor="t">
            <a:noAutofit/>
          </a:bodyPr>
          <a:lstStyle/>
          <a:p>
            <a:pPr algn="l">
              <a:buNone/>
              <a:defRPr sz="1073" b="0">
                <a:solidFill>
                  <a:srgbClr val="5E6470"/>
                </a:solidFill>
                <a:latin typeface="Hiragino Sans GB"/>
                <a:ea typeface="Hiragino Sans GB"/>
                <a:cs typeface="Hiragino Sans GB"/>
              </a:defRPr>
            </a:pPr>
            <a:r>
              <a:rPr sz="1073" b="0">
                <a:solidFill>
                  <a:srgbClr val="5E6470"/>
                </a:solidFill>
                <a:latin typeface="Hiragino Sans GB"/>
                <a:ea typeface="Hiragino Sans GB"/>
                <a:cs typeface="Hiragino Sans GB"/>
              </a:rPr>
              <a:t>G 条等价 rollout</a:t>
            </a:r>
          </a:p>
        </p:txBody>
      </p:sp>
      <p:sp>
        <p:nvSpPr>
          <p:cNvPr id="8" name="矩形 7">
            <a:extLst>
              <a:ext uri="{FF2B5EF4-FFF2-40B4-BE49-F238E27FC236}">
                <a16:creationId xmlns:a16="http://schemas.microsoft.com/office/drawing/2014/main" id="{4FD7BC1E-5111-42C7-AE50-3FF9E3F77832}"/>
              </a:ext>
            </a:extLst>
          </p:cNvPr>
          <p:cNvSpPr>
            <a:spLocks noGrp="1"/>
          </p:cNvSpPr>
          <p:nvPr/>
        </p:nvSpPr>
        <p:spPr>
          <a:xfrm>
            <a:off x="2133600" y="2343150"/>
            <a:ext cx="257175" cy="381000"/>
          </a:xfrm>
          <a:prstGeom prst="rect">
            <a:avLst/>
          </a:prstGeom>
          <a:noFill/>
          <a:ln w="0">
            <a:noFill/>
            <a:prstDash val="solid"/>
          </a:ln>
        </p:spPr>
        <p:txBody>
          <a:bodyPr wrap="square" lIns="0" tIns="0" rIns="0" bIns="0" anchor="ctr">
            <a:noAutofit/>
          </a:bodyPr>
          <a:lstStyle/>
          <a:p>
            <a:pPr algn="ctr">
              <a:buNone/>
              <a:defRPr sz="2250" b="0">
                <a:solidFill>
                  <a:srgbClr val="5E6470"/>
                </a:solidFill>
                <a:latin typeface="Helvetica Neue"/>
                <a:ea typeface="Helvetica Neue"/>
                <a:cs typeface="Helvetica Neue"/>
              </a:defRPr>
            </a:pPr>
            <a:r>
              <a:rPr sz="2250" b="0">
                <a:solidFill>
                  <a:srgbClr val="5E6470"/>
                </a:solidFill>
                <a:latin typeface="Helvetica Neue"/>
                <a:ea typeface="Helvetica Neue"/>
                <a:cs typeface="Helvetica Neue"/>
              </a:rPr>
              <a:t>→</a:t>
            </a:r>
          </a:p>
        </p:txBody>
      </p:sp>
      <p:sp>
        <p:nvSpPr>
          <p:cNvPr id="9" name="圆角矩形 8">
            <a:extLst>
              <a:ext uri="{FF2B5EF4-FFF2-40B4-BE49-F238E27FC236}">
                <a16:creationId xmlns:a16="http://schemas.microsoft.com/office/drawing/2014/main" id="{4CC2447B-2C36-46C8-A454-E4E313D11FA2}"/>
              </a:ext>
            </a:extLst>
          </p:cNvPr>
          <p:cNvSpPr>
            <a:spLocks noGrp="1"/>
          </p:cNvSpPr>
          <p:nvPr/>
        </p:nvSpPr>
        <p:spPr>
          <a:xfrm>
            <a:off x="2428875" y="2095500"/>
            <a:ext cx="1428750" cy="914400"/>
          </a:xfrm>
          <a:prstGeom prst="roundRect">
            <a:avLst>
              <a:gd name="adj" fmla="val 8333"/>
            </a:avLst>
          </a:prstGeom>
          <a:solidFill>
            <a:srgbClr val="FFFFFF"/>
          </a:solidFill>
          <a:ln w="0">
            <a:noFill/>
            <a:prstDash val="solid"/>
          </a:ln>
        </p:spPr>
      </p:sp>
      <p:sp>
        <p:nvSpPr>
          <p:cNvPr id="10" name="矩形 9">
            <a:extLst>
              <a:ext uri="{FF2B5EF4-FFF2-40B4-BE49-F238E27FC236}">
                <a16:creationId xmlns:a16="http://schemas.microsoft.com/office/drawing/2014/main" id="{70EA66E5-E09A-47BA-B5CC-9EA066FEF58B}"/>
              </a:ext>
            </a:extLst>
          </p:cNvPr>
          <p:cNvSpPr>
            <a:spLocks noGrp="1"/>
          </p:cNvSpPr>
          <p:nvPr/>
        </p:nvSpPr>
        <p:spPr>
          <a:xfrm>
            <a:off x="2562225" y="2209800"/>
            <a:ext cx="1162050" cy="400050"/>
          </a:xfrm>
          <a:prstGeom prst="rect">
            <a:avLst/>
          </a:prstGeom>
          <a:noFill/>
          <a:ln w="0">
            <a:noFill/>
            <a:prstDash val="solid"/>
          </a:ln>
        </p:spPr>
        <p:txBody>
          <a:bodyPr wrap="square" lIns="0" tIns="0" rIns="0" bIns="0" anchor="t">
            <a:noAutofit/>
          </a:bodyPr>
          <a:lstStyle/>
          <a:p>
            <a:pPr algn="l">
              <a:buNone/>
              <a:defRPr sz="1388" b="1">
                <a:solidFill>
                  <a:srgbClr val="101214"/>
                </a:solidFill>
                <a:latin typeface="Hiragino Sans GB"/>
                <a:ea typeface="Hiragino Sans GB"/>
                <a:cs typeface="Hiragino Sans GB"/>
              </a:defRPr>
            </a:pPr>
            <a:r>
              <a:rPr sz="1388" b="1">
                <a:solidFill>
                  <a:srgbClr val="101214"/>
                </a:solidFill>
                <a:latin typeface="Hiragino Sans GB"/>
                <a:ea typeface="Hiragino Sans GB"/>
                <a:cs typeface="Hiragino Sans GB"/>
              </a:rPr>
              <a:t>Compaction</a:t>
            </a:r>
          </a:p>
        </p:txBody>
      </p:sp>
      <p:sp>
        <p:nvSpPr>
          <p:cNvPr id="11" name="矩形 10">
            <a:extLst>
              <a:ext uri="{FF2B5EF4-FFF2-40B4-BE49-F238E27FC236}">
                <a16:creationId xmlns:a16="http://schemas.microsoft.com/office/drawing/2014/main" id="{177CCEFE-C604-4954-B44F-8616CBD13DAA}"/>
              </a:ext>
            </a:extLst>
          </p:cNvPr>
          <p:cNvSpPr>
            <a:spLocks noGrp="1"/>
          </p:cNvSpPr>
          <p:nvPr/>
        </p:nvSpPr>
        <p:spPr>
          <a:xfrm>
            <a:off x="2562225" y="2667000"/>
            <a:ext cx="1162050" cy="247650"/>
          </a:xfrm>
          <a:prstGeom prst="rect">
            <a:avLst/>
          </a:prstGeom>
          <a:noFill/>
          <a:ln w="0">
            <a:noFill/>
            <a:prstDash val="solid"/>
          </a:ln>
        </p:spPr>
        <p:txBody>
          <a:bodyPr wrap="square" lIns="0" tIns="0" rIns="0" bIns="0" anchor="t">
            <a:noAutofit/>
          </a:bodyPr>
          <a:lstStyle/>
          <a:p>
            <a:pPr algn="l">
              <a:buNone/>
              <a:defRPr sz="1005" b="0">
                <a:solidFill>
                  <a:srgbClr val="5E6470"/>
                </a:solidFill>
                <a:latin typeface="Hiragino Sans GB"/>
                <a:ea typeface="Hiragino Sans GB"/>
                <a:cs typeface="Hiragino Sans GB"/>
              </a:defRPr>
            </a:pPr>
            <a:r>
              <a:rPr sz="1005" b="0">
                <a:solidFill>
                  <a:srgbClr val="5E6470"/>
                </a:solidFill>
                <a:latin typeface="Hiragino Sans GB"/>
                <a:ea typeface="Hiragino Sans GB"/>
                <a:cs typeface="Hiragino Sans GB"/>
              </a:rPr>
              <a:t>τᵢ → {τᵢⱼ}ⱼ₌₁…mᵢ</a:t>
            </a:r>
          </a:p>
        </p:txBody>
      </p:sp>
      <p:sp>
        <p:nvSpPr>
          <p:cNvPr id="12" name="矩形 11">
            <a:extLst>
              <a:ext uri="{FF2B5EF4-FFF2-40B4-BE49-F238E27FC236}">
                <a16:creationId xmlns:a16="http://schemas.microsoft.com/office/drawing/2014/main" id="{07ADAE9B-4E21-4980-9148-87A79DB17557}"/>
              </a:ext>
            </a:extLst>
          </p:cNvPr>
          <p:cNvSpPr>
            <a:spLocks noGrp="1"/>
          </p:cNvSpPr>
          <p:nvPr/>
        </p:nvSpPr>
        <p:spPr>
          <a:xfrm>
            <a:off x="3895725" y="2343150"/>
            <a:ext cx="257175" cy="381000"/>
          </a:xfrm>
          <a:prstGeom prst="rect">
            <a:avLst/>
          </a:prstGeom>
          <a:noFill/>
          <a:ln w="0">
            <a:noFill/>
            <a:prstDash val="solid"/>
          </a:ln>
        </p:spPr>
        <p:txBody>
          <a:bodyPr wrap="square" lIns="0" tIns="0" rIns="0" bIns="0" anchor="ctr">
            <a:noAutofit/>
          </a:bodyPr>
          <a:lstStyle/>
          <a:p>
            <a:pPr algn="ctr">
              <a:buNone/>
              <a:defRPr sz="2250" b="0">
                <a:solidFill>
                  <a:srgbClr val="5E6470"/>
                </a:solidFill>
                <a:latin typeface="Helvetica Neue"/>
                <a:ea typeface="Helvetica Neue"/>
                <a:cs typeface="Helvetica Neue"/>
              </a:defRPr>
            </a:pPr>
            <a:r>
              <a:rPr sz="2250" b="0">
                <a:solidFill>
                  <a:srgbClr val="5E6470"/>
                </a:solidFill>
                <a:latin typeface="Helvetica Neue"/>
                <a:ea typeface="Helvetica Neue"/>
                <a:cs typeface="Helvetica Neue"/>
              </a:rPr>
              <a:t>→</a:t>
            </a:r>
          </a:p>
        </p:txBody>
      </p:sp>
      <p:sp>
        <p:nvSpPr>
          <p:cNvPr id="13" name="圆角矩形 12">
            <a:extLst>
              <a:ext uri="{FF2B5EF4-FFF2-40B4-BE49-F238E27FC236}">
                <a16:creationId xmlns:a16="http://schemas.microsoft.com/office/drawing/2014/main" id="{8AA1DE00-28AE-4048-8FFD-ED6F2FD89949}"/>
              </a:ext>
            </a:extLst>
          </p:cNvPr>
          <p:cNvSpPr>
            <a:spLocks noGrp="1"/>
          </p:cNvSpPr>
          <p:nvPr/>
        </p:nvSpPr>
        <p:spPr>
          <a:xfrm>
            <a:off x="4191000" y="2095500"/>
            <a:ext cx="1428750" cy="914400"/>
          </a:xfrm>
          <a:prstGeom prst="roundRect">
            <a:avLst>
              <a:gd name="adj" fmla="val 8333"/>
            </a:avLst>
          </a:prstGeom>
          <a:solidFill>
            <a:srgbClr val="EAF5FB"/>
          </a:solidFill>
          <a:ln w="0">
            <a:noFill/>
            <a:prstDash val="solid"/>
          </a:ln>
        </p:spPr>
      </p:sp>
      <p:sp>
        <p:nvSpPr>
          <p:cNvPr id="14" name="矩形 13">
            <a:extLst>
              <a:ext uri="{FF2B5EF4-FFF2-40B4-BE49-F238E27FC236}">
                <a16:creationId xmlns:a16="http://schemas.microsoft.com/office/drawing/2014/main" id="{CB3D159C-496E-4551-9CC6-6ACEF50C515F}"/>
              </a:ext>
            </a:extLst>
          </p:cNvPr>
          <p:cNvSpPr>
            <a:spLocks noGrp="1"/>
          </p:cNvSpPr>
          <p:nvPr/>
        </p:nvSpPr>
        <p:spPr>
          <a:xfrm>
            <a:off x="4324350" y="2209800"/>
            <a:ext cx="1162050" cy="400050"/>
          </a:xfrm>
          <a:prstGeom prst="rect">
            <a:avLst/>
          </a:prstGeom>
          <a:noFill/>
          <a:ln w="0">
            <a:noFill/>
            <a:prstDash val="solid"/>
          </a:ln>
        </p:spPr>
        <p:txBody>
          <a:bodyPr wrap="square" lIns="0" tIns="0" rIns="0" bIns="0" anchor="t">
            <a:noAutofit/>
          </a:bodyPr>
          <a:lstStyle/>
          <a:p>
            <a:pPr algn="l">
              <a:buNone/>
              <a:defRPr sz="1388" b="1">
                <a:solidFill>
                  <a:srgbClr val="2787F5"/>
                </a:solidFill>
                <a:latin typeface="Hiragino Sans GB"/>
                <a:ea typeface="Hiragino Sans GB"/>
                <a:cs typeface="Hiragino Sans GB"/>
              </a:defRPr>
            </a:pPr>
            <a:r>
              <a:rPr sz="1388" b="1">
                <a:solidFill>
                  <a:srgbClr val="2787F5"/>
                </a:solidFill>
                <a:latin typeface="Hiragino Sans GB"/>
                <a:ea typeface="Hiragino Sans GB"/>
                <a:cs typeface="Hiragino Sans GB"/>
              </a:rPr>
              <a:t>Critic PPO</a:t>
            </a:r>
          </a:p>
        </p:txBody>
      </p:sp>
      <p:sp>
        <p:nvSpPr>
          <p:cNvPr id="15" name="矩形 14">
            <a:extLst>
              <a:ext uri="{FF2B5EF4-FFF2-40B4-BE49-F238E27FC236}">
                <a16:creationId xmlns:a16="http://schemas.microsoft.com/office/drawing/2014/main" id="{23B21722-883B-498B-AA05-B4A9C20557EC}"/>
              </a:ext>
            </a:extLst>
          </p:cNvPr>
          <p:cNvSpPr>
            <a:spLocks noGrp="1"/>
          </p:cNvSpPr>
          <p:nvPr/>
        </p:nvSpPr>
        <p:spPr>
          <a:xfrm>
            <a:off x="4324350" y="2667000"/>
            <a:ext cx="1162050" cy="247650"/>
          </a:xfrm>
          <a:prstGeom prst="rect">
            <a:avLst/>
          </a:prstGeom>
          <a:noFill/>
          <a:ln w="0">
            <a:noFill/>
            <a:prstDash val="solid"/>
          </a:ln>
        </p:spPr>
        <p:txBody>
          <a:bodyPr wrap="square" lIns="0" tIns="0" rIns="0" bIns="0" anchor="t">
            <a:noAutofit/>
          </a:bodyPr>
          <a:lstStyle/>
          <a:p>
            <a:pPr algn="l">
              <a:buNone/>
              <a:defRPr sz="1035" b="0">
                <a:solidFill>
                  <a:srgbClr val="5E6470"/>
                </a:solidFill>
                <a:latin typeface="Hiragino Sans GB"/>
                <a:ea typeface="Hiragino Sans GB"/>
                <a:cs typeface="Hiragino Sans GB"/>
              </a:defRPr>
            </a:pPr>
            <a:r>
              <a:rPr sz="1035" b="0">
                <a:solidFill>
                  <a:srgbClr val="5E6470"/>
                </a:solidFill>
                <a:latin typeface="Hiragino Sans GB"/>
                <a:ea typeface="Hiragino Sans GB"/>
                <a:cs typeface="Hiragino Sans GB"/>
              </a:rPr>
              <a:t>token-level Âᵢⱼₜ</a:t>
            </a:r>
          </a:p>
        </p:txBody>
      </p:sp>
      <p:sp>
        <p:nvSpPr>
          <p:cNvPr id="16" name="矩形 15">
            <a:extLst>
              <a:ext uri="{FF2B5EF4-FFF2-40B4-BE49-F238E27FC236}">
                <a16:creationId xmlns:a16="http://schemas.microsoft.com/office/drawing/2014/main" id="{FCE5E0B4-8B87-4E87-981D-80E065173A18}"/>
              </a:ext>
            </a:extLst>
          </p:cNvPr>
          <p:cNvSpPr>
            <a:spLocks noGrp="1"/>
          </p:cNvSpPr>
          <p:nvPr/>
        </p:nvSpPr>
        <p:spPr>
          <a:xfrm>
            <a:off x="666750" y="2990850"/>
            <a:ext cx="5286375" cy="552450"/>
          </a:xfrm>
          <a:prstGeom prst="rect">
            <a:avLst/>
          </a:prstGeom>
          <a:noFill/>
          <a:ln w="0">
            <a:noFill/>
            <a:prstDash val="solid"/>
          </a:ln>
        </p:spPr>
        <p:txBody>
          <a:bodyPr wrap="square" lIns="0" tIns="0" rIns="0" bIns="0" anchor="ctr">
            <a:noAutofit/>
          </a:bodyPr>
          <a:lstStyle/>
          <a:p>
            <a:pPr algn="l">
              <a:buNone/>
              <a:defRPr sz="1110" b="0">
                <a:solidFill>
                  <a:srgbClr val="5E6470"/>
                </a:solidFill>
                <a:latin typeface="Hiragino Sans GB"/>
                <a:ea typeface="Hiragino Sans GB"/>
                <a:cs typeface="Hiragino Sans GB"/>
              </a:defRPr>
            </a:pPr>
            <a:r>
              <a:rPr sz="1110" b="0">
                <a:solidFill>
                  <a:srgbClr val="5E6470"/>
                </a:solidFill>
                <a:latin typeface="Hiragino Sans GB"/>
                <a:ea typeface="Hiragino Sans GB"/>
                <a:cs typeface="Hiragino Sans GB"/>
              </a:rPr>
              <a:t>GRPO：Aᵢ=(Rᵢ−mean R)/std R。compaction 后 mᵢ、Tᵢⱼ 均不同，组内归一化与 sequence-level credit 不再自然。</a:t>
            </a:r>
          </a:p>
        </p:txBody>
      </p:sp>
      <p:sp>
        <p:nvSpPr>
          <p:cNvPr id="17" name="圆角矩形 16">
            <a:extLst>
              <a:ext uri="{FF2B5EF4-FFF2-40B4-BE49-F238E27FC236}">
                <a16:creationId xmlns:a16="http://schemas.microsoft.com/office/drawing/2014/main" id="{9E168D73-5BB1-4905-8D03-DE45920D70B9}"/>
              </a:ext>
            </a:extLst>
          </p:cNvPr>
          <p:cNvSpPr>
            <a:spLocks noGrp="1"/>
          </p:cNvSpPr>
          <p:nvPr/>
        </p:nvSpPr>
        <p:spPr>
          <a:xfrm>
            <a:off x="419100" y="3714750"/>
            <a:ext cx="5810250" cy="2095500"/>
          </a:xfrm>
          <a:prstGeom prst="roundRect">
            <a:avLst>
              <a:gd name="adj" fmla="val 3636"/>
            </a:avLst>
          </a:prstGeom>
          <a:solidFill>
            <a:srgbClr val="EAF5FB"/>
          </a:solidFill>
          <a:ln w="0">
            <a:noFill/>
            <a:prstDash val="solid"/>
          </a:ln>
        </p:spPr>
      </p:sp>
      <p:sp>
        <p:nvSpPr>
          <p:cNvPr id="18" name="矩形 17">
            <a:extLst>
              <a:ext uri="{FF2B5EF4-FFF2-40B4-BE49-F238E27FC236}">
                <a16:creationId xmlns:a16="http://schemas.microsoft.com/office/drawing/2014/main" id="{AB1BD664-940F-41D4-9039-FFA13F0069B6}"/>
              </a:ext>
            </a:extLst>
          </p:cNvPr>
          <p:cNvSpPr>
            <a:spLocks noGrp="1"/>
          </p:cNvSpPr>
          <p:nvPr/>
        </p:nvSpPr>
        <p:spPr>
          <a:xfrm>
            <a:off x="666750" y="3943350"/>
            <a:ext cx="2571750" cy="285750"/>
          </a:xfrm>
          <a:prstGeom prst="rect">
            <a:avLst/>
          </a:prstGeom>
          <a:noFill/>
          <a:ln w="0">
            <a:noFill/>
            <a:prstDash val="solid"/>
          </a:ln>
        </p:spPr>
        <p:txBody>
          <a:bodyPr wrap="square" lIns="0" tIns="0" rIns="0" bIns="0" anchor="t">
            <a:noAutofit/>
          </a:bodyPr>
          <a:lstStyle/>
          <a:p>
            <a:pPr algn="l">
              <a:buNone/>
              <a:defRPr sz="1725" b="1">
                <a:solidFill>
                  <a:srgbClr val="2787F5"/>
                </a:solidFill>
                <a:latin typeface="Helvetica Neue"/>
                <a:ea typeface="Helvetica Neue"/>
                <a:cs typeface="Helvetica Neue"/>
              </a:defRPr>
            </a:pPr>
            <a:r>
              <a:rPr sz="1725" b="1">
                <a:solidFill>
                  <a:srgbClr val="2787F5"/>
                </a:solidFill>
                <a:latin typeface="Helvetica Neue"/>
                <a:ea typeface="Helvetica Neue"/>
                <a:cs typeface="Helvetica Neue"/>
              </a:rPr>
              <a:t>2 · Critic PPO + GAE</a:t>
            </a:r>
          </a:p>
        </p:txBody>
      </p:sp>
      <p:sp>
        <p:nvSpPr>
          <p:cNvPr id="19" name="矩形 18">
            <a:extLst>
              <a:ext uri="{FF2B5EF4-FFF2-40B4-BE49-F238E27FC236}">
                <a16:creationId xmlns:a16="http://schemas.microsoft.com/office/drawing/2014/main" id="{2CBF3D06-3169-4D0F-A6ED-AC923617A6AD}"/>
              </a:ext>
            </a:extLst>
          </p:cNvPr>
          <p:cNvSpPr>
            <a:spLocks noGrp="1"/>
          </p:cNvSpPr>
          <p:nvPr/>
        </p:nvSpPr>
        <p:spPr>
          <a:xfrm>
            <a:off x="666750" y="4324350"/>
            <a:ext cx="5238750" cy="1257300"/>
          </a:xfrm>
          <a:prstGeom prst="rect">
            <a:avLst/>
          </a:prstGeom>
          <a:noFill/>
          <a:ln w="0">
            <a:noFill/>
            <a:prstDash val="solid"/>
          </a:ln>
        </p:spPr>
        <p:txBody>
          <a:bodyPr wrap="square" lIns="0" tIns="0" rIns="0" bIns="0" anchor="t">
            <a:noAutofit/>
          </a:bodyPr>
          <a:lstStyle/>
          <a:p>
            <a:pPr marL="22" indent="-12" algn="l">
              <a:lnSpc>
                <a:spcPct val="95000"/>
              </a:lnSpc>
              <a:spcAft>
                <a:spcPts val="8"/>
              </a:spcAft>
              <a:buNone/>
              <a:defRPr sz="1095" b="0">
                <a:solidFill>
                  <a:srgbClr val="101214"/>
                </a:solidFill>
                <a:latin typeface="Hiragino Sans GB"/>
                <a:ea typeface="Hiragino Sans GB"/>
                <a:cs typeface="Hiragino Sans GB"/>
              </a:defRPr>
            </a:pPr>
            <a:r>
              <a:rPr sz="1400" b="0" dirty="0" err="1">
                <a:solidFill>
                  <a:srgbClr val="101214"/>
                </a:solidFill>
                <a:latin typeface="Hiragino Sans GB"/>
                <a:ea typeface="Hiragino Sans GB"/>
                <a:cs typeface="Hiragino Sans GB"/>
              </a:rPr>
              <a:t>δ</a:t>
            </a:r>
            <a:r>
              <a:rPr sz="1400" b="0" dirty="0">
                <a:solidFill>
                  <a:srgbClr val="101214"/>
                </a:solidFill>
                <a:latin typeface="Hiragino Sans GB"/>
                <a:ea typeface="Hiragino Sans GB"/>
                <a:cs typeface="Hiragino Sans GB"/>
              </a:rPr>
              <a:t>ₜ=rₜ+</a:t>
            </a:r>
            <a:r>
              <a:rPr sz="1400" b="0" dirty="0" err="1">
                <a:solidFill>
                  <a:srgbClr val="101214"/>
                </a:solidFill>
                <a:latin typeface="Hiragino Sans GB"/>
                <a:ea typeface="Hiragino Sans GB"/>
                <a:cs typeface="Hiragino Sans GB"/>
              </a:rPr>
              <a:t>γV</a:t>
            </a:r>
            <a:r>
              <a:rPr sz="1400" b="0" dirty="0">
                <a:solidFill>
                  <a:srgbClr val="101214"/>
                </a:solidFill>
                <a:latin typeface="Hiragino Sans GB"/>
                <a:ea typeface="Hiragino Sans GB"/>
                <a:cs typeface="Hiragino Sans GB"/>
              </a:rPr>
              <a:t>(sₜ₊₁)−V(sₜ), </a:t>
            </a:r>
            <a:r>
              <a:rPr sz="1400" b="0" dirty="0" err="1">
                <a:solidFill>
                  <a:srgbClr val="101214"/>
                </a:solidFill>
                <a:latin typeface="Hiragino Sans GB"/>
                <a:ea typeface="Hiragino Sans GB"/>
                <a:cs typeface="Hiragino Sans GB"/>
              </a:rPr>
              <a:t>Â</a:t>
            </a:r>
            <a:r>
              <a:rPr sz="1400" b="0" dirty="0">
                <a:solidFill>
                  <a:srgbClr val="101214"/>
                </a:solidFill>
                <a:latin typeface="Hiragino Sans GB"/>
                <a:ea typeface="Hiragino Sans GB"/>
                <a:cs typeface="Hiragino Sans GB"/>
              </a:rPr>
              <a:t>ₜ=GAE(</a:t>
            </a:r>
            <a:r>
              <a:rPr sz="1400" b="0" dirty="0" err="1">
                <a:solidFill>
                  <a:srgbClr val="101214"/>
                </a:solidFill>
                <a:latin typeface="Hiragino Sans GB"/>
                <a:ea typeface="Hiragino Sans GB"/>
                <a:cs typeface="Hiragino Sans GB"/>
              </a:rPr>
              <a:t>δ</a:t>
            </a:r>
            <a:r>
              <a:rPr sz="1400" b="0" dirty="0">
                <a:solidFill>
                  <a:srgbClr val="101214"/>
                </a:solidFill>
                <a:latin typeface="Hiragino Sans GB"/>
                <a:ea typeface="Hiragino Sans GB"/>
                <a:cs typeface="Hiragino Sans GB"/>
              </a:rPr>
              <a:t>ₜ)</a:t>
            </a:r>
            <a:endParaRPr lang="en-US" sz="1400" b="0" dirty="0">
              <a:solidFill>
                <a:srgbClr val="101214"/>
              </a:solidFill>
              <a:latin typeface="Hiragino Sans GB"/>
              <a:ea typeface="Hiragino Sans GB"/>
              <a:cs typeface="Hiragino Sans GB"/>
            </a:endParaRPr>
          </a:p>
          <a:p>
            <a:pPr marL="22" indent="-12" algn="l">
              <a:lnSpc>
                <a:spcPct val="95000"/>
              </a:lnSpc>
              <a:spcAft>
                <a:spcPts val="8"/>
              </a:spcAft>
              <a:buNone/>
              <a:defRPr sz="1095" b="0">
                <a:solidFill>
                  <a:srgbClr val="101214"/>
                </a:solidFill>
                <a:latin typeface="Hiragino Sans GB"/>
                <a:ea typeface="Hiragino Sans GB"/>
                <a:cs typeface="Hiragino Sans GB"/>
              </a:defRPr>
            </a:pPr>
            <a:endParaRPr sz="1400" b="0" dirty="0">
              <a:solidFill>
                <a:srgbClr val="101214"/>
              </a:solidFill>
              <a:latin typeface="Hiragino Sans GB"/>
              <a:ea typeface="Hiragino Sans GB"/>
              <a:cs typeface="Hiragino Sans GB"/>
            </a:endParaRPr>
          </a:p>
          <a:p>
            <a:pPr marL="22" indent="-12" algn="l">
              <a:lnSpc>
                <a:spcPct val="95000"/>
              </a:lnSpc>
              <a:spcAft>
                <a:spcPts val="8"/>
              </a:spcAft>
              <a:buNone/>
              <a:defRPr sz="1095" b="0">
                <a:solidFill>
                  <a:srgbClr val="101214"/>
                </a:solidFill>
                <a:latin typeface="Hiragino Sans GB"/>
                <a:ea typeface="Hiragino Sans GB"/>
                <a:cs typeface="Hiragino Sans GB"/>
              </a:defRPr>
            </a:pPr>
            <a:r>
              <a:rPr sz="1400" b="0" dirty="0" err="1">
                <a:solidFill>
                  <a:srgbClr val="101214"/>
                </a:solidFill>
                <a:latin typeface="Hiragino Sans GB"/>
                <a:ea typeface="Hiragino Sans GB"/>
                <a:cs typeface="Hiragino Sans GB"/>
              </a:rPr>
              <a:t>Lclip</a:t>
            </a:r>
            <a:r>
              <a:rPr sz="1400" b="0" dirty="0">
                <a:solidFill>
                  <a:srgbClr val="101214"/>
                </a:solidFill>
                <a:latin typeface="Hiragino Sans GB"/>
                <a:ea typeface="Hiragino Sans GB"/>
                <a:cs typeface="Hiragino Sans GB"/>
              </a:rPr>
              <a:t>=−(1/ΣT)</a:t>
            </a:r>
            <a:r>
              <a:rPr sz="1400" b="0" dirty="0" err="1">
                <a:solidFill>
                  <a:srgbClr val="101214"/>
                </a:solidFill>
                <a:latin typeface="Hiragino Sans GB"/>
                <a:ea typeface="Hiragino Sans GB"/>
                <a:cs typeface="Hiragino Sans GB"/>
              </a:rPr>
              <a:t>Σ</a:t>
            </a:r>
            <a:r>
              <a:rPr sz="1400" b="0" dirty="0">
                <a:solidFill>
                  <a:srgbClr val="101214"/>
                </a:solidFill>
                <a:latin typeface="Hiragino Sans GB"/>
                <a:ea typeface="Hiragino Sans GB"/>
                <a:cs typeface="Hiragino Sans GB"/>
              </a:rPr>
              <a:t> min(</a:t>
            </a:r>
            <a:r>
              <a:rPr sz="1400" b="0" dirty="0" err="1">
                <a:solidFill>
                  <a:srgbClr val="101214"/>
                </a:solidFill>
                <a:latin typeface="Hiragino Sans GB"/>
                <a:ea typeface="Hiragino Sans GB"/>
                <a:cs typeface="Hiragino Sans GB"/>
              </a:rPr>
              <a:t>ρₜÂ</a:t>
            </a:r>
            <a:r>
              <a:rPr sz="1400" b="0" dirty="0">
                <a:solidFill>
                  <a:srgbClr val="101214"/>
                </a:solidFill>
                <a:latin typeface="Hiragino Sans GB"/>
                <a:ea typeface="Hiragino Sans GB"/>
                <a:cs typeface="Hiragino Sans GB"/>
              </a:rPr>
              <a:t>ₜ,clip(ρₜ,1±ε)</a:t>
            </a:r>
            <a:r>
              <a:rPr sz="1400" b="0" dirty="0" err="1">
                <a:solidFill>
                  <a:srgbClr val="101214"/>
                </a:solidFill>
                <a:latin typeface="Hiragino Sans GB"/>
                <a:ea typeface="Hiragino Sans GB"/>
                <a:cs typeface="Hiragino Sans GB"/>
              </a:rPr>
              <a:t>Â</a:t>
            </a:r>
            <a:r>
              <a:rPr sz="1400" b="0" dirty="0">
                <a:solidFill>
                  <a:srgbClr val="101214"/>
                </a:solidFill>
                <a:latin typeface="Hiragino Sans GB"/>
                <a:ea typeface="Hiragino Sans GB"/>
                <a:cs typeface="Hiragino Sans GB"/>
              </a:rPr>
              <a:t>ₜ)</a:t>
            </a:r>
            <a:endParaRPr lang="en-US" sz="1400" b="0" dirty="0">
              <a:solidFill>
                <a:srgbClr val="101214"/>
              </a:solidFill>
              <a:latin typeface="Hiragino Sans GB"/>
              <a:ea typeface="Hiragino Sans GB"/>
              <a:cs typeface="Hiragino Sans GB"/>
            </a:endParaRPr>
          </a:p>
          <a:p>
            <a:pPr marL="22" indent="-12" algn="l">
              <a:lnSpc>
                <a:spcPct val="95000"/>
              </a:lnSpc>
              <a:spcAft>
                <a:spcPts val="8"/>
              </a:spcAft>
              <a:buNone/>
              <a:defRPr sz="1095" b="0">
                <a:solidFill>
                  <a:srgbClr val="101214"/>
                </a:solidFill>
                <a:latin typeface="Hiragino Sans GB"/>
                <a:ea typeface="Hiragino Sans GB"/>
                <a:cs typeface="Hiragino Sans GB"/>
              </a:defRPr>
            </a:pPr>
            <a:endParaRPr sz="1400" b="0" dirty="0">
              <a:solidFill>
                <a:srgbClr val="101214"/>
              </a:solidFill>
              <a:latin typeface="Hiragino Sans GB"/>
              <a:ea typeface="Hiragino Sans GB"/>
              <a:cs typeface="Hiragino Sans GB"/>
            </a:endParaRPr>
          </a:p>
          <a:p>
            <a:pPr marL="22" indent="-12" algn="l">
              <a:lnSpc>
                <a:spcPct val="95000"/>
              </a:lnSpc>
              <a:spcAft>
                <a:spcPts val="8"/>
              </a:spcAft>
              <a:buNone/>
              <a:defRPr sz="1095" b="0">
                <a:solidFill>
                  <a:srgbClr val="101214"/>
                </a:solidFill>
                <a:latin typeface="Hiragino Sans GB"/>
                <a:ea typeface="Hiragino Sans GB"/>
                <a:cs typeface="Hiragino Sans GB"/>
              </a:defRPr>
            </a:pPr>
            <a:r>
              <a:rPr sz="1400" b="0" dirty="0" err="1">
                <a:solidFill>
                  <a:srgbClr val="101214"/>
                </a:solidFill>
                <a:latin typeface="Hiragino Sans GB"/>
                <a:ea typeface="Hiragino Sans GB"/>
                <a:cs typeface="Hiragino Sans GB"/>
              </a:rPr>
              <a:t>全量</a:t>
            </a:r>
            <a:r>
              <a:rPr sz="1400" b="0" dirty="0">
                <a:solidFill>
                  <a:srgbClr val="101214"/>
                </a:solidFill>
                <a:latin typeface="Hiragino Sans GB"/>
                <a:ea typeface="Hiragino Sans GB"/>
                <a:cs typeface="Hiragino Sans GB"/>
              </a:rPr>
              <a:t> sub-traces + token </a:t>
            </a:r>
            <a:r>
              <a:rPr sz="1400" b="0" dirty="0" err="1">
                <a:solidFill>
                  <a:srgbClr val="101214"/>
                </a:solidFill>
                <a:latin typeface="Hiragino Sans GB"/>
                <a:ea typeface="Hiragino Sans GB"/>
                <a:cs typeface="Hiragino Sans GB"/>
              </a:rPr>
              <a:t>归一化，避免长轨迹支配梯度</a:t>
            </a:r>
            <a:r>
              <a:rPr sz="1400" b="0" dirty="0">
                <a:solidFill>
                  <a:srgbClr val="101214"/>
                </a:solidFill>
                <a:latin typeface="Hiragino Sans GB"/>
                <a:ea typeface="Hiragino Sans GB"/>
                <a:cs typeface="Hiragino Sans GB"/>
              </a:rPr>
              <a:t>。</a:t>
            </a:r>
          </a:p>
        </p:txBody>
      </p:sp>
      <p:sp>
        <p:nvSpPr>
          <p:cNvPr id="20" name="圆角矩形 19">
            <a:extLst>
              <a:ext uri="{FF2B5EF4-FFF2-40B4-BE49-F238E27FC236}">
                <a16:creationId xmlns:a16="http://schemas.microsoft.com/office/drawing/2014/main" id="{C165FF84-E182-44BF-89B0-E7D5EFDB7BBE}"/>
              </a:ext>
            </a:extLst>
          </p:cNvPr>
          <p:cNvSpPr>
            <a:spLocks noGrp="1"/>
          </p:cNvSpPr>
          <p:nvPr/>
        </p:nvSpPr>
        <p:spPr>
          <a:xfrm>
            <a:off x="6381750" y="1238250"/>
            <a:ext cx="5391150" cy="3162300"/>
          </a:xfrm>
          <a:prstGeom prst="roundRect">
            <a:avLst>
              <a:gd name="adj" fmla="val 2410"/>
            </a:avLst>
          </a:prstGeom>
          <a:solidFill>
            <a:srgbClr val="F1F2F4"/>
          </a:solidFill>
          <a:ln w="9525">
            <a:solidFill>
              <a:srgbClr val="B8BCC4"/>
            </a:solidFill>
            <a:prstDash val="solid"/>
          </a:ln>
        </p:spPr>
      </p:sp>
      <p:sp>
        <p:nvSpPr>
          <p:cNvPr id="22" name="圆角矩形 21">
            <a:extLst>
              <a:ext uri="{FF2B5EF4-FFF2-40B4-BE49-F238E27FC236}">
                <a16:creationId xmlns:a16="http://schemas.microsoft.com/office/drawing/2014/main" id="{C056410F-79C6-4215-B810-CA319AB492F2}"/>
              </a:ext>
            </a:extLst>
          </p:cNvPr>
          <p:cNvSpPr>
            <a:spLocks noGrp="1"/>
          </p:cNvSpPr>
          <p:nvPr/>
        </p:nvSpPr>
        <p:spPr>
          <a:xfrm>
            <a:off x="6381750" y="4591050"/>
            <a:ext cx="5391150" cy="1219200"/>
          </a:xfrm>
          <a:prstGeom prst="roundRect">
            <a:avLst>
              <a:gd name="adj" fmla="val 6250"/>
            </a:avLst>
          </a:prstGeom>
          <a:solidFill>
            <a:srgbClr val="FFF4DE"/>
          </a:solidFill>
          <a:ln w="0">
            <a:noFill/>
            <a:prstDash val="solid"/>
          </a:ln>
        </p:spPr>
      </p:sp>
      <p:sp>
        <p:nvSpPr>
          <p:cNvPr id="23" name="矩形 22">
            <a:extLst>
              <a:ext uri="{FF2B5EF4-FFF2-40B4-BE49-F238E27FC236}">
                <a16:creationId xmlns:a16="http://schemas.microsoft.com/office/drawing/2014/main" id="{DACC5557-DDEA-435E-B6A4-9AA00E9F30B7}"/>
              </a:ext>
            </a:extLst>
          </p:cNvPr>
          <p:cNvSpPr>
            <a:spLocks noGrp="1"/>
          </p:cNvSpPr>
          <p:nvPr/>
        </p:nvSpPr>
        <p:spPr>
          <a:xfrm>
            <a:off x="6629400" y="4762500"/>
            <a:ext cx="4572000" cy="285750"/>
          </a:xfrm>
          <a:prstGeom prst="rect">
            <a:avLst/>
          </a:prstGeom>
          <a:noFill/>
          <a:ln w="0">
            <a:noFill/>
            <a:prstDash val="solid"/>
          </a:ln>
        </p:spPr>
        <p:txBody>
          <a:bodyPr wrap="square" lIns="0" tIns="0" rIns="0" bIns="0" anchor="t">
            <a:noAutofit/>
          </a:bodyPr>
          <a:lstStyle/>
          <a:p>
            <a:pPr algn="l">
              <a:buNone/>
              <a:defRPr sz="1538" b="1">
                <a:solidFill>
                  <a:srgbClr val="F59E0B"/>
                </a:solidFill>
                <a:latin typeface="Helvetica Neue"/>
                <a:ea typeface="Helvetica Neue"/>
                <a:cs typeface="Helvetica Neue"/>
              </a:defRPr>
            </a:pPr>
            <a:r>
              <a:rPr sz="1538" b="1">
                <a:solidFill>
                  <a:srgbClr val="F59E0B"/>
                </a:solidFill>
                <a:latin typeface="Helvetica Neue"/>
                <a:ea typeface="Helvetica Neue"/>
                <a:cs typeface="Helvetica Neue"/>
              </a:rPr>
              <a:t>3 · OPD：在学生自己的 rollout 上合并专家</a:t>
            </a:r>
          </a:p>
        </p:txBody>
      </p:sp>
      <p:sp>
        <p:nvSpPr>
          <p:cNvPr id="24" name="矩形 23">
            <a:extLst>
              <a:ext uri="{FF2B5EF4-FFF2-40B4-BE49-F238E27FC236}">
                <a16:creationId xmlns:a16="http://schemas.microsoft.com/office/drawing/2014/main" id="{FD7F6765-F8C5-4C69-8BF4-BC81D8E58B8C}"/>
              </a:ext>
            </a:extLst>
          </p:cNvPr>
          <p:cNvSpPr>
            <a:spLocks noGrp="1"/>
          </p:cNvSpPr>
          <p:nvPr/>
        </p:nvSpPr>
        <p:spPr>
          <a:xfrm>
            <a:off x="6629400" y="5086350"/>
            <a:ext cx="4857750" cy="685800"/>
          </a:xfrm>
          <a:prstGeom prst="rect">
            <a:avLst/>
          </a:prstGeom>
          <a:noFill/>
          <a:ln w="0">
            <a:noFill/>
            <a:prstDash val="solid"/>
          </a:ln>
        </p:spPr>
        <p:txBody>
          <a:bodyPr wrap="square" lIns="0" tIns="0" rIns="0" bIns="0" anchor="t">
            <a:noAutofit/>
          </a:bodyPr>
          <a:lstStyle/>
          <a:p>
            <a:pPr algn="l">
              <a:lnSpc>
                <a:spcPct val="94000"/>
              </a:lnSpc>
              <a:buNone/>
              <a:defRPr sz="1050" b="0">
                <a:solidFill>
                  <a:srgbClr val="101214"/>
                </a:solidFill>
                <a:latin typeface="Hiragino Sans GB"/>
                <a:ea typeface="Hiragino Sans GB"/>
                <a:cs typeface="Hiragino Sans GB"/>
              </a:defRPr>
            </a:pPr>
            <a:r>
              <a:rPr sz="1200" b="0" dirty="0" err="1">
                <a:solidFill>
                  <a:srgbClr val="101214"/>
                </a:solidFill>
                <a:latin typeface="Hiragino Sans GB"/>
                <a:ea typeface="Hiragino Sans GB"/>
                <a:cs typeface="Hiragino Sans GB"/>
              </a:rPr>
              <a:t>Â</a:t>
            </a:r>
            <a:r>
              <a:rPr sz="1200" b="0" dirty="0">
                <a:solidFill>
                  <a:srgbClr val="101214"/>
                </a:solidFill>
                <a:latin typeface="Hiragino Sans GB"/>
                <a:ea typeface="Hiragino Sans GB"/>
                <a:cs typeface="Hiragino Sans GB"/>
              </a:rPr>
              <a:t>ₜᴼᴾᴰ=</a:t>
            </a:r>
            <a:r>
              <a:rPr sz="1200" b="0" dirty="0" err="1">
                <a:solidFill>
                  <a:srgbClr val="101214"/>
                </a:solidFill>
                <a:latin typeface="Hiragino Sans GB"/>
                <a:ea typeface="Hiragino Sans GB"/>
                <a:cs typeface="Hiragino Sans GB"/>
              </a:rPr>
              <a:t>Â</a:t>
            </a:r>
            <a:r>
              <a:rPr sz="1200" b="0" dirty="0">
                <a:solidFill>
                  <a:srgbClr val="101214"/>
                </a:solidFill>
                <a:latin typeface="Hiragino Sans GB"/>
                <a:ea typeface="Hiragino Sans GB"/>
                <a:cs typeface="Hiragino Sans GB"/>
              </a:rPr>
              <a:t>ₜ−</a:t>
            </a:r>
            <a:r>
              <a:rPr sz="1200" b="0" dirty="0" err="1">
                <a:solidFill>
                  <a:srgbClr val="101214"/>
                </a:solidFill>
                <a:latin typeface="Hiragino Sans GB"/>
                <a:ea typeface="Hiragino Sans GB"/>
                <a:cs typeface="Hiragino Sans GB"/>
              </a:rPr>
              <a:t>λD_KL</a:t>
            </a:r>
            <a:r>
              <a:rPr sz="1200" b="0" dirty="0">
                <a:solidFill>
                  <a:srgbClr val="101214"/>
                </a:solidFill>
                <a:latin typeface="Hiragino Sans GB"/>
                <a:ea typeface="Hiragino Sans GB"/>
                <a:cs typeface="Hiragino Sans GB"/>
              </a:rPr>
              <a:t>(</a:t>
            </a:r>
            <a:r>
              <a:rPr sz="1200" b="0" dirty="0" err="1">
                <a:solidFill>
                  <a:srgbClr val="101214"/>
                </a:solidFill>
                <a:latin typeface="Hiragino Sans GB"/>
                <a:ea typeface="Hiragino Sans GB"/>
                <a:cs typeface="Hiragino Sans GB"/>
              </a:rPr>
              <a:t>p_teacher‖p_θ</a:t>
            </a:r>
            <a:r>
              <a:rPr sz="1200" b="0" dirty="0">
                <a:solidFill>
                  <a:srgbClr val="101214"/>
                </a:solidFill>
                <a:latin typeface="Hiragino Sans GB"/>
                <a:ea typeface="Hiragino Sans GB"/>
                <a:cs typeface="Hiragino Sans GB"/>
              </a:rPr>
              <a:t>)ₜ</a:t>
            </a:r>
          </a:p>
          <a:p>
            <a:pPr algn="l">
              <a:lnSpc>
                <a:spcPct val="94000"/>
              </a:lnSpc>
              <a:buNone/>
              <a:defRPr sz="1050" b="0">
                <a:solidFill>
                  <a:srgbClr val="101214"/>
                </a:solidFill>
                <a:latin typeface="Hiragino Sans GB"/>
                <a:ea typeface="Hiragino Sans GB"/>
                <a:cs typeface="Hiragino Sans GB"/>
              </a:defRPr>
            </a:pPr>
            <a:r>
              <a:rPr sz="1200" b="0" dirty="0" err="1">
                <a:solidFill>
                  <a:srgbClr val="101214"/>
                </a:solidFill>
                <a:latin typeface="Hiragino Sans GB"/>
                <a:ea typeface="Hiragino Sans GB"/>
                <a:cs typeface="Hiragino Sans GB"/>
              </a:rPr>
              <a:t>与</a:t>
            </a:r>
            <a:r>
              <a:rPr sz="1200" b="0" dirty="0">
                <a:solidFill>
                  <a:srgbClr val="101214"/>
                </a:solidFill>
                <a:latin typeface="Hiragino Sans GB"/>
                <a:ea typeface="Hiragino Sans GB"/>
                <a:cs typeface="Hiragino Sans GB"/>
              </a:rPr>
              <a:t> PPO/GRPO estimator </a:t>
            </a:r>
            <a:r>
              <a:rPr sz="1200" b="0" dirty="0" err="1">
                <a:solidFill>
                  <a:srgbClr val="101214"/>
                </a:solidFill>
                <a:latin typeface="Hiragino Sans GB"/>
                <a:ea typeface="Hiragino Sans GB"/>
                <a:cs typeface="Hiragino Sans GB"/>
              </a:rPr>
              <a:t>正交；并行合并</a:t>
            </a:r>
            <a:r>
              <a:rPr sz="1200" b="0" dirty="0">
                <a:solidFill>
                  <a:srgbClr val="101214"/>
                </a:solidFill>
                <a:latin typeface="Hiragino Sans GB"/>
                <a:ea typeface="Hiragino Sans GB"/>
                <a:cs typeface="Hiragino Sans GB"/>
              </a:rPr>
              <a:t> &gt;10 </a:t>
            </a:r>
            <a:r>
              <a:rPr sz="1200" b="0" dirty="0" err="1">
                <a:solidFill>
                  <a:srgbClr val="101214"/>
                </a:solidFill>
                <a:latin typeface="Hiragino Sans GB"/>
                <a:ea typeface="Hiragino Sans GB"/>
                <a:cs typeface="Hiragino Sans GB"/>
              </a:rPr>
              <a:t>experts，约</a:t>
            </a:r>
            <a:r>
              <a:rPr sz="1200" b="0" dirty="0">
                <a:solidFill>
                  <a:srgbClr val="101214"/>
                </a:solidFill>
                <a:latin typeface="Hiragino Sans GB"/>
                <a:ea typeface="Hiragino Sans GB"/>
                <a:cs typeface="Hiragino Sans GB"/>
              </a:rPr>
              <a:t> 2 </a:t>
            </a:r>
            <a:r>
              <a:rPr sz="1200" b="0" dirty="0" err="1">
                <a:solidFill>
                  <a:srgbClr val="101214"/>
                </a:solidFill>
                <a:latin typeface="Hiragino Sans GB"/>
                <a:ea typeface="Hiragino Sans GB"/>
                <a:cs typeface="Hiragino Sans GB"/>
              </a:rPr>
              <a:t>天</a:t>
            </a:r>
            <a:r>
              <a:rPr sz="1200" b="0" dirty="0">
                <a:solidFill>
                  <a:srgbClr val="101214"/>
                </a:solidFill>
                <a:latin typeface="Hiragino Sans GB"/>
                <a:ea typeface="Hiragino Sans GB"/>
                <a:cs typeface="Hiragino Sans GB"/>
              </a:rPr>
              <a:t>。</a:t>
            </a:r>
          </a:p>
        </p:txBody>
      </p:sp>
      <p:sp>
        <p:nvSpPr>
          <p:cNvPr id="25" name="直线连接符 24">
            <a:extLst>
              <a:ext uri="{FF2B5EF4-FFF2-40B4-BE49-F238E27FC236}">
                <a16:creationId xmlns:a16="http://schemas.microsoft.com/office/drawing/2014/main" id="{E0D57587-9311-4048-A4C0-AFE1B85CDE1F}"/>
              </a:ext>
            </a:extLst>
          </p:cNvPr>
          <p:cNvSpPr>
            <a:spLocks noGrp="1"/>
          </p:cNvSpPr>
          <p:nvPr/>
        </p:nvSpPr>
        <p:spPr>
          <a:xfrm>
            <a:off x="419100" y="6286500"/>
            <a:ext cx="11353800" cy="0"/>
          </a:xfrm>
          <a:prstGeom prst="line">
            <a:avLst/>
          </a:prstGeom>
          <a:noFill/>
          <a:ln w="9525">
            <a:solidFill>
              <a:srgbClr val="B8BCC4"/>
            </a:solidFill>
            <a:prstDash val="solid"/>
          </a:ln>
        </p:spPr>
      </p:sp>
      <p:sp>
        <p:nvSpPr>
          <p:cNvPr id="26" name="矩形 25">
            <a:extLst>
              <a:ext uri="{FF2B5EF4-FFF2-40B4-BE49-F238E27FC236}">
                <a16:creationId xmlns:a16="http://schemas.microsoft.com/office/drawing/2014/main" id="{840CCED2-E820-4C19-A0BF-AB7FD9DBDFA9}"/>
              </a:ext>
            </a:extLst>
          </p:cNvPr>
          <p:cNvSpPr>
            <a:spLocks noGrp="1"/>
          </p:cNvSpPr>
          <p:nvPr/>
        </p:nvSpPr>
        <p:spPr>
          <a:xfrm>
            <a:off x="419100" y="6362700"/>
            <a:ext cx="10763250" cy="219075"/>
          </a:xfrm>
          <a:prstGeom prst="rect">
            <a:avLst/>
          </a:prstGeom>
          <a:noFill/>
          <a:ln w="0">
            <a:noFill/>
            <a:prstDash val="solid"/>
          </a:ln>
        </p:spPr>
        <p:txBody>
          <a:bodyPr wrap="square" lIns="0" tIns="0" rIns="0" bIns="0" anchor="t">
            <a:noAutofit/>
          </a:bodyPr>
          <a:lstStyle/>
          <a:p>
            <a:pPr algn="l">
              <a:buNone/>
              <a:defRPr sz="788" b="0">
                <a:solidFill>
                  <a:srgbClr val="5E6470"/>
                </a:solidFill>
                <a:latin typeface="Helvetica Neue"/>
                <a:ea typeface="Helvetica Neue"/>
                <a:cs typeface="Helvetica Neue"/>
              </a:defRPr>
            </a:pPr>
            <a:r>
              <a:rPr sz="788" b="0">
                <a:solidFill>
                  <a:srgbClr val="5E6470"/>
                </a:solidFill>
                <a:latin typeface="Helvetica Neue"/>
                <a:ea typeface="Helvetica Neue"/>
                <a:cs typeface="Helvetica Neue"/>
              </a:rPr>
              <a:t>Z.ai GLM‑5.2 blog · slime on-policy distillation docs · 用户提供知乎分析</a:t>
            </a:r>
          </a:p>
        </p:txBody>
      </p:sp>
      <p:sp>
        <p:nvSpPr>
          <p:cNvPr id="27" name="矩形 26">
            <a:extLst>
              <a:ext uri="{FF2B5EF4-FFF2-40B4-BE49-F238E27FC236}">
                <a16:creationId xmlns:a16="http://schemas.microsoft.com/office/drawing/2014/main" id="{FC6C00D8-F868-4326-9EF9-81A914967935}"/>
              </a:ext>
            </a:extLst>
          </p:cNvPr>
          <p:cNvSpPr>
            <a:spLocks noGrp="1"/>
          </p:cNvSpPr>
          <p:nvPr/>
        </p:nvSpPr>
        <p:spPr>
          <a:xfrm>
            <a:off x="11334750" y="6362700"/>
            <a:ext cx="438150" cy="219075"/>
          </a:xfrm>
          <a:prstGeom prst="rect">
            <a:avLst/>
          </a:prstGeom>
          <a:noFill/>
          <a:ln w="0">
            <a:noFill/>
            <a:prstDash val="solid"/>
          </a:ln>
        </p:spPr>
        <p:txBody>
          <a:bodyPr wrap="square" lIns="0" tIns="0" rIns="0" bIns="0" anchor="t">
            <a:noAutofit/>
          </a:bodyPr>
          <a:lstStyle/>
          <a:p>
            <a:pPr algn="r">
              <a:buNone/>
              <a:defRPr sz="825" b="0">
                <a:solidFill>
                  <a:srgbClr val="5E6470"/>
                </a:solidFill>
                <a:latin typeface="Helvetica Neue"/>
                <a:ea typeface="Helvetica Neue"/>
                <a:cs typeface="Helvetica Neue"/>
              </a:defRPr>
            </a:pPr>
            <a:r>
              <a:rPr sz="825" b="0">
                <a:solidFill>
                  <a:srgbClr val="5E6470"/>
                </a:solidFill>
                <a:latin typeface="Helvetica Neue"/>
                <a:ea typeface="Helvetica Neue"/>
                <a:cs typeface="Helvetica Neue"/>
              </a:rPr>
              <a:t>35</a:t>
            </a:r>
          </a:p>
        </p:txBody>
      </p:sp>
      <p:pic>
        <p:nvPicPr>
          <p:cNvPr id="56" name="图片 55"/>
          <p:cNvPicPr>
            <a:picLocks noChangeAspect="1"/>
          </p:cNvPicPr>
          <p:nvPr/>
        </p:nvPicPr>
        <p:blipFill>
          <a:blip r:embed="rId3"/>
          <a:stretch/>
        </p:blipFill>
        <p:spPr>
          <a:xfrm>
            <a:off x="6697367" y="1276350"/>
            <a:ext cx="4759917" cy="3086100"/>
          </a:xfrm>
          <a:prstGeom prst="roundRect">
            <a:avLst/>
          </a:prstGeom>
        </p:spPr>
      </p:pic>
    </p:spTree>
    <p:extLst>
      <p:ext uri="{BB962C8B-B14F-4D97-AF65-F5344CB8AC3E}">
        <p14:creationId xmlns:p14="http://schemas.microsoft.com/office/powerpoint/2010/main" val="14251715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D42A23A0-592B-4CBF-9ABD-6CAC9F9A6422}"/>
              </a:ext>
            </a:extLst>
          </p:cNvPr>
          <p:cNvSpPr>
            <a:spLocks noGrp="1"/>
          </p:cNvSpPr>
          <p:nvPr/>
        </p:nvSpPr>
        <p:spPr>
          <a:xfrm>
            <a:off x="419100" y="171450"/>
            <a:ext cx="2952750" cy="228600"/>
          </a:xfrm>
          <a:prstGeom prst="rect">
            <a:avLst/>
          </a:prstGeom>
          <a:noFill/>
          <a:ln w="0">
            <a:noFill/>
            <a:prstDash val="solid"/>
          </a:ln>
        </p:spPr>
        <p:txBody>
          <a:bodyPr wrap="square" lIns="0" tIns="0" rIns="0" bIns="0" anchor="t">
            <a:noAutofit/>
          </a:bodyPr>
          <a:lstStyle/>
          <a:p>
            <a:pPr algn="l">
              <a:buNone/>
              <a:defRPr sz="975" b="1">
                <a:solidFill>
                  <a:srgbClr val="5E6470"/>
                </a:solidFill>
                <a:latin typeface="Helvetica Neue"/>
                <a:ea typeface="Helvetica Neue"/>
                <a:cs typeface="Helvetica Neue"/>
              </a:defRPr>
            </a:pPr>
            <a:r>
              <a:rPr sz="975" b="1">
                <a:solidFill>
                  <a:srgbClr val="5E6470"/>
                </a:solidFill>
                <a:latin typeface="Helvetica Neue"/>
                <a:ea typeface="Helvetica Neue"/>
                <a:cs typeface="Helvetica Neue"/>
              </a:rPr>
              <a:t>III · GLM-5.2</a:t>
            </a:r>
          </a:p>
        </p:txBody>
      </p:sp>
      <p:sp>
        <p:nvSpPr>
          <p:cNvPr id="2" name="矩形 1">
            <a:extLst>
              <a:ext uri="{FF2B5EF4-FFF2-40B4-BE49-F238E27FC236}">
                <a16:creationId xmlns:a16="http://schemas.microsoft.com/office/drawing/2014/main" id="{6FA01A3B-1981-4F5E-9908-1BE2A78585E5}"/>
              </a:ext>
            </a:extLst>
          </p:cNvPr>
          <p:cNvSpPr>
            <a:spLocks noGrp="1"/>
          </p:cNvSpPr>
          <p:nvPr/>
        </p:nvSpPr>
        <p:spPr>
          <a:xfrm>
            <a:off x="419100" y="409575"/>
            <a:ext cx="11353800" cy="514350"/>
          </a:xfrm>
          <a:prstGeom prst="rect">
            <a:avLst/>
          </a:prstGeom>
          <a:noFill/>
          <a:ln w="0">
            <a:noFill/>
            <a:prstDash val="solid"/>
          </a:ln>
        </p:spPr>
        <p:txBody>
          <a:bodyPr wrap="square" lIns="0" tIns="0" rIns="0" bIns="0" anchor="t">
            <a:noAutofit/>
          </a:bodyPr>
          <a:lstStyle/>
          <a:p>
            <a:pPr algn="l">
              <a:buNone/>
              <a:defRPr sz="2850" b="1">
                <a:solidFill>
                  <a:srgbClr val="101214"/>
                </a:solidFill>
                <a:latin typeface="Hiragino Sans GB"/>
                <a:ea typeface="Hiragino Sans GB"/>
                <a:cs typeface="Hiragino Sans GB"/>
              </a:defRPr>
            </a:pPr>
            <a:r>
              <a:rPr sz="2850" b="1">
                <a:solidFill>
                  <a:srgbClr val="101214"/>
                </a:solidFill>
                <a:latin typeface="Hiragino Sans GB"/>
                <a:ea typeface="Hiragino Sans GB"/>
                <a:cs typeface="Hiragino Sans GB"/>
              </a:rPr>
              <a:t>GLM‑5.2：MTP、Serving 与 Anti‑Hack 补齐闭环</a:t>
            </a:r>
          </a:p>
        </p:txBody>
      </p:sp>
      <p:sp>
        <p:nvSpPr>
          <p:cNvPr id="3" name="圆角矩形 2">
            <a:extLst>
              <a:ext uri="{FF2B5EF4-FFF2-40B4-BE49-F238E27FC236}">
                <a16:creationId xmlns:a16="http://schemas.microsoft.com/office/drawing/2014/main" id="{29DDEF6D-8D55-4D37-8716-50F4165D5920}"/>
              </a:ext>
            </a:extLst>
          </p:cNvPr>
          <p:cNvSpPr>
            <a:spLocks noGrp="1"/>
          </p:cNvSpPr>
          <p:nvPr/>
        </p:nvSpPr>
        <p:spPr>
          <a:xfrm>
            <a:off x="419100" y="1314450"/>
            <a:ext cx="1714500" cy="1123950"/>
          </a:xfrm>
          <a:prstGeom prst="roundRect">
            <a:avLst>
              <a:gd name="adj" fmla="val 6780"/>
            </a:avLst>
          </a:prstGeom>
          <a:solidFill>
            <a:srgbClr val="EAF5FB"/>
          </a:solidFill>
          <a:ln w="0">
            <a:noFill/>
            <a:prstDash val="solid"/>
          </a:ln>
        </p:spPr>
      </p:sp>
      <p:sp>
        <p:nvSpPr>
          <p:cNvPr id="4" name="矩形 3">
            <a:extLst>
              <a:ext uri="{FF2B5EF4-FFF2-40B4-BE49-F238E27FC236}">
                <a16:creationId xmlns:a16="http://schemas.microsoft.com/office/drawing/2014/main" id="{8DE90D28-B9EC-4BD8-BA03-9B1EDF15C3A8}"/>
              </a:ext>
            </a:extLst>
          </p:cNvPr>
          <p:cNvSpPr>
            <a:spLocks noGrp="1"/>
          </p:cNvSpPr>
          <p:nvPr/>
        </p:nvSpPr>
        <p:spPr>
          <a:xfrm>
            <a:off x="590550" y="1457325"/>
            <a:ext cx="1371600" cy="514350"/>
          </a:xfrm>
          <a:prstGeom prst="rect">
            <a:avLst/>
          </a:prstGeom>
          <a:noFill/>
          <a:ln w="0">
            <a:noFill/>
            <a:prstDash val="solid"/>
          </a:ln>
        </p:spPr>
        <p:txBody>
          <a:bodyPr wrap="square" lIns="0" tIns="0" rIns="0" bIns="0" anchor="b">
            <a:noAutofit/>
          </a:bodyPr>
          <a:lstStyle/>
          <a:p>
            <a:pPr algn="l">
              <a:buNone/>
              <a:defRPr sz="2550" b="1">
                <a:solidFill>
                  <a:srgbClr val="2787F5"/>
                </a:solidFill>
                <a:latin typeface="Helvetica Neue"/>
                <a:ea typeface="Helvetica Neue"/>
                <a:cs typeface="Helvetica Neue"/>
              </a:defRPr>
            </a:pPr>
            <a:r>
              <a:rPr sz="2550" b="1">
                <a:solidFill>
                  <a:srgbClr val="2787F5"/>
                </a:solidFill>
                <a:latin typeface="Helvetica Neue"/>
                <a:ea typeface="Helvetica Neue"/>
                <a:cs typeface="Helvetica Neue"/>
              </a:rPr>
              <a:t>5.47</a:t>
            </a:r>
          </a:p>
        </p:txBody>
      </p:sp>
      <p:sp>
        <p:nvSpPr>
          <p:cNvPr id="5" name="矩形 4">
            <a:extLst>
              <a:ext uri="{FF2B5EF4-FFF2-40B4-BE49-F238E27FC236}">
                <a16:creationId xmlns:a16="http://schemas.microsoft.com/office/drawing/2014/main" id="{81A4A4B0-0D14-42F5-9B9B-62A7B53CC7FD}"/>
              </a:ext>
            </a:extLst>
          </p:cNvPr>
          <p:cNvSpPr>
            <a:spLocks noGrp="1"/>
          </p:cNvSpPr>
          <p:nvPr/>
        </p:nvSpPr>
        <p:spPr>
          <a:xfrm>
            <a:off x="590550" y="2019300"/>
            <a:ext cx="1371600" cy="266700"/>
          </a:xfrm>
          <a:prstGeom prst="rect">
            <a:avLst/>
          </a:prstGeom>
          <a:noFill/>
          <a:ln w="0">
            <a:noFill/>
            <a:prstDash val="solid"/>
          </a:ln>
        </p:spPr>
        <p:txBody>
          <a:bodyPr wrap="square" lIns="0" tIns="0" rIns="0" bIns="0" anchor="t">
            <a:noAutofit/>
          </a:bodyPr>
          <a:lstStyle/>
          <a:p>
            <a:pPr algn="l">
              <a:buNone/>
              <a:defRPr sz="1140" b="0">
                <a:solidFill>
                  <a:srgbClr val="5E6470"/>
                </a:solidFill>
                <a:latin typeface="Hiragino Sans GB"/>
                <a:ea typeface="Hiragino Sans GB"/>
                <a:cs typeface="Hiragino Sans GB"/>
              </a:defRPr>
            </a:pPr>
            <a:r>
              <a:rPr sz="1140" b="0">
                <a:solidFill>
                  <a:srgbClr val="5E6470"/>
                </a:solidFill>
                <a:latin typeface="Hiragino Sans GB"/>
                <a:ea typeface="Hiragino Sans GB"/>
                <a:cs typeface="Hiragino Sans GB"/>
              </a:rPr>
              <a:t>MTP acceptance：4.56 → 5.47（+20%）</a:t>
            </a:r>
          </a:p>
        </p:txBody>
      </p:sp>
      <p:sp>
        <p:nvSpPr>
          <p:cNvPr id="6" name="圆角矩形 5">
            <a:extLst>
              <a:ext uri="{FF2B5EF4-FFF2-40B4-BE49-F238E27FC236}">
                <a16:creationId xmlns:a16="http://schemas.microsoft.com/office/drawing/2014/main" id="{4D7E7297-5C43-419A-AC0A-9D9F8860A264}"/>
              </a:ext>
            </a:extLst>
          </p:cNvPr>
          <p:cNvSpPr>
            <a:spLocks noGrp="1"/>
          </p:cNvSpPr>
          <p:nvPr/>
        </p:nvSpPr>
        <p:spPr>
          <a:xfrm>
            <a:off x="419100" y="2647950"/>
            <a:ext cx="1714500" cy="1123950"/>
          </a:xfrm>
          <a:prstGeom prst="roundRect">
            <a:avLst>
              <a:gd name="adj" fmla="val 6780"/>
            </a:avLst>
          </a:prstGeom>
          <a:solidFill>
            <a:srgbClr val="E8F6F0"/>
          </a:solidFill>
          <a:ln w="0">
            <a:noFill/>
            <a:prstDash val="solid"/>
          </a:ln>
        </p:spPr>
      </p:sp>
      <p:sp>
        <p:nvSpPr>
          <p:cNvPr id="7" name="矩形 6">
            <a:extLst>
              <a:ext uri="{FF2B5EF4-FFF2-40B4-BE49-F238E27FC236}">
                <a16:creationId xmlns:a16="http://schemas.microsoft.com/office/drawing/2014/main" id="{0FFDD2FF-9CE6-4739-BC35-3DEFFD31F2DA}"/>
              </a:ext>
            </a:extLst>
          </p:cNvPr>
          <p:cNvSpPr>
            <a:spLocks noGrp="1"/>
          </p:cNvSpPr>
          <p:nvPr/>
        </p:nvSpPr>
        <p:spPr>
          <a:xfrm>
            <a:off x="590550" y="2790825"/>
            <a:ext cx="1371600" cy="514350"/>
          </a:xfrm>
          <a:prstGeom prst="rect">
            <a:avLst/>
          </a:prstGeom>
          <a:noFill/>
          <a:ln w="0">
            <a:noFill/>
            <a:prstDash val="solid"/>
          </a:ln>
        </p:spPr>
        <p:txBody>
          <a:bodyPr wrap="square" lIns="0" tIns="0" rIns="0" bIns="0" anchor="b">
            <a:noAutofit/>
          </a:bodyPr>
          <a:lstStyle/>
          <a:p>
            <a:pPr algn="l">
              <a:buNone/>
              <a:defRPr sz="2550" b="1">
                <a:solidFill>
                  <a:srgbClr val="1F9D70"/>
                </a:solidFill>
                <a:latin typeface="Helvetica Neue"/>
                <a:ea typeface="Helvetica Neue"/>
                <a:cs typeface="Helvetica Neue"/>
              </a:defRPr>
            </a:pPr>
            <a:r>
              <a:rPr sz="2550" b="1">
                <a:solidFill>
                  <a:srgbClr val="1F9D70"/>
                </a:solidFill>
                <a:latin typeface="Helvetica Neue"/>
                <a:ea typeface="Helvetica Neue"/>
                <a:cs typeface="Helvetica Neue"/>
              </a:rPr>
              <a:t>1M</a:t>
            </a:r>
          </a:p>
        </p:txBody>
      </p:sp>
      <p:sp>
        <p:nvSpPr>
          <p:cNvPr id="8" name="矩形 7">
            <a:extLst>
              <a:ext uri="{FF2B5EF4-FFF2-40B4-BE49-F238E27FC236}">
                <a16:creationId xmlns:a16="http://schemas.microsoft.com/office/drawing/2014/main" id="{425521B6-F172-4C78-B316-426658565FF3}"/>
              </a:ext>
            </a:extLst>
          </p:cNvPr>
          <p:cNvSpPr>
            <a:spLocks noGrp="1"/>
          </p:cNvSpPr>
          <p:nvPr/>
        </p:nvSpPr>
        <p:spPr>
          <a:xfrm>
            <a:off x="590550" y="3352800"/>
            <a:ext cx="1371600" cy="266700"/>
          </a:xfrm>
          <a:prstGeom prst="rect">
            <a:avLst/>
          </a:prstGeom>
          <a:noFill/>
          <a:ln w="0">
            <a:noFill/>
            <a:prstDash val="solid"/>
          </a:ln>
        </p:spPr>
        <p:txBody>
          <a:bodyPr wrap="square" lIns="0" tIns="0" rIns="0" bIns="0" anchor="t">
            <a:noAutofit/>
          </a:bodyPr>
          <a:lstStyle/>
          <a:p>
            <a:pPr algn="l">
              <a:buNone/>
              <a:defRPr sz="1140" b="0">
                <a:solidFill>
                  <a:srgbClr val="5E6470"/>
                </a:solidFill>
                <a:latin typeface="Hiragino Sans GB"/>
                <a:ea typeface="Hiragino Sans GB"/>
                <a:cs typeface="Hiragino Sans GB"/>
              </a:defRPr>
            </a:pPr>
            <a:r>
              <a:rPr sz="1140" b="0">
                <a:solidFill>
                  <a:srgbClr val="5E6470"/>
                </a:solidFill>
                <a:latin typeface="Hiragino Sans GB"/>
                <a:ea typeface="Hiragino Sans GB"/>
                <a:cs typeface="Hiragino Sans GB"/>
              </a:rPr>
              <a:t>瓶颈转向 KV-cache / kernel / CPU</a:t>
            </a:r>
          </a:p>
        </p:txBody>
      </p:sp>
      <p:sp>
        <p:nvSpPr>
          <p:cNvPr id="9" name="圆角矩形 8">
            <a:extLst>
              <a:ext uri="{FF2B5EF4-FFF2-40B4-BE49-F238E27FC236}">
                <a16:creationId xmlns:a16="http://schemas.microsoft.com/office/drawing/2014/main" id="{B61827A7-416A-4A41-B37E-D53052458018}"/>
              </a:ext>
            </a:extLst>
          </p:cNvPr>
          <p:cNvSpPr>
            <a:spLocks noGrp="1"/>
          </p:cNvSpPr>
          <p:nvPr/>
        </p:nvSpPr>
        <p:spPr>
          <a:xfrm>
            <a:off x="419100" y="3981450"/>
            <a:ext cx="1714500" cy="1123950"/>
          </a:xfrm>
          <a:prstGeom prst="roundRect">
            <a:avLst>
              <a:gd name="adj" fmla="val 6780"/>
            </a:avLst>
          </a:prstGeom>
          <a:solidFill>
            <a:srgbClr val="F0ECFD"/>
          </a:solidFill>
          <a:ln w="0">
            <a:noFill/>
            <a:prstDash val="solid"/>
          </a:ln>
        </p:spPr>
      </p:sp>
      <p:sp>
        <p:nvSpPr>
          <p:cNvPr id="10" name="矩形 9">
            <a:extLst>
              <a:ext uri="{FF2B5EF4-FFF2-40B4-BE49-F238E27FC236}">
                <a16:creationId xmlns:a16="http://schemas.microsoft.com/office/drawing/2014/main" id="{1E747DDA-579B-4C9A-B4C4-80AD8E3ACA4B}"/>
              </a:ext>
            </a:extLst>
          </p:cNvPr>
          <p:cNvSpPr>
            <a:spLocks noGrp="1"/>
          </p:cNvSpPr>
          <p:nvPr/>
        </p:nvSpPr>
        <p:spPr>
          <a:xfrm>
            <a:off x="590550" y="4124325"/>
            <a:ext cx="1371600" cy="514350"/>
          </a:xfrm>
          <a:prstGeom prst="rect">
            <a:avLst/>
          </a:prstGeom>
          <a:noFill/>
          <a:ln w="0">
            <a:noFill/>
            <a:prstDash val="solid"/>
          </a:ln>
        </p:spPr>
        <p:txBody>
          <a:bodyPr wrap="square" lIns="0" tIns="0" rIns="0" bIns="0" anchor="b">
            <a:noAutofit/>
          </a:bodyPr>
          <a:lstStyle/>
          <a:p>
            <a:pPr algn="l">
              <a:buNone/>
              <a:defRPr sz="2550" b="1">
                <a:solidFill>
                  <a:srgbClr val="7257D5"/>
                </a:solidFill>
                <a:latin typeface="Helvetica Neue"/>
                <a:ea typeface="Helvetica Neue"/>
                <a:cs typeface="Helvetica Neue"/>
              </a:defRPr>
            </a:pPr>
            <a:r>
              <a:rPr sz="2550" b="1">
                <a:solidFill>
                  <a:srgbClr val="7257D5"/>
                </a:solidFill>
                <a:latin typeface="Helvetica Neue"/>
                <a:ea typeface="Helvetica Neue"/>
                <a:cs typeface="Helvetica Neue"/>
              </a:rPr>
              <a:t>2-stage</a:t>
            </a:r>
          </a:p>
        </p:txBody>
      </p:sp>
      <p:sp>
        <p:nvSpPr>
          <p:cNvPr id="11" name="矩形 10">
            <a:extLst>
              <a:ext uri="{FF2B5EF4-FFF2-40B4-BE49-F238E27FC236}">
                <a16:creationId xmlns:a16="http://schemas.microsoft.com/office/drawing/2014/main" id="{E6FB4D2B-F1E7-43EE-B7C7-9E4E7CB07715}"/>
              </a:ext>
            </a:extLst>
          </p:cNvPr>
          <p:cNvSpPr>
            <a:spLocks noGrp="1"/>
          </p:cNvSpPr>
          <p:nvPr/>
        </p:nvSpPr>
        <p:spPr>
          <a:xfrm>
            <a:off x="590550" y="4686300"/>
            <a:ext cx="1371600" cy="266700"/>
          </a:xfrm>
          <a:prstGeom prst="rect">
            <a:avLst/>
          </a:prstGeom>
          <a:noFill/>
          <a:ln w="0">
            <a:noFill/>
            <a:prstDash val="solid"/>
          </a:ln>
        </p:spPr>
        <p:txBody>
          <a:bodyPr wrap="square" lIns="0" tIns="0" rIns="0" bIns="0" anchor="t">
            <a:noAutofit/>
          </a:bodyPr>
          <a:lstStyle/>
          <a:p>
            <a:pPr algn="l">
              <a:buNone/>
              <a:defRPr sz="1110" b="0">
                <a:solidFill>
                  <a:srgbClr val="5E6470"/>
                </a:solidFill>
                <a:latin typeface="Hiragino Sans GB"/>
                <a:ea typeface="Hiragino Sans GB"/>
                <a:cs typeface="Hiragino Sans GB"/>
              </a:defRPr>
            </a:pPr>
            <a:r>
              <a:rPr sz="1110" b="0">
                <a:solidFill>
                  <a:srgbClr val="5E6470"/>
                </a:solidFill>
                <a:latin typeface="Hiragino Sans GB"/>
                <a:ea typeface="Hiragino Sans GB"/>
                <a:cs typeface="Hiragino Sans GB"/>
              </a:rPr>
              <a:t>rule filter + LLM intent judge</a:t>
            </a:r>
          </a:p>
        </p:txBody>
      </p:sp>
      <p:sp>
        <p:nvSpPr>
          <p:cNvPr id="12" name="矩形 11">
            <a:extLst>
              <a:ext uri="{FF2B5EF4-FFF2-40B4-BE49-F238E27FC236}">
                <a16:creationId xmlns:a16="http://schemas.microsoft.com/office/drawing/2014/main" id="{13B270E3-FF95-44F8-90AE-5FC26A4C916B}"/>
              </a:ext>
            </a:extLst>
          </p:cNvPr>
          <p:cNvSpPr>
            <a:spLocks noGrp="1"/>
          </p:cNvSpPr>
          <p:nvPr/>
        </p:nvSpPr>
        <p:spPr>
          <a:xfrm>
            <a:off x="419100" y="5905500"/>
            <a:ext cx="11353800" cy="285750"/>
          </a:xfrm>
          <a:prstGeom prst="rect">
            <a:avLst/>
          </a:prstGeom>
          <a:noFill/>
          <a:ln w="0">
            <a:noFill/>
            <a:prstDash val="solid"/>
          </a:ln>
        </p:spPr>
        <p:txBody>
          <a:bodyPr wrap="square" lIns="0" tIns="0" rIns="0" bIns="0" anchor="ctr">
            <a:noAutofit/>
          </a:bodyPr>
          <a:lstStyle/>
          <a:p>
            <a:pPr algn="l">
              <a:buNone/>
              <a:defRPr sz="1088" b="0">
                <a:solidFill>
                  <a:srgbClr val="5E6470"/>
                </a:solidFill>
                <a:latin typeface="Helvetica Neue"/>
                <a:ea typeface="Helvetica Neue"/>
                <a:cs typeface="Helvetica Neue"/>
              </a:defRPr>
            </a:pPr>
            <a:r>
              <a:rPr sz="1088" b="0">
                <a:solidFill>
                  <a:srgbClr val="5E6470"/>
                </a:solidFill>
                <a:latin typeface="Helvetica Neue"/>
                <a:ea typeface="Helvetica Neue"/>
                <a:cs typeface="Helvetica Neue"/>
              </a:rPr>
              <a:t>MTP：IndexShare + KVShare + rejection sampling + end-to-end TV loss；Serving：LayerSplit、cache-transfer-aware kernel、CPU scheduling、KV-cache FP8 / PD 解耦；Anti-hack：在线阻断违规 tool call、返回 dummy result，并继续 rollout。</a:t>
            </a:r>
          </a:p>
        </p:txBody>
      </p:sp>
      <p:sp>
        <p:nvSpPr>
          <p:cNvPr id="13" name="圆角矩形 12">
            <a:extLst>
              <a:ext uri="{FF2B5EF4-FFF2-40B4-BE49-F238E27FC236}">
                <a16:creationId xmlns:a16="http://schemas.microsoft.com/office/drawing/2014/main" id="{62E7972B-E6BD-431E-B36B-DF14AA4C5926}"/>
              </a:ext>
            </a:extLst>
          </p:cNvPr>
          <p:cNvSpPr>
            <a:spLocks noGrp="1"/>
          </p:cNvSpPr>
          <p:nvPr/>
        </p:nvSpPr>
        <p:spPr>
          <a:xfrm>
            <a:off x="2571750" y="1200150"/>
            <a:ext cx="9201150" cy="4629150"/>
          </a:xfrm>
          <a:prstGeom prst="roundRect">
            <a:avLst>
              <a:gd name="adj" fmla="val 1646"/>
            </a:avLst>
          </a:prstGeom>
          <a:solidFill>
            <a:srgbClr val="F1F2F4"/>
          </a:solidFill>
          <a:ln w="9525">
            <a:solidFill>
              <a:srgbClr val="B8BCC4"/>
            </a:solidFill>
            <a:prstDash val="solid"/>
          </a:ln>
        </p:spPr>
      </p:sp>
      <p:pic>
        <p:nvPicPr>
          <p:cNvPr id="33" name="图片 30"/>
          <p:cNvPicPr>
            <a:picLocks noChangeAspect="1"/>
          </p:cNvPicPr>
          <p:nvPr/>
        </p:nvPicPr>
        <p:blipFill>
          <a:blip r:embed="rId3"/>
          <a:stretch/>
        </p:blipFill>
        <p:spPr>
          <a:xfrm>
            <a:off x="3237559" y="1238250"/>
            <a:ext cx="7564733" cy="4171950"/>
          </a:xfrm>
          <a:prstGeom prst="roundRect">
            <a:avLst>
              <a:gd name="adj" fmla="val 1255"/>
            </a:avLst>
          </a:prstGeom>
        </p:spPr>
      </p:pic>
      <p:sp>
        <p:nvSpPr>
          <p:cNvPr id="15" name="直线连接符 14">
            <a:extLst>
              <a:ext uri="{FF2B5EF4-FFF2-40B4-BE49-F238E27FC236}">
                <a16:creationId xmlns:a16="http://schemas.microsoft.com/office/drawing/2014/main" id="{2F58B6E3-CD67-426B-88D9-9921F8C07715}"/>
              </a:ext>
            </a:extLst>
          </p:cNvPr>
          <p:cNvSpPr>
            <a:spLocks noGrp="1"/>
          </p:cNvSpPr>
          <p:nvPr/>
        </p:nvSpPr>
        <p:spPr>
          <a:xfrm>
            <a:off x="419100" y="6286500"/>
            <a:ext cx="11353800" cy="0"/>
          </a:xfrm>
          <a:prstGeom prst="line">
            <a:avLst/>
          </a:prstGeom>
          <a:noFill/>
          <a:ln w="9525">
            <a:solidFill>
              <a:srgbClr val="B8BCC4"/>
            </a:solidFill>
            <a:prstDash val="solid"/>
          </a:ln>
        </p:spPr>
      </p:sp>
      <p:sp>
        <p:nvSpPr>
          <p:cNvPr id="16" name="矩形 15">
            <a:extLst>
              <a:ext uri="{FF2B5EF4-FFF2-40B4-BE49-F238E27FC236}">
                <a16:creationId xmlns:a16="http://schemas.microsoft.com/office/drawing/2014/main" id="{7F512D03-3FDD-4A3A-9A37-E55554FA9680}"/>
              </a:ext>
            </a:extLst>
          </p:cNvPr>
          <p:cNvSpPr>
            <a:spLocks noGrp="1"/>
          </p:cNvSpPr>
          <p:nvPr/>
        </p:nvSpPr>
        <p:spPr>
          <a:xfrm>
            <a:off x="419100" y="6362700"/>
            <a:ext cx="10763250" cy="219075"/>
          </a:xfrm>
          <a:prstGeom prst="rect">
            <a:avLst/>
          </a:prstGeom>
          <a:noFill/>
          <a:ln w="0">
            <a:noFill/>
            <a:prstDash val="solid"/>
          </a:ln>
        </p:spPr>
        <p:txBody>
          <a:bodyPr wrap="square" lIns="0" tIns="0" rIns="0" bIns="0" anchor="t">
            <a:noAutofit/>
          </a:bodyPr>
          <a:lstStyle/>
          <a:p>
            <a:pPr algn="l">
              <a:buNone/>
              <a:defRPr sz="788" b="0">
                <a:solidFill>
                  <a:srgbClr val="5E6470"/>
                </a:solidFill>
                <a:latin typeface="Helvetica Neue"/>
                <a:ea typeface="Helvetica Neue"/>
                <a:cs typeface="Helvetica Neue"/>
              </a:defRPr>
            </a:pPr>
            <a:r>
              <a:rPr sz="788" b="0">
                <a:solidFill>
                  <a:srgbClr val="5E6470"/>
                </a:solidFill>
                <a:latin typeface="Helvetica Neue"/>
                <a:ea typeface="Helvetica Neue"/>
                <a:cs typeface="Helvetica Neue"/>
              </a:rPr>
              <a:t>Z.ai, GLM‑5.2: Built for Long‑Horizon Tasks (2026) · 用户提供知乎分析</a:t>
            </a:r>
          </a:p>
        </p:txBody>
      </p:sp>
      <p:sp>
        <p:nvSpPr>
          <p:cNvPr id="17" name="矩形 16">
            <a:extLst>
              <a:ext uri="{FF2B5EF4-FFF2-40B4-BE49-F238E27FC236}">
                <a16:creationId xmlns:a16="http://schemas.microsoft.com/office/drawing/2014/main" id="{D8A0B70F-B6FE-412E-9A9D-F3418B14BCB4}"/>
              </a:ext>
            </a:extLst>
          </p:cNvPr>
          <p:cNvSpPr>
            <a:spLocks noGrp="1"/>
          </p:cNvSpPr>
          <p:nvPr/>
        </p:nvSpPr>
        <p:spPr>
          <a:xfrm>
            <a:off x="11334750" y="6362700"/>
            <a:ext cx="438150" cy="219075"/>
          </a:xfrm>
          <a:prstGeom prst="rect">
            <a:avLst/>
          </a:prstGeom>
          <a:noFill/>
          <a:ln w="0">
            <a:noFill/>
            <a:prstDash val="solid"/>
          </a:ln>
        </p:spPr>
        <p:txBody>
          <a:bodyPr wrap="square" lIns="0" tIns="0" rIns="0" bIns="0" anchor="t">
            <a:noAutofit/>
          </a:bodyPr>
          <a:lstStyle/>
          <a:p>
            <a:pPr algn="r">
              <a:buNone/>
              <a:defRPr sz="825" b="0">
                <a:solidFill>
                  <a:srgbClr val="5E6470"/>
                </a:solidFill>
                <a:latin typeface="Helvetica Neue"/>
                <a:ea typeface="Helvetica Neue"/>
                <a:cs typeface="Helvetica Neue"/>
              </a:defRPr>
            </a:pPr>
            <a:r>
              <a:rPr sz="825" b="0">
                <a:solidFill>
                  <a:srgbClr val="5E6470"/>
                </a:solidFill>
                <a:latin typeface="Helvetica Neue"/>
                <a:ea typeface="Helvetica Neue"/>
                <a:cs typeface="Helvetica Neue"/>
              </a:rPr>
              <a:t>36</a:t>
            </a:r>
          </a:p>
        </p:txBody>
      </p:sp>
    </p:spTree>
    <p:extLst>
      <p:ext uri="{BB962C8B-B14F-4D97-AF65-F5344CB8AC3E}">
        <p14:creationId xmlns:p14="http://schemas.microsoft.com/office/powerpoint/2010/main" val="5719992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矩形 16">
            <a:extLst>
              <a:ext uri="{FF2B5EF4-FFF2-40B4-BE49-F238E27FC236}">
                <a16:creationId xmlns:a16="http://schemas.microsoft.com/office/drawing/2014/main" id="{C26CED50-1935-4B4A-9EAE-80620E294376}"/>
              </a:ext>
            </a:extLst>
          </p:cNvPr>
          <p:cNvSpPr>
            <a:spLocks noGrp="1"/>
          </p:cNvSpPr>
          <p:nvPr/>
        </p:nvSpPr>
        <p:spPr>
          <a:xfrm>
            <a:off x="419100" y="171450"/>
            <a:ext cx="2952750" cy="228600"/>
          </a:xfrm>
          <a:prstGeom prst="rect">
            <a:avLst/>
          </a:prstGeom>
          <a:noFill/>
          <a:ln w="0">
            <a:noFill/>
            <a:prstDash val="solid"/>
          </a:ln>
        </p:spPr>
        <p:txBody>
          <a:bodyPr wrap="square" lIns="0" tIns="0" rIns="0" bIns="0" anchor="t">
            <a:noAutofit/>
          </a:bodyPr>
          <a:lstStyle/>
          <a:p>
            <a:pPr algn="l">
              <a:buNone/>
              <a:defRPr sz="975" b="1">
                <a:solidFill>
                  <a:srgbClr val="5E6470"/>
                </a:solidFill>
                <a:latin typeface="Helvetica Neue"/>
                <a:ea typeface="Helvetica Neue"/>
                <a:cs typeface="Helvetica Neue"/>
              </a:defRPr>
            </a:pPr>
            <a:r>
              <a:rPr sz="975" b="1">
                <a:solidFill>
                  <a:srgbClr val="5E6470"/>
                </a:solidFill>
                <a:latin typeface="Helvetica Neue"/>
                <a:ea typeface="Helvetica Neue"/>
                <a:cs typeface="Helvetica Neue"/>
              </a:rPr>
              <a:t>III · GLM-5 BEHAVIOR</a:t>
            </a:r>
          </a:p>
        </p:txBody>
      </p:sp>
      <p:sp>
        <p:nvSpPr>
          <p:cNvPr id="2" name="矩形 1">
            <a:extLst>
              <a:ext uri="{FF2B5EF4-FFF2-40B4-BE49-F238E27FC236}">
                <a16:creationId xmlns:a16="http://schemas.microsoft.com/office/drawing/2014/main" id="{70B4C2F3-E0D0-4569-82AF-6CA8538B5A98}"/>
              </a:ext>
            </a:extLst>
          </p:cNvPr>
          <p:cNvSpPr>
            <a:spLocks noGrp="1"/>
          </p:cNvSpPr>
          <p:nvPr/>
        </p:nvSpPr>
        <p:spPr>
          <a:xfrm>
            <a:off x="419100" y="409575"/>
            <a:ext cx="11353800" cy="514350"/>
          </a:xfrm>
          <a:prstGeom prst="rect">
            <a:avLst/>
          </a:prstGeom>
          <a:noFill/>
          <a:ln w="0">
            <a:noFill/>
            <a:prstDash val="solid"/>
          </a:ln>
        </p:spPr>
        <p:txBody>
          <a:bodyPr wrap="square" lIns="0" tIns="0" rIns="0" bIns="0" anchor="t">
            <a:noAutofit/>
          </a:bodyPr>
          <a:lstStyle/>
          <a:p>
            <a:pPr algn="l">
              <a:buNone/>
              <a:defRPr sz="2850" b="1">
                <a:solidFill>
                  <a:srgbClr val="101214"/>
                </a:solidFill>
                <a:latin typeface="Hiragino Sans GB"/>
                <a:ea typeface="Hiragino Sans GB"/>
                <a:cs typeface="Hiragino Sans GB"/>
              </a:defRPr>
            </a:pPr>
            <a:r>
              <a:rPr sz="2850" b="1">
                <a:solidFill>
                  <a:srgbClr val="101214"/>
                </a:solidFill>
                <a:latin typeface="Hiragino Sans GB"/>
                <a:ea typeface="Hiragino Sans GB"/>
                <a:cs typeface="Hiragino Sans GB"/>
              </a:rPr>
              <a:t>行为实验：长上下文会退化，reward 也会被钻空子</a:t>
            </a:r>
          </a:p>
        </p:txBody>
      </p:sp>
      <p:sp>
        <p:nvSpPr>
          <p:cNvPr id="3" name="圆角矩形 2">
            <a:extLst>
              <a:ext uri="{FF2B5EF4-FFF2-40B4-BE49-F238E27FC236}">
                <a16:creationId xmlns:a16="http://schemas.microsoft.com/office/drawing/2014/main" id="{F484E623-8587-44D1-B962-803F887391F6}"/>
              </a:ext>
            </a:extLst>
          </p:cNvPr>
          <p:cNvSpPr>
            <a:spLocks noGrp="1"/>
          </p:cNvSpPr>
          <p:nvPr/>
        </p:nvSpPr>
        <p:spPr>
          <a:xfrm>
            <a:off x="419100" y="1257300"/>
            <a:ext cx="5391150" cy="3143250"/>
          </a:xfrm>
          <a:prstGeom prst="roundRect">
            <a:avLst>
              <a:gd name="adj" fmla="val 2424"/>
            </a:avLst>
          </a:prstGeom>
          <a:solidFill>
            <a:srgbClr val="F1F2F4"/>
          </a:solidFill>
          <a:ln w="9525">
            <a:solidFill>
              <a:srgbClr val="B8BCC4"/>
            </a:solidFill>
            <a:prstDash val="solid"/>
          </a:ln>
        </p:spPr>
      </p:sp>
      <p:sp>
        <p:nvSpPr>
          <p:cNvPr id="5" name="圆角矩形 4">
            <a:extLst>
              <a:ext uri="{FF2B5EF4-FFF2-40B4-BE49-F238E27FC236}">
                <a16:creationId xmlns:a16="http://schemas.microsoft.com/office/drawing/2014/main" id="{3477321F-A6CE-4F49-AAD9-2826D1184942}"/>
              </a:ext>
            </a:extLst>
          </p:cNvPr>
          <p:cNvSpPr>
            <a:spLocks noGrp="1"/>
          </p:cNvSpPr>
          <p:nvPr/>
        </p:nvSpPr>
        <p:spPr>
          <a:xfrm>
            <a:off x="6381750" y="1257300"/>
            <a:ext cx="5391150" cy="3143250"/>
          </a:xfrm>
          <a:prstGeom prst="roundRect">
            <a:avLst>
              <a:gd name="adj" fmla="val 2424"/>
            </a:avLst>
          </a:prstGeom>
          <a:solidFill>
            <a:srgbClr val="F1F2F4"/>
          </a:solidFill>
          <a:ln w="9525">
            <a:solidFill>
              <a:srgbClr val="B8BCC4"/>
            </a:solidFill>
            <a:prstDash val="solid"/>
          </a:ln>
        </p:spPr>
      </p:sp>
      <p:sp>
        <p:nvSpPr>
          <p:cNvPr id="7" name="圆角矩形 6">
            <a:extLst>
              <a:ext uri="{FF2B5EF4-FFF2-40B4-BE49-F238E27FC236}">
                <a16:creationId xmlns:a16="http://schemas.microsoft.com/office/drawing/2014/main" id="{6E6CCCAA-7CF1-48A0-949E-B71C320CB330}"/>
              </a:ext>
            </a:extLst>
          </p:cNvPr>
          <p:cNvSpPr>
            <a:spLocks noGrp="1"/>
          </p:cNvSpPr>
          <p:nvPr/>
        </p:nvSpPr>
        <p:spPr>
          <a:xfrm>
            <a:off x="571500" y="1428750"/>
            <a:ext cx="1143000" cy="285750"/>
          </a:xfrm>
          <a:prstGeom prst="roundRect">
            <a:avLst>
              <a:gd name="adj" fmla="val 50000"/>
            </a:avLst>
          </a:prstGeom>
          <a:solidFill>
            <a:srgbClr val="F1F2F4"/>
          </a:solidFill>
          <a:ln w="0">
            <a:noFill/>
            <a:prstDash val="solid"/>
          </a:ln>
        </p:spPr>
      </p:sp>
      <p:sp>
        <p:nvSpPr>
          <p:cNvPr id="8" name="矩形 7">
            <a:extLst>
              <a:ext uri="{FF2B5EF4-FFF2-40B4-BE49-F238E27FC236}">
                <a16:creationId xmlns:a16="http://schemas.microsoft.com/office/drawing/2014/main" id="{377DE1B8-20E0-4240-9E43-A965D682F153}"/>
              </a:ext>
            </a:extLst>
          </p:cNvPr>
          <p:cNvSpPr>
            <a:spLocks noGrp="1"/>
          </p:cNvSpPr>
          <p:nvPr/>
        </p:nvSpPr>
        <p:spPr>
          <a:xfrm>
            <a:off x="571500" y="1447800"/>
            <a:ext cx="1143000" cy="247650"/>
          </a:xfrm>
          <a:prstGeom prst="rect">
            <a:avLst/>
          </a:prstGeom>
          <a:noFill/>
          <a:ln w="0">
            <a:noFill/>
            <a:prstDash val="solid"/>
          </a:ln>
        </p:spPr>
        <p:txBody>
          <a:bodyPr wrap="square" lIns="0" tIns="0" rIns="0" bIns="0" anchor="ctr">
            <a:noAutofit/>
          </a:bodyPr>
          <a:lstStyle/>
          <a:p>
            <a:pPr algn="ctr">
              <a:buNone/>
              <a:defRPr sz="1050" b="1">
                <a:solidFill>
                  <a:srgbClr val="5E6470"/>
                </a:solidFill>
                <a:latin typeface="Hiragino Sans GB"/>
                <a:ea typeface="Hiragino Sans GB"/>
                <a:cs typeface="Hiragino Sans GB"/>
              </a:defRPr>
            </a:pPr>
            <a:r>
              <a:rPr sz="1050" b="1">
                <a:solidFill>
                  <a:srgbClr val="5E6470"/>
                </a:solidFill>
                <a:latin typeface="Hiragino Sans GB"/>
                <a:ea typeface="Hiragino Sans GB"/>
                <a:cs typeface="Hiragino Sans GB"/>
              </a:rPr>
              <a:t>Context mgmt</a:t>
            </a:r>
          </a:p>
        </p:txBody>
      </p:sp>
      <p:sp>
        <p:nvSpPr>
          <p:cNvPr id="9" name="圆角矩形 8">
            <a:extLst>
              <a:ext uri="{FF2B5EF4-FFF2-40B4-BE49-F238E27FC236}">
                <a16:creationId xmlns:a16="http://schemas.microsoft.com/office/drawing/2014/main" id="{E56526CD-2EB4-4ADB-A075-7FA32E8CFBF2}"/>
              </a:ext>
            </a:extLst>
          </p:cNvPr>
          <p:cNvSpPr>
            <a:spLocks noGrp="1"/>
          </p:cNvSpPr>
          <p:nvPr/>
        </p:nvSpPr>
        <p:spPr>
          <a:xfrm>
            <a:off x="6534150" y="1428750"/>
            <a:ext cx="876300" cy="285750"/>
          </a:xfrm>
          <a:prstGeom prst="roundRect">
            <a:avLst>
              <a:gd name="adj" fmla="val 50000"/>
            </a:avLst>
          </a:prstGeom>
          <a:solidFill>
            <a:srgbClr val="F1F2F4"/>
          </a:solidFill>
          <a:ln w="0">
            <a:noFill/>
            <a:prstDash val="solid"/>
          </a:ln>
        </p:spPr>
      </p:sp>
      <p:sp>
        <p:nvSpPr>
          <p:cNvPr id="10" name="矩形 9">
            <a:extLst>
              <a:ext uri="{FF2B5EF4-FFF2-40B4-BE49-F238E27FC236}">
                <a16:creationId xmlns:a16="http://schemas.microsoft.com/office/drawing/2014/main" id="{B52D9120-8DCD-4AA0-89E7-23F7F0B880CE}"/>
              </a:ext>
            </a:extLst>
          </p:cNvPr>
          <p:cNvSpPr>
            <a:spLocks noGrp="1"/>
          </p:cNvSpPr>
          <p:nvPr/>
        </p:nvSpPr>
        <p:spPr>
          <a:xfrm>
            <a:off x="6534150" y="1447800"/>
            <a:ext cx="876300" cy="247650"/>
          </a:xfrm>
          <a:prstGeom prst="rect">
            <a:avLst/>
          </a:prstGeom>
          <a:noFill/>
          <a:ln w="0">
            <a:noFill/>
            <a:prstDash val="solid"/>
          </a:ln>
        </p:spPr>
        <p:txBody>
          <a:bodyPr wrap="square" lIns="0" tIns="0" rIns="0" bIns="0" anchor="ctr">
            <a:noAutofit/>
          </a:bodyPr>
          <a:lstStyle/>
          <a:p>
            <a:pPr algn="ctr">
              <a:buNone/>
              <a:defRPr sz="1050" b="1">
                <a:solidFill>
                  <a:srgbClr val="5E6470"/>
                </a:solidFill>
                <a:latin typeface="Hiragino Sans GB"/>
                <a:ea typeface="Hiragino Sans GB"/>
                <a:cs typeface="Hiragino Sans GB"/>
              </a:defRPr>
            </a:pPr>
            <a:r>
              <a:rPr sz="1050" b="1">
                <a:solidFill>
                  <a:srgbClr val="5E6470"/>
                </a:solidFill>
                <a:latin typeface="Hiragino Sans GB"/>
                <a:ea typeface="Hiragino Sans GB"/>
                <a:cs typeface="Hiragino Sans GB"/>
              </a:rPr>
              <a:t>Reward hack</a:t>
            </a:r>
          </a:p>
        </p:txBody>
      </p:sp>
      <p:sp>
        <p:nvSpPr>
          <p:cNvPr id="11" name="圆角矩形 10">
            <a:extLst>
              <a:ext uri="{FF2B5EF4-FFF2-40B4-BE49-F238E27FC236}">
                <a16:creationId xmlns:a16="http://schemas.microsoft.com/office/drawing/2014/main" id="{C0F89618-8991-4118-9BF9-29DB0A41626E}"/>
              </a:ext>
            </a:extLst>
          </p:cNvPr>
          <p:cNvSpPr>
            <a:spLocks noGrp="1"/>
          </p:cNvSpPr>
          <p:nvPr/>
        </p:nvSpPr>
        <p:spPr>
          <a:xfrm>
            <a:off x="419100" y="4762500"/>
            <a:ext cx="11353800" cy="1066800"/>
          </a:xfrm>
          <a:prstGeom prst="roundRect">
            <a:avLst>
              <a:gd name="adj" fmla="val 7143"/>
            </a:avLst>
          </a:prstGeom>
          <a:solidFill>
            <a:srgbClr val="FDEBEC"/>
          </a:solidFill>
          <a:ln w="0">
            <a:noFill/>
            <a:prstDash val="solid"/>
          </a:ln>
        </p:spPr>
      </p:sp>
      <p:sp>
        <p:nvSpPr>
          <p:cNvPr id="12" name="矩形 11">
            <a:extLst>
              <a:ext uri="{FF2B5EF4-FFF2-40B4-BE49-F238E27FC236}">
                <a16:creationId xmlns:a16="http://schemas.microsoft.com/office/drawing/2014/main" id="{411B7AF1-0118-4B9C-8F26-864C3C833FD1}"/>
              </a:ext>
            </a:extLst>
          </p:cNvPr>
          <p:cNvSpPr>
            <a:spLocks noGrp="1"/>
          </p:cNvSpPr>
          <p:nvPr/>
        </p:nvSpPr>
        <p:spPr>
          <a:xfrm>
            <a:off x="685800" y="4981575"/>
            <a:ext cx="5715000" cy="342900"/>
          </a:xfrm>
          <a:prstGeom prst="rect">
            <a:avLst/>
          </a:prstGeom>
          <a:noFill/>
          <a:ln w="0">
            <a:noFill/>
            <a:prstDash val="solid"/>
          </a:ln>
        </p:spPr>
        <p:txBody>
          <a:bodyPr wrap="square" lIns="0" tIns="0" rIns="0" bIns="0" anchor="t">
            <a:noAutofit/>
          </a:bodyPr>
          <a:lstStyle/>
          <a:p>
            <a:pPr algn="l">
              <a:buNone/>
              <a:defRPr sz="1950" b="1">
                <a:solidFill>
                  <a:srgbClr val="D94C4C"/>
                </a:solidFill>
                <a:latin typeface="Hiragino Sans GB"/>
                <a:ea typeface="Hiragino Sans GB"/>
                <a:cs typeface="Hiragino Sans GB"/>
              </a:defRPr>
            </a:pPr>
            <a:r>
              <a:rPr sz="1950" b="1">
                <a:solidFill>
                  <a:srgbClr val="D94C4C"/>
                </a:solidFill>
                <a:latin typeface="Hiragino Sans GB"/>
                <a:ea typeface="Hiragino Sans GB"/>
                <a:cs typeface="Hiragino Sans GB"/>
              </a:rPr>
              <a:t>55.3 → 62.0 → 75.9</a:t>
            </a:r>
          </a:p>
        </p:txBody>
      </p:sp>
      <p:sp>
        <p:nvSpPr>
          <p:cNvPr id="13" name="矩形 12">
            <a:extLst>
              <a:ext uri="{FF2B5EF4-FFF2-40B4-BE49-F238E27FC236}">
                <a16:creationId xmlns:a16="http://schemas.microsoft.com/office/drawing/2014/main" id="{7C025FCD-0140-4995-9F8C-5560E4C6E2C7}"/>
              </a:ext>
            </a:extLst>
          </p:cNvPr>
          <p:cNvSpPr>
            <a:spLocks noGrp="1"/>
          </p:cNvSpPr>
          <p:nvPr/>
        </p:nvSpPr>
        <p:spPr>
          <a:xfrm>
            <a:off x="6762750" y="4924425"/>
            <a:ext cx="4667250" cy="590550"/>
          </a:xfrm>
          <a:prstGeom prst="rect">
            <a:avLst/>
          </a:prstGeom>
          <a:noFill/>
          <a:ln w="0">
            <a:noFill/>
            <a:prstDash val="solid"/>
          </a:ln>
        </p:spPr>
        <p:txBody>
          <a:bodyPr wrap="square" lIns="0" tIns="0" rIns="0" bIns="0" anchor="t">
            <a:noAutofit/>
          </a:bodyPr>
          <a:lstStyle/>
          <a:p>
            <a:pPr algn="l">
              <a:buNone/>
              <a:defRPr sz="1350" b="0">
                <a:solidFill>
                  <a:srgbClr val="101214"/>
                </a:solidFill>
                <a:latin typeface="Hiragino Sans GB"/>
                <a:ea typeface="Hiragino Sans GB"/>
                <a:cs typeface="Hiragino Sans GB"/>
              </a:defRPr>
            </a:pPr>
            <a:r>
              <a:rPr sz="1350" b="0">
                <a:solidFill>
                  <a:srgbClr val="101214"/>
                </a:solidFill>
                <a:latin typeface="Hiragino Sans GB"/>
                <a:ea typeface="Hiragino Sans GB"/>
                <a:cs typeface="Hiragino Sans GB"/>
              </a:rPr>
              <a:t>超长上下文（&gt;100k）准确率明显退化；Slide RL 学会隐藏内容、操纵 spacing。Compaction 与 runtime render 都是能力组件。</a:t>
            </a:r>
          </a:p>
        </p:txBody>
      </p:sp>
      <p:sp>
        <p:nvSpPr>
          <p:cNvPr id="14" name="直线连接符 13">
            <a:extLst>
              <a:ext uri="{FF2B5EF4-FFF2-40B4-BE49-F238E27FC236}">
                <a16:creationId xmlns:a16="http://schemas.microsoft.com/office/drawing/2014/main" id="{43E2D12E-82CE-494C-8418-A52B32A97916}"/>
              </a:ext>
            </a:extLst>
          </p:cNvPr>
          <p:cNvSpPr>
            <a:spLocks noGrp="1"/>
          </p:cNvSpPr>
          <p:nvPr/>
        </p:nvSpPr>
        <p:spPr>
          <a:xfrm>
            <a:off x="419100" y="6286500"/>
            <a:ext cx="11353800" cy="0"/>
          </a:xfrm>
          <a:prstGeom prst="line">
            <a:avLst/>
          </a:prstGeom>
          <a:noFill/>
          <a:ln w="9525">
            <a:solidFill>
              <a:srgbClr val="B8BCC4"/>
            </a:solidFill>
            <a:prstDash val="solid"/>
          </a:ln>
        </p:spPr>
      </p:sp>
      <p:sp>
        <p:nvSpPr>
          <p:cNvPr id="15" name="矩形 14">
            <a:extLst>
              <a:ext uri="{FF2B5EF4-FFF2-40B4-BE49-F238E27FC236}">
                <a16:creationId xmlns:a16="http://schemas.microsoft.com/office/drawing/2014/main" id="{3218787C-0698-4376-879A-9DA057FCDB22}"/>
              </a:ext>
            </a:extLst>
          </p:cNvPr>
          <p:cNvSpPr>
            <a:spLocks noGrp="1"/>
          </p:cNvSpPr>
          <p:nvPr/>
        </p:nvSpPr>
        <p:spPr>
          <a:xfrm>
            <a:off x="419100" y="6362700"/>
            <a:ext cx="10763250" cy="219075"/>
          </a:xfrm>
          <a:prstGeom prst="rect">
            <a:avLst/>
          </a:prstGeom>
          <a:noFill/>
          <a:ln w="0">
            <a:noFill/>
            <a:prstDash val="solid"/>
          </a:ln>
        </p:spPr>
        <p:txBody>
          <a:bodyPr wrap="square" lIns="0" tIns="0" rIns="0" bIns="0" anchor="t">
            <a:noAutofit/>
          </a:bodyPr>
          <a:lstStyle/>
          <a:p>
            <a:pPr algn="l">
              <a:buNone/>
              <a:defRPr sz="788" b="0">
                <a:solidFill>
                  <a:srgbClr val="5E6470"/>
                </a:solidFill>
                <a:latin typeface="Helvetica Neue"/>
                <a:ea typeface="Helvetica Neue"/>
                <a:cs typeface="Helvetica Neue"/>
              </a:defRPr>
            </a:pPr>
            <a:r>
              <a:rPr sz="788" b="0">
                <a:solidFill>
                  <a:srgbClr val="5E6470"/>
                </a:solidFill>
                <a:latin typeface="Helvetica Neue"/>
                <a:ea typeface="Helvetica Neue"/>
                <a:cs typeface="Helvetica Neue"/>
              </a:rPr>
              <a:t>GLM-5 technical report, arXiv:2602.15763, Figure 8–9</a:t>
            </a:r>
          </a:p>
        </p:txBody>
      </p:sp>
      <p:sp>
        <p:nvSpPr>
          <p:cNvPr id="16" name="矩形 15">
            <a:extLst>
              <a:ext uri="{FF2B5EF4-FFF2-40B4-BE49-F238E27FC236}">
                <a16:creationId xmlns:a16="http://schemas.microsoft.com/office/drawing/2014/main" id="{BA57E205-E4DB-4A97-A06F-691E63CBDDBC}"/>
              </a:ext>
            </a:extLst>
          </p:cNvPr>
          <p:cNvSpPr>
            <a:spLocks noGrp="1"/>
          </p:cNvSpPr>
          <p:nvPr/>
        </p:nvSpPr>
        <p:spPr>
          <a:xfrm>
            <a:off x="11334750" y="6362700"/>
            <a:ext cx="438150" cy="219075"/>
          </a:xfrm>
          <a:prstGeom prst="rect">
            <a:avLst/>
          </a:prstGeom>
          <a:noFill/>
          <a:ln w="0">
            <a:noFill/>
            <a:prstDash val="solid"/>
          </a:ln>
        </p:spPr>
        <p:txBody>
          <a:bodyPr wrap="square" lIns="0" tIns="0" rIns="0" bIns="0" anchor="t">
            <a:noAutofit/>
          </a:bodyPr>
          <a:lstStyle/>
          <a:p>
            <a:pPr algn="r">
              <a:buNone/>
              <a:defRPr sz="825" b="0">
                <a:solidFill>
                  <a:srgbClr val="5E6470"/>
                </a:solidFill>
                <a:latin typeface="Helvetica Neue"/>
                <a:ea typeface="Helvetica Neue"/>
                <a:cs typeface="Helvetica Neue"/>
              </a:defRPr>
            </a:pPr>
            <a:r>
              <a:rPr sz="825" b="0">
                <a:solidFill>
                  <a:srgbClr val="5E6470"/>
                </a:solidFill>
                <a:latin typeface="Helvetica Neue"/>
                <a:ea typeface="Helvetica Neue"/>
                <a:cs typeface="Helvetica Neue"/>
              </a:rPr>
              <a:t>37</a:t>
            </a:r>
          </a:p>
        </p:txBody>
      </p:sp>
      <p:pic>
        <p:nvPicPr>
          <p:cNvPr id="34" name="图片 35"/>
          <p:cNvPicPr>
            <a:picLocks noChangeAspect="1"/>
          </p:cNvPicPr>
          <p:nvPr/>
        </p:nvPicPr>
        <p:blipFill>
          <a:blip r:embed="rId3"/>
          <a:stretch/>
        </p:blipFill>
        <p:spPr>
          <a:xfrm>
            <a:off x="1232535" y="1752600"/>
            <a:ext cx="3764280" cy="2476500"/>
          </a:xfrm>
          <a:prstGeom prst="roundRect">
            <a:avLst/>
          </a:prstGeom>
        </p:spPr>
      </p:pic>
      <p:pic>
        <p:nvPicPr>
          <p:cNvPr id="35" name="图片 36"/>
          <p:cNvPicPr>
            <a:picLocks noChangeAspect="1"/>
          </p:cNvPicPr>
          <p:nvPr/>
        </p:nvPicPr>
        <p:blipFill>
          <a:blip r:embed="rId4"/>
          <a:stretch/>
        </p:blipFill>
        <p:spPr>
          <a:xfrm>
            <a:off x="7077075" y="1752600"/>
            <a:ext cx="4000500" cy="2476500"/>
          </a:xfrm>
          <a:prstGeom prst="roundRect">
            <a:avLst/>
          </a:prstGeom>
        </p:spPr>
      </p:pic>
    </p:spTree>
    <p:extLst>
      <p:ext uri="{BB962C8B-B14F-4D97-AF65-F5344CB8AC3E}">
        <p14:creationId xmlns:p14="http://schemas.microsoft.com/office/powerpoint/2010/main" val="21435659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09B04460-BEC2-F791-E8B5-1A56DD0E4DF0}"/>
              </a:ext>
            </a:extLst>
          </p:cNvPr>
          <p:cNvSpPr>
            <a:spLocks noGrp="1"/>
          </p:cNvSpPr>
          <p:nvPr/>
        </p:nvSpPr>
        <p:spPr>
          <a:xfrm>
            <a:off x="419100" y="1846305"/>
            <a:ext cx="10726695" cy="1809750"/>
          </a:xfrm>
          <a:prstGeom prst="rect">
            <a:avLst/>
          </a:prstGeom>
          <a:noFill/>
          <a:ln w="0">
            <a:noFill/>
            <a:prstDash val="solid"/>
          </a:ln>
        </p:spPr>
        <p:txBody>
          <a:bodyPr wrap="square" lIns="0" tIns="0" rIns="0" bIns="0" anchor="b">
            <a:noAutofit/>
          </a:bodyPr>
          <a:lstStyle/>
          <a:p>
            <a:pPr algn="l">
              <a:buNone/>
              <a:defRPr sz="4350" b="1">
                <a:solidFill>
                  <a:srgbClr val="101214"/>
                </a:solidFill>
                <a:latin typeface="Hiragino Sans GB"/>
                <a:ea typeface="Hiragino Sans GB"/>
                <a:cs typeface="Hiragino Sans GB"/>
              </a:defRPr>
            </a:pPr>
            <a:endParaRPr/>
          </a:p>
        </p:txBody>
      </p:sp>
      <p:sp>
        <p:nvSpPr>
          <p:cNvPr id="5" name="文本框 4">
            <a:extLst>
              <a:ext uri="{FF2B5EF4-FFF2-40B4-BE49-F238E27FC236}">
                <a16:creationId xmlns:a16="http://schemas.microsoft.com/office/drawing/2014/main" id="{3E5F628E-39A2-06E0-3976-84725ED03AD1}"/>
              </a:ext>
            </a:extLst>
          </p:cNvPr>
          <p:cNvSpPr>
            <a:spLocks noGrp="1"/>
          </p:cNvSpPr>
          <p:nvPr/>
        </p:nvSpPr>
        <p:spPr>
          <a:xfrm>
            <a:off x="128337" y="2371908"/>
            <a:ext cx="11935326" cy="1446550"/>
          </a:xfrm>
          <a:prstGeom prst="rect">
            <a:avLst/>
          </a:prstGeom>
          <a:noFill/>
        </p:spPr>
        <p:txBody>
          <a:bodyPr wrap="square">
            <a:spAutoFit/>
          </a:bodyPr>
          <a:lstStyle/>
          <a:p>
            <a:pPr algn="ctr">
              <a:buNone/>
            </a:pPr>
            <a:r>
              <a:rPr sz="4400" b="1"/>
              <a:t>Kimi K3:</a:t>
            </a:r>
          </a:p>
          <a:p>
            <a:pPr algn="ctr">
              <a:buNone/>
            </a:pPr>
            <a:r>
              <a:rPr sz="4400" b="1"/>
              <a:t>Open Frontier Intelligence</a:t>
            </a:r>
          </a:p>
        </p:txBody>
      </p:sp>
      <p:sp>
        <p:nvSpPr>
          <p:cNvPr id="6" name="矩形 5">
            <a:extLst>
              <a:ext uri="{FF2B5EF4-FFF2-40B4-BE49-F238E27FC236}">
                <a16:creationId xmlns:a16="http://schemas.microsoft.com/office/drawing/2014/main" id="{3DE99FA2-1243-D7C5-618A-2218CD935318}"/>
              </a:ext>
            </a:extLst>
          </p:cNvPr>
          <p:cNvSpPr>
            <a:spLocks noGrp="1"/>
          </p:cNvSpPr>
          <p:nvPr/>
        </p:nvSpPr>
        <p:spPr>
          <a:xfrm>
            <a:off x="1428750" y="4010208"/>
            <a:ext cx="9334500" cy="342900"/>
          </a:xfrm>
          <a:prstGeom prst="rect">
            <a:avLst/>
          </a:prstGeom>
          <a:noFill/>
          <a:ln w="0">
            <a:noFill/>
            <a:prstDash val="solid"/>
          </a:ln>
        </p:spPr>
        <p:txBody>
          <a:bodyPr wrap="square" lIns="0" tIns="0" rIns="0" bIns="0" anchor="t">
            <a:noAutofit/>
          </a:bodyPr>
          <a:lstStyle/>
          <a:p>
            <a:pPr algn="ctr">
              <a:buNone/>
              <a:defRPr sz="1350" b="0">
                <a:solidFill>
                  <a:srgbClr val="5E6470"/>
                </a:solidFill>
                <a:latin typeface="Helvetica Neue"/>
                <a:ea typeface="Helvetica Neue"/>
                <a:cs typeface="Helvetica Neue"/>
              </a:defRPr>
            </a:pPr>
            <a:r>
              <a:rPr sz="1350">
                <a:solidFill>
                  <a:srgbClr val="5E6470"/>
                </a:solidFill>
                <a:latin typeface="Helvetica Neue"/>
                <a:ea typeface="Helvetica Neue"/>
                <a:cs typeface="Helvetica Neue"/>
              </a:rPr>
              <a:t>Moonshot AI technical blog · 2026</a:t>
            </a:r>
          </a:p>
        </p:txBody>
      </p:sp>
    </p:spTree>
    <p:extLst>
      <p:ext uri="{BB962C8B-B14F-4D97-AF65-F5344CB8AC3E}">
        <p14:creationId xmlns:p14="http://schemas.microsoft.com/office/powerpoint/2010/main" val="15230968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矩形 20">
            <a:extLst>
              <a:ext uri="{FF2B5EF4-FFF2-40B4-BE49-F238E27FC236}">
                <a16:creationId xmlns:a16="http://schemas.microsoft.com/office/drawing/2014/main" id="{FBADB047-B3A5-40E7-AC69-3869A5503323}"/>
              </a:ext>
            </a:extLst>
          </p:cNvPr>
          <p:cNvSpPr>
            <a:spLocks noGrp="1"/>
          </p:cNvSpPr>
          <p:nvPr/>
        </p:nvSpPr>
        <p:spPr>
          <a:xfrm>
            <a:off x="419100" y="171450"/>
            <a:ext cx="2952750" cy="228600"/>
          </a:xfrm>
          <a:prstGeom prst="rect">
            <a:avLst/>
          </a:prstGeom>
          <a:noFill/>
          <a:ln w="0">
            <a:noFill/>
            <a:prstDash val="solid"/>
          </a:ln>
        </p:spPr>
        <p:txBody>
          <a:bodyPr wrap="square" lIns="0" tIns="0" rIns="0" bIns="0" anchor="t">
            <a:noAutofit/>
          </a:bodyPr>
          <a:lstStyle/>
          <a:p>
            <a:pPr algn="l">
              <a:buNone/>
              <a:defRPr sz="975" b="1">
                <a:solidFill>
                  <a:srgbClr val="5E6470"/>
                </a:solidFill>
                <a:latin typeface="Helvetica Neue"/>
                <a:ea typeface="Helvetica Neue"/>
                <a:cs typeface="Helvetica Neue"/>
              </a:defRPr>
            </a:pPr>
            <a:r>
              <a:rPr sz="975" b="1">
                <a:solidFill>
                  <a:srgbClr val="5E6470"/>
                </a:solidFill>
                <a:latin typeface="Helvetica Neue"/>
                <a:ea typeface="Helvetica Neue"/>
                <a:cs typeface="Helvetica Neue"/>
              </a:rPr>
              <a:t>III · KIMI K3</a:t>
            </a:r>
          </a:p>
        </p:txBody>
      </p:sp>
      <p:sp>
        <p:nvSpPr>
          <p:cNvPr id="2" name="矩形 1">
            <a:extLst>
              <a:ext uri="{FF2B5EF4-FFF2-40B4-BE49-F238E27FC236}">
                <a16:creationId xmlns:a16="http://schemas.microsoft.com/office/drawing/2014/main" id="{CBF3C488-CF73-4491-8C53-AE010D19AFB5}"/>
              </a:ext>
            </a:extLst>
          </p:cNvPr>
          <p:cNvSpPr>
            <a:spLocks noGrp="1"/>
          </p:cNvSpPr>
          <p:nvPr/>
        </p:nvSpPr>
        <p:spPr>
          <a:xfrm>
            <a:off x="419100" y="409575"/>
            <a:ext cx="11353800" cy="514350"/>
          </a:xfrm>
          <a:prstGeom prst="rect">
            <a:avLst/>
          </a:prstGeom>
          <a:noFill/>
          <a:ln w="0">
            <a:noFill/>
            <a:prstDash val="solid"/>
          </a:ln>
        </p:spPr>
        <p:txBody>
          <a:bodyPr wrap="square" lIns="0" tIns="0" rIns="0" bIns="0" anchor="t">
            <a:noAutofit/>
          </a:bodyPr>
          <a:lstStyle/>
          <a:p>
            <a:pPr algn="l">
              <a:buNone/>
              <a:defRPr sz="2850" b="1">
                <a:solidFill>
                  <a:srgbClr val="101214"/>
                </a:solidFill>
                <a:latin typeface="Hiragino Sans GB"/>
                <a:ea typeface="Hiragino Sans GB"/>
                <a:cs typeface="Hiragino Sans GB"/>
              </a:defRPr>
            </a:pPr>
            <a:r>
              <a:rPr sz="2850" b="1">
                <a:solidFill>
                  <a:srgbClr val="101214"/>
                </a:solidFill>
                <a:latin typeface="Hiragino Sans GB"/>
                <a:ea typeface="Hiragino Sans GB"/>
                <a:cs typeface="Hiragino Sans GB"/>
              </a:rPr>
              <a:t>Kimi K3：规模、稀疏度与原生多模态</a:t>
            </a:r>
          </a:p>
        </p:txBody>
      </p:sp>
      <p:pic>
        <p:nvPicPr>
          <p:cNvPr id="25" name="图片 22"/>
          <p:cNvPicPr>
            <a:picLocks noChangeAspect="1"/>
          </p:cNvPicPr>
          <p:nvPr/>
        </p:nvPicPr>
        <p:blipFill>
          <a:blip r:embed="rId3"/>
          <a:srcRect l="17379" r="17379"/>
          <a:stretch>
            <a:fillRect/>
          </a:stretch>
        </p:blipFill>
        <p:spPr>
          <a:xfrm>
            <a:off x="6477000" y="1162050"/>
            <a:ext cx="5295900" cy="3714750"/>
          </a:xfrm>
          <a:prstGeom prst="roundRect">
            <a:avLst>
              <a:gd name="adj" fmla="val 2051"/>
            </a:avLst>
          </a:prstGeom>
        </p:spPr>
      </p:pic>
      <p:sp>
        <p:nvSpPr>
          <p:cNvPr id="4" name="圆角矩形 3">
            <a:extLst>
              <a:ext uri="{FF2B5EF4-FFF2-40B4-BE49-F238E27FC236}">
                <a16:creationId xmlns:a16="http://schemas.microsoft.com/office/drawing/2014/main" id="{77EDA8E2-1CA3-4D02-A46B-B5065E8BD2F5}"/>
              </a:ext>
            </a:extLst>
          </p:cNvPr>
          <p:cNvSpPr>
            <a:spLocks noGrp="1"/>
          </p:cNvSpPr>
          <p:nvPr/>
        </p:nvSpPr>
        <p:spPr>
          <a:xfrm>
            <a:off x="419100" y="1238250"/>
            <a:ext cx="1714500" cy="1123950"/>
          </a:xfrm>
          <a:prstGeom prst="roundRect">
            <a:avLst>
              <a:gd name="adj" fmla="val 6780"/>
            </a:avLst>
          </a:prstGeom>
          <a:solidFill>
            <a:srgbClr val="F1F2F4"/>
          </a:solidFill>
          <a:ln w="0">
            <a:noFill/>
            <a:prstDash val="solid"/>
          </a:ln>
        </p:spPr>
      </p:sp>
      <p:sp>
        <p:nvSpPr>
          <p:cNvPr id="5" name="矩形 4">
            <a:extLst>
              <a:ext uri="{FF2B5EF4-FFF2-40B4-BE49-F238E27FC236}">
                <a16:creationId xmlns:a16="http://schemas.microsoft.com/office/drawing/2014/main" id="{D1D7D8E9-814A-47DA-9905-07DC5BE506B0}"/>
              </a:ext>
            </a:extLst>
          </p:cNvPr>
          <p:cNvSpPr>
            <a:spLocks noGrp="1"/>
          </p:cNvSpPr>
          <p:nvPr/>
        </p:nvSpPr>
        <p:spPr>
          <a:xfrm>
            <a:off x="590550" y="1381125"/>
            <a:ext cx="1371600" cy="514350"/>
          </a:xfrm>
          <a:prstGeom prst="rect">
            <a:avLst/>
          </a:prstGeom>
          <a:noFill/>
          <a:ln w="0">
            <a:noFill/>
            <a:prstDash val="solid"/>
          </a:ln>
        </p:spPr>
        <p:txBody>
          <a:bodyPr wrap="square" lIns="0" tIns="0" rIns="0" bIns="0" anchor="b">
            <a:noAutofit/>
          </a:bodyPr>
          <a:lstStyle/>
          <a:p>
            <a:pPr algn="l">
              <a:buNone/>
              <a:defRPr sz="2550" b="1">
                <a:solidFill>
                  <a:srgbClr val="101214"/>
                </a:solidFill>
                <a:latin typeface="Helvetica Neue"/>
                <a:ea typeface="Helvetica Neue"/>
                <a:cs typeface="Helvetica Neue"/>
              </a:defRPr>
            </a:pPr>
            <a:r>
              <a:rPr sz="2550" b="1">
                <a:solidFill>
                  <a:srgbClr val="101214"/>
                </a:solidFill>
                <a:latin typeface="Helvetica Neue"/>
                <a:ea typeface="Helvetica Neue"/>
                <a:cs typeface="Helvetica Neue"/>
              </a:rPr>
              <a:t>2.8T</a:t>
            </a:r>
          </a:p>
        </p:txBody>
      </p:sp>
      <p:sp>
        <p:nvSpPr>
          <p:cNvPr id="6" name="矩形 5">
            <a:extLst>
              <a:ext uri="{FF2B5EF4-FFF2-40B4-BE49-F238E27FC236}">
                <a16:creationId xmlns:a16="http://schemas.microsoft.com/office/drawing/2014/main" id="{AD91BD77-7F83-4214-9223-0F4E2C9CFAA2}"/>
              </a:ext>
            </a:extLst>
          </p:cNvPr>
          <p:cNvSpPr>
            <a:spLocks noGrp="1"/>
          </p:cNvSpPr>
          <p:nvPr/>
        </p:nvSpPr>
        <p:spPr>
          <a:xfrm>
            <a:off x="590550" y="1943100"/>
            <a:ext cx="1371600" cy="266700"/>
          </a:xfrm>
          <a:prstGeom prst="rect">
            <a:avLst/>
          </a:prstGeom>
          <a:noFill/>
          <a:ln w="0">
            <a:noFill/>
            <a:prstDash val="solid"/>
          </a:ln>
        </p:spPr>
        <p:txBody>
          <a:bodyPr wrap="square" lIns="0" tIns="0" rIns="0" bIns="0" anchor="t">
            <a:noAutofit/>
          </a:bodyPr>
          <a:lstStyle/>
          <a:p>
            <a:pPr algn="l">
              <a:buNone/>
              <a:defRPr sz="1125" b="0">
                <a:solidFill>
                  <a:srgbClr val="5E6470"/>
                </a:solidFill>
                <a:latin typeface="Hiragino Sans GB"/>
                <a:ea typeface="Hiragino Sans GB"/>
                <a:cs typeface="Hiragino Sans GB"/>
              </a:defRPr>
            </a:pPr>
            <a:r>
              <a:rPr sz="1125" b="0">
                <a:solidFill>
                  <a:srgbClr val="5E6470"/>
                </a:solidFill>
                <a:latin typeface="Hiragino Sans GB"/>
                <a:ea typeface="Hiragino Sans GB"/>
                <a:cs typeface="Hiragino Sans GB"/>
              </a:rPr>
              <a:t>total parameters</a:t>
            </a:r>
          </a:p>
        </p:txBody>
      </p:sp>
      <p:sp>
        <p:nvSpPr>
          <p:cNvPr id="7" name="圆角矩形 6">
            <a:extLst>
              <a:ext uri="{FF2B5EF4-FFF2-40B4-BE49-F238E27FC236}">
                <a16:creationId xmlns:a16="http://schemas.microsoft.com/office/drawing/2014/main" id="{7E5F557E-DD4B-45FC-8BE1-F70B010ED81B}"/>
              </a:ext>
            </a:extLst>
          </p:cNvPr>
          <p:cNvSpPr>
            <a:spLocks noGrp="1"/>
          </p:cNvSpPr>
          <p:nvPr/>
        </p:nvSpPr>
        <p:spPr>
          <a:xfrm>
            <a:off x="2324100" y="1238250"/>
            <a:ext cx="1714500" cy="1123950"/>
          </a:xfrm>
          <a:prstGeom prst="roundRect">
            <a:avLst>
              <a:gd name="adj" fmla="val 6780"/>
            </a:avLst>
          </a:prstGeom>
          <a:solidFill>
            <a:srgbClr val="EAF5FB"/>
          </a:solidFill>
          <a:ln w="0">
            <a:noFill/>
            <a:prstDash val="solid"/>
          </a:ln>
        </p:spPr>
      </p:sp>
      <p:sp>
        <p:nvSpPr>
          <p:cNvPr id="8" name="矩形 7">
            <a:extLst>
              <a:ext uri="{FF2B5EF4-FFF2-40B4-BE49-F238E27FC236}">
                <a16:creationId xmlns:a16="http://schemas.microsoft.com/office/drawing/2014/main" id="{AED3FA9C-8553-4A70-83B6-FC58419D4E74}"/>
              </a:ext>
            </a:extLst>
          </p:cNvPr>
          <p:cNvSpPr>
            <a:spLocks noGrp="1"/>
          </p:cNvSpPr>
          <p:nvPr/>
        </p:nvSpPr>
        <p:spPr>
          <a:xfrm>
            <a:off x="2495550" y="1381125"/>
            <a:ext cx="1371600" cy="514350"/>
          </a:xfrm>
          <a:prstGeom prst="rect">
            <a:avLst/>
          </a:prstGeom>
          <a:noFill/>
          <a:ln w="0">
            <a:noFill/>
            <a:prstDash val="solid"/>
          </a:ln>
        </p:spPr>
        <p:txBody>
          <a:bodyPr wrap="square" lIns="0" tIns="0" rIns="0" bIns="0" anchor="b">
            <a:noAutofit/>
          </a:bodyPr>
          <a:lstStyle/>
          <a:p>
            <a:pPr algn="l">
              <a:buNone/>
              <a:defRPr sz="2550" b="1">
                <a:solidFill>
                  <a:srgbClr val="2787F5"/>
                </a:solidFill>
                <a:latin typeface="Helvetica Neue"/>
                <a:ea typeface="Helvetica Neue"/>
                <a:cs typeface="Helvetica Neue"/>
              </a:defRPr>
            </a:pPr>
            <a:r>
              <a:rPr sz="2550" b="1">
                <a:solidFill>
                  <a:srgbClr val="2787F5"/>
                </a:solidFill>
                <a:latin typeface="Helvetica Neue"/>
                <a:ea typeface="Helvetica Neue"/>
                <a:cs typeface="Helvetica Neue"/>
              </a:rPr>
              <a:t>1M</a:t>
            </a:r>
          </a:p>
        </p:txBody>
      </p:sp>
      <p:sp>
        <p:nvSpPr>
          <p:cNvPr id="9" name="矩形 8">
            <a:extLst>
              <a:ext uri="{FF2B5EF4-FFF2-40B4-BE49-F238E27FC236}">
                <a16:creationId xmlns:a16="http://schemas.microsoft.com/office/drawing/2014/main" id="{F7481CFE-BC33-48EC-884B-4008437827A6}"/>
              </a:ext>
            </a:extLst>
          </p:cNvPr>
          <p:cNvSpPr>
            <a:spLocks noGrp="1"/>
          </p:cNvSpPr>
          <p:nvPr/>
        </p:nvSpPr>
        <p:spPr>
          <a:xfrm>
            <a:off x="2495550" y="1943100"/>
            <a:ext cx="1371600" cy="266700"/>
          </a:xfrm>
          <a:prstGeom prst="rect">
            <a:avLst/>
          </a:prstGeom>
          <a:noFill/>
          <a:ln w="0">
            <a:noFill/>
            <a:prstDash val="solid"/>
          </a:ln>
        </p:spPr>
        <p:txBody>
          <a:bodyPr wrap="square" lIns="0" tIns="0" rIns="0" bIns="0" anchor="t">
            <a:noAutofit/>
          </a:bodyPr>
          <a:lstStyle/>
          <a:p>
            <a:pPr algn="l">
              <a:buNone/>
              <a:defRPr sz="1125" b="0">
                <a:solidFill>
                  <a:srgbClr val="5E6470"/>
                </a:solidFill>
                <a:latin typeface="Hiragino Sans GB"/>
                <a:ea typeface="Hiragino Sans GB"/>
                <a:cs typeface="Hiragino Sans GB"/>
              </a:defRPr>
            </a:pPr>
            <a:r>
              <a:rPr sz="1125" b="0">
                <a:solidFill>
                  <a:srgbClr val="5E6470"/>
                </a:solidFill>
                <a:latin typeface="Hiragino Sans GB"/>
                <a:ea typeface="Hiragino Sans GB"/>
                <a:cs typeface="Hiragino Sans GB"/>
              </a:rPr>
              <a:t>context window</a:t>
            </a:r>
          </a:p>
        </p:txBody>
      </p:sp>
      <p:sp>
        <p:nvSpPr>
          <p:cNvPr id="10" name="圆角矩形 9">
            <a:extLst>
              <a:ext uri="{FF2B5EF4-FFF2-40B4-BE49-F238E27FC236}">
                <a16:creationId xmlns:a16="http://schemas.microsoft.com/office/drawing/2014/main" id="{844A4F0E-2BFD-41E0-8CF5-685BDFF35AF8}"/>
              </a:ext>
            </a:extLst>
          </p:cNvPr>
          <p:cNvSpPr>
            <a:spLocks noGrp="1"/>
          </p:cNvSpPr>
          <p:nvPr/>
        </p:nvSpPr>
        <p:spPr>
          <a:xfrm>
            <a:off x="4229100" y="1238250"/>
            <a:ext cx="1809750" cy="1123950"/>
          </a:xfrm>
          <a:prstGeom prst="roundRect">
            <a:avLst>
              <a:gd name="adj" fmla="val 6780"/>
            </a:avLst>
          </a:prstGeom>
          <a:solidFill>
            <a:srgbClr val="F0ECFD"/>
          </a:solidFill>
          <a:ln w="0">
            <a:noFill/>
            <a:prstDash val="solid"/>
          </a:ln>
        </p:spPr>
      </p:sp>
      <p:sp>
        <p:nvSpPr>
          <p:cNvPr id="11" name="矩形 10">
            <a:extLst>
              <a:ext uri="{FF2B5EF4-FFF2-40B4-BE49-F238E27FC236}">
                <a16:creationId xmlns:a16="http://schemas.microsoft.com/office/drawing/2014/main" id="{CE966C05-BF7D-4E58-AEF3-DA807A66FC35}"/>
              </a:ext>
            </a:extLst>
          </p:cNvPr>
          <p:cNvSpPr>
            <a:spLocks noGrp="1"/>
          </p:cNvSpPr>
          <p:nvPr/>
        </p:nvSpPr>
        <p:spPr>
          <a:xfrm>
            <a:off x="4400550" y="1381125"/>
            <a:ext cx="1466850" cy="514350"/>
          </a:xfrm>
          <a:prstGeom prst="rect">
            <a:avLst/>
          </a:prstGeom>
          <a:noFill/>
          <a:ln w="0">
            <a:noFill/>
            <a:prstDash val="solid"/>
          </a:ln>
        </p:spPr>
        <p:txBody>
          <a:bodyPr wrap="square" lIns="0" tIns="0" rIns="0" bIns="0" anchor="b">
            <a:noAutofit/>
          </a:bodyPr>
          <a:lstStyle/>
          <a:p>
            <a:pPr algn="l">
              <a:buNone/>
              <a:defRPr sz="2550" b="1">
                <a:solidFill>
                  <a:srgbClr val="7257D5"/>
                </a:solidFill>
                <a:latin typeface="Helvetica Neue"/>
                <a:ea typeface="Helvetica Neue"/>
                <a:cs typeface="Helvetica Neue"/>
              </a:defRPr>
            </a:pPr>
            <a:r>
              <a:rPr sz="2550" b="1">
                <a:solidFill>
                  <a:srgbClr val="7257D5"/>
                </a:solidFill>
                <a:latin typeface="Helvetica Neue"/>
                <a:ea typeface="Helvetica Neue"/>
                <a:cs typeface="Helvetica Neue"/>
              </a:rPr>
              <a:t>16 / 896</a:t>
            </a:r>
          </a:p>
        </p:txBody>
      </p:sp>
      <p:sp>
        <p:nvSpPr>
          <p:cNvPr id="12" name="矩形 11">
            <a:extLst>
              <a:ext uri="{FF2B5EF4-FFF2-40B4-BE49-F238E27FC236}">
                <a16:creationId xmlns:a16="http://schemas.microsoft.com/office/drawing/2014/main" id="{B5326D6F-B511-4F8C-9A71-1C3B0708A7C1}"/>
              </a:ext>
            </a:extLst>
          </p:cNvPr>
          <p:cNvSpPr>
            <a:spLocks noGrp="1"/>
          </p:cNvSpPr>
          <p:nvPr/>
        </p:nvSpPr>
        <p:spPr>
          <a:xfrm>
            <a:off x="4400550" y="1943100"/>
            <a:ext cx="1466850" cy="266700"/>
          </a:xfrm>
          <a:prstGeom prst="rect">
            <a:avLst/>
          </a:prstGeom>
          <a:noFill/>
          <a:ln w="0">
            <a:noFill/>
            <a:prstDash val="solid"/>
          </a:ln>
        </p:spPr>
        <p:txBody>
          <a:bodyPr wrap="square" lIns="0" tIns="0" rIns="0" bIns="0" anchor="t">
            <a:noAutofit/>
          </a:bodyPr>
          <a:lstStyle/>
          <a:p>
            <a:pPr algn="l">
              <a:buNone/>
              <a:defRPr sz="1125" b="0">
                <a:solidFill>
                  <a:srgbClr val="5E6470"/>
                </a:solidFill>
                <a:latin typeface="Hiragino Sans GB"/>
                <a:ea typeface="Hiragino Sans GB"/>
                <a:cs typeface="Hiragino Sans GB"/>
              </a:defRPr>
            </a:pPr>
            <a:r>
              <a:rPr sz="1125" b="0">
                <a:solidFill>
                  <a:srgbClr val="5E6470"/>
                </a:solidFill>
                <a:latin typeface="Hiragino Sans GB"/>
                <a:ea typeface="Hiragino Sans GB"/>
                <a:cs typeface="Hiragino Sans GB"/>
              </a:rPr>
              <a:t>active / total experts</a:t>
            </a:r>
          </a:p>
        </p:txBody>
      </p:sp>
      <p:sp>
        <p:nvSpPr>
          <p:cNvPr id="13" name="矩形 12">
            <a:extLst>
              <a:ext uri="{FF2B5EF4-FFF2-40B4-BE49-F238E27FC236}">
                <a16:creationId xmlns:a16="http://schemas.microsoft.com/office/drawing/2014/main" id="{A0951027-32C3-46EF-8C2D-F7F825655731}"/>
              </a:ext>
            </a:extLst>
          </p:cNvPr>
          <p:cNvSpPr>
            <a:spLocks noGrp="1"/>
          </p:cNvSpPr>
          <p:nvPr/>
        </p:nvSpPr>
        <p:spPr>
          <a:xfrm>
            <a:off x="419100" y="2724150"/>
            <a:ext cx="2095500" cy="285750"/>
          </a:xfrm>
          <a:prstGeom prst="rect">
            <a:avLst/>
          </a:prstGeom>
          <a:noFill/>
          <a:ln w="0">
            <a:noFill/>
            <a:prstDash val="solid"/>
          </a:ln>
        </p:spPr>
        <p:txBody>
          <a:bodyPr wrap="square" lIns="0" tIns="0" rIns="0" bIns="0" anchor="t">
            <a:noAutofit/>
          </a:bodyPr>
          <a:lstStyle/>
          <a:p>
            <a:pPr algn="l">
              <a:buNone/>
              <a:defRPr sz="1650" b="1">
                <a:solidFill>
                  <a:srgbClr val="101214"/>
                </a:solidFill>
                <a:latin typeface="Helvetica Neue"/>
                <a:ea typeface="Helvetica Neue"/>
                <a:cs typeface="Helvetica Neue"/>
              </a:defRPr>
            </a:pPr>
            <a:r>
              <a:rPr sz="1650" b="1">
                <a:solidFill>
                  <a:srgbClr val="101214"/>
                </a:solidFill>
                <a:latin typeface="Helvetica Neue"/>
                <a:ea typeface="Helvetica Neue"/>
                <a:cs typeface="Helvetica Neue"/>
              </a:rPr>
              <a:t>Architecture</a:t>
            </a:r>
          </a:p>
        </p:txBody>
      </p:sp>
      <p:sp>
        <p:nvSpPr>
          <p:cNvPr id="14" name="矩形 13">
            <a:extLst>
              <a:ext uri="{FF2B5EF4-FFF2-40B4-BE49-F238E27FC236}">
                <a16:creationId xmlns:a16="http://schemas.microsoft.com/office/drawing/2014/main" id="{7D9FA81B-C41C-46FC-B91A-B50AADA07A5C}"/>
              </a:ext>
            </a:extLst>
          </p:cNvPr>
          <p:cNvSpPr>
            <a:spLocks noGrp="1"/>
          </p:cNvSpPr>
          <p:nvPr/>
        </p:nvSpPr>
        <p:spPr>
          <a:xfrm>
            <a:off x="419100" y="3143250"/>
            <a:ext cx="5619750" cy="1666875"/>
          </a:xfrm>
          <a:prstGeom prst="rect">
            <a:avLst/>
          </a:prstGeom>
          <a:noFill/>
          <a:ln w="0">
            <a:noFill/>
            <a:prstDash val="solid"/>
          </a:ln>
        </p:spPr>
        <p:txBody>
          <a:bodyPr wrap="square" lIns="0" tIns="0" rIns="0" bIns="0" anchor="t">
            <a:noAutofit/>
          </a:bodyPr>
          <a:lstStyle/>
          <a:p>
            <a:pPr marL="22" indent="-12" algn="l">
              <a:lnSpc>
                <a:spcPct val="115000"/>
              </a:lnSpc>
              <a:spcAft>
                <a:spcPts val="9"/>
              </a:spcAft>
              <a:buNone/>
              <a:defRPr sz="1238" b="0">
                <a:solidFill>
                  <a:srgbClr val="101214"/>
                </a:solidFill>
                <a:latin typeface="Hiragino Sans GB"/>
                <a:ea typeface="Hiragino Sans GB"/>
                <a:cs typeface="Hiragino Sans GB"/>
              </a:defRPr>
            </a:pPr>
            <a:r>
              <a:rPr sz="1238" b="0">
                <a:solidFill>
                  <a:srgbClr val="101214"/>
                </a:solidFill>
                <a:latin typeface="Hiragino Sans GB"/>
                <a:ea typeface="Hiragino Sans GB"/>
                <a:cs typeface="Hiragino Sans GB"/>
              </a:rPr>
              <a:t>Kimi Delta Attention (KDA) + Attention Residuals (AttnRes)</a:t>
            </a:r>
          </a:p>
          <a:p>
            <a:pPr marL="22" indent="-12" algn="l">
              <a:lnSpc>
                <a:spcPct val="115000"/>
              </a:lnSpc>
              <a:spcAft>
                <a:spcPts val="9"/>
              </a:spcAft>
              <a:buNone/>
              <a:defRPr sz="1238" b="0">
                <a:solidFill>
                  <a:srgbClr val="101214"/>
                </a:solidFill>
                <a:latin typeface="Hiragino Sans GB"/>
                <a:ea typeface="Hiragino Sans GB"/>
                <a:cs typeface="Hiragino Sans GB"/>
              </a:defRPr>
            </a:pPr>
            <a:r>
              <a:rPr sz="1238" b="0">
                <a:solidFill>
                  <a:srgbClr val="101214"/>
                </a:solidFill>
                <a:latin typeface="Hiragino Sans GB"/>
                <a:ea typeface="Hiragino Sans GB"/>
                <a:cs typeface="Hiragino Sans GB"/>
              </a:rPr>
              <a:t>Stable LatentMoE + Quantile Balancing + Per-Head Muon</a:t>
            </a:r>
          </a:p>
          <a:p>
            <a:pPr marL="22" indent="-12" algn="l">
              <a:lnSpc>
                <a:spcPct val="115000"/>
              </a:lnSpc>
              <a:spcAft>
                <a:spcPts val="9"/>
              </a:spcAft>
              <a:buNone/>
              <a:defRPr sz="1238" b="0">
                <a:solidFill>
                  <a:srgbClr val="101214"/>
                </a:solidFill>
                <a:latin typeface="Hiragino Sans GB"/>
                <a:ea typeface="Hiragino Sans GB"/>
                <a:cs typeface="Hiragino Sans GB"/>
              </a:defRPr>
            </a:pPr>
            <a:r>
              <a:rPr sz="1238" b="0">
                <a:solidFill>
                  <a:srgbClr val="101214"/>
                </a:solidFill>
                <a:latin typeface="Hiragino Sans GB"/>
                <a:ea typeface="Hiragino Sans GB"/>
                <a:cs typeface="Hiragino Sans GB"/>
              </a:rPr>
              <a:t>SFT 起进行 QAT：MXFP4 weights + MXFP8 activations</a:t>
            </a:r>
          </a:p>
          <a:p>
            <a:pPr marL="22" indent="-12" algn="l">
              <a:lnSpc>
                <a:spcPct val="115000"/>
              </a:lnSpc>
              <a:spcAft>
                <a:spcPts val="9"/>
              </a:spcAft>
              <a:buNone/>
              <a:defRPr sz="1238" b="0">
                <a:solidFill>
                  <a:srgbClr val="101214"/>
                </a:solidFill>
                <a:latin typeface="Hiragino Sans GB"/>
                <a:ea typeface="Hiragino Sans GB"/>
                <a:cs typeface="Hiragino Sans GB"/>
              </a:defRPr>
            </a:pPr>
            <a:r>
              <a:rPr sz="1238" b="0">
                <a:solidFill>
                  <a:srgbClr val="101214"/>
                </a:solidFill>
                <a:latin typeface="Hiragino Sans GB"/>
                <a:ea typeface="Hiragino Sans GB"/>
                <a:cs typeface="Hiragino Sans GB"/>
              </a:rPr>
              <a:t>官方称相对 K2 scaling efficiency 约 2.5×（定义/消融待报告）</a:t>
            </a:r>
          </a:p>
        </p:txBody>
      </p:sp>
      <p:sp>
        <p:nvSpPr>
          <p:cNvPr id="15" name="圆角矩形 14">
            <a:extLst>
              <a:ext uri="{FF2B5EF4-FFF2-40B4-BE49-F238E27FC236}">
                <a16:creationId xmlns:a16="http://schemas.microsoft.com/office/drawing/2014/main" id="{BDA180D6-3BB2-4D7F-8D11-45199304C35E}"/>
              </a:ext>
            </a:extLst>
          </p:cNvPr>
          <p:cNvSpPr>
            <a:spLocks noGrp="1"/>
          </p:cNvSpPr>
          <p:nvPr/>
        </p:nvSpPr>
        <p:spPr>
          <a:xfrm>
            <a:off x="419100" y="5143500"/>
            <a:ext cx="11353800" cy="876300"/>
          </a:xfrm>
          <a:prstGeom prst="roundRect">
            <a:avLst>
              <a:gd name="adj" fmla="val 8696"/>
            </a:avLst>
          </a:prstGeom>
          <a:solidFill>
            <a:srgbClr val="FDEBEC"/>
          </a:solidFill>
          <a:ln w="0">
            <a:noFill/>
            <a:prstDash val="solid"/>
          </a:ln>
        </p:spPr>
      </p:sp>
      <p:sp>
        <p:nvSpPr>
          <p:cNvPr id="16" name="矩形 15">
            <a:extLst>
              <a:ext uri="{FF2B5EF4-FFF2-40B4-BE49-F238E27FC236}">
                <a16:creationId xmlns:a16="http://schemas.microsoft.com/office/drawing/2014/main" id="{EB5BA016-4F76-41A8-AA83-BB9C2FBCE1EB}"/>
              </a:ext>
            </a:extLst>
          </p:cNvPr>
          <p:cNvSpPr>
            <a:spLocks noGrp="1"/>
          </p:cNvSpPr>
          <p:nvPr/>
        </p:nvSpPr>
        <p:spPr>
          <a:xfrm>
            <a:off x="647700" y="5295900"/>
            <a:ext cx="3714750" cy="266700"/>
          </a:xfrm>
          <a:prstGeom prst="rect">
            <a:avLst/>
          </a:prstGeom>
          <a:noFill/>
          <a:ln w="0">
            <a:noFill/>
            <a:prstDash val="solid"/>
          </a:ln>
        </p:spPr>
        <p:txBody>
          <a:bodyPr wrap="square" lIns="0" tIns="0" rIns="0" bIns="0" anchor="t">
            <a:noAutofit/>
          </a:bodyPr>
          <a:lstStyle/>
          <a:p>
            <a:pPr algn="l">
              <a:buNone/>
              <a:defRPr sz="1500" b="1">
                <a:solidFill>
                  <a:srgbClr val="D94C4C"/>
                </a:solidFill>
                <a:latin typeface="Hiragino Sans GB"/>
                <a:ea typeface="Hiragino Sans GB"/>
                <a:cs typeface="Hiragino Sans GB"/>
              </a:defRPr>
            </a:pPr>
            <a:r>
              <a:rPr sz="1500" b="1">
                <a:solidFill>
                  <a:srgbClr val="D94C4C"/>
                </a:solidFill>
                <a:latin typeface="Hiragino Sans GB"/>
                <a:ea typeface="Hiragino Sans GB"/>
                <a:cs typeface="Hiragino Sans GB"/>
              </a:rPr>
              <a:t>Agent protocol 也是稳定性的一部分</a:t>
            </a:r>
          </a:p>
        </p:txBody>
      </p:sp>
      <p:sp>
        <p:nvSpPr>
          <p:cNvPr id="17" name="矩形 16">
            <a:extLst>
              <a:ext uri="{FF2B5EF4-FFF2-40B4-BE49-F238E27FC236}">
                <a16:creationId xmlns:a16="http://schemas.microsoft.com/office/drawing/2014/main" id="{94412AF6-A584-4050-B625-FF0BDFE23801}"/>
              </a:ext>
            </a:extLst>
          </p:cNvPr>
          <p:cNvSpPr>
            <a:spLocks noGrp="1"/>
          </p:cNvSpPr>
          <p:nvPr/>
        </p:nvSpPr>
        <p:spPr>
          <a:xfrm>
            <a:off x="4476750" y="5248275"/>
            <a:ext cx="6953250" cy="552450"/>
          </a:xfrm>
          <a:prstGeom prst="rect">
            <a:avLst/>
          </a:prstGeom>
          <a:noFill/>
          <a:ln w="0">
            <a:noFill/>
            <a:prstDash val="solid"/>
          </a:ln>
        </p:spPr>
        <p:txBody>
          <a:bodyPr wrap="square" lIns="0" tIns="0" rIns="0" bIns="0" anchor="t">
            <a:noAutofit/>
          </a:bodyPr>
          <a:lstStyle/>
          <a:p>
            <a:pPr algn="l">
              <a:buNone/>
              <a:defRPr sz="1238" b="0">
                <a:solidFill>
                  <a:srgbClr val="101214"/>
                </a:solidFill>
                <a:latin typeface="Hiragino Sans GB"/>
                <a:ea typeface="Hiragino Sans GB"/>
                <a:cs typeface="Hiragino Sans GB"/>
              </a:defRPr>
            </a:pPr>
            <a:r>
              <a:rPr sz="1238" b="0">
                <a:solidFill>
                  <a:srgbClr val="101214"/>
                </a:solidFill>
                <a:latin typeface="Hiragino Sans GB"/>
                <a:ea typeface="Hiragino Sans GB"/>
                <a:cs typeface="Hiragino Sans GB"/>
              </a:rPr>
              <a:t>K3 采用 preserved thinking history；若 harness 不原样回传历史 reasoning，或会话中途切模型，官方警告质量可能高度不稳定。</a:t>
            </a:r>
          </a:p>
        </p:txBody>
      </p:sp>
      <p:sp>
        <p:nvSpPr>
          <p:cNvPr id="18" name="直线连接符 17">
            <a:extLst>
              <a:ext uri="{FF2B5EF4-FFF2-40B4-BE49-F238E27FC236}">
                <a16:creationId xmlns:a16="http://schemas.microsoft.com/office/drawing/2014/main" id="{CFCAC1E3-CEA8-4EEA-BABA-1D0F6A330E0E}"/>
              </a:ext>
            </a:extLst>
          </p:cNvPr>
          <p:cNvSpPr>
            <a:spLocks noGrp="1"/>
          </p:cNvSpPr>
          <p:nvPr/>
        </p:nvSpPr>
        <p:spPr>
          <a:xfrm>
            <a:off x="419100" y="6286500"/>
            <a:ext cx="11353800" cy="0"/>
          </a:xfrm>
          <a:prstGeom prst="line">
            <a:avLst/>
          </a:prstGeom>
          <a:noFill/>
          <a:ln w="9525">
            <a:solidFill>
              <a:srgbClr val="B8BCC4"/>
            </a:solidFill>
            <a:prstDash val="solid"/>
          </a:ln>
        </p:spPr>
      </p:sp>
      <p:sp>
        <p:nvSpPr>
          <p:cNvPr id="19" name="矩形 18">
            <a:extLst>
              <a:ext uri="{FF2B5EF4-FFF2-40B4-BE49-F238E27FC236}">
                <a16:creationId xmlns:a16="http://schemas.microsoft.com/office/drawing/2014/main" id="{AE8ED9D4-6FA3-46DF-B6EF-8B7E28AB72A2}"/>
              </a:ext>
            </a:extLst>
          </p:cNvPr>
          <p:cNvSpPr>
            <a:spLocks noGrp="1"/>
          </p:cNvSpPr>
          <p:nvPr/>
        </p:nvSpPr>
        <p:spPr>
          <a:xfrm>
            <a:off x="419100" y="6362700"/>
            <a:ext cx="10763250" cy="219075"/>
          </a:xfrm>
          <a:prstGeom prst="rect">
            <a:avLst/>
          </a:prstGeom>
          <a:noFill/>
          <a:ln w="0">
            <a:noFill/>
            <a:prstDash val="solid"/>
          </a:ln>
        </p:spPr>
        <p:txBody>
          <a:bodyPr wrap="square" lIns="0" tIns="0" rIns="0" bIns="0" anchor="t">
            <a:noAutofit/>
          </a:bodyPr>
          <a:lstStyle/>
          <a:p>
            <a:pPr algn="l">
              <a:buNone/>
              <a:defRPr sz="788" b="0">
                <a:solidFill>
                  <a:srgbClr val="5E6470"/>
                </a:solidFill>
                <a:latin typeface="Helvetica Neue"/>
                <a:ea typeface="Helvetica Neue"/>
                <a:cs typeface="Helvetica Neue"/>
              </a:defRPr>
            </a:pPr>
            <a:r>
              <a:rPr sz="788" b="0">
                <a:solidFill>
                  <a:srgbClr val="5E6470"/>
                </a:solidFill>
                <a:latin typeface="Helvetica Neue"/>
                <a:ea typeface="Helvetica Neue"/>
                <a:cs typeface="Helvetica Neue"/>
              </a:rPr>
              <a:t>Moonshot AI, Kimi K3 Tech Blog + API Quickstart (2026)  ·  Technical report forthcoming</a:t>
            </a:r>
          </a:p>
        </p:txBody>
      </p:sp>
      <p:sp>
        <p:nvSpPr>
          <p:cNvPr id="20" name="矩形 19">
            <a:extLst>
              <a:ext uri="{FF2B5EF4-FFF2-40B4-BE49-F238E27FC236}">
                <a16:creationId xmlns:a16="http://schemas.microsoft.com/office/drawing/2014/main" id="{BB5EAF7A-4285-4235-AAE2-7893B70CA82E}"/>
              </a:ext>
            </a:extLst>
          </p:cNvPr>
          <p:cNvSpPr>
            <a:spLocks noGrp="1"/>
          </p:cNvSpPr>
          <p:nvPr/>
        </p:nvSpPr>
        <p:spPr>
          <a:xfrm>
            <a:off x="11334750" y="6362700"/>
            <a:ext cx="438150" cy="219075"/>
          </a:xfrm>
          <a:prstGeom prst="rect">
            <a:avLst/>
          </a:prstGeom>
          <a:noFill/>
          <a:ln w="0">
            <a:noFill/>
            <a:prstDash val="solid"/>
          </a:ln>
        </p:spPr>
        <p:txBody>
          <a:bodyPr wrap="square" lIns="0" tIns="0" rIns="0" bIns="0" anchor="t">
            <a:noAutofit/>
          </a:bodyPr>
          <a:lstStyle/>
          <a:p>
            <a:pPr algn="r">
              <a:buNone/>
              <a:defRPr sz="825" b="0">
                <a:solidFill>
                  <a:srgbClr val="5E6470"/>
                </a:solidFill>
                <a:latin typeface="Helvetica Neue"/>
                <a:ea typeface="Helvetica Neue"/>
                <a:cs typeface="Helvetica Neue"/>
              </a:defRPr>
            </a:pPr>
            <a:r>
              <a:rPr sz="825" b="0">
                <a:solidFill>
                  <a:srgbClr val="5E6470"/>
                </a:solidFill>
                <a:latin typeface="Helvetica Neue"/>
                <a:ea typeface="Helvetica Neue"/>
                <a:cs typeface="Helvetica Neue"/>
              </a:rPr>
              <a:t>38</a:t>
            </a:r>
          </a:p>
        </p:txBody>
      </p:sp>
    </p:spTree>
    <p:extLst>
      <p:ext uri="{BB962C8B-B14F-4D97-AF65-F5344CB8AC3E}">
        <p14:creationId xmlns:p14="http://schemas.microsoft.com/office/powerpoint/2010/main" val="2014479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矩形 25">
            <a:extLst>
              <a:ext uri="{FF2B5EF4-FFF2-40B4-BE49-F238E27FC236}">
                <a16:creationId xmlns:a16="http://schemas.microsoft.com/office/drawing/2014/main" id="{32448E19-B0B4-44E0-A00D-2F7FB8FBB63C}"/>
              </a:ext>
            </a:extLst>
          </p:cNvPr>
          <p:cNvSpPr>
            <a:spLocks noGrp="1"/>
          </p:cNvSpPr>
          <p:nvPr/>
        </p:nvSpPr>
        <p:spPr>
          <a:xfrm>
            <a:off x="419100" y="171450"/>
            <a:ext cx="2952750" cy="228600"/>
          </a:xfrm>
          <a:prstGeom prst="rect">
            <a:avLst/>
          </a:prstGeom>
          <a:noFill/>
          <a:ln w="0">
            <a:noFill/>
            <a:prstDash val="solid"/>
          </a:ln>
        </p:spPr>
        <p:txBody>
          <a:bodyPr wrap="square" lIns="0" tIns="0" rIns="0" bIns="0" anchor="t">
            <a:noAutofit/>
          </a:bodyPr>
          <a:lstStyle/>
          <a:p>
            <a:pPr algn="l">
              <a:buNone/>
              <a:defRPr sz="975" b="1">
                <a:solidFill>
                  <a:srgbClr val="5E6470"/>
                </a:solidFill>
                <a:latin typeface="Helvetica Neue"/>
                <a:ea typeface="Helvetica Neue"/>
                <a:cs typeface="Helvetica Neue"/>
              </a:defRPr>
            </a:pPr>
            <a:r>
              <a:rPr sz="975" b="1">
                <a:solidFill>
                  <a:srgbClr val="5E6470"/>
                </a:solidFill>
                <a:latin typeface="Helvetica Neue"/>
                <a:ea typeface="Helvetica Neue"/>
                <a:cs typeface="Helvetica Neue"/>
              </a:rPr>
              <a:t>SYNTHESIS</a:t>
            </a:r>
          </a:p>
        </p:txBody>
      </p:sp>
      <p:sp>
        <p:nvSpPr>
          <p:cNvPr id="2" name="矩形 1">
            <a:extLst>
              <a:ext uri="{FF2B5EF4-FFF2-40B4-BE49-F238E27FC236}">
                <a16:creationId xmlns:a16="http://schemas.microsoft.com/office/drawing/2014/main" id="{4410A7F3-B447-4BA4-BC59-1D06D9A4722D}"/>
              </a:ext>
            </a:extLst>
          </p:cNvPr>
          <p:cNvSpPr>
            <a:spLocks noGrp="1"/>
          </p:cNvSpPr>
          <p:nvPr/>
        </p:nvSpPr>
        <p:spPr>
          <a:xfrm>
            <a:off x="419100" y="409575"/>
            <a:ext cx="11353800" cy="514350"/>
          </a:xfrm>
          <a:prstGeom prst="rect">
            <a:avLst/>
          </a:prstGeom>
          <a:noFill/>
          <a:ln w="0">
            <a:noFill/>
            <a:prstDash val="solid"/>
          </a:ln>
        </p:spPr>
        <p:txBody>
          <a:bodyPr wrap="square" lIns="0" tIns="0" rIns="0" bIns="0" anchor="t">
            <a:noAutofit/>
          </a:bodyPr>
          <a:lstStyle/>
          <a:p>
            <a:pPr algn="l">
              <a:buNone/>
              <a:defRPr sz="2850" b="1">
                <a:solidFill>
                  <a:srgbClr val="101214"/>
                </a:solidFill>
                <a:latin typeface="Hiragino Sans GB"/>
                <a:ea typeface="Hiragino Sans GB"/>
                <a:cs typeface="Hiragino Sans GB"/>
              </a:defRPr>
            </a:pPr>
            <a:r>
              <a:rPr sz="2850" b="1">
                <a:solidFill>
                  <a:srgbClr val="101214"/>
                </a:solidFill>
                <a:latin typeface="Hiragino Sans GB"/>
                <a:ea typeface="Hiragino Sans GB"/>
                <a:cs typeface="Hiragino Sans GB"/>
              </a:rPr>
              <a:t>长程智能是五层联合设计</a:t>
            </a:r>
          </a:p>
        </p:txBody>
      </p:sp>
      <p:sp>
        <p:nvSpPr>
          <p:cNvPr id="3" name="圆角矩形 2">
            <a:extLst>
              <a:ext uri="{FF2B5EF4-FFF2-40B4-BE49-F238E27FC236}">
                <a16:creationId xmlns:a16="http://schemas.microsoft.com/office/drawing/2014/main" id="{95834CF2-E692-493A-A067-47B14FF7C7FD}"/>
              </a:ext>
            </a:extLst>
          </p:cNvPr>
          <p:cNvSpPr>
            <a:spLocks noGrp="1"/>
          </p:cNvSpPr>
          <p:nvPr/>
        </p:nvSpPr>
        <p:spPr>
          <a:xfrm>
            <a:off x="419100" y="1200150"/>
            <a:ext cx="11353800" cy="742950"/>
          </a:xfrm>
          <a:prstGeom prst="roundRect">
            <a:avLst>
              <a:gd name="adj" fmla="val 10256"/>
            </a:avLst>
          </a:prstGeom>
          <a:solidFill>
            <a:srgbClr val="F1F2F4"/>
          </a:solidFill>
          <a:ln w="0">
            <a:noFill/>
            <a:prstDash val="solid"/>
          </a:ln>
        </p:spPr>
      </p:sp>
      <p:sp>
        <p:nvSpPr>
          <p:cNvPr id="4" name="矩形 3">
            <a:extLst>
              <a:ext uri="{FF2B5EF4-FFF2-40B4-BE49-F238E27FC236}">
                <a16:creationId xmlns:a16="http://schemas.microsoft.com/office/drawing/2014/main" id="{8C2734BB-E86B-4798-9AA9-882F3E3F8D0F}"/>
              </a:ext>
            </a:extLst>
          </p:cNvPr>
          <p:cNvSpPr>
            <a:spLocks noGrp="1"/>
          </p:cNvSpPr>
          <p:nvPr/>
        </p:nvSpPr>
        <p:spPr>
          <a:xfrm>
            <a:off x="647700" y="1371600"/>
            <a:ext cx="3143250" cy="285750"/>
          </a:xfrm>
          <a:prstGeom prst="rect">
            <a:avLst/>
          </a:prstGeom>
          <a:noFill/>
          <a:ln w="0">
            <a:noFill/>
            <a:prstDash val="solid"/>
          </a:ln>
        </p:spPr>
        <p:txBody>
          <a:bodyPr wrap="square" lIns="0" tIns="0" rIns="0" bIns="0" anchor="t">
            <a:noAutofit/>
          </a:bodyPr>
          <a:lstStyle/>
          <a:p>
            <a:pPr algn="l">
              <a:buNone/>
              <a:defRPr sz="1500" b="1">
                <a:solidFill>
                  <a:srgbClr val="101214"/>
                </a:solidFill>
                <a:latin typeface="Helvetica Neue"/>
                <a:ea typeface="Helvetica Neue"/>
                <a:cs typeface="Helvetica Neue"/>
              </a:defRPr>
            </a:pPr>
            <a:r>
              <a:rPr sz="1500" b="1">
                <a:solidFill>
                  <a:srgbClr val="101214"/>
                </a:solidFill>
                <a:latin typeface="Helvetica Neue"/>
                <a:ea typeface="Helvetica Neue"/>
                <a:cs typeface="Helvetica Neue"/>
              </a:rPr>
              <a:t>1 · Architecture</a:t>
            </a:r>
          </a:p>
        </p:txBody>
      </p:sp>
      <p:sp>
        <p:nvSpPr>
          <p:cNvPr id="5" name="矩形 4">
            <a:extLst>
              <a:ext uri="{FF2B5EF4-FFF2-40B4-BE49-F238E27FC236}">
                <a16:creationId xmlns:a16="http://schemas.microsoft.com/office/drawing/2014/main" id="{02CBF100-7263-493D-A92D-637353CDFB24}"/>
              </a:ext>
            </a:extLst>
          </p:cNvPr>
          <p:cNvSpPr>
            <a:spLocks noGrp="1"/>
          </p:cNvSpPr>
          <p:nvPr/>
        </p:nvSpPr>
        <p:spPr>
          <a:xfrm>
            <a:off x="3810000" y="1362075"/>
            <a:ext cx="5810250" cy="304800"/>
          </a:xfrm>
          <a:prstGeom prst="rect">
            <a:avLst/>
          </a:prstGeom>
          <a:noFill/>
          <a:ln w="0">
            <a:noFill/>
            <a:prstDash val="solid"/>
          </a:ln>
        </p:spPr>
        <p:txBody>
          <a:bodyPr wrap="square" lIns="0" tIns="0" rIns="0" bIns="0" anchor="t">
            <a:noAutofit/>
          </a:bodyPr>
          <a:lstStyle/>
          <a:p>
            <a:pPr algn="l">
              <a:buNone/>
              <a:defRPr sz="1350" b="0">
                <a:solidFill>
                  <a:srgbClr val="101214"/>
                </a:solidFill>
                <a:latin typeface="Helvetica Neue"/>
                <a:ea typeface="Helvetica Neue"/>
                <a:cs typeface="Helvetica Neue"/>
              </a:defRPr>
            </a:pPr>
            <a:r>
              <a:rPr sz="1350" b="0">
                <a:solidFill>
                  <a:srgbClr val="101214"/>
                </a:solidFill>
                <a:latin typeface="Helvetica Neue"/>
                <a:ea typeface="Helvetica Neue"/>
                <a:cs typeface="Helvetica Neue"/>
              </a:rPr>
              <a:t>DSA / IndexShare · KDA / AttnRes · sparse MoE</a:t>
            </a:r>
          </a:p>
        </p:txBody>
      </p:sp>
      <p:sp>
        <p:nvSpPr>
          <p:cNvPr id="6" name="矩形 5">
            <a:extLst>
              <a:ext uri="{FF2B5EF4-FFF2-40B4-BE49-F238E27FC236}">
                <a16:creationId xmlns:a16="http://schemas.microsoft.com/office/drawing/2014/main" id="{B2217E72-9C50-4E9C-BD48-A6B5FF876B8F}"/>
              </a:ext>
            </a:extLst>
          </p:cNvPr>
          <p:cNvSpPr>
            <a:spLocks noGrp="1"/>
          </p:cNvSpPr>
          <p:nvPr/>
        </p:nvSpPr>
        <p:spPr>
          <a:xfrm>
            <a:off x="9810750" y="1390650"/>
            <a:ext cx="1619250" cy="247650"/>
          </a:xfrm>
          <a:prstGeom prst="rect">
            <a:avLst/>
          </a:prstGeom>
          <a:noFill/>
          <a:ln w="0">
            <a:noFill/>
            <a:prstDash val="solid"/>
          </a:ln>
        </p:spPr>
        <p:txBody>
          <a:bodyPr wrap="square" lIns="0" tIns="0" rIns="0" bIns="0" anchor="t">
            <a:noAutofit/>
          </a:bodyPr>
          <a:lstStyle/>
          <a:p>
            <a:pPr algn="r">
              <a:buNone/>
              <a:defRPr sz="1050" b="1">
                <a:solidFill>
                  <a:srgbClr val="5E6470"/>
                </a:solidFill>
                <a:latin typeface="Helvetica Neue"/>
                <a:ea typeface="Helvetica Neue"/>
                <a:cs typeface="Helvetica Neue"/>
              </a:defRPr>
            </a:pPr>
            <a:r>
              <a:rPr sz="1050" b="1">
                <a:solidFill>
                  <a:srgbClr val="5E6470"/>
                </a:solidFill>
                <a:latin typeface="Helvetica Neue"/>
                <a:ea typeface="Helvetica Neue"/>
                <a:cs typeface="Helvetica Neue"/>
              </a:rPr>
              <a:t>GLM-5.2 / K3</a:t>
            </a:r>
          </a:p>
        </p:txBody>
      </p:sp>
      <p:sp>
        <p:nvSpPr>
          <p:cNvPr id="7" name="圆角矩形 6">
            <a:extLst>
              <a:ext uri="{FF2B5EF4-FFF2-40B4-BE49-F238E27FC236}">
                <a16:creationId xmlns:a16="http://schemas.microsoft.com/office/drawing/2014/main" id="{FA25DCC7-407D-4F1A-8106-ADABEBF16B68}"/>
              </a:ext>
            </a:extLst>
          </p:cNvPr>
          <p:cNvSpPr>
            <a:spLocks noGrp="1"/>
          </p:cNvSpPr>
          <p:nvPr/>
        </p:nvSpPr>
        <p:spPr>
          <a:xfrm>
            <a:off x="419100" y="2152650"/>
            <a:ext cx="11353800" cy="742950"/>
          </a:xfrm>
          <a:prstGeom prst="roundRect">
            <a:avLst>
              <a:gd name="adj" fmla="val 10256"/>
            </a:avLst>
          </a:prstGeom>
          <a:solidFill>
            <a:srgbClr val="EAF5FB"/>
          </a:solidFill>
          <a:ln w="0">
            <a:noFill/>
            <a:prstDash val="solid"/>
          </a:ln>
        </p:spPr>
      </p:sp>
      <p:sp>
        <p:nvSpPr>
          <p:cNvPr id="8" name="矩形 7">
            <a:extLst>
              <a:ext uri="{FF2B5EF4-FFF2-40B4-BE49-F238E27FC236}">
                <a16:creationId xmlns:a16="http://schemas.microsoft.com/office/drawing/2014/main" id="{4CAF16D7-9A6B-4946-BF25-5187707F7589}"/>
              </a:ext>
            </a:extLst>
          </p:cNvPr>
          <p:cNvSpPr>
            <a:spLocks noGrp="1"/>
          </p:cNvSpPr>
          <p:nvPr/>
        </p:nvSpPr>
        <p:spPr>
          <a:xfrm>
            <a:off x="647700" y="2324100"/>
            <a:ext cx="3143250" cy="285750"/>
          </a:xfrm>
          <a:prstGeom prst="rect">
            <a:avLst/>
          </a:prstGeom>
          <a:noFill/>
          <a:ln w="0">
            <a:noFill/>
            <a:prstDash val="solid"/>
          </a:ln>
        </p:spPr>
        <p:txBody>
          <a:bodyPr wrap="square" lIns="0" tIns="0" rIns="0" bIns="0" anchor="t">
            <a:noAutofit/>
          </a:bodyPr>
          <a:lstStyle/>
          <a:p>
            <a:pPr algn="l">
              <a:buNone/>
              <a:defRPr sz="1500" b="1">
                <a:solidFill>
                  <a:srgbClr val="2787F5"/>
                </a:solidFill>
                <a:latin typeface="Helvetica Neue"/>
                <a:ea typeface="Helvetica Neue"/>
                <a:cs typeface="Helvetica Neue"/>
              </a:defRPr>
            </a:pPr>
            <a:r>
              <a:rPr sz="1500" b="1">
                <a:solidFill>
                  <a:srgbClr val="2787F5"/>
                </a:solidFill>
                <a:latin typeface="Helvetica Neue"/>
                <a:ea typeface="Helvetica Neue"/>
                <a:cs typeface="Helvetica Neue"/>
              </a:rPr>
              <a:t>2 · Context management</a:t>
            </a:r>
          </a:p>
        </p:txBody>
      </p:sp>
      <p:sp>
        <p:nvSpPr>
          <p:cNvPr id="9" name="矩形 8">
            <a:extLst>
              <a:ext uri="{FF2B5EF4-FFF2-40B4-BE49-F238E27FC236}">
                <a16:creationId xmlns:a16="http://schemas.microsoft.com/office/drawing/2014/main" id="{4F8C6FC9-85F7-4EA9-9797-FC19F2484F59}"/>
              </a:ext>
            </a:extLst>
          </p:cNvPr>
          <p:cNvSpPr>
            <a:spLocks noGrp="1"/>
          </p:cNvSpPr>
          <p:nvPr/>
        </p:nvSpPr>
        <p:spPr>
          <a:xfrm>
            <a:off x="3810000" y="2314575"/>
            <a:ext cx="5810250" cy="304800"/>
          </a:xfrm>
          <a:prstGeom prst="rect">
            <a:avLst/>
          </a:prstGeom>
          <a:noFill/>
          <a:ln w="0">
            <a:noFill/>
            <a:prstDash val="solid"/>
          </a:ln>
        </p:spPr>
        <p:txBody>
          <a:bodyPr wrap="square" lIns="0" tIns="0" rIns="0" bIns="0" anchor="t">
            <a:noAutofit/>
          </a:bodyPr>
          <a:lstStyle/>
          <a:p>
            <a:pPr algn="l">
              <a:buNone/>
              <a:defRPr sz="1350" b="0">
                <a:solidFill>
                  <a:srgbClr val="101214"/>
                </a:solidFill>
                <a:latin typeface="Helvetica Neue"/>
                <a:ea typeface="Helvetica Neue"/>
                <a:cs typeface="Helvetica Neue"/>
              </a:defRPr>
            </a:pPr>
            <a:r>
              <a:rPr sz="1350" b="0">
                <a:solidFill>
                  <a:srgbClr val="101214"/>
                </a:solidFill>
                <a:latin typeface="Helvetica Neue"/>
                <a:ea typeface="Helvetica Neue"/>
                <a:cs typeface="Helvetica Neue"/>
              </a:rPr>
              <a:t>1M context · compaction · preserved thinking · keep-recent (GLM-5)</a:t>
            </a:r>
          </a:p>
        </p:txBody>
      </p:sp>
      <p:sp>
        <p:nvSpPr>
          <p:cNvPr id="10" name="矩形 9">
            <a:extLst>
              <a:ext uri="{FF2B5EF4-FFF2-40B4-BE49-F238E27FC236}">
                <a16:creationId xmlns:a16="http://schemas.microsoft.com/office/drawing/2014/main" id="{1C1715C3-9C46-4E07-B7EE-DB4B7085F66F}"/>
              </a:ext>
            </a:extLst>
          </p:cNvPr>
          <p:cNvSpPr>
            <a:spLocks noGrp="1"/>
          </p:cNvSpPr>
          <p:nvPr/>
        </p:nvSpPr>
        <p:spPr>
          <a:xfrm>
            <a:off x="9810750" y="2343150"/>
            <a:ext cx="1619250" cy="247650"/>
          </a:xfrm>
          <a:prstGeom prst="rect">
            <a:avLst/>
          </a:prstGeom>
          <a:noFill/>
          <a:ln w="0">
            <a:noFill/>
            <a:prstDash val="solid"/>
          </a:ln>
        </p:spPr>
        <p:txBody>
          <a:bodyPr wrap="square" lIns="0" tIns="0" rIns="0" bIns="0" anchor="t">
            <a:noAutofit/>
          </a:bodyPr>
          <a:lstStyle/>
          <a:p>
            <a:pPr algn="r">
              <a:buNone/>
              <a:defRPr sz="1050" b="1">
                <a:solidFill>
                  <a:srgbClr val="5E6470"/>
                </a:solidFill>
                <a:latin typeface="Helvetica Neue"/>
                <a:ea typeface="Helvetica Neue"/>
                <a:cs typeface="Helvetica Neue"/>
              </a:defRPr>
            </a:pPr>
            <a:r>
              <a:rPr sz="1050" b="1">
                <a:solidFill>
                  <a:srgbClr val="5E6470"/>
                </a:solidFill>
                <a:latin typeface="Helvetica Neue"/>
                <a:ea typeface="Helvetica Neue"/>
                <a:cs typeface="Helvetica Neue"/>
              </a:rPr>
              <a:t>GLM-5/5.2 / K3</a:t>
            </a:r>
          </a:p>
        </p:txBody>
      </p:sp>
      <p:sp>
        <p:nvSpPr>
          <p:cNvPr id="11" name="圆角矩形 10">
            <a:extLst>
              <a:ext uri="{FF2B5EF4-FFF2-40B4-BE49-F238E27FC236}">
                <a16:creationId xmlns:a16="http://schemas.microsoft.com/office/drawing/2014/main" id="{55A45DAB-70C6-4367-BCE0-67255D33C951}"/>
              </a:ext>
            </a:extLst>
          </p:cNvPr>
          <p:cNvSpPr>
            <a:spLocks noGrp="1"/>
          </p:cNvSpPr>
          <p:nvPr/>
        </p:nvSpPr>
        <p:spPr>
          <a:xfrm>
            <a:off x="419100" y="3105150"/>
            <a:ext cx="11353800" cy="742950"/>
          </a:xfrm>
          <a:prstGeom prst="roundRect">
            <a:avLst>
              <a:gd name="adj" fmla="val 10256"/>
            </a:avLst>
          </a:prstGeom>
          <a:solidFill>
            <a:srgbClr val="F0ECFD"/>
          </a:solidFill>
          <a:ln w="0">
            <a:noFill/>
            <a:prstDash val="solid"/>
          </a:ln>
        </p:spPr>
      </p:sp>
      <p:sp>
        <p:nvSpPr>
          <p:cNvPr id="12" name="矩形 11">
            <a:extLst>
              <a:ext uri="{FF2B5EF4-FFF2-40B4-BE49-F238E27FC236}">
                <a16:creationId xmlns:a16="http://schemas.microsoft.com/office/drawing/2014/main" id="{98423847-6BF6-49AB-B7AB-0C8D849E3BD8}"/>
              </a:ext>
            </a:extLst>
          </p:cNvPr>
          <p:cNvSpPr>
            <a:spLocks noGrp="1"/>
          </p:cNvSpPr>
          <p:nvPr/>
        </p:nvSpPr>
        <p:spPr>
          <a:xfrm>
            <a:off x="647700" y="3276600"/>
            <a:ext cx="3143250" cy="285750"/>
          </a:xfrm>
          <a:prstGeom prst="rect">
            <a:avLst/>
          </a:prstGeom>
          <a:noFill/>
          <a:ln w="0">
            <a:noFill/>
            <a:prstDash val="solid"/>
          </a:ln>
        </p:spPr>
        <p:txBody>
          <a:bodyPr wrap="square" lIns="0" tIns="0" rIns="0" bIns="0" anchor="t">
            <a:noAutofit/>
          </a:bodyPr>
          <a:lstStyle/>
          <a:p>
            <a:pPr algn="l">
              <a:buNone/>
              <a:defRPr sz="1500" b="1">
                <a:solidFill>
                  <a:srgbClr val="7257D5"/>
                </a:solidFill>
                <a:latin typeface="Helvetica Neue"/>
                <a:ea typeface="Helvetica Neue"/>
                <a:cs typeface="Helvetica Neue"/>
              </a:defRPr>
            </a:pPr>
            <a:r>
              <a:rPr sz="1500" b="1">
                <a:solidFill>
                  <a:srgbClr val="7257D5"/>
                </a:solidFill>
                <a:latin typeface="Helvetica Neue"/>
                <a:ea typeface="Helvetica Neue"/>
                <a:cs typeface="Helvetica Neue"/>
              </a:rPr>
              <a:t>3 · Exploration &amp; credit</a:t>
            </a:r>
          </a:p>
        </p:txBody>
      </p:sp>
      <p:sp>
        <p:nvSpPr>
          <p:cNvPr id="13" name="矩形 12">
            <a:extLst>
              <a:ext uri="{FF2B5EF4-FFF2-40B4-BE49-F238E27FC236}">
                <a16:creationId xmlns:a16="http://schemas.microsoft.com/office/drawing/2014/main" id="{03E3D363-DC4B-4C90-9FDF-5F32528A3738}"/>
              </a:ext>
            </a:extLst>
          </p:cNvPr>
          <p:cNvSpPr>
            <a:spLocks noGrp="1"/>
          </p:cNvSpPr>
          <p:nvPr/>
        </p:nvSpPr>
        <p:spPr>
          <a:xfrm>
            <a:off x="3810000" y="3267075"/>
            <a:ext cx="5810250" cy="304800"/>
          </a:xfrm>
          <a:prstGeom prst="rect">
            <a:avLst/>
          </a:prstGeom>
          <a:noFill/>
          <a:ln w="0">
            <a:noFill/>
            <a:prstDash val="solid"/>
          </a:ln>
        </p:spPr>
        <p:txBody>
          <a:bodyPr wrap="square" lIns="0" tIns="0" rIns="0" bIns="0" anchor="t">
            <a:noAutofit/>
          </a:bodyPr>
          <a:lstStyle/>
          <a:p>
            <a:pPr algn="l">
              <a:buNone/>
              <a:defRPr sz="1350" b="0">
                <a:solidFill>
                  <a:srgbClr val="101214"/>
                </a:solidFill>
                <a:latin typeface="Helvetica Neue"/>
                <a:ea typeface="Helvetica Neue"/>
                <a:cs typeface="Helvetica Neue"/>
              </a:defRPr>
            </a:pPr>
            <a:r>
              <a:rPr sz="1350" b="0">
                <a:solidFill>
                  <a:srgbClr val="101214"/>
                </a:solidFill>
                <a:latin typeface="Helvetica Neue"/>
                <a:ea typeface="Helvetica Neue"/>
                <a:cs typeface="Helvetica Neue"/>
              </a:rPr>
              <a:t>ΔH control · reward-SNR filtering · TTI/TDS · process reward</a:t>
            </a:r>
          </a:p>
        </p:txBody>
      </p:sp>
      <p:sp>
        <p:nvSpPr>
          <p:cNvPr id="14" name="矩形 13">
            <a:extLst>
              <a:ext uri="{FF2B5EF4-FFF2-40B4-BE49-F238E27FC236}">
                <a16:creationId xmlns:a16="http://schemas.microsoft.com/office/drawing/2014/main" id="{56D99AF5-0AED-4B6B-8FEE-0E874391BC2E}"/>
              </a:ext>
            </a:extLst>
          </p:cNvPr>
          <p:cNvSpPr>
            <a:spLocks noGrp="1"/>
          </p:cNvSpPr>
          <p:nvPr/>
        </p:nvSpPr>
        <p:spPr>
          <a:xfrm>
            <a:off x="9810750" y="3295650"/>
            <a:ext cx="1619250" cy="247650"/>
          </a:xfrm>
          <a:prstGeom prst="rect">
            <a:avLst/>
          </a:prstGeom>
          <a:noFill/>
          <a:ln w="0">
            <a:noFill/>
            <a:prstDash val="solid"/>
          </a:ln>
        </p:spPr>
        <p:txBody>
          <a:bodyPr wrap="square" lIns="0" tIns="0" rIns="0" bIns="0" anchor="t">
            <a:noAutofit/>
          </a:bodyPr>
          <a:lstStyle/>
          <a:p>
            <a:pPr algn="r">
              <a:buNone/>
              <a:defRPr sz="1050" b="1">
                <a:solidFill>
                  <a:srgbClr val="5E6470"/>
                </a:solidFill>
                <a:latin typeface="Helvetica Neue"/>
                <a:ea typeface="Helvetica Neue"/>
                <a:cs typeface="Helvetica Neue"/>
              </a:defRPr>
            </a:pPr>
            <a:r>
              <a:rPr sz="1050" b="1">
                <a:solidFill>
                  <a:srgbClr val="5E6470"/>
                </a:solidFill>
                <a:latin typeface="Helvetica Neue"/>
                <a:ea typeface="Helvetica Neue"/>
                <a:cs typeface="Helvetica Neue"/>
              </a:rPr>
              <a:t>STEER / RAGEN-2 / T²PO / Agent0</a:t>
            </a:r>
          </a:p>
        </p:txBody>
      </p:sp>
      <p:sp>
        <p:nvSpPr>
          <p:cNvPr id="15" name="圆角矩形 14">
            <a:extLst>
              <a:ext uri="{FF2B5EF4-FFF2-40B4-BE49-F238E27FC236}">
                <a16:creationId xmlns:a16="http://schemas.microsoft.com/office/drawing/2014/main" id="{3402D25B-CCBB-468D-B22B-55D51BEF0295}"/>
              </a:ext>
            </a:extLst>
          </p:cNvPr>
          <p:cNvSpPr>
            <a:spLocks noGrp="1"/>
          </p:cNvSpPr>
          <p:nvPr/>
        </p:nvSpPr>
        <p:spPr>
          <a:xfrm>
            <a:off x="419100" y="4057650"/>
            <a:ext cx="11353800" cy="742950"/>
          </a:xfrm>
          <a:prstGeom prst="roundRect">
            <a:avLst>
              <a:gd name="adj" fmla="val 10256"/>
            </a:avLst>
          </a:prstGeom>
          <a:solidFill>
            <a:srgbClr val="FFF4DE"/>
          </a:solidFill>
          <a:ln w="0">
            <a:noFill/>
            <a:prstDash val="solid"/>
          </a:ln>
        </p:spPr>
      </p:sp>
      <p:sp>
        <p:nvSpPr>
          <p:cNvPr id="16" name="矩形 15">
            <a:extLst>
              <a:ext uri="{FF2B5EF4-FFF2-40B4-BE49-F238E27FC236}">
                <a16:creationId xmlns:a16="http://schemas.microsoft.com/office/drawing/2014/main" id="{6F0C69C0-B07B-4DD0-B5DE-5FB5D0E60251}"/>
              </a:ext>
            </a:extLst>
          </p:cNvPr>
          <p:cNvSpPr>
            <a:spLocks noGrp="1"/>
          </p:cNvSpPr>
          <p:nvPr/>
        </p:nvSpPr>
        <p:spPr>
          <a:xfrm>
            <a:off x="647700" y="4229100"/>
            <a:ext cx="3143250" cy="285750"/>
          </a:xfrm>
          <a:prstGeom prst="rect">
            <a:avLst/>
          </a:prstGeom>
          <a:noFill/>
          <a:ln w="0">
            <a:noFill/>
            <a:prstDash val="solid"/>
          </a:ln>
        </p:spPr>
        <p:txBody>
          <a:bodyPr wrap="square" lIns="0" tIns="0" rIns="0" bIns="0" anchor="t">
            <a:noAutofit/>
          </a:bodyPr>
          <a:lstStyle/>
          <a:p>
            <a:pPr algn="l">
              <a:buNone/>
              <a:defRPr sz="1500" b="1">
                <a:solidFill>
                  <a:srgbClr val="F59E0B"/>
                </a:solidFill>
                <a:latin typeface="Helvetica Neue"/>
                <a:ea typeface="Helvetica Neue"/>
                <a:cs typeface="Helvetica Neue"/>
              </a:defRPr>
            </a:pPr>
            <a:r>
              <a:rPr sz="1500" b="1">
                <a:solidFill>
                  <a:srgbClr val="F59E0B"/>
                </a:solidFill>
                <a:latin typeface="Helvetica Neue"/>
                <a:ea typeface="Helvetica Neue"/>
                <a:cs typeface="Helvetica Neue"/>
              </a:rPr>
              <a:t>4 · Tool protocol &amp; guardrails</a:t>
            </a:r>
          </a:p>
        </p:txBody>
      </p:sp>
      <p:sp>
        <p:nvSpPr>
          <p:cNvPr id="17" name="矩形 16">
            <a:extLst>
              <a:ext uri="{FF2B5EF4-FFF2-40B4-BE49-F238E27FC236}">
                <a16:creationId xmlns:a16="http://schemas.microsoft.com/office/drawing/2014/main" id="{80DAB39C-A1A6-42CC-B0BB-3676D65C7FDF}"/>
              </a:ext>
            </a:extLst>
          </p:cNvPr>
          <p:cNvSpPr>
            <a:spLocks noGrp="1"/>
          </p:cNvSpPr>
          <p:nvPr/>
        </p:nvSpPr>
        <p:spPr>
          <a:xfrm>
            <a:off x="3810000" y="4219575"/>
            <a:ext cx="5810250" cy="304800"/>
          </a:xfrm>
          <a:prstGeom prst="rect">
            <a:avLst/>
          </a:prstGeom>
          <a:noFill/>
          <a:ln w="0">
            <a:noFill/>
            <a:prstDash val="solid"/>
          </a:ln>
        </p:spPr>
        <p:txBody>
          <a:bodyPr wrap="square" lIns="0" tIns="0" rIns="0" bIns="0" anchor="t">
            <a:noAutofit/>
          </a:bodyPr>
          <a:lstStyle/>
          <a:p>
            <a:pPr algn="l">
              <a:buNone/>
              <a:defRPr sz="1350" b="0">
                <a:solidFill>
                  <a:srgbClr val="101214"/>
                </a:solidFill>
                <a:latin typeface="Helvetica Neue"/>
                <a:ea typeface="Helvetica Neue"/>
                <a:cs typeface="Helvetica Neue"/>
              </a:defRPr>
            </a:pPr>
            <a:r>
              <a:rPr sz="1350" b="0">
                <a:solidFill>
                  <a:srgbClr val="101214"/>
                </a:solidFill>
                <a:latin typeface="Helvetica Neue"/>
                <a:ea typeface="Helvetica Neue"/>
                <a:cs typeface="Helvetica Neue"/>
              </a:rPr>
              <a:t>verifier grounding · anti-hack · full message replay · behavior boundaries</a:t>
            </a:r>
          </a:p>
        </p:txBody>
      </p:sp>
      <p:sp>
        <p:nvSpPr>
          <p:cNvPr id="18" name="矩形 17">
            <a:extLst>
              <a:ext uri="{FF2B5EF4-FFF2-40B4-BE49-F238E27FC236}">
                <a16:creationId xmlns:a16="http://schemas.microsoft.com/office/drawing/2014/main" id="{F93322D9-112D-4691-A2AE-5823CCC21763}"/>
              </a:ext>
            </a:extLst>
          </p:cNvPr>
          <p:cNvSpPr>
            <a:spLocks noGrp="1"/>
          </p:cNvSpPr>
          <p:nvPr/>
        </p:nvSpPr>
        <p:spPr>
          <a:xfrm>
            <a:off x="9810750" y="4248150"/>
            <a:ext cx="1619250" cy="247650"/>
          </a:xfrm>
          <a:prstGeom prst="rect">
            <a:avLst/>
          </a:prstGeom>
          <a:noFill/>
          <a:ln w="0">
            <a:noFill/>
            <a:prstDash val="solid"/>
          </a:ln>
        </p:spPr>
        <p:txBody>
          <a:bodyPr wrap="square" lIns="0" tIns="0" rIns="0" bIns="0" anchor="t">
            <a:noAutofit/>
          </a:bodyPr>
          <a:lstStyle/>
          <a:p>
            <a:pPr algn="r">
              <a:buNone/>
              <a:defRPr sz="1050" b="1">
                <a:solidFill>
                  <a:srgbClr val="5E6470"/>
                </a:solidFill>
                <a:latin typeface="Helvetica Neue"/>
                <a:ea typeface="Helvetica Neue"/>
                <a:cs typeface="Helvetica Neue"/>
              </a:defRPr>
            </a:pPr>
            <a:r>
              <a:rPr sz="1050" b="1">
                <a:solidFill>
                  <a:srgbClr val="5E6470"/>
                </a:solidFill>
                <a:latin typeface="Helvetica Neue"/>
                <a:ea typeface="Helvetica Neue"/>
                <a:cs typeface="Helvetica Neue"/>
              </a:rPr>
              <a:t>Agent0 / GLM / K3</a:t>
            </a:r>
          </a:p>
        </p:txBody>
      </p:sp>
      <p:sp>
        <p:nvSpPr>
          <p:cNvPr id="19" name="圆角矩形 18">
            <a:extLst>
              <a:ext uri="{FF2B5EF4-FFF2-40B4-BE49-F238E27FC236}">
                <a16:creationId xmlns:a16="http://schemas.microsoft.com/office/drawing/2014/main" id="{861AC504-0530-4E46-9B1E-997E227303D0}"/>
              </a:ext>
            </a:extLst>
          </p:cNvPr>
          <p:cNvSpPr>
            <a:spLocks noGrp="1"/>
          </p:cNvSpPr>
          <p:nvPr/>
        </p:nvSpPr>
        <p:spPr>
          <a:xfrm>
            <a:off x="419100" y="5010150"/>
            <a:ext cx="11353800" cy="742950"/>
          </a:xfrm>
          <a:prstGeom prst="roundRect">
            <a:avLst>
              <a:gd name="adj" fmla="val 10256"/>
            </a:avLst>
          </a:prstGeom>
          <a:solidFill>
            <a:srgbClr val="E8F6F0"/>
          </a:solidFill>
          <a:ln w="0">
            <a:noFill/>
            <a:prstDash val="solid"/>
          </a:ln>
        </p:spPr>
      </p:sp>
      <p:sp>
        <p:nvSpPr>
          <p:cNvPr id="20" name="矩形 19">
            <a:extLst>
              <a:ext uri="{FF2B5EF4-FFF2-40B4-BE49-F238E27FC236}">
                <a16:creationId xmlns:a16="http://schemas.microsoft.com/office/drawing/2014/main" id="{ED0510B2-F400-4B9F-B426-8F6D58375C7E}"/>
              </a:ext>
            </a:extLst>
          </p:cNvPr>
          <p:cNvSpPr>
            <a:spLocks noGrp="1"/>
          </p:cNvSpPr>
          <p:nvPr/>
        </p:nvSpPr>
        <p:spPr>
          <a:xfrm>
            <a:off x="647700" y="5181600"/>
            <a:ext cx="3143250" cy="285750"/>
          </a:xfrm>
          <a:prstGeom prst="rect">
            <a:avLst/>
          </a:prstGeom>
          <a:noFill/>
          <a:ln w="0">
            <a:noFill/>
            <a:prstDash val="solid"/>
          </a:ln>
        </p:spPr>
        <p:txBody>
          <a:bodyPr wrap="square" lIns="0" tIns="0" rIns="0" bIns="0" anchor="t">
            <a:noAutofit/>
          </a:bodyPr>
          <a:lstStyle/>
          <a:p>
            <a:pPr algn="l">
              <a:buNone/>
              <a:defRPr sz="1500" b="1">
                <a:solidFill>
                  <a:srgbClr val="1F9D70"/>
                </a:solidFill>
                <a:latin typeface="Helvetica Neue"/>
                <a:ea typeface="Helvetica Neue"/>
                <a:cs typeface="Helvetica Neue"/>
              </a:defRPr>
            </a:pPr>
            <a:r>
              <a:rPr sz="1500" b="1">
                <a:solidFill>
                  <a:srgbClr val="1F9D70"/>
                </a:solidFill>
                <a:latin typeface="Helvetica Neue"/>
                <a:ea typeface="Helvetica Neue"/>
                <a:cs typeface="Helvetica Neue"/>
              </a:rPr>
              <a:t>5 · Rollout &amp; serving system</a:t>
            </a:r>
          </a:p>
        </p:txBody>
      </p:sp>
      <p:sp>
        <p:nvSpPr>
          <p:cNvPr id="21" name="矩形 20">
            <a:extLst>
              <a:ext uri="{FF2B5EF4-FFF2-40B4-BE49-F238E27FC236}">
                <a16:creationId xmlns:a16="http://schemas.microsoft.com/office/drawing/2014/main" id="{C833DF05-6234-4BC8-B05F-B427F3FCC6B9}"/>
              </a:ext>
            </a:extLst>
          </p:cNvPr>
          <p:cNvSpPr>
            <a:spLocks noGrp="1"/>
          </p:cNvSpPr>
          <p:nvPr/>
        </p:nvSpPr>
        <p:spPr>
          <a:xfrm>
            <a:off x="3810000" y="5095875"/>
            <a:ext cx="5810250" cy="533400"/>
          </a:xfrm>
          <a:prstGeom prst="rect">
            <a:avLst/>
          </a:prstGeom>
          <a:noFill/>
          <a:ln w="0">
            <a:noFill/>
            <a:prstDash val="solid"/>
          </a:ln>
        </p:spPr>
        <p:txBody>
          <a:bodyPr wrap="square" lIns="0" tIns="0" rIns="0" bIns="0" anchor="t">
            <a:noAutofit/>
          </a:bodyPr>
          <a:lstStyle/>
          <a:p>
            <a:pPr algn="l">
              <a:buNone/>
              <a:defRPr sz="1163" b="0">
                <a:solidFill>
                  <a:srgbClr val="101214"/>
                </a:solidFill>
                <a:latin typeface="Helvetica Neue"/>
                <a:ea typeface="Helvetica Neue"/>
                <a:cs typeface="Helvetica Neue"/>
              </a:defRPr>
            </a:pPr>
            <a:r>
              <a:rPr sz="1163" b="0">
                <a:solidFill>
                  <a:srgbClr val="101214"/>
                </a:solidFill>
                <a:latin typeface="Helvetica Neue"/>
                <a:ea typeface="Helvetica Neue"/>
                <a:cs typeface="Helvetica Neue"/>
              </a:rPr>
              <a:t>GLM: slime / async rollout / OPD / PD</a:t>
            </a:r>
          </a:p>
          <a:p>
            <a:pPr algn="l">
              <a:buNone/>
              <a:defRPr sz="1163" b="0">
                <a:solidFill>
                  <a:srgbClr val="101214"/>
                </a:solidFill>
                <a:latin typeface="Helvetica Neue"/>
                <a:ea typeface="Helvetica Neue"/>
                <a:cs typeface="Helvetica Neue"/>
              </a:defRPr>
            </a:pPr>
            <a:r>
              <a:rPr sz="1163" b="0">
                <a:solidFill>
                  <a:srgbClr val="101214"/>
                </a:solidFill>
                <a:latin typeface="Helvetica Neue"/>
                <a:ea typeface="Helvetica Neue"/>
                <a:cs typeface="Helvetica Neue"/>
              </a:rPr>
              <a:t>K3: KDA prefix cache / Mooncake serving</a:t>
            </a:r>
          </a:p>
        </p:txBody>
      </p:sp>
      <p:sp>
        <p:nvSpPr>
          <p:cNvPr id="22" name="矩形 21">
            <a:extLst>
              <a:ext uri="{FF2B5EF4-FFF2-40B4-BE49-F238E27FC236}">
                <a16:creationId xmlns:a16="http://schemas.microsoft.com/office/drawing/2014/main" id="{A5ED77D1-290C-4BDE-8088-3C1E030134E5}"/>
              </a:ext>
            </a:extLst>
          </p:cNvPr>
          <p:cNvSpPr>
            <a:spLocks noGrp="1"/>
          </p:cNvSpPr>
          <p:nvPr/>
        </p:nvSpPr>
        <p:spPr>
          <a:xfrm>
            <a:off x="9810750" y="5200650"/>
            <a:ext cx="1619250" cy="247650"/>
          </a:xfrm>
          <a:prstGeom prst="rect">
            <a:avLst/>
          </a:prstGeom>
          <a:noFill/>
          <a:ln w="0">
            <a:noFill/>
            <a:prstDash val="solid"/>
          </a:ln>
        </p:spPr>
        <p:txBody>
          <a:bodyPr wrap="square" lIns="0" tIns="0" rIns="0" bIns="0" anchor="t">
            <a:noAutofit/>
          </a:bodyPr>
          <a:lstStyle/>
          <a:p>
            <a:pPr algn="r">
              <a:buNone/>
              <a:defRPr sz="1050" b="1">
                <a:solidFill>
                  <a:srgbClr val="5E6470"/>
                </a:solidFill>
                <a:latin typeface="Helvetica Neue"/>
                <a:ea typeface="Helvetica Neue"/>
                <a:cs typeface="Helvetica Neue"/>
              </a:defRPr>
            </a:pPr>
            <a:r>
              <a:rPr sz="1050" b="1">
                <a:solidFill>
                  <a:srgbClr val="5E6470"/>
                </a:solidFill>
                <a:latin typeface="Helvetica Neue"/>
                <a:ea typeface="Helvetica Neue"/>
                <a:cs typeface="Helvetica Neue"/>
              </a:rPr>
              <a:t>GLM / K3</a:t>
            </a:r>
          </a:p>
        </p:txBody>
      </p:sp>
      <p:sp>
        <p:nvSpPr>
          <p:cNvPr id="23" name="直线连接符 22">
            <a:extLst>
              <a:ext uri="{FF2B5EF4-FFF2-40B4-BE49-F238E27FC236}">
                <a16:creationId xmlns:a16="http://schemas.microsoft.com/office/drawing/2014/main" id="{A7A52514-DBB0-4410-9B71-26EE46859E08}"/>
              </a:ext>
            </a:extLst>
          </p:cNvPr>
          <p:cNvSpPr>
            <a:spLocks noGrp="1"/>
          </p:cNvSpPr>
          <p:nvPr/>
        </p:nvSpPr>
        <p:spPr>
          <a:xfrm>
            <a:off x="419100" y="6286500"/>
            <a:ext cx="11353800" cy="0"/>
          </a:xfrm>
          <a:prstGeom prst="line">
            <a:avLst/>
          </a:prstGeom>
          <a:noFill/>
          <a:ln w="9525">
            <a:solidFill>
              <a:srgbClr val="B8BCC4"/>
            </a:solidFill>
            <a:prstDash val="solid"/>
          </a:ln>
        </p:spPr>
      </p:sp>
      <p:sp>
        <p:nvSpPr>
          <p:cNvPr id="24" name="矩形 23">
            <a:extLst>
              <a:ext uri="{FF2B5EF4-FFF2-40B4-BE49-F238E27FC236}">
                <a16:creationId xmlns:a16="http://schemas.microsoft.com/office/drawing/2014/main" id="{CB015DBE-D8D2-4148-ADCC-04D219F98AFA}"/>
              </a:ext>
            </a:extLst>
          </p:cNvPr>
          <p:cNvSpPr>
            <a:spLocks noGrp="1"/>
          </p:cNvSpPr>
          <p:nvPr/>
        </p:nvSpPr>
        <p:spPr>
          <a:xfrm>
            <a:off x="419100" y="6362700"/>
            <a:ext cx="10763250" cy="219075"/>
          </a:xfrm>
          <a:prstGeom prst="rect">
            <a:avLst/>
          </a:prstGeom>
          <a:noFill/>
          <a:ln w="0">
            <a:noFill/>
            <a:prstDash val="solid"/>
          </a:ln>
        </p:spPr>
        <p:txBody>
          <a:bodyPr wrap="square" lIns="0" tIns="0" rIns="0" bIns="0" anchor="t">
            <a:noAutofit/>
          </a:bodyPr>
          <a:lstStyle/>
          <a:p>
            <a:pPr>
              <a:defRPr sz="788" b="0">
                <a:solidFill>
                  <a:srgbClr val="5E6470"/>
                </a:solidFill>
                <a:latin typeface="Helvetica Neue"/>
                <a:ea typeface="Helvetica Neue"/>
                <a:cs typeface="Helvetica Neue"/>
              </a:defRPr>
            </a:pPr>
            <a:r>
              <a:rPr lang="en" altLang="zh-CN" sz="788" dirty="0"/>
              <a:t>Towards Long-Horizon Agents: A Survey Foundation, Evolution, Harness, Optimization, Application, and Frontier.  Link: </a:t>
            </a:r>
            <a:r>
              <a:rPr lang="en" sz="788" dirty="0">
                <a:solidFill>
                  <a:srgbClr val="5E6470"/>
                </a:solidFill>
                <a:latin typeface="Helvetica Neue"/>
                <a:ea typeface="Helvetica Neue"/>
                <a:cs typeface="Helvetica Neue"/>
              </a:rPr>
              <a:t>https://</a:t>
            </a:r>
            <a:r>
              <a:rPr lang="en" sz="788" dirty="0" err="1">
                <a:solidFill>
                  <a:srgbClr val="5E6470"/>
                </a:solidFill>
                <a:latin typeface="Helvetica Neue"/>
                <a:ea typeface="Helvetica Neue"/>
                <a:cs typeface="Helvetica Neue"/>
              </a:rPr>
              <a:t>openreview.net</a:t>
            </a:r>
            <a:r>
              <a:rPr lang="en" sz="788" dirty="0">
                <a:solidFill>
                  <a:srgbClr val="5E6470"/>
                </a:solidFill>
                <a:latin typeface="Helvetica Neue"/>
                <a:ea typeface="Helvetica Neue"/>
                <a:cs typeface="Helvetica Neue"/>
              </a:rPr>
              <a:t>/</a:t>
            </a:r>
            <a:r>
              <a:rPr lang="en" sz="788" dirty="0" err="1">
                <a:solidFill>
                  <a:srgbClr val="5E6470"/>
                </a:solidFill>
                <a:latin typeface="Helvetica Neue"/>
                <a:ea typeface="Helvetica Neue"/>
                <a:cs typeface="Helvetica Neue"/>
              </a:rPr>
              <a:t>pdf?id</a:t>
            </a:r>
            <a:r>
              <a:rPr lang="en" sz="788" dirty="0">
                <a:solidFill>
                  <a:srgbClr val="5E6470"/>
                </a:solidFill>
                <a:latin typeface="Helvetica Neue"/>
                <a:ea typeface="Helvetica Neue"/>
                <a:cs typeface="Helvetica Neue"/>
              </a:rPr>
              <a:t>=</a:t>
            </a:r>
            <a:r>
              <a:rPr lang="en" sz="788" dirty="0" err="1">
                <a:solidFill>
                  <a:srgbClr val="5E6470"/>
                </a:solidFill>
                <a:latin typeface="Helvetica Neue"/>
                <a:ea typeface="Helvetica Neue"/>
                <a:cs typeface="Helvetica Neue"/>
              </a:rPr>
              <a:t>HyhfhlbWGh</a:t>
            </a:r>
            <a:endParaRPr sz="788" b="0" dirty="0">
              <a:solidFill>
                <a:srgbClr val="5E6470"/>
              </a:solidFill>
              <a:latin typeface="Helvetica Neue"/>
              <a:ea typeface="Helvetica Neue"/>
              <a:cs typeface="Helvetica Neue"/>
            </a:endParaRPr>
          </a:p>
        </p:txBody>
      </p:sp>
      <p:sp>
        <p:nvSpPr>
          <p:cNvPr id="25" name="矩形 24">
            <a:extLst>
              <a:ext uri="{FF2B5EF4-FFF2-40B4-BE49-F238E27FC236}">
                <a16:creationId xmlns:a16="http://schemas.microsoft.com/office/drawing/2014/main" id="{01739E06-43FF-4179-BD16-B761E8DB690E}"/>
              </a:ext>
            </a:extLst>
          </p:cNvPr>
          <p:cNvSpPr>
            <a:spLocks noGrp="1"/>
          </p:cNvSpPr>
          <p:nvPr/>
        </p:nvSpPr>
        <p:spPr>
          <a:xfrm>
            <a:off x="11334750" y="6362700"/>
            <a:ext cx="438150" cy="219075"/>
          </a:xfrm>
          <a:prstGeom prst="rect">
            <a:avLst/>
          </a:prstGeom>
          <a:noFill/>
          <a:ln w="0">
            <a:noFill/>
            <a:prstDash val="solid"/>
          </a:ln>
        </p:spPr>
        <p:txBody>
          <a:bodyPr wrap="square" lIns="0" tIns="0" rIns="0" bIns="0" anchor="t">
            <a:noAutofit/>
          </a:bodyPr>
          <a:lstStyle/>
          <a:p>
            <a:pPr algn="r">
              <a:buNone/>
              <a:defRPr sz="825" b="0">
                <a:solidFill>
                  <a:srgbClr val="5E6470"/>
                </a:solidFill>
                <a:latin typeface="Helvetica Neue"/>
                <a:ea typeface="Helvetica Neue"/>
                <a:cs typeface="Helvetica Neue"/>
              </a:defRPr>
            </a:pPr>
            <a:r>
              <a:rPr sz="825" b="0">
                <a:solidFill>
                  <a:srgbClr val="5E6470"/>
                </a:solidFill>
                <a:latin typeface="Helvetica Neue"/>
                <a:ea typeface="Helvetica Neue"/>
                <a:cs typeface="Helvetica Neue"/>
              </a:rPr>
              <a:t>41</a:t>
            </a:r>
          </a:p>
        </p:txBody>
      </p:sp>
    </p:spTree>
    <p:extLst>
      <p:ext uri="{BB962C8B-B14F-4D97-AF65-F5344CB8AC3E}">
        <p14:creationId xmlns:p14="http://schemas.microsoft.com/office/powerpoint/2010/main" val="11804728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 name="矩形 39">
            <a:extLst>
              <a:ext uri="{FF2B5EF4-FFF2-40B4-BE49-F238E27FC236}">
                <a16:creationId xmlns:a16="http://schemas.microsoft.com/office/drawing/2014/main" id="{5882A58B-2AAD-42B1-81EE-D61604CDC27F}"/>
              </a:ext>
            </a:extLst>
          </p:cNvPr>
          <p:cNvSpPr>
            <a:spLocks noGrp="1"/>
          </p:cNvSpPr>
          <p:nvPr/>
        </p:nvSpPr>
        <p:spPr>
          <a:xfrm>
            <a:off x="419100" y="171450"/>
            <a:ext cx="2952750" cy="228600"/>
          </a:xfrm>
          <a:prstGeom prst="rect">
            <a:avLst/>
          </a:prstGeom>
          <a:noFill/>
          <a:ln w="0">
            <a:noFill/>
            <a:prstDash val="solid"/>
          </a:ln>
        </p:spPr>
        <p:txBody>
          <a:bodyPr wrap="square" lIns="0" tIns="0" rIns="0" bIns="0" anchor="t">
            <a:noAutofit/>
          </a:bodyPr>
          <a:lstStyle/>
          <a:p>
            <a:pPr algn="l">
              <a:buNone/>
              <a:defRPr sz="975" b="1">
                <a:solidFill>
                  <a:srgbClr val="5E6470"/>
                </a:solidFill>
                <a:latin typeface="Helvetica Neue"/>
                <a:ea typeface="Helvetica Neue"/>
                <a:cs typeface="Helvetica Neue"/>
              </a:defRPr>
            </a:pPr>
            <a:r>
              <a:rPr sz="975" b="1">
                <a:solidFill>
                  <a:srgbClr val="5E6470"/>
                </a:solidFill>
                <a:latin typeface="Helvetica Neue"/>
                <a:ea typeface="Helvetica Neue"/>
                <a:cs typeface="Helvetica Neue"/>
              </a:rPr>
              <a:t>REFERENCES</a:t>
            </a:r>
          </a:p>
        </p:txBody>
      </p:sp>
      <p:sp>
        <p:nvSpPr>
          <p:cNvPr id="2" name="矩形 1">
            <a:extLst>
              <a:ext uri="{FF2B5EF4-FFF2-40B4-BE49-F238E27FC236}">
                <a16:creationId xmlns:a16="http://schemas.microsoft.com/office/drawing/2014/main" id="{96E52347-96D3-467E-A4E6-860C8D3B1888}"/>
              </a:ext>
            </a:extLst>
          </p:cNvPr>
          <p:cNvSpPr>
            <a:spLocks noGrp="1"/>
          </p:cNvSpPr>
          <p:nvPr/>
        </p:nvSpPr>
        <p:spPr>
          <a:xfrm>
            <a:off x="419100" y="957263"/>
            <a:ext cx="11353800" cy="514350"/>
          </a:xfrm>
          <a:prstGeom prst="rect">
            <a:avLst/>
          </a:prstGeom>
          <a:noFill/>
          <a:ln w="0">
            <a:noFill/>
            <a:prstDash val="solid"/>
          </a:ln>
        </p:spPr>
        <p:txBody>
          <a:bodyPr wrap="square" lIns="0" tIns="0" rIns="0" bIns="0" anchor="t">
            <a:noAutofit/>
          </a:bodyPr>
          <a:lstStyle/>
          <a:p>
            <a:pPr algn="l">
              <a:buNone/>
              <a:defRPr sz="2850" b="1">
                <a:solidFill>
                  <a:srgbClr val="101214"/>
                </a:solidFill>
                <a:latin typeface="Hiragino Sans GB"/>
                <a:ea typeface="Hiragino Sans GB"/>
                <a:cs typeface="Hiragino Sans GB"/>
              </a:defRPr>
            </a:pPr>
            <a:r>
              <a:rPr lang="en-US" altLang="zh-CN" sz="2850" b="1" dirty="0">
                <a:solidFill>
                  <a:srgbClr val="101214"/>
                </a:solidFill>
                <a:latin typeface="Hiragino Sans GB"/>
                <a:ea typeface="Hiragino Sans GB"/>
                <a:cs typeface="Hiragino Sans GB"/>
              </a:rPr>
              <a:t>References</a:t>
            </a:r>
            <a:endParaRPr sz="2850" b="1" dirty="0">
              <a:solidFill>
                <a:srgbClr val="101214"/>
              </a:solidFill>
              <a:latin typeface="Hiragino Sans GB"/>
              <a:ea typeface="Hiragino Sans GB"/>
              <a:cs typeface="Hiragino Sans GB"/>
            </a:endParaRPr>
          </a:p>
        </p:txBody>
      </p:sp>
      <p:sp>
        <p:nvSpPr>
          <p:cNvPr id="3" name="矩形 2">
            <a:extLst>
              <a:ext uri="{FF2B5EF4-FFF2-40B4-BE49-F238E27FC236}">
                <a16:creationId xmlns:a16="http://schemas.microsoft.com/office/drawing/2014/main" id="{6E8AF76A-5B38-45E3-BE82-EAF775A7AD36}"/>
              </a:ext>
            </a:extLst>
          </p:cNvPr>
          <p:cNvSpPr>
            <a:spLocks noGrp="1"/>
          </p:cNvSpPr>
          <p:nvPr/>
        </p:nvSpPr>
        <p:spPr>
          <a:xfrm>
            <a:off x="419100" y="2095500"/>
            <a:ext cx="400050" cy="266700"/>
          </a:xfrm>
          <a:prstGeom prst="rect">
            <a:avLst/>
          </a:prstGeom>
          <a:noFill/>
          <a:ln w="0">
            <a:noFill/>
            <a:prstDash val="solid"/>
          </a:ln>
        </p:spPr>
        <p:txBody>
          <a:bodyPr wrap="square" lIns="0" tIns="0" rIns="0" bIns="0" anchor="t">
            <a:noAutofit/>
          </a:bodyPr>
          <a:lstStyle/>
          <a:p>
            <a:pPr algn="l">
              <a:buNone/>
              <a:defRPr sz="1350" b="1">
                <a:solidFill>
                  <a:srgbClr val="2787F5"/>
                </a:solidFill>
                <a:latin typeface="Helvetica Neue"/>
                <a:ea typeface="Helvetica Neue"/>
                <a:cs typeface="Helvetica Neue"/>
              </a:defRPr>
            </a:pPr>
            <a:r>
              <a:rPr sz="1350" b="1">
                <a:solidFill>
                  <a:srgbClr val="2787F5"/>
                </a:solidFill>
                <a:latin typeface="Helvetica Neue"/>
                <a:ea typeface="Helvetica Neue"/>
                <a:cs typeface="Helvetica Neue"/>
              </a:rPr>
              <a:t>01</a:t>
            </a:r>
          </a:p>
        </p:txBody>
      </p:sp>
      <p:sp>
        <p:nvSpPr>
          <p:cNvPr id="4" name="矩形 3">
            <a:extLst>
              <a:ext uri="{FF2B5EF4-FFF2-40B4-BE49-F238E27FC236}">
                <a16:creationId xmlns:a16="http://schemas.microsoft.com/office/drawing/2014/main" id="{4ED6746E-FA25-42C3-B0B2-7ADB01FFAE9E}"/>
              </a:ext>
            </a:extLst>
          </p:cNvPr>
          <p:cNvSpPr>
            <a:spLocks noGrp="1"/>
          </p:cNvSpPr>
          <p:nvPr/>
        </p:nvSpPr>
        <p:spPr>
          <a:xfrm>
            <a:off x="942975" y="2095500"/>
            <a:ext cx="4572000" cy="438150"/>
          </a:xfrm>
          <a:prstGeom prst="rect">
            <a:avLst/>
          </a:prstGeom>
          <a:noFill/>
          <a:ln w="0">
            <a:noFill/>
            <a:prstDash val="solid"/>
          </a:ln>
        </p:spPr>
        <p:txBody>
          <a:bodyPr wrap="square" lIns="0" tIns="0" rIns="0" bIns="0" anchor="t">
            <a:noAutofit/>
          </a:bodyPr>
          <a:lstStyle/>
          <a:p>
            <a:pPr algn="l">
              <a:buNone/>
              <a:defRPr sz="1275" b="1">
                <a:solidFill>
                  <a:srgbClr val="101214"/>
                </a:solidFill>
                <a:latin typeface="Helvetica Neue"/>
                <a:ea typeface="Helvetica Neue"/>
                <a:cs typeface="Helvetica Neue"/>
              </a:defRPr>
            </a:pPr>
            <a:r>
              <a:rPr sz="1275" b="1">
                <a:solidFill>
                  <a:srgbClr val="101214"/>
                </a:solidFill>
                <a:latin typeface="Helvetica Neue"/>
                <a:ea typeface="Helvetica Neue"/>
                <a:cs typeface="Helvetica Neue"/>
              </a:rPr>
              <a:t>Hao et al. — Rethinking Entropy Interventions in RLVR</a:t>
            </a:r>
          </a:p>
        </p:txBody>
      </p:sp>
      <p:sp>
        <p:nvSpPr>
          <p:cNvPr id="5" name="矩形 4">
            <a:extLst>
              <a:ext uri="{FF2B5EF4-FFF2-40B4-BE49-F238E27FC236}">
                <a16:creationId xmlns:a16="http://schemas.microsoft.com/office/drawing/2014/main" id="{E2AD032C-0363-4681-AB7B-7DBDFB8537D8}"/>
              </a:ext>
            </a:extLst>
          </p:cNvPr>
          <p:cNvSpPr>
            <a:spLocks noGrp="1"/>
          </p:cNvSpPr>
          <p:nvPr/>
        </p:nvSpPr>
        <p:spPr>
          <a:xfrm>
            <a:off x="942975" y="2609850"/>
            <a:ext cx="4572000" cy="238125"/>
          </a:xfrm>
          <a:prstGeom prst="rect">
            <a:avLst/>
          </a:prstGeom>
          <a:noFill/>
          <a:ln w="0">
            <a:noFill/>
            <a:prstDash val="solid"/>
          </a:ln>
        </p:spPr>
        <p:txBody>
          <a:bodyPr wrap="square" lIns="0" tIns="0" rIns="0" bIns="0" anchor="t">
            <a:noAutofit/>
          </a:bodyPr>
          <a:lstStyle/>
          <a:p>
            <a:pPr algn="l">
              <a:buNone/>
              <a:defRPr sz="1013" b="0">
                <a:solidFill>
                  <a:srgbClr val="5E6470"/>
                </a:solidFill>
                <a:latin typeface="Helvetica Neue"/>
                <a:ea typeface="Helvetica Neue"/>
                <a:cs typeface="Helvetica Neue"/>
              </a:defRPr>
            </a:pPr>
            <a:r>
              <a:rPr sz="1013" b="0">
                <a:solidFill>
                  <a:srgbClr val="5E6470"/>
                </a:solidFill>
                <a:latin typeface="Helvetica Neue"/>
                <a:ea typeface="Helvetica Neue"/>
                <a:cs typeface="Helvetica Neue"/>
              </a:rPr>
              <a:t>arXiv:2510.10150v4</a:t>
            </a:r>
          </a:p>
        </p:txBody>
      </p:sp>
      <p:sp>
        <p:nvSpPr>
          <p:cNvPr id="6" name="直线连接符 5">
            <a:extLst>
              <a:ext uri="{FF2B5EF4-FFF2-40B4-BE49-F238E27FC236}">
                <a16:creationId xmlns:a16="http://schemas.microsoft.com/office/drawing/2014/main" id="{DA46551C-1AAA-4ECD-A8F5-18C80AE56950}"/>
              </a:ext>
            </a:extLst>
          </p:cNvPr>
          <p:cNvSpPr>
            <a:spLocks noGrp="1"/>
          </p:cNvSpPr>
          <p:nvPr/>
        </p:nvSpPr>
        <p:spPr>
          <a:xfrm>
            <a:off x="419100" y="2933700"/>
            <a:ext cx="5095875" cy="0"/>
          </a:xfrm>
          <a:prstGeom prst="line">
            <a:avLst/>
          </a:prstGeom>
          <a:noFill/>
          <a:ln w="9525">
            <a:solidFill>
              <a:srgbClr val="E9EDF2"/>
            </a:solidFill>
            <a:prstDash val="solid"/>
          </a:ln>
        </p:spPr>
      </p:sp>
      <p:sp>
        <p:nvSpPr>
          <p:cNvPr id="7" name="矩形 6">
            <a:extLst>
              <a:ext uri="{FF2B5EF4-FFF2-40B4-BE49-F238E27FC236}">
                <a16:creationId xmlns:a16="http://schemas.microsoft.com/office/drawing/2014/main" id="{534DC531-8656-4740-B369-33EA5CD85028}"/>
              </a:ext>
            </a:extLst>
          </p:cNvPr>
          <p:cNvSpPr>
            <a:spLocks noGrp="1"/>
          </p:cNvSpPr>
          <p:nvPr/>
        </p:nvSpPr>
        <p:spPr>
          <a:xfrm>
            <a:off x="419100" y="3067050"/>
            <a:ext cx="400050" cy="266700"/>
          </a:xfrm>
          <a:prstGeom prst="rect">
            <a:avLst/>
          </a:prstGeom>
          <a:noFill/>
          <a:ln w="0">
            <a:noFill/>
            <a:prstDash val="solid"/>
          </a:ln>
        </p:spPr>
        <p:txBody>
          <a:bodyPr wrap="square" lIns="0" tIns="0" rIns="0" bIns="0" anchor="t">
            <a:noAutofit/>
          </a:bodyPr>
          <a:lstStyle/>
          <a:p>
            <a:pPr algn="l">
              <a:buNone/>
              <a:defRPr sz="1350" b="1">
                <a:solidFill>
                  <a:srgbClr val="2787F5"/>
                </a:solidFill>
                <a:latin typeface="Helvetica Neue"/>
                <a:ea typeface="Helvetica Neue"/>
                <a:cs typeface="Helvetica Neue"/>
              </a:defRPr>
            </a:pPr>
            <a:r>
              <a:rPr sz="1350" b="1">
                <a:solidFill>
                  <a:srgbClr val="2787F5"/>
                </a:solidFill>
                <a:latin typeface="Helvetica Neue"/>
                <a:ea typeface="Helvetica Neue"/>
                <a:cs typeface="Helvetica Neue"/>
              </a:rPr>
              <a:t>02</a:t>
            </a:r>
          </a:p>
        </p:txBody>
      </p:sp>
      <p:sp>
        <p:nvSpPr>
          <p:cNvPr id="8" name="矩形 7">
            <a:extLst>
              <a:ext uri="{FF2B5EF4-FFF2-40B4-BE49-F238E27FC236}">
                <a16:creationId xmlns:a16="http://schemas.microsoft.com/office/drawing/2014/main" id="{C7E72655-117B-4A5A-BDDA-C19E7AD75588}"/>
              </a:ext>
            </a:extLst>
          </p:cNvPr>
          <p:cNvSpPr>
            <a:spLocks noGrp="1"/>
          </p:cNvSpPr>
          <p:nvPr/>
        </p:nvSpPr>
        <p:spPr>
          <a:xfrm>
            <a:off x="942975" y="3067050"/>
            <a:ext cx="4572000" cy="438150"/>
          </a:xfrm>
          <a:prstGeom prst="rect">
            <a:avLst/>
          </a:prstGeom>
          <a:noFill/>
          <a:ln w="0">
            <a:noFill/>
            <a:prstDash val="solid"/>
          </a:ln>
        </p:spPr>
        <p:txBody>
          <a:bodyPr wrap="square" lIns="0" tIns="0" rIns="0" bIns="0" anchor="t">
            <a:noAutofit/>
          </a:bodyPr>
          <a:lstStyle/>
          <a:p>
            <a:pPr algn="l">
              <a:buNone/>
              <a:defRPr sz="1275" b="1">
                <a:solidFill>
                  <a:srgbClr val="101214"/>
                </a:solidFill>
                <a:latin typeface="Helvetica Neue"/>
                <a:ea typeface="Helvetica Neue"/>
                <a:cs typeface="Helvetica Neue"/>
              </a:defRPr>
            </a:pPr>
            <a:r>
              <a:rPr sz="1275" b="1">
                <a:solidFill>
                  <a:srgbClr val="101214"/>
                </a:solidFill>
                <a:latin typeface="Helvetica Neue"/>
                <a:ea typeface="Helvetica Neue"/>
                <a:cs typeface="Helvetica Neue"/>
              </a:rPr>
              <a:t>Wang et al. — RAGEN-2: Reasoning Collapse in Agentic RL</a:t>
            </a:r>
          </a:p>
        </p:txBody>
      </p:sp>
      <p:sp>
        <p:nvSpPr>
          <p:cNvPr id="9" name="矩形 8">
            <a:extLst>
              <a:ext uri="{FF2B5EF4-FFF2-40B4-BE49-F238E27FC236}">
                <a16:creationId xmlns:a16="http://schemas.microsoft.com/office/drawing/2014/main" id="{67010A21-7575-4B85-B162-0F2A44EB671F}"/>
              </a:ext>
            </a:extLst>
          </p:cNvPr>
          <p:cNvSpPr>
            <a:spLocks noGrp="1"/>
          </p:cNvSpPr>
          <p:nvPr/>
        </p:nvSpPr>
        <p:spPr>
          <a:xfrm>
            <a:off x="942975" y="3581400"/>
            <a:ext cx="4572000" cy="238125"/>
          </a:xfrm>
          <a:prstGeom prst="rect">
            <a:avLst/>
          </a:prstGeom>
          <a:noFill/>
          <a:ln w="0">
            <a:noFill/>
            <a:prstDash val="solid"/>
          </a:ln>
        </p:spPr>
        <p:txBody>
          <a:bodyPr wrap="square" lIns="0" tIns="0" rIns="0" bIns="0" anchor="t">
            <a:noAutofit/>
          </a:bodyPr>
          <a:lstStyle/>
          <a:p>
            <a:pPr algn="l">
              <a:buNone/>
              <a:defRPr sz="1013" b="0">
                <a:solidFill>
                  <a:srgbClr val="5E6470"/>
                </a:solidFill>
                <a:latin typeface="Helvetica Neue"/>
                <a:ea typeface="Helvetica Neue"/>
                <a:cs typeface="Helvetica Neue"/>
              </a:defRPr>
            </a:pPr>
            <a:r>
              <a:rPr sz="1013" b="0">
                <a:solidFill>
                  <a:srgbClr val="5E6470"/>
                </a:solidFill>
                <a:latin typeface="Helvetica Neue"/>
                <a:ea typeface="Helvetica Neue"/>
                <a:cs typeface="Helvetica Neue"/>
              </a:rPr>
              <a:t>arXiv:2604.06268v1</a:t>
            </a:r>
          </a:p>
        </p:txBody>
      </p:sp>
      <p:sp>
        <p:nvSpPr>
          <p:cNvPr id="10" name="直线连接符 9">
            <a:extLst>
              <a:ext uri="{FF2B5EF4-FFF2-40B4-BE49-F238E27FC236}">
                <a16:creationId xmlns:a16="http://schemas.microsoft.com/office/drawing/2014/main" id="{83EBFDE0-C984-4C50-9FA3-1640B8F25AF7}"/>
              </a:ext>
            </a:extLst>
          </p:cNvPr>
          <p:cNvSpPr>
            <a:spLocks noGrp="1"/>
          </p:cNvSpPr>
          <p:nvPr/>
        </p:nvSpPr>
        <p:spPr>
          <a:xfrm>
            <a:off x="419100" y="3905250"/>
            <a:ext cx="5095875" cy="0"/>
          </a:xfrm>
          <a:prstGeom prst="line">
            <a:avLst/>
          </a:prstGeom>
          <a:noFill/>
          <a:ln w="9525">
            <a:solidFill>
              <a:srgbClr val="E9EDF2"/>
            </a:solidFill>
            <a:prstDash val="solid"/>
          </a:ln>
        </p:spPr>
      </p:sp>
      <p:sp>
        <p:nvSpPr>
          <p:cNvPr id="11" name="矩形 10">
            <a:extLst>
              <a:ext uri="{FF2B5EF4-FFF2-40B4-BE49-F238E27FC236}">
                <a16:creationId xmlns:a16="http://schemas.microsoft.com/office/drawing/2014/main" id="{EFE2DCA4-828E-46B7-B524-93F7A94A3363}"/>
              </a:ext>
            </a:extLst>
          </p:cNvPr>
          <p:cNvSpPr>
            <a:spLocks noGrp="1"/>
          </p:cNvSpPr>
          <p:nvPr/>
        </p:nvSpPr>
        <p:spPr>
          <a:xfrm>
            <a:off x="419100" y="4038600"/>
            <a:ext cx="400050" cy="266700"/>
          </a:xfrm>
          <a:prstGeom prst="rect">
            <a:avLst/>
          </a:prstGeom>
          <a:noFill/>
          <a:ln w="0">
            <a:noFill/>
            <a:prstDash val="solid"/>
          </a:ln>
        </p:spPr>
        <p:txBody>
          <a:bodyPr wrap="square" lIns="0" tIns="0" rIns="0" bIns="0" anchor="t">
            <a:noAutofit/>
          </a:bodyPr>
          <a:lstStyle/>
          <a:p>
            <a:pPr algn="l">
              <a:buNone/>
              <a:defRPr sz="1350" b="1">
                <a:solidFill>
                  <a:srgbClr val="2787F5"/>
                </a:solidFill>
                <a:latin typeface="Helvetica Neue"/>
                <a:ea typeface="Helvetica Neue"/>
                <a:cs typeface="Helvetica Neue"/>
              </a:defRPr>
            </a:pPr>
            <a:r>
              <a:rPr sz="1350" b="1">
                <a:solidFill>
                  <a:srgbClr val="2787F5"/>
                </a:solidFill>
                <a:latin typeface="Helvetica Neue"/>
                <a:ea typeface="Helvetica Neue"/>
                <a:cs typeface="Helvetica Neue"/>
              </a:rPr>
              <a:t>03</a:t>
            </a:r>
          </a:p>
        </p:txBody>
      </p:sp>
      <p:sp>
        <p:nvSpPr>
          <p:cNvPr id="12" name="矩形 11">
            <a:extLst>
              <a:ext uri="{FF2B5EF4-FFF2-40B4-BE49-F238E27FC236}">
                <a16:creationId xmlns:a16="http://schemas.microsoft.com/office/drawing/2014/main" id="{6D023BB0-3C14-43C4-A99D-C6284057E88C}"/>
              </a:ext>
            </a:extLst>
          </p:cNvPr>
          <p:cNvSpPr>
            <a:spLocks noGrp="1"/>
          </p:cNvSpPr>
          <p:nvPr/>
        </p:nvSpPr>
        <p:spPr>
          <a:xfrm>
            <a:off x="942975" y="4038600"/>
            <a:ext cx="4572000" cy="438150"/>
          </a:xfrm>
          <a:prstGeom prst="rect">
            <a:avLst/>
          </a:prstGeom>
          <a:noFill/>
          <a:ln w="0">
            <a:noFill/>
            <a:prstDash val="solid"/>
          </a:ln>
        </p:spPr>
        <p:txBody>
          <a:bodyPr wrap="square" lIns="0" tIns="0" rIns="0" bIns="0" anchor="t">
            <a:noAutofit/>
          </a:bodyPr>
          <a:lstStyle/>
          <a:p>
            <a:pPr algn="l">
              <a:buNone/>
              <a:defRPr sz="1275" b="1">
                <a:solidFill>
                  <a:srgbClr val="101214"/>
                </a:solidFill>
                <a:latin typeface="Helvetica Neue"/>
                <a:ea typeface="Helvetica Neue"/>
                <a:cs typeface="Helvetica Neue"/>
              </a:defRPr>
            </a:pPr>
            <a:r>
              <a:rPr sz="1275" b="1">
                <a:solidFill>
                  <a:srgbClr val="101214"/>
                </a:solidFill>
                <a:latin typeface="Helvetica Neue"/>
                <a:ea typeface="Helvetica Neue"/>
                <a:cs typeface="Helvetica Neue"/>
              </a:rPr>
              <a:t>Wang et al. — T²PO</a:t>
            </a:r>
          </a:p>
        </p:txBody>
      </p:sp>
      <p:sp>
        <p:nvSpPr>
          <p:cNvPr id="13" name="矩形 12">
            <a:extLst>
              <a:ext uri="{FF2B5EF4-FFF2-40B4-BE49-F238E27FC236}">
                <a16:creationId xmlns:a16="http://schemas.microsoft.com/office/drawing/2014/main" id="{14761804-7112-49F6-9AEC-9CC7BD0846FC}"/>
              </a:ext>
            </a:extLst>
          </p:cNvPr>
          <p:cNvSpPr>
            <a:spLocks noGrp="1"/>
          </p:cNvSpPr>
          <p:nvPr/>
        </p:nvSpPr>
        <p:spPr>
          <a:xfrm>
            <a:off x="942975" y="4552950"/>
            <a:ext cx="4572000" cy="238125"/>
          </a:xfrm>
          <a:prstGeom prst="rect">
            <a:avLst/>
          </a:prstGeom>
          <a:noFill/>
          <a:ln w="0">
            <a:noFill/>
            <a:prstDash val="solid"/>
          </a:ln>
        </p:spPr>
        <p:txBody>
          <a:bodyPr wrap="square" lIns="0" tIns="0" rIns="0" bIns="0" anchor="t">
            <a:noAutofit/>
          </a:bodyPr>
          <a:lstStyle/>
          <a:p>
            <a:pPr algn="l">
              <a:buNone/>
              <a:defRPr sz="1013" b="0">
                <a:solidFill>
                  <a:srgbClr val="5E6470"/>
                </a:solidFill>
                <a:latin typeface="Helvetica Neue"/>
                <a:ea typeface="Helvetica Neue"/>
                <a:cs typeface="Helvetica Neue"/>
              </a:defRPr>
            </a:pPr>
            <a:r>
              <a:rPr sz="1013" b="0">
                <a:solidFill>
                  <a:srgbClr val="5E6470"/>
                </a:solidFill>
                <a:latin typeface="Helvetica Neue"/>
                <a:ea typeface="Helvetica Neue"/>
                <a:cs typeface="Helvetica Neue"/>
              </a:rPr>
              <a:t>arXiv:2605.02178v1 · ICML 2026 Spotlight</a:t>
            </a:r>
          </a:p>
        </p:txBody>
      </p:sp>
      <p:sp>
        <p:nvSpPr>
          <p:cNvPr id="14" name="直线连接符 13">
            <a:extLst>
              <a:ext uri="{FF2B5EF4-FFF2-40B4-BE49-F238E27FC236}">
                <a16:creationId xmlns:a16="http://schemas.microsoft.com/office/drawing/2014/main" id="{0FF0AA91-943F-4F79-A580-115F89DCAE95}"/>
              </a:ext>
            </a:extLst>
          </p:cNvPr>
          <p:cNvSpPr>
            <a:spLocks noGrp="1"/>
          </p:cNvSpPr>
          <p:nvPr/>
        </p:nvSpPr>
        <p:spPr>
          <a:xfrm>
            <a:off x="419100" y="4876800"/>
            <a:ext cx="5095875" cy="0"/>
          </a:xfrm>
          <a:prstGeom prst="line">
            <a:avLst/>
          </a:prstGeom>
          <a:noFill/>
          <a:ln w="9525">
            <a:solidFill>
              <a:srgbClr val="E9EDF2"/>
            </a:solidFill>
            <a:prstDash val="solid"/>
          </a:ln>
        </p:spPr>
      </p:sp>
      <p:sp>
        <p:nvSpPr>
          <p:cNvPr id="15" name="矩形 14">
            <a:extLst>
              <a:ext uri="{FF2B5EF4-FFF2-40B4-BE49-F238E27FC236}">
                <a16:creationId xmlns:a16="http://schemas.microsoft.com/office/drawing/2014/main" id="{0E68760C-97AA-4F20-BE89-2726014C5A71}"/>
              </a:ext>
            </a:extLst>
          </p:cNvPr>
          <p:cNvSpPr>
            <a:spLocks noGrp="1"/>
          </p:cNvSpPr>
          <p:nvPr/>
        </p:nvSpPr>
        <p:spPr>
          <a:xfrm>
            <a:off x="419100" y="5010150"/>
            <a:ext cx="400050" cy="266700"/>
          </a:xfrm>
          <a:prstGeom prst="rect">
            <a:avLst/>
          </a:prstGeom>
          <a:noFill/>
          <a:ln w="0">
            <a:noFill/>
            <a:prstDash val="solid"/>
          </a:ln>
        </p:spPr>
        <p:txBody>
          <a:bodyPr wrap="square" lIns="0" tIns="0" rIns="0" bIns="0" anchor="t">
            <a:noAutofit/>
          </a:bodyPr>
          <a:lstStyle/>
          <a:p>
            <a:pPr algn="l">
              <a:buNone/>
              <a:defRPr sz="1350" b="1">
                <a:solidFill>
                  <a:srgbClr val="2787F5"/>
                </a:solidFill>
                <a:latin typeface="Helvetica Neue"/>
                <a:ea typeface="Helvetica Neue"/>
                <a:cs typeface="Helvetica Neue"/>
              </a:defRPr>
            </a:pPr>
            <a:r>
              <a:rPr sz="1350" b="1">
                <a:solidFill>
                  <a:srgbClr val="2787F5"/>
                </a:solidFill>
                <a:latin typeface="Helvetica Neue"/>
                <a:ea typeface="Helvetica Neue"/>
                <a:cs typeface="Helvetica Neue"/>
              </a:rPr>
              <a:t>04</a:t>
            </a:r>
          </a:p>
        </p:txBody>
      </p:sp>
      <p:sp>
        <p:nvSpPr>
          <p:cNvPr id="16" name="矩形 15">
            <a:extLst>
              <a:ext uri="{FF2B5EF4-FFF2-40B4-BE49-F238E27FC236}">
                <a16:creationId xmlns:a16="http://schemas.microsoft.com/office/drawing/2014/main" id="{AEFC211B-9AA3-4AC8-8538-7FA6559E70B5}"/>
              </a:ext>
            </a:extLst>
          </p:cNvPr>
          <p:cNvSpPr>
            <a:spLocks noGrp="1"/>
          </p:cNvSpPr>
          <p:nvPr/>
        </p:nvSpPr>
        <p:spPr>
          <a:xfrm>
            <a:off x="942975" y="5010150"/>
            <a:ext cx="4572000" cy="438150"/>
          </a:xfrm>
          <a:prstGeom prst="rect">
            <a:avLst/>
          </a:prstGeom>
          <a:noFill/>
          <a:ln w="0">
            <a:noFill/>
            <a:prstDash val="solid"/>
          </a:ln>
        </p:spPr>
        <p:txBody>
          <a:bodyPr wrap="square" lIns="0" tIns="0" rIns="0" bIns="0" anchor="t">
            <a:noAutofit/>
          </a:bodyPr>
          <a:lstStyle/>
          <a:p>
            <a:pPr algn="l">
              <a:buNone/>
              <a:defRPr sz="1275" b="1">
                <a:solidFill>
                  <a:srgbClr val="101214"/>
                </a:solidFill>
                <a:latin typeface="Helvetica Neue"/>
                <a:ea typeface="Helvetica Neue"/>
                <a:cs typeface="Helvetica Neue"/>
              </a:defRPr>
            </a:pPr>
            <a:r>
              <a:rPr sz="1275" b="1">
                <a:solidFill>
                  <a:srgbClr val="101214"/>
                </a:solidFill>
                <a:latin typeface="Helvetica Neue"/>
                <a:ea typeface="Helvetica Neue"/>
                <a:cs typeface="Helvetica Neue"/>
              </a:rPr>
              <a:t>Liu et al. — Agent0-VL</a:t>
            </a:r>
          </a:p>
        </p:txBody>
      </p:sp>
      <p:sp>
        <p:nvSpPr>
          <p:cNvPr id="17" name="矩形 16">
            <a:extLst>
              <a:ext uri="{FF2B5EF4-FFF2-40B4-BE49-F238E27FC236}">
                <a16:creationId xmlns:a16="http://schemas.microsoft.com/office/drawing/2014/main" id="{3D9B4E69-A3FB-4B22-B17E-891D495A8575}"/>
              </a:ext>
            </a:extLst>
          </p:cNvPr>
          <p:cNvSpPr>
            <a:spLocks noGrp="1"/>
          </p:cNvSpPr>
          <p:nvPr/>
        </p:nvSpPr>
        <p:spPr>
          <a:xfrm>
            <a:off x="942975" y="5524500"/>
            <a:ext cx="4572000" cy="238125"/>
          </a:xfrm>
          <a:prstGeom prst="rect">
            <a:avLst/>
          </a:prstGeom>
          <a:noFill/>
          <a:ln w="0">
            <a:noFill/>
            <a:prstDash val="solid"/>
          </a:ln>
        </p:spPr>
        <p:txBody>
          <a:bodyPr wrap="square" lIns="0" tIns="0" rIns="0" bIns="0" anchor="t">
            <a:noAutofit/>
          </a:bodyPr>
          <a:lstStyle/>
          <a:p>
            <a:pPr algn="l">
              <a:buNone/>
              <a:defRPr sz="1013" b="0">
                <a:solidFill>
                  <a:srgbClr val="5E6470"/>
                </a:solidFill>
                <a:latin typeface="Helvetica Neue"/>
                <a:ea typeface="Helvetica Neue"/>
                <a:cs typeface="Helvetica Neue"/>
              </a:defRPr>
            </a:pPr>
            <a:r>
              <a:rPr sz="1013" b="0">
                <a:solidFill>
                  <a:srgbClr val="5E6470"/>
                </a:solidFill>
                <a:latin typeface="Helvetica Neue"/>
                <a:ea typeface="Helvetica Neue"/>
                <a:cs typeface="Helvetica Neue"/>
              </a:rPr>
              <a:t>arXiv:2511.19900v2</a:t>
            </a:r>
          </a:p>
        </p:txBody>
      </p:sp>
      <p:sp>
        <p:nvSpPr>
          <p:cNvPr id="18" name="直线连接符 17">
            <a:extLst>
              <a:ext uri="{FF2B5EF4-FFF2-40B4-BE49-F238E27FC236}">
                <a16:creationId xmlns:a16="http://schemas.microsoft.com/office/drawing/2014/main" id="{43C7D5D7-9599-4C74-ABDB-D6AB55A2B544}"/>
              </a:ext>
            </a:extLst>
          </p:cNvPr>
          <p:cNvSpPr>
            <a:spLocks noGrp="1"/>
          </p:cNvSpPr>
          <p:nvPr/>
        </p:nvSpPr>
        <p:spPr>
          <a:xfrm>
            <a:off x="419100" y="5848350"/>
            <a:ext cx="5095875" cy="0"/>
          </a:xfrm>
          <a:prstGeom prst="line">
            <a:avLst/>
          </a:prstGeom>
          <a:noFill/>
          <a:ln w="9525">
            <a:solidFill>
              <a:srgbClr val="E9EDF2"/>
            </a:solidFill>
            <a:prstDash val="solid"/>
          </a:ln>
        </p:spPr>
      </p:sp>
      <p:sp>
        <p:nvSpPr>
          <p:cNvPr id="19" name="矩形 18">
            <a:extLst>
              <a:ext uri="{FF2B5EF4-FFF2-40B4-BE49-F238E27FC236}">
                <a16:creationId xmlns:a16="http://schemas.microsoft.com/office/drawing/2014/main" id="{A8D773AE-2684-4E11-A934-D440DF50AAE0}"/>
              </a:ext>
            </a:extLst>
          </p:cNvPr>
          <p:cNvSpPr>
            <a:spLocks noGrp="1"/>
          </p:cNvSpPr>
          <p:nvPr/>
        </p:nvSpPr>
        <p:spPr>
          <a:xfrm>
            <a:off x="6286500" y="2095500"/>
            <a:ext cx="400050" cy="266700"/>
          </a:xfrm>
          <a:prstGeom prst="rect">
            <a:avLst/>
          </a:prstGeom>
          <a:noFill/>
          <a:ln w="0">
            <a:noFill/>
            <a:prstDash val="solid"/>
          </a:ln>
        </p:spPr>
        <p:txBody>
          <a:bodyPr wrap="square" lIns="0" tIns="0" rIns="0" bIns="0" anchor="t">
            <a:noAutofit/>
          </a:bodyPr>
          <a:lstStyle/>
          <a:p>
            <a:pPr algn="l">
              <a:buNone/>
              <a:defRPr sz="1350" b="1">
                <a:solidFill>
                  <a:srgbClr val="2787F5"/>
                </a:solidFill>
                <a:latin typeface="Helvetica Neue"/>
                <a:ea typeface="Helvetica Neue"/>
                <a:cs typeface="Helvetica Neue"/>
              </a:defRPr>
            </a:pPr>
            <a:r>
              <a:rPr sz="1350" b="1">
                <a:solidFill>
                  <a:srgbClr val="2787F5"/>
                </a:solidFill>
                <a:latin typeface="Helvetica Neue"/>
                <a:ea typeface="Helvetica Neue"/>
                <a:cs typeface="Helvetica Neue"/>
              </a:rPr>
              <a:t>05</a:t>
            </a:r>
          </a:p>
        </p:txBody>
      </p:sp>
      <p:sp>
        <p:nvSpPr>
          <p:cNvPr id="20" name="矩形 19">
            <a:extLst>
              <a:ext uri="{FF2B5EF4-FFF2-40B4-BE49-F238E27FC236}">
                <a16:creationId xmlns:a16="http://schemas.microsoft.com/office/drawing/2014/main" id="{49B54D0A-E997-456F-804D-EE72DBBD2DD2}"/>
              </a:ext>
            </a:extLst>
          </p:cNvPr>
          <p:cNvSpPr>
            <a:spLocks noGrp="1"/>
          </p:cNvSpPr>
          <p:nvPr/>
        </p:nvSpPr>
        <p:spPr>
          <a:xfrm>
            <a:off x="6810375" y="2095500"/>
            <a:ext cx="4572000" cy="438150"/>
          </a:xfrm>
          <a:prstGeom prst="rect">
            <a:avLst/>
          </a:prstGeom>
          <a:noFill/>
          <a:ln w="0">
            <a:noFill/>
            <a:prstDash val="solid"/>
          </a:ln>
        </p:spPr>
        <p:txBody>
          <a:bodyPr wrap="square" lIns="0" tIns="0" rIns="0" bIns="0" anchor="t">
            <a:noAutofit/>
          </a:bodyPr>
          <a:lstStyle/>
          <a:p>
            <a:pPr algn="l">
              <a:buNone/>
              <a:defRPr sz="1275" b="1">
                <a:solidFill>
                  <a:srgbClr val="101214"/>
                </a:solidFill>
                <a:latin typeface="Helvetica Neue"/>
                <a:ea typeface="Helvetica Neue"/>
                <a:cs typeface="Helvetica Neue"/>
              </a:defRPr>
            </a:pPr>
            <a:r>
              <a:rPr sz="1275" b="1">
                <a:solidFill>
                  <a:srgbClr val="101214"/>
                </a:solidFill>
                <a:latin typeface="Helvetica Neue"/>
                <a:ea typeface="Helvetica Neue"/>
                <a:cs typeface="Helvetica Neue"/>
              </a:rPr>
              <a:t>GLM-5: from Vibe Coding to Agentic Engineering</a:t>
            </a:r>
          </a:p>
        </p:txBody>
      </p:sp>
      <p:sp>
        <p:nvSpPr>
          <p:cNvPr id="21" name="矩形 20">
            <a:extLst>
              <a:ext uri="{FF2B5EF4-FFF2-40B4-BE49-F238E27FC236}">
                <a16:creationId xmlns:a16="http://schemas.microsoft.com/office/drawing/2014/main" id="{E4851ED6-4BDB-4AE3-8F78-46B05384524A}"/>
              </a:ext>
            </a:extLst>
          </p:cNvPr>
          <p:cNvSpPr>
            <a:spLocks noGrp="1"/>
          </p:cNvSpPr>
          <p:nvPr/>
        </p:nvSpPr>
        <p:spPr>
          <a:xfrm>
            <a:off x="6810375" y="2609850"/>
            <a:ext cx="4572000" cy="238125"/>
          </a:xfrm>
          <a:prstGeom prst="rect">
            <a:avLst/>
          </a:prstGeom>
          <a:noFill/>
          <a:ln w="0">
            <a:noFill/>
            <a:prstDash val="solid"/>
          </a:ln>
        </p:spPr>
        <p:txBody>
          <a:bodyPr wrap="square" lIns="0" tIns="0" rIns="0" bIns="0" anchor="t">
            <a:noAutofit/>
          </a:bodyPr>
          <a:lstStyle/>
          <a:p>
            <a:pPr algn="l">
              <a:buNone/>
              <a:defRPr sz="1013" b="0">
                <a:solidFill>
                  <a:srgbClr val="5E6470"/>
                </a:solidFill>
                <a:latin typeface="Helvetica Neue"/>
                <a:ea typeface="Helvetica Neue"/>
                <a:cs typeface="Helvetica Neue"/>
              </a:defRPr>
            </a:pPr>
            <a:r>
              <a:rPr sz="1013" b="0">
                <a:solidFill>
                  <a:srgbClr val="5E6470"/>
                </a:solidFill>
                <a:latin typeface="Helvetica Neue"/>
                <a:ea typeface="Helvetica Neue"/>
                <a:cs typeface="Helvetica Neue"/>
              </a:rPr>
              <a:t>arXiv:2602.15763</a:t>
            </a:r>
          </a:p>
        </p:txBody>
      </p:sp>
      <p:sp>
        <p:nvSpPr>
          <p:cNvPr id="22" name="直线连接符 21">
            <a:extLst>
              <a:ext uri="{FF2B5EF4-FFF2-40B4-BE49-F238E27FC236}">
                <a16:creationId xmlns:a16="http://schemas.microsoft.com/office/drawing/2014/main" id="{32C1E73B-B403-4D0A-B940-0EAFB2899BD7}"/>
              </a:ext>
            </a:extLst>
          </p:cNvPr>
          <p:cNvSpPr>
            <a:spLocks noGrp="1"/>
          </p:cNvSpPr>
          <p:nvPr/>
        </p:nvSpPr>
        <p:spPr>
          <a:xfrm>
            <a:off x="6286500" y="2933700"/>
            <a:ext cx="5095875" cy="0"/>
          </a:xfrm>
          <a:prstGeom prst="line">
            <a:avLst/>
          </a:prstGeom>
          <a:noFill/>
          <a:ln w="9525">
            <a:solidFill>
              <a:srgbClr val="E9EDF2"/>
            </a:solidFill>
            <a:prstDash val="solid"/>
          </a:ln>
        </p:spPr>
      </p:sp>
      <p:sp>
        <p:nvSpPr>
          <p:cNvPr id="23" name="矩形 22">
            <a:extLst>
              <a:ext uri="{FF2B5EF4-FFF2-40B4-BE49-F238E27FC236}">
                <a16:creationId xmlns:a16="http://schemas.microsoft.com/office/drawing/2014/main" id="{83C7F20B-6D22-4757-A720-0753A266B4C9}"/>
              </a:ext>
            </a:extLst>
          </p:cNvPr>
          <p:cNvSpPr>
            <a:spLocks noGrp="1"/>
          </p:cNvSpPr>
          <p:nvPr/>
        </p:nvSpPr>
        <p:spPr>
          <a:xfrm>
            <a:off x="6286500" y="3067050"/>
            <a:ext cx="400050" cy="266700"/>
          </a:xfrm>
          <a:prstGeom prst="rect">
            <a:avLst/>
          </a:prstGeom>
          <a:noFill/>
          <a:ln w="0">
            <a:noFill/>
            <a:prstDash val="solid"/>
          </a:ln>
        </p:spPr>
        <p:txBody>
          <a:bodyPr wrap="square" lIns="0" tIns="0" rIns="0" bIns="0" anchor="t">
            <a:noAutofit/>
          </a:bodyPr>
          <a:lstStyle/>
          <a:p>
            <a:pPr algn="l">
              <a:buNone/>
              <a:defRPr sz="1350" b="1">
                <a:solidFill>
                  <a:srgbClr val="2787F5"/>
                </a:solidFill>
                <a:latin typeface="Helvetica Neue"/>
                <a:ea typeface="Helvetica Neue"/>
                <a:cs typeface="Helvetica Neue"/>
              </a:defRPr>
            </a:pPr>
            <a:r>
              <a:rPr sz="1350" b="1">
                <a:solidFill>
                  <a:srgbClr val="2787F5"/>
                </a:solidFill>
                <a:latin typeface="Helvetica Neue"/>
                <a:ea typeface="Helvetica Neue"/>
                <a:cs typeface="Helvetica Neue"/>
              </a:rPr>
              <a:t>06</a:t>
            </a:r>
          </a:p>
        </p:txBody>
      </p:sp>
      <p:sp>
        <p:nvSpPr>
          <p:cNvPr id="24" name="矩形 23">
            <a:extLst>
              <a:ext uri="{FF2B5EF4-FFF2-40B4-BE49-F238E27FC236}">
                <a16:creationId xmlns:a16="http://schemas.microsoft.com/office/drawing/2014/main" id="{FE641F27-7ECB-4748-A33B-540F0F6F40A3}"/>
              </a:ext>
            </a:extLst>
          </p:cNvPr>
          <p:cNvSpPr>
            <a:spLocks noGrp="1"/>
          </p:cNvSpPr>
          <p:nvPr/>
        </p:nvSpPr>
        <p:spPr>
          <a:xfrm>
            <a:off x="6810375" y="3067050"/>
            <a:ext cx="4572000" cy="438150"/>
          </a:xfrm>
          <a:prstGeom prst="rect">
            <a:avLst/>
          </a:prstGeom>
          <a:noFill/>
          <a:ln w="0">
            <a:noFill/>
            <a:prstDash val="solid"/>
          </a:ln>
        </p:spPr>
        <p:txBody>
          <a:bodyPr wrap="square" lIns="0" tIns="0" rIns="0" bIns="0" anchor="t">
            <a:noAutofit/>
          </a:bodyPr>
          <a:lstStyle/>
          <a:p>
            <a:pPr algn="l">
              <a:buNone/>
              <a:defRPr sz="1275" b="1">
                <a:solidFill>
                  <a:srgbClr val="101214"/>
                </a:solidFill>
                <a:latin typeface="Helvetica Neue"/>
                <a:ea typeface="Helvetica Neue"/>
                <a:cs typeface="Helvetica Neue"/>
              </a:defRPr>
            </a:pPr>
            <a:r>
              <a:rPr sz="1275" b="1">
                <a:solidFill>
                  <a:srgbClr val="101214"/>
                </a:solidFill>
                <a:latin typeface="Helvetica Neue"/>
                <a:ea typeface="Helvetica Neue"/>
                <a:cs typeface="Helvetica Neue"/>
              </a:rPr>
              <a:t>GLM-5.2: Built for Long-Horizon Tasks</a:t>
            </a:r>
          </a:p>
        </p:txBody>
      </p:sp>
      <p:sp>
        <p:nvSpPr>
          <p:cNvPr id="25" name="矩形 24">
            <a:extLst>
              <a:ext uri="{FF2B5EF4-FFF2-40B4-BE49-F238E27FC236}">
                <a16:creationId xmlns:a16="http://schemas.microsoft.com/office/drawing/2014/main" id="{97433A78-A5C5-4311-8B98-0418E0083A4D}"/>
              </a:ext>
            </a:extLst>
          </p:cNvPr>
          <p:cNvSpPr>
            <a:spLocks noGrp="1"/>
          </p:cNvSpPr>
          <p:nvPr/>
        </p:nvSpPr>
        <p:spPr>
          <a:xfrm>
            <a:off x="6810375" y="3581400"/>
            <a:ext cx="4572000" cy="238125"/>
          </a:xfrm>
          <a:prstGeom prst="rect">
            <a:avLst/>
          </a:prstGeom>
          <a:noFill/>
          <a:ln w="0">
            <a:noFill/>
            <a:prstDash val="solid"/>
          </a:ln>
        </p:spPr>
        <p:txBody>
          <a:bodyPr wrap="square" lIns="0" tIns="0" rIns="0" bIns="0" anchor="t">
            <a:noAutofit/>
          </a:bodyPr>
          <a:lstStyle/>
          <a:p>
            <a:pPr algn="l">
              <a:buNone/>
              <a:defRPr sz="1013" b="0">
                <a:solidFill>
                  <a:srgbClr val="5E6470"/>
                </a:solidFill>
                <a:latin typeface="Helvetica Neue"/>
                <a:ea typeface="Helvetica Neue"/>
                <a:cs typeface="Helvetica Neue"/>
              </a:defRPr>
            </a:pPr>
            <a:r>
              <a:rPr sz="1013" b="0">
                <a:solidFill>
                  <a:srgbClr val="5E6470"/>
                </a:solidFill>
                <a:latin typeface="Helvetica Neue"/>
                <a:ea typeface="Helvetica Neue"/>
                <a:cs typeface="Helvetica Neue"/>
              </a:rPr>
              <a:t>z.ai/blog/glm-5.2</a:t>
            </a:r>
          </a:p>
        </p:txBody>
      </p:sp>
      <p:sp>
        <p:nvSpPr>
          <p:cNvPr id="26" name="直线连接符 25">
            <a:extLst>
              <a:ext uri="{FF2B5EF4-FFF2-40B4-BE49-F238E27FC236}">
                <a16:creationId xmlns:a16="http://schemas.microsoft.com/office/drawing/2014/main" id="{FF7E20F0-B797-47C5-A38F-201E4C3F4025}"/>
              </a:ext>
            </a:extLst>
          </p:cNvPr>
          <p:cNvSpPr>
            <a:spLocks noGrp="1"/>
          </p:cNvSpPr>
          <p:nvPr/>
        </p:nvSpPr>
        <p:spPr>
          <a:xfrm>
            <a:off x="6286500" y="3905250"/>
            <a:ext cx="5095875" cy="0"/>
          </a:xfrm>
          <a:prstGeom prst="line">
            <a:avLst/>
          </a:prstGeom>
          <a:noFill/>
          <a:ln w="9525">
            <a:solidFill>
              <a:srgbClr val="E9EDF2"/>
            </a:solidFill>
            <a:prstDash val="solid"/>
          </a:ln>
        </p:spPr>
      </p:sp>
      <p:sp>
        <p:nvSpPr>
          <p:cNvPr id="27" name="矩形 26">
            <a:extLst>
              <a:ext uri="{FF2B5EF4-FFF2-40B4-BE49-F238E27FC236}">
                <a16:creationId xmlns:a16="http://schemas.microsoft.com/office/drawing/2014/main" id="{B0D267D2-7F33-4A9B-8804-1F2415EA0359}"/>
              </a:ext>
            </a:extLst>
          </p:cNvPr>
          <p:cNvSpPr>
            <a:spLocks noGrp="1"/>
          </p:cNvSpPr>
          <p:nvPr/>
        </p:nvSpPr>
        <p:spPr>
          <a:xfrm>
            <a:off x="6286500" y="4038600"/>
            <a:ext cx="400050" cy="266700"/>
          </a:xfrm>
          <a:prstGeom prst="rect">
            <a:avLst/>
          </a:prstGeom>
          <a:noFill/>
          <a:ln w="0">
            <a:noFill/>
            <a:prstDash val="solid"/>
          </a:ln>
        </p:spPr>
        <p:txBody>
          <a:bodyPr wrap="square" lIns="0" tIns="0" rIns="0" bIns="0" anchor="t">
            <a:noAutofit/>
          </a:bodyPr>
          <a:lstStyle/>
          <a:p>
            <a:pPr algn="l">
              <a:buNone/>
              <a:defRPr sz="1350" b="1">
                <a:solidFill>
                  <a:srgbClr val="2787F5"/>
                </a:solidFill>
                <a:latin typeface="Helvetica Neue"/>
                <a:ea typeface="Helvetica Neue"/>
                <a:cs typeface="Helvetica Neue"/>
              </a:defRPr>
            </a:pPr>
            <a:r>
              <a:rPr sz="1350" b="1">
                <a:solidFill>
                  <a:srgbClr val="2787F5"/>
                </a:solidFill>
                <a:latin typeface="Helvetica Neue"/>
                <a:ea typeface="Helvetica Neue"/>
                <a:cs typeface="Helvetica Neue"/>
              </a:rPr>
              <a:t>07</a:t>
            </a:r>
          </a:p>
        </p:txBody>
      </p:sp>
      <p:sp>
        <p:nvSpPr>
          <p:cNvPr id="28" name="矩形 27">
            <a:extLst>
              <a:ext uri="{FF2B5EF4-FFF2-40B4-BE49-F238E27FC236}">
                <a16:creationId xmlns:a16="http://schemas.microsoft.com/office/drawing/2014/main" id="{A709C93B-9930-4842-820C-57089BD54F33}"/>
              </a:ext>
            </a:extLst>
          </p:cNvPr>
          <p:cNvSpPr>
            <a:spLocks noGrp="1"/>
          </p:cNvSpPr>
          <p:nvPr/>
        </p:nvSpPr>
        <p:spPr>
          <a:xfrm>
            <a:off x="6810375" y="4038600"/>
            <a:ext cx="4572000" cy="438150"/>
          </a:xfrm>
          <a:prstGeom prst="rect">
            <a:avLst/>
          </a:prstGeom>
          <a:noFill/>
          <a:ln w="0">
            <a:noFill/>
            <a:prstDash val="solid"/>
          </a:ln>
        </p:spPr>
        <p:txBody>
          <a:bodyPr wrap="square" lIns="0" tIns="0" rIns="0" bIns="0" anchor="t">
            <a:noAutofit/>
          </a:bodyPr>
          <a:lstStyle/>
          <a:p>
            <a:pPr algn="l">
              <a:buNone/>
              <a:defRPr sz="1275" b="1">
                <a:solidFill>
                  <a:srgbClr val="101214"/>
                </a:solidFill>
                <a:latin typeface="Helvetica Neue"/>
                <a:ea typeface="Helvetica Neue"/>
                <a:cs typeface="Helvetica Neue"/>
              </a:defRPr>
            </a:pPr>
            <a:r>
              <a:rPr sz="1275" b="1">
                <a:solidFill>
                  <a:srgbClr val="101214"/>
                </a:solidFill>
                <a:latin typeface="Helvetica Neue"/>
                <a:ea typeface="Helvetica Neue"/>
                <a:cs typeface="Helvetica Neue"/>
              </a:rPr>
              <a:t>Kimi K3: Open Frontier Intelligence</a:t>
            </a:r>
          </a:p>
        </p:txBody>
      </p:sp>
      <p:sp>
        <p:nvSpPr>
          <p:cNvPr id="29" name="矩形 28">
            <a:extLst>
              <a:ext uri="{FF2B5EF4-FFF2-40B4-BE49-F238E27FC236}">
                <a16:creationId xmlns:a16="http://schemas.microsoft.com/office/drawing/2014/main" id="{1DDBE140-AAA9-4F05-B2C2-48073380877E}"/>
              </a:ext>
            </a:extLst>
          </p:cNvPr>
          <p:cNvSpPr>
            <a:spLocks noGrp="1"/>
          </p:cNvSpPr>
          <p:nvPr/>
        </p:nvSpPr>
        <p:spPr>
          <a:xfrm>
            <a:off x="6810375" y="4552950"/>
            <a:ext cx="4572000" cy="238125"/>
          </a:xfrm>
          <a:prstGeom prst="rect">
            <a:avLst/>
          </a:prstGeom>
          <a:noFill/>
          <a:ln w="0">
            <a:noFill/>
            <a:prstDash val="solid"/>
          </a:ln>
        </p:spPr>
        <p:txBody>
          <a:bodyPr wrap="square" lIns="0" tIns="0" rIns="0" bIns="0" anchor="t">
            <a:noAutofit/>
          </a:bodyPr>
          <a:lstStyle/>
          <a:p>
            <a:pPr algn="l">
              <a:buNone/>
              <a:defRPr sz="1013" b="0">
                <a:solidFill>
                  <a:srgbClr val="5E6470"/>
                </a:solidFill>
                <a:latin typeface="Helvetica Neue"/>
                <a:ea typeface="Helvetica Neue"/>
                <a:cs typeface="Helvetica Neue"/>
              </a:defRPr>
            </a:pPr>
            <a:r>
              <a:rPr sz="1013" b="0">
                <a:solidFill>
                  <a:srgbClr val="5E6470"/>
                </a:solidFill>
                <a:latin typeface="Helvetica Neue"/>
                <a:ea typeface="Helvetica Neue"/>
                <a:cs typeface="Helvetica Neue"/>
              </a:rPr>
              <a:t>kimi.com/blog/kimi-k3</a:t>
            </a:r>
          </a:p>
        </p:txBody>
      </p:sp>
      <p:sp>
        <p:nvSpPr>
          <p:cNvPr id="30" name="直线连接符 29">
            <a:extLst>
              <a:ext uri="{FF2B5EF4-FFF2-40B4-BE49-F238E27FC236}">
                <a16:creationId xmlns:a16="http://schemas.microsoft.com/office/drawing/2014/main" id="{29153B49-BB71-4853-A2EF-540FD4D26375}"/>
              </a:ext>
            </a:extLst>
          </p:cNvPr>
          <p:cNvSpPr>
            <a:spLocks noGrp="1"/>
          </p:cNvSpPr>
          <p:nvPr/>
        </p:nvSpPr>
        <p:spPr>
          <a:xfrm>
            <a:off x="6286500" y="4876800"/>
            <a:ext cx="5095875" cy="0"/>
          </a:xfrm>
          <a:prstGeom prst="line">
            <a:avLst/>
          </a:prstGeom>
          <a:noFill/>
          <a:ln w="9525">
            <a:solidFill>
              <a:srgbClr val="E9EDF2"/>
            </a:solidFill>
            <a:prstDash val="solid"/>
          </a:ln>
        </p:spPr>
      </p:sp>
      <p:sp>
        <p:nvSpPr>
          <p:cNvPr id="31" name="矩形 30">
            <a:extLst>
              <a:ext uri="{FF2B5EF4-FFF2-40B4-BE49-F238E27FC236}">
                <a16:creationId xmlns:a16="http://schemas.microsoft.com/office/drawing/2014/main" id="{C11FDAC8-5635-4CDD-A44B-27D4ACB0CBAE}"/>
              </a:ext>
            </a:extLst>
          </p:cNvPr>
          <p:cNvSpPr>
            <a:spLocks noGrp="1"/>
          </p:cNvSpPr>
          <p:nvPr/>
        </p:nvSpPr>
        <p:spPr>
          <a:xfrm>
            <a:off x="6286500" y="5010150"/>
            <a:ext cx="400050" cy="266700"/>
          </a:xfrm>
          <a:prstGeom prst="rect">
            <a:avLst/>
          </a:prstGeom>
          <a:noFill/>
          <a:ln w="0">
            <a:noFill/>
            <a:prstDash val="solid"/>
          </a:ln>
        </p:spPr>
        <p:txBody>
          <a:bodyPr wrap="square" lIns="0" tIns="0" rIns="0" bIns="0" anchor="t">
            <a:noAutofit/>
          </a:bodyPr>
          <a:lstStyle/>
          <a:p>
            <a:pPr algn="l">
              <a:buNone/>
              <a:defRPr sz="1350" b="1">
                <a:solidFill>
                  <a:srgbClr val="2787F5"/>
                </a:solidFill>
                <a:latin typeface="Helvetica Neue"/>
                <a:ea typeface="Helvetica Neue"/>
                <a:cs typeface="Helvetica Neue"/>
              </a:defRPr>
            </a:pPr>
            <a:r>
              <a:rPr sz="1350" b="1">
                <a:solidFill>
                  <a:srgbClr val="2787F5"/>
                </a:solidFill>
                <a:latin typeface="Helvetica Neue"/>
                <a:ea typeface="Helvetica Neue"/>
                <a:cs typeface="Helvetica Neue"/>
              </a:rPr>
              <a:t>08</a:t>
            </a:r>
          </a:p>
        </p:txBody>
      </p:sp>
      <p:sp>
        <p:nvSpPr>
          <p:cNvPr id="32" name="矩形 31">
            <a:extLst>
              <a:ext uri="{FF2B5EF4-FFF2-40B4-BE49-F238E27FC236}">
                <a16:creationId xmlns:a16="http://schemas.microsoft.com/office/drawing/2014/main" id="{DC24890E-FAF7-462D-9D0B-4FBA04EDFE45}"/>
              </a:ext>
            </a:extLst>
          </p:cNvPr>
          <p:cNvSpPr>
            <a:spLocks noGrp="1"/>
          </p:cNvSpPr>
          <p:nvPr/>
        </p:nvSpPr>
        <p:spPr>
          <a:xfrm>
            <a:off x="6810375" y="5010150"/>
            <a:ext cx="4572000" cy="438150"/>
          </a:xfrm>
          <a:prstGeom prst="rect">
            <a:avLst/>
          </a:prstGeom>
          <a:noFill/>
          <a:ln w="0">
            <a:noFill/>
            <a:prstDash val="solid"/>
          </a:ln>
        </p:spPr>
        <p:txBody>
          <a:bodyPr wrap="square" lIns="0" tIns="0" rIns="0" bIns="0" anchor="t">
            <a:noAutofit/>
          </a:bodyPr>
          <a:lstStyle/>
          <a:p>
            <a:pPr algn="l">
              <a:buNone/>
              <a:defRPr sz="1275" b="1">
                <a:solidFill>
                  <a:srgbClr val="101214"/>
                </a:solidFill>
                <a:latin typeface="Helvetica Neue"/>
                <a:ea typeface="Helvetica Neue"/>
                <a:cs typeface="Helvetica Neue"/>
              </a:defRPr>
            </a:pPr>
            <a:r>
              <a:rPr sz="1275" b="1">
                <a:solidFill>
                  <a:srgbClr val="101214"/>
                </a:solidFill>
                <a:latin typeface="Helvetica Neue"/>
                <a:ea typeface="Helvetica Neue"/>
                <a:cs typeface="Helvetica Neue"/>
              </a:rPr>
              <a:t>Kimi K3 API Quickstart</a:t>
            </a:r>
          </a:p>
        </p:txBody>
      </p:sp>
      <p:sp>
        <p:nvSpPr>
          <p:cNvPr id="33" name="矩形 32">
            <a:extLst>
              <a:ext uri="{FF2B5EF4-FFF2-40B4-BE49-F238E27FC236}">
                <a16:creationId xmlns:a16="http://schemas.microsoft.com/office/drawing/2014/main" id="{4605E708-E71E-4DBE-B23E-31D1DA0847C3}"/>
              </a:ext>
            </a:extLst>
          </p:cNvPr>
          <p:cNvSpPr>
            <a:spLocks noGrp="1"/>
          </p:cNvSpPr>
          <p:nvPr/>
        </p:nvSpPr>
        <p:spPr>
          <a:xfrm>
            <a:off x="6810375" y="5524500"/>
            <a:ext cx="4572000" cy="238125"/>
          </a:xfrm>
          <a:prstGeom prst="rect">
            <a:avLst/>
          </a:prstGeom>
          <a:noFill/>
          <a:ln w="0">
            <a:noFill/>
            <a:prstDash val="solid"/>
          </a:ln>
        </p:spPr>
        <p:txBody>
          <a:bodyPr wrap="square" lIns="0" tIns="0" rIns="0" bIns="0" anchor="t">
            <a:noAutofit/>
          </a:bodyPr>
          <a:lstStyle/>
          <a:p>
            <a:pPr algn="l">
              <a:buNone/>
              <a:defRPr sz="1013" b="0">
                <a:solidFill>
                  <a:srgbClr val="5E6470"/>
                </a:solidFill>
                <a:latin typeface="Helvetica Neue"/>
                <a:ea typeface="Helvetica Neue"/>
                <a:cs typeface="Helvetica Neue"/>
              </a:defRPr>
            </a:pPr>
            <a:r>
              <a:rPr sz="1013" b="0">
                <a:solidFill>
                  <a:srgbClr val="5E6470"/>
                </a:solidFill>
                <a:latin typeface="Helvetica Neue"/>
                <a:ea typeface="Helvetica Neue"/>
                <a:cs typeface="Helvetica Neue"/>
              </a:rPr>
              <a:t>platform.kimi.com/docs/guide/kimi-k3-quickstart</a:t>
            </a:r>
          </a:p>
        </p:txBody>
      </p:sp>
      <p:sp>
        <p:nvSpPr>
          <p:cNvPr id="34" name="直线连接符 33">
            <a:extLst>
              <a:ext uri="{FF2B5EF4-FFF2-40B4-BE49-F238E27FC236}">
                <a16:creationId xmlns:a16="http://schemas.microsoft.com/office/drawing/2014/main" id="{5AE473CD-D697-41FE-80C2-D586FD4833A4}"/>
              </a:ext>
            </a:extLst>
          </p:cNvPr>
          <p:cNvSpPr>
            <a:spLocks noGrp="1"/>
          </p:cNvSpPr>
          <p:nvPr/>
        </p:nvSpPr>
        <p:spPr>
          <a:xfrm>
            <a:off x="6286500" y="5848350"/>
            <a:ext cx="5095875" cy="0"/>
          </a:xfrm>
          <a:prstGeom prst="line">
            <a:avLst/>
          </a:prstGeom>
          <a:noFill/>
          <a:ln w="9525">
            <a:solidFill>
              <a:srgbClr val="E9EDF2"/>
            </a:solidFill>
            <a:prstDash val="solid"/>
          </a:ln>
        </p:spPr>
      </p:sp>
      <p:sp>
        <p:nvSpPr>
          <p:cNvPr id="37" name="直线连接符 36">
            <a:extLst>
              <a:ext uri="{FF2B5EF4-FFF2-40B4-BE49-F238E27FC236}">
                <a16:creationId xmlns:a16="http://schemas.microsoft.com/office/drawing/2014/main" id="{C3DBFB96-24E6-4ACA-B650-174B6D5C72F7}"/>
              </a:ext>
            </a:extLst>
          </p:cNvPr>
          <p:cNvSpPr>
            <a:spLocks noGrp="1"/>
          </p:cNvSpPr>
          <p:nvPr/>
        </p:nvSpPr>
        <p:spPr>
          <a:xfrm>
            <a:off x="419100" y="6286500"/>
            <a:ext cx="11353800" cy="0"/>
          </a:xfrm>
          <a:prstGeom prst="line">
            <a:avLst/>
          </a:prstGeom>
          <a:noFill/>
          <a:ln w="9525">
            <a:solidFill>
              <a:srgbClr val="B8BCC4"/>
            </a:solidFill>
            <a:prstDash val="solid"/>
          </a:ln>
        </p:spPr>
      </p:sp>
      <p:sp>
        <p:nvSpPr>
          <p:cNvPr id="38" name="矩形 37">
            <a:extLst>
              <a:ext uri="{FF2B5EF4-FFF2-40B4-BE49-F238E27FC236}">
                <a16:creationId xmlns:a16="http://schemas.microsoft.com/office/drawing/2014/main" id="{4CE21701-5365-4EE4-B4CF-FFA800E3B711}"/>
              </a:ext>
            </a:extLst>
          </p:cNvPr>
          <p:cNvSpPr>
            <a:spLocks noGrp="1"/>
          </p:cNvSpPr>
          <p:nvPr/>
        </p:nvSpPr>
        <p:spPr>
          <a:xfrm>
            <a:off x="419100" y="6362700"/>
            <a:ext cx="10763250" cy="219075"/>
          </a:xfrm>
          <a:prstGeom prst="rect">
            <a:avLst/>
          </a:prstGeom>
          <a:noFill/>
          <a:ln w="0">
            <a:noFill/>
            <a:prstDash val="solid"/>
          </a:ln>
        </p:spPr>
        <p:txBody>
          <a:bodyPr wrap="square" lIns="0" tIns="0" rIns="0" bIns="0" anchor="t">
            <a:noAutofit/>
          </a:bodyPr>
          <a:lstStyle/>
          <a:p>
            <a:pPr algn="l">
              <a:buNone/>
              <a:defRPr sz="788" b="0">
                <a:solidFill>
                  <a:srgbClr val="5E6470"/>
                </a:solidFill>
                <a:latin typeface="Helvetica Neue"/>
                <a:ea typeface="Helvetica Neue"/>
                <a:cs typeface="Helvetica Neue"/>
              </a:defRPr>
            </a:pPr>
            <a:r>
              <a:rPr sz="788" b="0">
                <a:solidFill>
                  <a:srgbClr val="5E6470"/>
                </a:solidFill>
                <a:latin typeface="Helvetica Neue"/>
                <a:ea typeface="Helvetica Neue"/>
                <a:cs typeface="Helvetica Neue"/>
              </a:rPr>
              <a:t>All figures and numerical claims trace to the sources above</a:t>
            </a:r>
          </a:p>
        </p:txBody>
      </p:sp>
      <p:sp>
        <p:nvSpPr>
          <p:cNvPr id="39" name="矩形 38">
            <a:extLst>
              <a:ext uri="{FF2B5EF4-FFF2-40B4-BE49-F238E27FC236}">
                <a16:creationId xmlns:a16="http://schemas.microsoft.com/office/drawing/2014/main" id="{F55D11C6-2E10-4E19-A813-6D7E04D1E17E}"/>
              </a:ext>
            </a:extLst>
          </p:cNvPr>
          <p:cNvSpPr>
            <a:spLocks noGrp="1"/>
          </p:cNvSpPr>
          <p:nvPr/>
        </p:nvSpPr>
        <p:spPr>
          <a:xfrm>
            <a:off x="11334750" y="6362700"/>
            <a:ext cx="438150" cy="219075"/>
          </a:xfrm>
          <a:prstGeom prst="rect">
            <a:avLst/>
          </a:prstGeom>
          <a:noFill/>
          <a:ln w="0">
            <a:noFill/>
            <a:prstDash val="solid"/>
          </a:ln>
        </p:spPr>
        <p:txBody>
          <a:bodyPr wrap="square" lIns="0" tIns="0" rIns="0" bIns="0" anchor="t">
            <a:noAutofit/>
          </a:bodyPr>
          <a:lstStyle/>
          <a:p>
            <a:pPr algn="r">
              <a:buNone/>
              <a:defRPr sz="825" b="0">
                <a:solidFill>
                  <a:srgbClr val="5E6470"/>
                </a:solidFill>
                <a:latin typeface="Helvetica Neue"/>
                <a:ea typeface="Helvetica Neue"/>
                <a:cs typeface="Helvetica Neue"/>
              </a:defRPr>
            </a:pPr>
            <a:r>
              <a:rPr sz="825" b="0">
                <a:solidFill>
                  <a:srgbClr val="5E6470"/>
                </a:solidFill>
                <a:latin typeface="Helvetica Neue"/>
                <a:ea typeface="Helvetica Neue"/>
                <a:cs typeface="Helvetica Neue"/>
              </a:rPr>
              <a:t>43</a:t>
            </a:r>
          </a:p>
        </p:txBody>
      </p:sp>
    </p:spTree>
    <p:extLst>
      <p:ext uri="{BB962C8B-B14F-4D97-AF65-F5344CB8AC3E}">
        <p14:creationId xmlns:p14="http://schemas.microsoft.com/office/powerpoint/2010/main" val="154136023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297</TotalTime>
  <Words>7198</Words>
  <Application>Microsoft Macintosh PowerPoint</Application>
  <DocSecurity>0</DocSecurity>
  <PresentationFormat>宽屏</PresentationFormat>
  <Paragraphs>686</Paragraphs>
  <Slides>43</Slides>
  <Notes>43</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43</vt:i4>
      </vt:variant>
    </vt:vector>
  </HeadingPairs>
  <TitlesOfParts>
    <vt:vector size="49" baseType="lpstr">
      <vt:lpstr>Hiragino Sans GB</vt:lpstr>
      <vt:lpstr>Calibri</vt:lpstr>
      <vt:lpstr>Cambria Math</vt:lpstr>
      <vt:lpstr>Helvetica Neue</vt:lpstr>
      <vt:lpstr>Times New Roman</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Microsoft Office User</cp:lastModifiedBy>
  <cp:revision>320</cp:revision>
  <dcterms:created xsi:type="dcterms:W3CDTF">2026-07-24T00:38:43Z</dcterms:created>
  <dcterms:modified xsi:type="dcterms:W3CDTF">2026-07-24T07:08:46Z</dcterms:modified>
</cp:coreProperties>
</file>